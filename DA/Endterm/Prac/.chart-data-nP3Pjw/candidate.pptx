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4.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1381552070d42bb" /><Relationship Type="http://schemas.openxmlformats.org/officeDocument/2006/relationships/extended-properties" Target="/docProps/app.xml" Id="Rd45999443cf440e4" /><Relationship Type="http://schemas.openxmlformats.org/officeDocument/2006/relationships/officeDocument" Target="/ppt/presentation.xml" Id="R932464b1344649c9" /></Relationships>
</file>

<file path=ppt/presentation.xml><?xml version="1.0" encoding="utf-8"?>
<p:presentation xmlns:p="http://schemas.openxmlformats.org/presentationml/2006/main">
  <p:sldMasterIdLst>
    <p:sldMasterId xmlns:r="http://schemas.openxmlformats.org/officeDocument/2006/relationships" id="2147483648" r:id="R79bb6b2035204547"/>
  </p:sldMasterIdLst>
  <p:notesMasterIdLst>
    <p:notesMasterId xmlns:r="http://schemas.openxmlformats.org/officeDocument/2006/relationships" r:id="R3a93db8f49cf496b"/>
  </p:notesMasterIdLst>
  <p:sldIdLst>
    <p:sldId xmlns:r="http://schemas.openxmlformats.org/officeDocument/2006/relationships" id="256" r:id="Rd7e993e4f3bf45e6"/>
    <p:sldId xmlns:r="http://schemas.openxmlformats.org/officeDocument/2006/relationships" id="257" r:id="R730e1345a6644eba"/>
    <p:sldId xmlns:r="http://schemas.openxmlformats.org/officeDocument/2006/relationships" id="258" r:id="R0811c3991bc748c0"/>
    <p:sldId xmlns:r="http://schemas.openxmlformats.org/officeDocument/2006/relationships" id="259" r:id="R213fefbb24114938"/>
    <p:sldId xmlns:r="http://schemas.openxmlformats.org/officeDocument/2006/relationships" id="260" r:id="R25b03a6c82974c59"/>
    <p:sldId xmlns:r="http://schemas.openxmlformats.org/officeDocument/2006/relationships" id="261" r:id="Rdd9bc0d5ac174ea3"/>
    <p:sldId xmlns:r="http://schemas.openxmlformats.org/officeDocument/2006/relationships" id="262" r:id="R940cc95e81874c05"/>
    <p:sldId xmlns:r="http://schemas.openxmlformats.org/officeDocument/2006/relationships" id="263" r:id="Rc5789db5e6bd49bd"/>
    <p:sldId xmlns:r="http://schemas.openxmlformats.org/officeDocument/2006/relationships" id="264" r:id="Rfb9383c7b87f4e1d"/>
    <p:sldId xmlns:r="http://schemas.openxmlformats.org/officeDocument/2006/relationships" id="265" r:id="R34daa3a66bc041c1"/>
    <p:sldId xmlns:r="http://schemas.openxmlformats.org/officeDocument/2006/relationships" id="266" r:id="Ra2ebee5d41614fff"/>
    <p:sldId xmlns:r="http://schemas.openxmlformats.org/officeDocument/2006/relationships" id="267" r:id="R5edf2201a8344a6d"/>
    <p:sldId xmlns:r="http://schemas.openxmlformats.org/officeDocument/2006/relationships" id="268" r:id="R945fa865cef749bd"/>
    <p:sldId xmlns:r="http://schemas.openxmlformats.org/officeDocument/2006/relationships" id="269" r:id="Rb26b997aff5c44b4"/>
    <p:sldId xmlns:r="http://schemas.openxmlformats.org/officeDocument/2006/relationships" id="270" r:id="Rf3f811a21ff34697"/>
    <p:sldId xmlns:r="http://schemas.openxmlformats.org/officeDocument/2006/relationships" id="271" r:id="R4792c96b80904f9f"/>
    <p:sldId xmlns:r="http://schemas.openxmlformats.org/officeDocument/2006/relationships" id="272" r:id="R4283b50322194385"/>
    <p:sldId xmlns:r="http://schemas.openxmlformats.org/officeDocument/2006/relationships" id="273" r:id="R891a962a472a401c"/>
    <p:sldId xmlns:r="http://schemas.openxmlformats.org/officeDocument/2006/relationships" id="274" r:id="R3ee663f39c744ba5"/>
    <p:sldId xmlns:r="http://schemas.openxmlformats.org/officeDocument/2006/relationships" id="275" r:id="R8caef1d9f4f74855"/>
    <p:sldId xmlns:r="http://schemas.openxmlformats.org/officeDocument/2006/relationships" id="276" r:id="Rddf1e16628c346b9"/>
    <p:sldId xmlns:r="http://schemas.openxmlformats.org/officeDocument/2006/relationships" id="277" r:id="R89a76c5b847a4489"/>
    <p:sldId xmlns:r="http://schemas.openxmlformats.org/officeDocument/2006/relationships" id="278" r:id="Ra7650f04f32f4169"/>
    <p:sldId xmlns:r="http://schemas.openxmlformats.org/officeDocument/2006/relationships" id="279" r:id="R945f1e3521e94243"/>
    <p:sldId xmlns:r="http://schemas.openxmlformats.org/officeDocument/2006/relationships" id="280" r:id="Rfb6829fae47d465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a5b93068684148" /><Relationship Type="http://schemas.openxmlformats.org/officeDocument/2006/relationships/slideMaster" Target="/ppt/slideMasters/slideMaster1.xml" Id="R79bb6b2035204547" /><Relationship Type="http://schemas.openxmlformats.org/officeDocument/2006/relationships/notesMaster" Target="/ppt/notesMasters/notesMaster1.xml" Id="R3a93db8f49cf496b" /><Relationship Type="http://schemas.openxmlformats.org/officeDocument/2006/relationships/presProps" Target="/ppt/presProps.xml" Id="R87318bb338df4349" /><Relationship Type="http://schemas.openxmlformats.org/officeDocument/2006/relationships/tableStyles" Target="/ppt/tableStyles.xml" Id="R1905710066264bb7" /><Relationship Type="http://schemas.openxmlformats.org/officeDocument/2006/relationships/slide" Target="/ppt/slides/slide1.xml" Id="Rd7e993e4f3bf45e6" /><Relationship Type="http://schemas.openxmlformats.org/officeDocument/2006/relationships/slide" Target="/ppt/slides/slide2.xml" Id="R730e1345a6644eba" /><Relationship Type="http://schemas.openxmlformats.org/officeDocument/2006/relationships/slide" Target="/ppt/slides/slide3.xml" Id="R0811c3991bc748c0" /><Relationship Type="http://schemas.openxmlformats.org/officeDocument/2006/relationships/slide" Target="/ppt/slides/slide4.xml" Id="R213fefbb24114938" /><Relationship Type="http://schemas.openxmlformats.org/officeDocument/2006/relationships/slide" Target="/ppt/slides/slide5.xml" Id="R25b03a6c82974c59" /><Relationship Type="http://schemas.openxmlformats.org/officeDocument/2006/relationships/slide" Target="/ppt/slides/slide6.xml" Id="Rdd9bc0d5ac174ea3" /><Relationship Type="http://schemas.openxmlformats.org/officeDocument/2006/relationships/slide" Target="/ppt/slides/slide7.xml" Id="R940cc95e81874c05" /><Relationship Type="http://schemas.openxmlformats.org/officeDocument/2006/relationships/slide" Target="/ppt/slides/slide8.xml" Id="Rc5789db5e6bd49bd" /><Relationship Type="http://schemas.openxmlformats.org/officeDocument/2006/relationships/slide" Target="/ppt/slides/slide9.xml" Id="Rfb9383c7b87f4e1d" /><Relationship Type="http://schemas.openxmlformats.org/officeDocument/2006/relationships/slide" Target="/ppt/slides/slide10.xml" Id="R34daa3a66bc041c1" /><Relationship Type="http://schemas.openxmlformats.org/officeDocument/2006/relationships/slide" Target="/ppt/slides/slide11.xml" Id="Ra2ebee5d41614fff" /><Relationship Type="http://schemas.openxmlformats.org/officeDocument/2006/relationships/slide" Target="/ppt/slides/slide12.xml" Id="R5edf2201a8344a6d" /><Relationship Type="http://schemas.openxmlformats.org/officeDocument/2006/relationships/slide" Target="/ppt/slides/slide13.xml" Id="R945fa865cef749bd" /><Relationship Type="http://schemas.openxmlformats.org/officeDocument/2006/relationships/slide" Target="/ppt/slides/slide14.xml" Id="Rb26b997aff5c44b4" /><Relationship Type="http://schemas.openxmlformats.org/officeDocument/2006/relationships/slide" Target="/ppt/slides/slide15.xml" Id="Rf3f811a21ff34697" /><Relationship Type="http://schemas.openxmlformats.org/officeDocument/2006/relationships/slide" Target="/ppt/slides/slide16.xml" Id="R4792c96b80904f9f" /><Relationship Type="http://schemas.openxmlformats.org/officeDocument/2006/relationships/slide" Target="/ppt/slides/slide17.xml" Id="R4283b50322194385" /><Relationship Type="http://schemas.openxmlformats.org/officeDocument/2006/relationships/slide" Target="/ppt/slides/slide18.xml" Id="R891a962a472a401c" /><Relationship Type="http://schemas.openxmlformats.org/officeDocument/2006/relationships/slide" Target="/ppt/slides/slide19.xml" Id="R3ee663f39c744ba5" /><Relationship Type="http://schemas.openxmlformats.org/officeDocument/2006/relationships/slide" Target="/ppt/slides/slide20.xml" Id="R8caef1d9f4f74855" /><Relationship Type="http://schemas.openxmlformats.org/officeDocument/2006/relationships/slide" Target="/ppt/slides/slide21.xml" Id="Rddf1e16628c346b9" /><Relationship Type="http://schemas.openxmlformats.org/officeDocument/2006/relationships/slide" Target="/ppt/slides/slide22.xml" Id="R89a76c5b847a4489" /><Relationship Type="http://schemas.openxmlformats.org/officeDocument/2006/relationships/slide" Target="/ppt/slides/slide23.xml" Id="Ra7650f04f32f4169" /><Relationship Type="http://schemas.openxmlformats.org/officeDocument/2006/relationships/slide" Target="/ppt/slides/slide24.xml" Id="R945f1e3521e94243" /><Relationship Type="http://schemas.openxmlformats.org/officeDocument/2006/relationships/slide" Target="/ppt/slides/slide25.xml" Id="Rfb6829fae47d46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3b7a546fbc48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6a87411a914013" /><Relationship Type="http://schemas.openxmlformats.org/officeDocument/2006/relationships/notesMaster" Target="/ppt/notesMasters/notesMaster1.xml" Id="R58f0ffc6a75f44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01943202aa40ae" /><Relationship Type="http://schemas.openxmlformats.org/officeDocument/2006/relationships/notesMaster" Target="/ppt/notesMasters/notesMaster1.xml" Id="R9f83d565f35347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a56b3cd22b41f3" /><Relationship Type="http://schemas.openxmlformats.org/officeDocument/2006/relationships/notesMaster" Target="/ppt/notesMasters/notesMaster1.xml" Id="R2c818d3f96464e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02e4b4e7014e73" /><Relationship Type="http://schemas.openxmlformats.org/officeDocument/2006/relationships/notesMaster" Target="/ppt/notesMasters/notesMaster1.xml" Id="Rb445b31a816a42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bde04ecc234181" /><Relationship Type="http://schemas.openxmlformats.org/officeDocument/2006/relationships/notesMaster" Target="/ppt/notesMasters/notesMaster1.xml" Id="R616f6cde2af84b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085a23d58c204dc9" /><Relationship Type="http://schemas.openxmlformats.org/officeDocument/2006/relationships/notesMaster" Target="/ppt/notesMasters/notesMaster1.xml" Id="R7af8a844c1bb4915" /></Relationships>
</file>

<file path=ppt/notesSlides/_rels/notesSlide7.xml.rels>&#65279;<?xml version="1.0" encoding="utf-8"?><Relationships xmlns="http://schemas.openxmlformats.org/package/2006/relationships"><Relationship Type="http://schemas.openxmlformats.org/officeDocument/2006/relationships/slide" Target="/ppt/slides/slide7.xml" Id="Rc3a4fdab5bbb4529" /><Relationship Type="http://schemas.openxmlformats.org/officeDocument/2006/relationships/notesMaster" Target="/ppt/notesMasters/notesMaster1.xml" Id="R0b83aeadae4c41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09b2ee57a648e7" /><Relationship Type="http://schemas.openxmlformats.org/officeDocument/2006/relationships/notesMaster" Target="/ppt/notesMasters/notesMaster1.xml" Id="R7204b0ed29b84e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710daaf8709e4c37" /><Relationship Type="http://schemas.openxmlformats.org/officeDocument/2006/relationships/notesMaster" Target="/ppt/notesMasters/notesMaster1.xml" Id="R5e10289a36f24f0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ed49743726b436e" /><Relationship Type="http://schemas.openxmlformats.org/officeDocument/2006/relationships/notesMaster" Target="/ppt/notesMasters/notesMaster1.xml" Id="Rc949a3184cba4a3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069276abfc94aa4" /><Relationship Type="http://schemas.openxmlformats.org/officeDocument/2006/relationships/notesMaster" Target="/ppt/notesMasters/notesMaster1.xml" Id="R4d5543fb6efd43a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f49deb2d2d14fdf" /><Relationship Type="http://schemas.openxmlformats.org/officeDocument/2006/relationships/notesMaster" Target="/ppt/notesMasters/notesMaster1.xml" Id="R4bf69a60219d484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b00c0f9263d45f6" /><Relationship Type="http://schemas.openxmlformats.org/officeDocument/2006/relationships/notesMaster" Target="/ppt/notesMasters/notesMaster1.xml" Id="R229bcf78fbf0472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468a2f0b1824160" /><Relationship Type="http://schemas.openxmlformats.org/officeDocument/2006/relationships/notesMaster" Target="/ppt/notesMasters/notesMaster1.xml" Id="R966dcf0d36c946b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308245a840d4a93" /><Relationship Type="http://schemas.openxmlformats.org/officeDocument/2006/relationships/notesMaster" Target="/ppt/notesMasters/notesMaster1.xml" Id="R8b294650e34e4b3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971dd029c024e3c" /><Relationship Type="http://schemas.openxmlformats.org/officeDocument/2006/relationships/notesMaster" Target="/ppt/notesMasters/notesMaster1.xml" Id="Rbe33430a0df748b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91037dd2fad485a" /><Relationship Type="http://schemas.openxmlformats.org/officeDocument/2006/relationships/notesMaster" Target="/ppt/notesMasters/notesMaster1.xml" Id="R5774434d7244470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2954ef6e9354140" /><Relationship Type="http://schemas.openxmlformats.org/officeDocument/2006/relationships/notesMaster" Target="/ppt/notesMasters/notesMaster1.xml" Id="R86373096fe6a4c3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fd63270c48b4f03" /><Relationship Type="http://schemas.openxmlformats.org/officeDocument/2006/relationships/notesMaster" Target="/ppt/notesMasters/notesMaster1.xml" Id="R09ad350a1be2403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340154b249e43db" /><Relationship Type="http://schemas.openxmlformats.org/officeDocument/2006/relationships/notesMaster" Target="/ppt/notesMasters/notesMaster1.xml" Id="R5a9552e89ddd429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832984f979d45a9" /><Relationship Type="http://schemas.openxmlformats.org/officeDocument/2006/relationships/notesMaster" Target="/ppt/notesMasters/notesMaster1.xml" Id="Raf66cccfd413462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ed619cf49424aa5" /><Relationship Type="http://schemas.openxmlformats.org/officeDocument/2006/relationships/notesMaster" Target="/ppt/notesMasters/notesMaster1.xml" Id="R06a54cae20654ab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0a4f178c7384557" /><Relationship Type="http://schemas.openxmlformats.org/officeDocument/2006/relationships/notesMaster" Target="/ppt/notesMasters/notesMaster1.xml" Id="Rb9c27a370c0e4dc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47cf38dd3f04ec1" /><Relationship Type="http://schemas.openxmlformats.org/officeDocument/2006/relationships/notesMaster" Target="/ppt/notesMasters/notesMaster1.xml" Id="Rb525ec9388d8452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6c89703a3634ae0" /><Relationship Type="http://schemas.openxmlformats.org/officeDocument/2006/relationships/notesMaster" Target="/ppt/notesMasters/notesMaster1.xml" Id="R39ebeec803c148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Giới thiệu nhóm bốn người và Cô Ho Thi Linh. Nêu đề tài phân tích thành tích học sinh từ dữ liệu công khai; báo cáo cuối kỳ ngày 20/10/2026. Không gọi đây là dữ liệu sinh viên TDTU.</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Trình bày bốn câu hỏi tương ứng bốn phần đề. Điểm nhấn là phân tích mô tả có thể chạy lại, có nguồn gốc dữ liệu và có giới hạn rõ ràng. Chuyển sang dataset trước khi giải thích kỹ thuật.</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Nguồn UCI Student Performance, chỉ file student-por.csv. Có 649 bản ghi, 33 cột, không thiếu ở nguồn. GP423 và MS226. Không gộp môn Toán vì có học sinh trùng giữa hai file. Nêu thang lý thuyết0–20 khác miền quan sát0–19.</a:t>
            </a:r>
          </a:p>
          <a:p xmlns:a="http://schemas.openxmlformats.org/drawingml/2006/main">
            <a:r>
              <a:t>Nguồn: Cortez (2008), https://doi.org/10.24432/C5TG7T; references/student.txt.</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Mở notebook mục I.1 và I.2. Giải thích delimiter chấm phẩy, kiểm checksum, shape, dtypes và info. Hiển thị cả đầu và cuối dữ liệu giúp phát hiện parse sai. Integer storage không có nghĩa studytime là số giờ thực.</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Giải thích 5%×649=32,45; lấy32 ô nên4,93%. Che duy nhất absences, cùng mask cho hai nhánh. Seed42 tái lập; MCAR chỉ là giả lập. Tất cả kết luận chính dùng raw đã kiểm.</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Bảng này lấy từ output chạy thật. Mean imputation dùng mean của617 giá trị chưa bị che:3,623987. Giữ649 dòng nhưng giảm phân tán và tạo số lần vắng lẻ. Dropna còn617. Cả hai bắt đầu từ cùng corrupted, không drop sau fillna.</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Chứng minh Series→list→lọc bằng Python. Có549 điểm≥10 theo quy ước bài phân tích. Regex fullmatch lấy đúngG1/G2/G3, loạiG12 vàG3_extra. Không cần bịa ID cá nhân hoặc dữ liệu bẩn.</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Giải thích loc theo nhãn có bao gồm cận cuối9, iloc theo vị trí. Bộ lọc studytime≥2 và absences≤5 cho334/649=51,46%. Nhấn mạnh ngưỡng minh họa, không phải quy tắc can thiệp.</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Giải thích từng cột và thao tác insert ngay trước G3. prior_grade_mean không chứa G3; grade_progress là chênh lệch giữa hai kỳ, không tự nó chứng minh tiến bộ do can thiệp. performance_band gồm 0–9, 10–14, 15–20 là nhóm tự quy ước. Vì chứa outcome, cột này không được xếp hạng như một yếu tố giải thích.</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30 giây.</a:t>
            </a:r>
          </a:p>
          <a:p xmlns:a="http://schemas.openxmlformats.org/drawingml/2006/main">
            <a:r>
              <a:t>Notebook và báo cáo có đủ count, mean, std, min, max cho cả G1, G2, G3 theo trường. Slide trích G3 và cỡ mẫu để đọc được. GP có 423 bản ghi, MS có 226; trung bình và độ phân tán khác nhau nhưng chưa điều chỉnh yếu tố khác. Chuẩn hóa min–max dùng transform trong từng trường và giữ đúng index; nhóm hằng trả 0. Đây là thang tương đối trong nhóm.</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Có ma trận Pearson cho 16 biến số gốc và bảng Spearman bổ sung. G2 có rho khoảng 0,94445 và là điểm kỳ trước; không trình bày như một phát hiện mới về hoàn cảnh. failures có rho khoảng −0,44836, lớn nhất về trị tuyệt đối trong nhóm biến hoàn cảnh dạng số/thứ bậc đã xét. Đây không phải feature importance của mô hình đa biến. Không so mean difference của biến định tính trực tiếp với rho.</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Histogram trong notebook dùng sns.histplot với bin một điểm. Slide dùng cùng bảng tần số đã xuất ở dạng chart chỉnh sửa được. Mean khoảng 11,906; median 12; sample SD khoảng 3,231. Giữ điểm 0 như một kết quả quan sát. Trục giữ toàn thang lý thuyết 0–20, kể cả bin rỗng.</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Box plot trong notebook dùng Seaborn. Q1, median, Q3, whiskers và outliers được xuất theo cùng quy tắc 1,5 IQR. Slide dùng các đối tượng chỉnh sửa được dựng từ thống kê này để tránh khác biệt quy tắc quartile của Office. Median GP là 13, MS là 11. Khác biệt nhóm chưa điều chỉnh không chứng minh tác động của trường.</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So sánh mean G3 theo studytime 1–4. Bảng gốc có count và SD; các cỡ nhóm lần lượt là 212, 305, 97, 35. Nhãn trên slide giữ cả khoảng giờ và n. Nhóm trên 10 giờ nhỏ nhất. Không suy ra rằng một người học thêm giờ sẽ đạt đúng chênh lệch trung bình quan sát này.</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Pie chart sử dụng đúng cột tạo ở Phần II. Nhóm 0–9 có 100 bản ghi, 15,41%; 10–14 có 418, 64,41%; 15–20 có 131, 20,18%. Đây là dải điểm do nhóm quy ước để mô tả, không phải hệ thống xếp loại chính thức. Tổng count là 649 và phần trăm tổng 100 trước làm tròn.</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Notebook dùng sns.regplot, ci=None, và độ trong suốt để thấy các tọa độ chồng nhau. Tọa độ đường fit được xuất từ lần chạy Seaborn và dùng lại trên slide. Rho khoảng 0,9445 là liên hệ, không phải nhân quả. G2 và G3 là các kỳ đánh giá liên quan nhau về thời gian và nội dung.</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Chỉ rõ cell III.4: dữ liệu chuyển thành list/dictionary, rồi dùng Matplotlib bar và bar_label. Giá trị là mean G1/G2 của năm bản ghi đầu, không chứa G3. Nhãn 1–5 là vị trí dòng nguồn, không phải mã hay tên cá nhân. Ví dụ nhỏ này minh họa thao tác Python và vẽ, không đại diện cho toàn bộ dataset.</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30 giây.</a:t>
            </a:r>
          </a:p>
          <a:p xmlns:a="http://schemas.openxmlformats.org/drawingml/2006/main">
            <a:r>
              <a:t>Hàm comprehensive_report(df) vừa in nội dung dễ đọc vừa trả dictionary để dùng lại đúng số liệu. Có 37 cột: 33 cột gốc và 4 cột dẫn xuất. Top/bottom giữ đúng 10 dòng; stable sort giữ thứ tự nguồn khi đồng hạng. Tất cả 37 cột có trong notebook và CSV; slide chỉ trích các cột có thể đọc được.</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3 phút.</a:t>
            </a:r>
          </a:p>
          <a:p xmlns:a="http://schemas.openxmlformats.org/drawingml/2006/main">
            <a:r>
              <a:t>Demo trong 3 phút: (1) mở I.3, chỉ mask 32 ô và hai kết quả mean/dropna 649/617; (2) mở II.2 và II.4, chỉ insert và transform; (3) mở IV.1 và IV.2, gọi comprehensive_report rồi xem bảng đủ cột. Chạy toàn bộ từ kernel sạch trước buổi báo cáo để kiểm tái lập. Nếu demo gặp lỗi, dùng outputs đã lưu, không chờ tải dữ liệu. Xem Demo_VI.md để có lời dẫn và mốc thời gian.</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30 giây.</a:t>
            </a:r>
          </a:p>
          <a:p xmlns:a="http://schemas.openxmlformats.org/drawingml/2006/main">
            <a:r>
              <a:t>Chốt phân bố điểm, liên hệ với G2 và failure categories. Nhắc giới hạn: hai trường ở Bồ Đào Nha, không đại diện TDTU; chưa điều chỉnh đa biến; không chứng minh nhân quả; chỉ một mô phỏng MCAR. Gợi ý nghiên cứu hỗ trợ học sinh là một hướng cần kiểm chứng, chưa có effect size hay mức lợi ích dự kiến.</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30 giây.</a:t>
            </a:r>
          </a:p>
          <a:p xmlns:a="http://schemas.openxmlformats.org/drawingml/2006/main">
            <a:r>
              <a:t>Nêu dataset và tài liệu chính thức của các thư viện. Codebook, mã nguồn và manifest có trong gói nộp. Biểu đồ phân tích sinh từ notebook; logo giữ nguồn chuẩn của trường. Trích dẫn dữ liệu theo CC BY 4.0 và chuyển sang hỏi đáp.</a:t>
            </a:r>
          </a:p>
          <a:p xmlns:a="http://schemas.openxmlformats.org/drawingml/2006/main">
            <a:r>
              <a:t>Nguồn: URLs displayed on this slide.</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Theo giảng viên.</a:t>
            </a:r>
          </a:p>
          <a:p xmlns:a="http://schemas.openxmlformats.org/drawingml/2006/main">
            <a:r>
              <a:t>Mời giảng viên hỏi. Chuẩn bị giải thích vì sao 32 ô chỉ là 4,93%; mean imputation thay đổi độ phân tán; tương quan G2 không chứng minh nhân quả; normalization trong nhóm không tạo thang điểm tuyệt đối; stable top ten xử lý đồng hạng ra sao. Xem Viva_VI.md.</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Dự phòng.</a:t>
            </a:r>
          </a:p>
          <a:p xmlns:a="http://schemas.openxmlformats.org/drawingml/2006/main">
            <a:r>
              <a:t>Bảng trên slide chọn một số cột để đọc được. Tất cả 37 cột nằm trong notebook và CSV. Source index dùng zero-based. Đồng hạng giữ thứ tự dòng nguồn; bản ghi đồng điểm bị loại không kém hơn hay tốt hơn về G3.</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Dự phòng.</a:t>
            </a:r>
          </a:p>
          <a:p xmlns:a="http://schemas.openxmlformats.org/drawingml/2006/main">
            <a:r>
              <a:t>Bảng trên slide chọn một số cột để đọc được. Tất cả 37 cột nằm trong notebook và CSV. Source index dùng zero-based. Đồng hạng giữ thứ tự dòng nguồn; bản ghi đồng điểm bị loại không kém hơn hay tốt hơn về G3.</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Dự phòng.</a:t>
            </a:r>
          </a:p>
          <a:p xmlns:a="http://schemas.openxmlformats.org/drawingml/2006/main">
            <a:r>
              <a:t>Bảng độ nhạy hiển thị sample SD của absences, rho với G3 và số dòng thỏa bộ lọc. Dùng cùng mask cho mọi phương pháp. Denominator raw là 649, dropna là 617. Fixture nhóm hằng trả 0; kiểm ngưỡng band tại 0, 9, 10, 14, 15, 20. Giữ nguyên mã failures và ghi chú sự mơ hồ trong codebook, không sửa ngầm.</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f59dab804943d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c4617e2575948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2ac6d231456446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6d4201335034a1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31bb431c7f346a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4dbdc9696744a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7BCA52-30AE-4CA9-BA6F-EB1C39F18C0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E79DBD6-E6E1-4828-9D0E-CDE19993EE2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E413DD7-139F-4B1F-B8BD-C468E34789A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D6FBB1-0D19-4ADC-A0DC-2F31E0C686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D2632F6-558F-41C0-978F-D3AC64FDD5B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03D1B6E-830A-4AFC-8FC9-EDA2D0C3E4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D41445E-33DE-44CD-8901-F7D59C2F30F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DC3FF43-3851-4885-85AD-D661CA94E1E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CB54D8-82CA-412E-A458-66AF9D44A5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1562B2-2FA3-457B-A42B-D49E5E4967C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16529ae2624ec5" /><Relationship Type="http://schemas.openxmlformats.org/officeDocument/2006/relationships/slideLayout" Target="/ppt/slideLayouts/slideLayout1.xml" Id="R13e4c2addabc4879" /><Relationship Type="http://schemas.openxmlformats.org/officeDocument/2006/relationships/slideLayout" Target="/ppt/slideLayouts/slideLayout2.xml" Id="R3bc84d56b92340b1" /><Relationship Type="http://schemas.openxmlformats.org/officeDocument/2006/relationships/slideLayout" Target="/ppt/slideLayouts/slideLayout3.xml" Id="Rb59fa8fcc88747fe" /><Relationship Type="http://schemas.openxmlformats.org/officeDocument/2006/relationships/slideLayout" Target="/ppt/slideLayouts/slideLayout4.xml" Id="R103305a50dcd4d64" /><Relationship Type="http://schemas.openxmlformats.org/officeDocument/2006/relationships/slideLayout" Target="/ppt/slideLayouts/slideLayout5.xml" Id="R8b1b1e00313c4b30" /><Relationship Type="http://schemas.openxmlformats.org/officeDocument/2006/relationships/slideLayout" Target="/ppt/slideLayouts/slideLayout6.xml" Id="Rc176c29e52264c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e4c2addabc4879"/>
    <p:sldLayoutId xmlns:r="http://schemas.openxmlformats.org/officeDocument/2006/relationships" id="2147483650" r:id="R3bc84d56b92340b1"/>
    <p:sldLayoutId xmlns:r="http://schemas.openxmlformats.org/officeDocument/2006/relationships" id="2147483651" r:id="Rb59fa8fcc88747fe"/>
    <p:sldLayoutId xmlns:r="http://schemas.openxmlformats.org/officeDocument/2006/relationships" id="2147483652" r:id="R103305a50dcd4d64"/>
    <p:sldLayoutId xmlns:r="http://schemas.openxmlformats.org/officeDocument/2006/relationships" id="2147483653" r:id="R8b1b1e00313c4b30"/>
    <p:sldLayoutId xmlns:r="http://schemas.openxmlformats.org/officeDocument/2006/relationships" id="2147483654" r:id="Rc176c29e52264c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4930b871ae648b5" /><Relationship Type="http://schemas.openxmlformats.org/officeDocument/2006/relationships/image" Target="/ppt/media/image.png" Id="R5c3a5f3df8c5422f" /><Relationship Type="http://schemas.openxmlformats.org/officeDocument/2006/relationships/notesSlide" Target="/ppt/notesSlides/notesSlide1.xml" Id="R9e97eb6201c64c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32b2ff1d94f439a" /><Relationship Type="http://schemas.openxmlformats.org/officeDocument/2006/relationships/image" Target="/ppt/media/image2.png" Id="R209189e215144d79" /><Relationship Type="http://schemas.openxmlformats.org/officeDocument/2006/relationships/notesSlide" Target="/ppt/notesSlides/notesSlide2.xml" Id="R910fa8f77e4743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a4f45ac6e504ee5" /><Relationship Type="http://schemas.openxmlformats.org/officeDocument/2006/relationships/image" Target="/ppt/media/image3.png" Id="Rd30e9591dd524739" /><Relationship Type="http://schemas.openxmlformats.org/officeDocument/2006/relationships/notesSlide" Target="/ppt/notesSlides/notesSlide3.xml" Id="R8a735d75218447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f61d7c5228a4ef7" /><Relationship Type="http://schemas.openxmlformats.org/officeDocument/2006/relationships/image" Target="/ppt/media/image4.png" Id="Re50a1a00e2ba4431" /><Relationship Type="http://schemas.openxmlformats.org/officeDocument/2006/relationships/notesSlide" Target="/ppt/notesSlides/notesSlide4.xml" Id="R06cc88fcc2bd453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4899140c5814666" /><Relationship Type="http://schemas.openxmlformats.org/officeDocument/2006/relationships/image" Target="/ppt/media/image5.png" Id="Rf6060a799f2a4601" /><Relationship Type="http://schemas.openxmlformats.org/officeDocument/2006/relationships/notesSlide" Target="/ppt/notesSlides/notesSlide5.xml" Id="Rc1a851b290564e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f5d033f6dac484a" /><Relationship Type="http://schemas.openxmlformats.org/officeDocument/2006/relationships/image" Target="/ppt/media/image6.png" Id="R0ea567e63e214ec5" /><Relationship Type="http://schemas.openxmlformats.org/officeDocument/2006/relationships/notesSlide" Target="/ppt/notesSlides/notesSlide6.xml" Id="R764d1d0fadef47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c38e9a5c4f344ce" /><Relationship Type="http://schemas.openxmlformats.org/officeDocument/2006/relationships/image" Target="/ppt/media/image7.png" Id="Rc0fdbaad55954a26" /><Relationship Type="http://schemas.openxmlformats.org/officeDocument/2006/relationships/notesSlide" Target="/ppt/notesSlides/notesSlide7.xml" Id="R24135ad85621410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4944dd4f4204e44" /><Relationship Type="http://schemas.openxmlformats.org/officeDocument/2006/relationships/image" Target="/ppt/media/image8.png" Id="Re1b1cadbd65744ca" /><Relationship Type="http://schemas.openxmlformats.org/officeDocument/2006/relationships/notesSlide" Target="/ppt/notesSlides/notesSlide8.xml" Id="R13cea7aa4d6d445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076ffa383194d00" /><Relationship Type="http://schemas.openxmlformats.org/officeDocument/2006/relationships/image" Target="/ppt/media/image9.png" Id="R614c66a9db094cc1" /><Relationship Type="http://schemas.openxmlformats.org/officeDocument/2006/relationships/notesSlide" Target="/ppt/notesSlides/notesSlide9.xml" Id="Rb3fd65f9723c4d4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c84236f70224d01" /><Relationship Type="http://schemas.openxmlformats.org/officeDocument/2006/relationships/image" Target="/ppt/media/image10.png" Id="Re2d0e092b9d14bad" /><Relationship Type="http://schemas.openxmlformats.org/officeDocument/2006/relationships/notesSlide" Target="/ppt/notesSlides/notesSlide10.xml" Id="Ra0f8a2ea732441f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27a279cc63548ea" /><Relationship Type="http://schemas.openxmlformats.org/officeDocument/2006/relationships/image" Target="/ppt/media/image11.png" Id="Re0d3f89239994045" /><Relationship Type="http://schemas.openxmlformats.org/officeDocument/2006/relationships/notesSlide" Target="/ppt/notesSlides/notesSlide11.xml" Id="R709d7b870fe54f8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23dd9bf7c7848c8" /><Relationship Type="http://schemas.openxmlformats.org/officeDocument/2006/relationships/image" Target="/ppt/media/image12.png" Id="Ra2ea970e6ce34c7d" /><Relationship Type="http://schemas.openxmlformats.org/officeDocument/2006/relationships/chart" Target="/ppt/slides/charts/chart1.xml" Id="R0724bbc2eaeb4e80" /><Relationship Type="http://schemas.openxmlformats.org/officeDocument/2006/relationships/notesSlide" Target="/ppt/notesSlides/notesSlide12.xml" Id="R47ff974539fd487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83ef5e8dfb04843" /><Relationship Type="http://schemas.openxmlformats.org/officeDocument/2006/relationships/image" Target="/ppt/media/image13.png" Id="R0975a6067bc54b4a" /><Relationship Type="http://schemas.openxmlformats.org/officeDocument/2006/relationships/notesSlide" Target="/ppt/notesSlides/notesSlide13.xml" Id="Rc6f9e09f6bb542b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aaab7a50caf4c11" /><Relationship Type="http://schemas.openxmlformats.org/officeDocument/2006/relationships/image" Target="/ppt/media/image14.png" Id="R8facd593605a432d" /><Relationship Type="http://schemas.openxmlformats.org/officeDocument/2006/relationships/chart" Target="/ppt/slides/charts/chart2.xml" Id="R88146afe32034fa6" /><Relationship Type="http://schemas.openxmlformats.org/officeDocument/2006/relationships/notesSlide" Target="/ppt/notesSlides/notesSlide14.xml" Id="R422762c65f8e483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a997658c2e74b47" /><Relationship Type="http://schemas.openxmlformats.org/officeDocument/2006/relationships/image" Target="/ppt/media/image15.png" Id="Raf069c7d4eba4bc2" /><Relationship Type="http://schemas.openxmlformats.org/officeDocument/2006/relationships/chart" Target="/ppt/slides/charts/chart3.xml" Id="R4960f1e7381b4fa0" /><Relationship Type="http://schemas.openxmlformats.org/officeDocument/2006/relationships/notesSlide" Target="/ppt/notesSlides/notesSlide15.xml" Id="R4489ae88d1bf45b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50080700f124fac" /><Relationship Type="http://schemas.openxmlformats.org/officeDocument/2006/relationships/image" Target="/ppt/media/image16.png" Id="Rfedcc7322b6a4c27" /><Relationship Type="http://schemas.openxmlformats.org/officeDocument/2006/relationships/chart" Target="/ppt/slides/charts/chart4.xml" Id="R20f7d26653ac4b22" /><Relationship Type="http://schemas.openxmlformats.org/officeDocument/2006/relationships/notesSlide" Target="/ppt/notesSlides/notesSlide16.xml" Id="Rdaf34c49b0ba440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bbc0975b61748d8" /><Relationship Type="http://schemas.openxmlformats.org/officeDocument/2006/relationships/image" Target="/ppt/media/image17.png" Id="Rc8f55c6022574d04" /><Relationship Type="http://schemas.openxmlformats.org/officeDocument/2006/relationships/chart" Target="/ppt/slides/charts/chart5.xml" Id="R90d0c87bcbc441d0" /><Relationship Type="http://schemas.openxmlformats.org/officeDocument/2006/relationships/notesSlide" Target="/ppt/notesSlides/notesSlide17.xml" Id="R23e4173858da44f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c4e19c9049342e5" /><Relationship Type="http://schemas.openxmlformats.org/officeDocument/2006/relationships/image" Target="/ppt/media/image18.png" Id="R8693b0c7bd6e4eee" /><Relationship Type="http://schemas.openxmlformats.org/officeDocument/2006/relationships/notesSlide" Target="/ppt/notesSlides/notesSlide18.xml" Id="R80e0f271345d477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e5f042333f64c16" /><Relationship Type="http://schemas.openxmlformats.org/officeDocument/2006/relationships/image" Target="/ppt/media/image19.png" Id="R1267b9cd88334de7" /><Relationship Type="http://schemas.openxmlformats.org/officeDocument/2006/relationships/notesSlide" Target="/ppt/notesSlides/notesSlide19.xml" Id="R6b7c67a00c574fc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29e1c3ea6154bc6" /><Relationship Type="http://schemas.openxmlformats.org/officeDocument/2006/relationships/image" Target="/ppt/media/image20.png" Id="Rd753dfb664294b77" /><Relationship Type="http://schemas.openxmlformats.org/officeDocument/2006/relationships/notesSlide" Target="/ppt/notesSlides/notesSlide20.xml" Id="R87d5e364710e46d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9760a9aa5d94341" /><Relationship Type="http://schemas.openxmlformats.org/officeDocument/2006/relationships/image" Target="/ppt/media/image21.png" Id="R2b320fcc0ac6480f" /><Relationship Type="http://schemas.openxmlformats.org/officeDocument/2006/relationships/notesSlide" Target="/ppt/notesSlides/notesSlide21.xml" Id="Rf9906656baaa4dc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2db52d1edc24bd1" /><Relationship Type="http://schemas.openxmlformats.org/officeDocument/2006/relationships/image" Target="/ppt/media/image22.png" Id="Rb4054b4308e7413a" /><Relationship Type="http://schemas.openxmlformats.org/officeDocument/2006/relationships/notesSlide" Target="/ppt/notesSlides/notesSlide22.xml" Id="R2b16f58108fb494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fb12d1be0974d27" /><Relationship Type="http://schemas.openxmlformats.org/officeDocument/2006/relationships/image" Target="/ppt/media/image23.png" Id="R6a3adcb45888458e" /><Relationship Type="http://schemas.openxmlformats.org/officeDocument/2006/relationships/notesSlide" Target="/ppt/notesSlides/notesSlide23.xml" Id="R1b27793cc16b47b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3b9e51328044293" /><Relationship Type="http://schemas.openxmlformats.org/officeDocument/2006/relationships/image" Target="/ppt/media/image24.png" Id="R57ee853f465d46da" /><Relationship Type="http://schemas.openxmlformats.org/officeDocument/2006/relationships/notesSlide" Target="/ppt/notesSlides/notesSlide24.xml" Id="Ra159dfbddcbe441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23ecea8741241b5" /><Relationship Type="http://schemas.openxmlformats.org/officeDocument/2006/relationships/image" Target="/ppt/media/image25.png" Id="R0f742d03c4ad4e37" /><Relationship Type="http://schemas.openxmlformats.org/officeDocument/2006/relationships/notesSlide" Target="/ppt/notesSlides/notesSlide25.xml" Id="Re62156846ca44b5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Records</c:v>
          </c:tx>
          <c:spPr>
            <a:solidFill xmlns:a="http://schemas.openxmlformats.org/drawingml/2006/main">
              <a:srgbClr val="888888"/>
            </a:solidFill>
            <a:ln xmlns:a="http://schemas.openxmlformats.org/drawingml/2006/main" w="9525">
              <a:solidFill>
                <a:srgbClr val="000000"/>
              </a:solidFill>
              <a:prstDash val="solid"/>
            </a:ln>
          </c:spPr>
          <c:invertIfNegative val="0"/>
          <c:cat>
            <c:numRef>
              <c:f>'Chart Data'!$A$2:$A$22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'Chart Data'!$B$2:$B$22</c:f>
              <c:numCache>
                <c:formatCode>General</c:formatCode>
                <c:ptCount val="21"/>
                <c:pt idx="0">
                  <c:v>15</c:v>
                </c:pt>
                <c:pt idx="1">
                  <c:v>1</c:v>
                </c:pt>
                <c:pt idx="2">
                  <c:v>0</c:v>
                </c:pt>
                <c:pt idx="3">
                  <c:v>0</c:v>
                </c:pt>
                <c:pt idx="4">
                  <c:v>0</c:v>
                </c:pt>
                <c:pt idx="5">
                  <c:v>1</c:v>
                </c:pt>
                <c:pt idx="6">
                  <c:v>3</c:v>
                </c:pt>
                <c:pt idx="7">
                  <c:v>10</c:v>
                </c:pt>
                <c:pt idx="8">
                  <c:v>35</c:v>
                </c:pt>
                <c:pt idx="9">
                  <c:v>35</c:v>
                </c:pt>
                <c:pt idx="10">
                  <c:v>97</c:v>
                </c:pt>
                <c:pt idx="11">
                  <c:v>104</c:v>
                </c:pt>
                <c:pt idx="12">
                  <c:v>72</c:v>
                </c:pt>
                <c:pt idx="13">
                  <c:v>82</c:v>
                </c:pt>
                <c:pt idx="14">
                  <c:v>63</c:v>
                </c:pt>
                <c:pt idx="15">
                  <c:v>49</c:v>
                </c:pt>
                <c:pt idx="16">
                  <c:v>36</c:v>
                </c:pt>
                <c:pt idx="17">
                  <c:v>29</c:v>
                </c:pt>
                <c:pt idx="18">
                  <c:v>15</c:v>
                </c:pt>
                <c:pt idx="19">
                  <c:v>2</c:v>
                </c:pt>
                <c:pt idx="20">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G3 final grade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Number of records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Mean G3</c:v>
          </c:tx>
          <c:spPr>
            <a:solidFill xmlns:a="http://schemas.openxmlformats.org/drawingml/2006/main">
              <a:srgbClr val="999999"/>
            </a:solidFill>
            <a:ln xmlns:a="http://schemas.openxmlformats.org/drawingml/2006/main" w="9525">
              <a:solidFill>
                <a:srgbClr val="000000"/>
              </a:solidFill>
              <a:prstDash val="solid"/>
            </a:ln>
          </c:spPr>
          <c:invertIfNegative val="0"/>
          <c:cat>
            <c:strRef>
              <c:f>'Chart Data'!$A$2:$A$5</c:f>
              <c:strCache>
                <c:ptCount val="4"/>
                <c:pt idx="0">
                  <c:v>&lt;2 h
n=212</c:v>
                </c:pt>
                <c:pt idx="1">
                  <c:v>2–5 h
n=305</c:v>
                </c:pt>
                <c:pt idx="2">
                  <c:v>5–10 h
n=97</c:v>
                </c:pt>
                <c:pt idx="3">
                  <c:v>&gt;10 h
n=35</c:v>
                </c:pt>
              </c:strCache>
            </c:strRef>
          </c:cat>
          <c:val>
            <c:numRef>
              <c:f>'Chart Data'!$B$2:$B$5</c:f>
              <c:numCache>
                <c:formatCode>General</c:formatCode>
                <c:ptCount val="4"/>
                <c:pt idx="0">
                  <c:v>10.8443396226</c:v>
                </c:pt>
                <c:pt idx="1">
                  <c:v>12.0918032787</c:v>
                </c:pt>
                <c:pt idx="2">
                  <c:v>13.2268041237</c:v>
                </c:pt>
                <c:pt idx="3">
                  <c:v>13.0571428571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Weekly study-time category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G3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pieChart>
        <c:ser>
          <c:idx val="0"/>
          <c:order val="0"/>
          <c:tx>
            <c:v>Records</c:v>
          </c:tx>
          <c:dPt>
            <c:idx val="0"/>
            <c:spPr>
              <a:solidFill xmlns:a="http://schemas.openxmlformats.org/drawingml/2006/main">
                <a:srgbClr val="EEEEEE"/>
              </a:solidFill>
              <a:ln xmlns:a="http://schemas.openxmlformats.org/drawingml/2006/main" w="9525">
                <a:solidFill>
                  <a:srgbClr val="000000"/>
                </a:solidFill>
                <a:prstDash val="solid"/>
              </a:ln>
            </c:spPr>
          </c:dPt>
          <c:dPt>
            <c:idx val="1"/>
            <c:spPr>
              <a:solidFill xmlns:a="http://schemas.openxmlformats.org/drawingml/2006/main">
                <a:srgbClr val="BBBBBB"/>
              </a:solidFill>
              <a:ln xmlns:a="http://schemas.openxmlformats.org/drawingml/2006/main" w="9525">
                <a:solidFill>
                  <a:srgbClr val="000000"/>
                </a:solidFill>
                <a:prstDash val="solid"/>
              </a:ln>
            </c:spPr>
          </c:dPt>
          <c:dPt>
            <c:idx val="2"/>
            <c:spPr>
              <a:solidFill xmlns:a="http://schemas.openxmlformats.org/drawingml/2006/main">
                <a:srgbClr val="888888"/>
              </a:solidFill>
              <a:ln xmlns:a="http://schemas.openxmlformats.org/drawingml/2006/main" w="9525">
                <a:solidFill>
                  <a:srgbClr val="000000"/>
                </a:solidFill>
                <a:prstDash val="solid"/>
              </a:ln>
            </c:spPr>
          </c:dPt>
          <c:cat>
            <c:strRef>
              <c:f>'Chart Data'!$A$2:$A$4</c:f>
              <c:strCache>
                <c:ptCount val="3"/>
                <c:pt idx="0">
                  <c:v>0–9</c:v>
                </c:pt>
                <c:pt idx="1">
                  <c:v>10–14</c:v>
                </c:pt>
                <c:pt idx="2">
                  <c:v>15–20</c:v>
                </c:pt>
              </c:strCache>
            </c:strRef>
          </c:cat>
          <c:val>
            <c:numRef>
              <c:f>'Chart Data'!$B$2:$B$4</c:f>
              <c:numCache>
                <c:formatCode>General</c:formatCode>
                <c:ptCount val="3"/>
                <c:pt idx="0">
                  <c:v>100</c:v>
                </c:pt>
                <c:pt idx="1">
                  <c:v>418</c:v>
                </c:pt>
                <c:pt idx="2">
                  <c:v>131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025" b="1">
                  <a:solidFill>
                    <a:srgbClr val="000000"/>
                  </a:solidFill>
                  <a:latin typeface="Arial"/>
                  <a:ea typeface="Arial"/>
                  <a:cs typeface="Arial"/>
                </a:defRPr>
              </a:pPr>
            </a:p>
          </c:txPr>
          <c:dLblPos val="bestFit"/>
          <c:showLegendKey val="0"/>
          <c:showVal val="0"/>
          <c:showCatName val="0"/>
          <c:showSerName val="0"/>
          <c:showPercent val="1"/>
          <c:showBubbleSize val="0"/>
          <c:showLeaderLines val="0"/>
        </c:dLbls>
      </c:pieChart>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 records</c:v>
          </c:tx>
          <c:spPr>
            <a:solidFill xmlns:a="http://schemas.openxmlformats.org/drawingml/2006/main">
              <a:srgbClr val="777777"/>
            </a:solidFill>
            <a:ln xmlns:a="http://schemas.openxmlformats.org/drawingml/2006/main" w="0">
              <a:noFill/>
            </a:ln>
          </c:spPr>
          <c:marker>
            <c:symbol val="circle"/>
            <c:size val="4"/>
            <c:spPr>
              <a:solidFill xmlns:a="http://schemas.openxmlformats.org/drawingml/2006/main">
                <a:srgbClr val="777777">
                  <a:alpha val="30000"/>
                </a:srgbClr>
              </a:solidFill>
            </c:spPr>
          </c:marker>
          <c:xVal>
            <c:numRef>
              <c:f>'Chart Data'!$A$2:$A$650</c:f>
              <c:numCache>
                <c:formatCode>General</c:formatCode>
                <c:ptCount val="649"/>
                <c:pt idx="0">
                  <c:v>11</c:v>
                </c:pt>
                <c:pt idx="1">
                  <c:v>11</c:v>
                </c:pt>
                <c:pt idx="2">
                  <c:v>13</c:v>
                </c:pt>
                <c:pt idx="3">
                  <c:v>14</c:v>
                </c:pt>
                <c:pt idx="4">
                  <c:v>13</c:v>
                </c:pt>
                <c:pt idx="5">
                  <c:v>12</c:v>
                </c:pt>
                <c:pt idx="6">
                  <c:v>12</c:v>
                </c:pt>
                <c:pt idx="7">
                  <c:v>13</c:v>
                </c:pt>
                <c:pt idx="8">
                  <c:v>16</c:v>
                </c:pt>
                <c:pt idx="9">
                  <c:v>12</c:v>
                </c:pt>
                <c:pt idx="10">
                  <c:v>14</c:v>
                </c:pt>
                <c:pt idx="11">
                  <c:v>12</c:v>
                </c:pt>
                <c:pt idx="12">
                  <c:v>13</c:v>
                </c:pt>
                <c:pt idx="13">
                  <c:v>12</c:v>
                </c:pt>
                <c:pt idx="14">
                  <c:v>14</c:v>
                </c:pt>
                <c:pt idx="15">
                  <c:v>17</c:v>
                </c:pt>
                <c:pt idx="16">
                  <c:v>13</c:v>
                </c:pt>
                <c:pt idx="17">
                  <c:v>14</c:v>
                </c:pt>
                <c:pt idx="18">
                  <c:v>8</c:v>
                </c:pt>
                <c:pt idx="19">
                  <c:v>12</c:v>
                </c:pt>
                <c:pt idx="20">
                  <c:v>13</c:v>
                </c:pt>
                <c:pt idx="21">
                  <c:v>12</c:v>
                </c:pt>
                <c:pt idx="22">
                  <c:v>13</c:v>
                </c:pt>
                <c:pt idx="23">
                  <c:v>10</c:v>
                </c:pt>
                <c:pt idx="24">
                  <c:v>11</c:v>
                </c:pt>
                <c:pt idx="25">
                  <c:v>11</c:v>
                </c:pt>
                <c:pt idx="26">
                  <c:v>12</c:v>
                </c:pt>
                <c:pt idx="27">
                  <c:v>11</c:v>
                </c:pt>
                <c:pt idx="28">
                  <c:v>12</c:v>
                </c:pt>
                <c:pt idx="29">
                  <c:v>11</c:v>
                </c:pt>
                <c:pt idx="30">
                  <c:v>11</c:v>
                </c:pt>
                <c:pt idx="31">
                  <c:v>15</c:v>
                </c:pt>
                <c:pt idx="32">
                  <c:v>14</c:v>
                </c:pt>
                <c:pt idx="33">
                  <c:v>12</c:v>
                </c:pt>
                <c:pt idx="34">
                  <c:v>12</c:v>
                </c:pt>
                <c:pt idx="35">
                  <c:v>11</c:v>
                </c:pt>
                <c:pt idx="36">
                  <c:v>14</c:v>
                </c:pt>
                <c:pt idx="37">
                  <c:v>13</c:v>
                </c:pt>
                <c:pt idx="38">
                  <c:v>12</c:v>
                </c:pt>
                <c:pt idx="39">
                  <c:v>13</c:v>
                </c:pt>
                <c:pt idx="40">
                  <c:v>11</c:v>
                </c:pt>
                <c:pt idx="41">
                  <c:v>11</c:v>
                </c:pt>
                <c:pt idx="42">
                  <c:v>15</c:v>
                </c:pt>
                <c:pt idx="43">
                  <c:v>10</c:v>
                </c:pt>
                <c:pt idx="44">
                  <c:v>11</c:v>
                </c:pt>
                <c:pt idx="45">
                  <c:v>11</c:v>
                </c:pt>
                <c:pt idx="46">
                  <c:v>12</c:v>
                </c:pt>
                <c:pt idx="47">
                  <c:v>17</c:v>
                </c:pt>
                <c:pt idx="48">
                  <c:v>12</c:v>
                </c:pt>
                <c:pt idx="49">
                  <c:v>12</c:v>
                </c:pt>
                <c:pt idx="50">
                  <c:v>13</c:v>
                </c:pt>
                <c:pt idx="51">
                  <c:v>14</c:v>
                </c:pt>
                <c:pt idx="52">
                  <c:v>9</c:v>
                </c:pt>
                <c:pt idx="53">
                  <c:v>12</c:v>
                </c:pt>
                <c:pt idx="54">
                  <c:v>12</c:v>
                </c:pt>
                <c:pt idx="55">
                  <c:v>13</c:v>
                </c:pt>
                <c:pt idx="56">
                  <c:v>14</c:v>
                </c:pt>
                <c:pt idx="57">
                  <c:v>15</c:v>
                </c:pt>
                <c:pt idx="58">
                  <c:v>13</c:v>
                </c:pt>
                <c:pt idx="59">
                  <c:v>15</c:v>
                </c:pt>
                <c:pt idx="60">
                  <c:v>16</c:v>
                </c:pt>
                <c:pt idx="61">
                  <c:v>10</c:v>
                </c:pt>
                <c:pt idx="62">
                  <c:v>13</c:v>
                </c:pt>
                <c:pt idx="63">
                  <c:v>13</c:v>
                </c:pt>
                <c:pt idx="64">
                  <c:v>12</c:v>
                </c:pt>
                <c:pt idx="65">
                  <c:v>15</c:v>
                </c:pt>
                <c:pt idx="66">
                  <c:v>12</c:v>
                </c:pt>
                <c:pt idx="67">
                  <c:v>9</c:v>
                </c:pt>
                <c:pt idx="68">
                  <c:v>10</c:v>
                </c:pt>
                <c:pt idx="69">
                  <c:v>15</c:v>
                </c:pt>
                <c:pt idx="70">
                  <c:v>11</c:v>
                </c:pt>
                <c:pt idx="71">
                  <c:v>9</c:v>
                </c:pt>
                <c:pt idx="72">
                  <c:v>11</c:v>
                </c:pt>
                <c:pt idx="73">
                  <c:v>13</c:v>
                </c:pt>
                <c:pt idx="74">
                  <c:v>11</c:v>
                </c:pt>
                <c:pt idx="75">
                  <c:v>11</c:v>
                </c:pt>
                <c:pt idx="76">
                  <c:v>11</c:v>
                </c:pt>
                <c:pt idx="77">
                  <c:v>13</c:v>
                </c:pt>
                <c:pt idx="78">
                  <c:v>9</c:v>
                </c:pt>
                <c:pt idx="79">
                  <c:v>11</c:v>
                </c:pt>
                <c:pt idx="80">
                  <c:v>11</c:v>
                </c:pt>
                <c:pt idx="81">
                  <c:v>9</c:v>
                </c:pt>
                <c:pt idx="82">
                  <c:v>11</c:v>
                </c:pt>
                <c:pt idx="83">
                  <c:v>12</c:v>
                </c:pt>
                <c:pt idx="84">
                  <c:v>12</c:v>
                </c:pt>
                <c:pt idx="85">
                  <c:v>11</c:v>
                </c:pt>
                <c:pt idx="86">
                  <c:v>11</c:v>
                </c:pt>
                <c:pt idx="87">
                  <c:v>15</c:v>
                </c:pt>
                <c:pt idx="88">
                  <c:v>10</c:v>
                </c:pt>
                <c:pt idx="89">
                  <c:v>9</c:v>
                </c:pt>
                <c:pt idx="90">
                  <c:v>11</c:v>
                </c:pt>
                <c:pt idx="91">
                  <c:v>13</c:v>
                </c:pt>
                <c:pt idx="92">
                  <c:v>13</c:v>
                </c:pt>
                <c:pt idx="93">
                  <c:v>14</c:v>
                </c:pt>
                <c:pt idx="94">
                  <c:v>12</c:v>
                </c:pt>
                <c:pt idx="95">
                  <c:v>13</c:v>
                </c:pt>
                <c:pt idx="96">
                  <c:v>11</c:v>
                </c:pt>
                <c:pt idx="97">
                  <c:v>12</c:v>
                </c:pt>
                <c:pt idx="98">
                  <c:v>13</c:v>
                </c:pt>
                <c:pt idx="99">
                  <c:v>13</c:v>
                </c:pt>
                <c:pt idx="100">
                  <c:v>9</c:v>
                </c:pt>
                <c:pt idx="101">
                  <c:v>16</c:v>
                </c:pt>
                <c:pt idx="102">
                  <c:v>13</c:v>
                </c:pt>
                <c:pt idx="103">
                  <c:v>10</c:v>
                </c:pt>
                <c:pt idx="104">
                  <c:v>16</c:v>
                </c:pt>
                <c:pt idx="105">
                  <c:v>10</c:v>
                </c:pt>
                <c:pt idx="106">
                  <c:v>10</c:v>
                </c:pt>
                <c:pt idx="107">
                  <c:v>14</c:v>
                </c:pt>
                <c:pt idx="108">
                  <c:v>10</c:v>
                </c:pt>
                <c:pt idx="109">
                  <c:v>15</c:v>
                </c:pt>
                <c:pt idx="110">
                  <c:v>14</c:v>
                </c:pt>
                <c:pt idx="111">
                  <c:v>11</c:v>
                </c:pt>
                <c:pt idx="112">
                  <c:v>10</c:v>
                </c:pt>
                <c:pt idx="113">
                  <c:v>17</c:v>
                </c:pt>
                <c:pt idx="114">
                  <c:v>9</c:v>
                </c:pt>
                <c:pt idx="115">
                  <c:v>14</c:v>
                </c:pt>
                <c:pt idx="116">
                  <c:v>15</c:v>
                </c:pt>
                <c:pt idx="117">
                  <c:v>14</c:v>
                </c:pt>
                <c:pt idx="118">
                  <c:v>11</c:v>
                </c:pt>
                <c:pt idx="119">
                  <c:v>13</c:v>
                </c:pt>
                <c:pt idx="120">
                  <c:v>14</c:v>
                </c:pt>
                <c:pt idx="121">
                  <c:v>13</c:v>
                </c:pt>
                <c:pt idx="122">
                  <c:v>12</c:v>
                </c:pt>
                <c:pt idx="123">
                  <c:v>13</c:v>
                </c:pt>
                <c:pt idx="124">
                  <c:v>11</c:v>
                </c:pt>
                <c:pt idx="125">
                  <c:v>9</c:v>
                </c:pt>
                <c:pt idx="126">
                  <c:v>11</c:v>
                </c:pt>
                <c:pt idx="127">
                  <c:v>10</c:v>
                </c:pt>
                <c:pt idx="128">
                  <c:v>14</c:v>
                </c:pt>
                <c:pt idx="129">
                  <c:v>12</c:v>
                </c:pt>
                <c:pt idx="130">
                  <c:v>11</c:v>
                </c:pt>
                <c:pt idx="131">
                  <c:v>9</c:v>
                </c:pt>
                <c:pt idx="132">
                  <c:v>10</c:v>
                </c:pt>
                <c:pt idx="133">
                  <c:v>12</c:v>
                </c:pt>
                <c:pt idx="134">
                  <c:v>12</c:v>
                </c:pt>
                <c:pt idx="135">
                  <c:v>13</c:v>
                </c:pt>
                <c:pt idx="136">
                  <c:v>9</c:v>
                </c:pt>
                <c:pt idx="137">
                  <c:v>11</c:v>
                </c:pt>
                <c:pt idx="138">
                  <c:v>11</c:v>
                </c:pt>
                <c:pt idx="139">
                  <c:v>14</c:v>
                </c:pt>
                <c:pt idx="140">
                  <c:v>9</c:v>
                </c:pt>
                <c:pt idx="141">
                  <c:v>13</c:v>
                </c:pt>
                <c:pt idx="142">
                  <c:v>11</c:v>
                </c:pt>
                <c:pt idx="143">
                  <c:v>11</c:v>
                </c:pt>
                <c:pt idx="144">
                  <c:v>11</c:v>
                </c:pt>
                <c:pt idx="145">
                  <c:v>9</c:v>
                </c:pt>
                <c:pt idx="146">
                  <c:v>10</c:v>
                </c:pt>
                <c:pt idx="147">
                  <c:v>14</c:v>
                </c:pt>
                <c:pt idx="148">
                  <c:v>9</c:v>
                </c:pt>
                <c:pt idx="149">
                  <c:v>11</c:v>
                </c:pt>
                <c:pt idx="150">
                  <c:v>8</c:v>
                </c:pt>
                <c:pt idx="151">
                  <c:v>13</c:v>
                </c:pt>
                <c:pt idx="152">
                  <c:v>11</c:v>
                </c:pt>
                <c:pt idx="153">
                  <c:v>13</c:v>
                </c:pt>
                <c:pt idx="154">
                  <c:v>11</c:v>
                </c:pt>
                <c:pt idx="155">
                  <c:v>7</c:v>
                </c:pt>
                <c:pt idx="156">
                  <c:v>12</c:v>
                </c:pt>
                <c:pt idx="157">
                  <c:v>10</c:v>
                </c:pt>
                <c:pt idx="158">
                  <c:v>11</c:v>
                </c:pt>
                <c:pt idx="159">
                  <c:v>12</c:v>
                </c:pt>
                <c:pt idx="160">
                  <c:v>11</c:v>
                </c:pt>
                <c:pt idx="161">
                  <c:v>9</c:v>
                </c:pt>
                <c:pt idx="162">
                  <c:v>11</c:v>
                </c:pt>
                <c:pt idx="163">
                  <c:v>9</c:v>
                </c:pt>
                <c:pt idx="164">
                  <c:v>10</c:v>
                </c:pt>
                <c:pt idx="165">
                  <c:v>13</c:v>
                </c:pt>
                <c:pt idx="166">
                  <c:v>9</c:v>
                </c:pt>
                <c:pt idx="167">
                  <c:v>13</c:v>
                </c:pt>
                <c:pt idx="168">
                  <c:v>8</c:v>
                </c:pt>
                <c:pt idx="169">
                  <c:v>8</c:v>
                </c:pt>
                <c:pt idx="170">
                  <c:v>10</c:v>
                </c:pt>
                <c:pt idx="171">
                  <c:v>10</c:v>
                </c:pt>
                <c:pt idx="172">
                  <c:v>10</c:v>
                </c:pt>
                <c:pt idx="173">
                  <c:v>8</c:v>
                </c:pt>
                <c:pt idx="174">
                  <c:v>8</c:v>
                </c:pt>
                <c:pt idx="175">
                  <c:v>6</c:v>
                </c:pt>
                <c:pt idx="176">
                  <c:v>9</c:v>
                </c:pt>
                <c:pt idx="177">
                  <c:v>8</c:v>
                </c:pt>
                <c:pt idx="178">
                  <c:v>8</c:v>
                </c:pt>
                <c:pt idx="179">
                  <c:v>7</c:v>
                </c:pt>
                <c:pt idx="180">
                  <c:v>10</c:v>
                </c:pt>
                <c:pt idx="181">
                  <c:v>17</c:v>
                </c:pt>
                <c:pt idx="182">
                  <c:v>12</c:v>
                </c:pt>
                <c:pt idx="183">
                  <c:v>16</c:v>
                </c:pt>
                <c:pt idx="184">
                  <c:v>9</c:v>
                </c:pt>
                <c:pt idx="185">
                  <c:v>17</c:v>
                </c:pt>
                <c:pt idx="186">
                  <c:v>9</c:v>
                </c:pt>
                <c:pt idx="187">
                  <c:v>13</c:v>
                </c:pt>
                <c:pt idx="188">
                  <c:v>14</c:v>
                </c:pt>
                <c:pt idx="189">
                  <c:v>11</c:v>
                </c:pt>
                <c:pt idx="190">
                  <c:v>12</c:v>
                </c:pt>
                <c:pt idx="191">
                  <c:v>9</c:v>
                </c:pt>
                <c:pt idx="192">
                  <c:v>9</c:v>
                </c:pt>
                <c:pt idx="193">
                  <c:v>11</c:v>
                </c:pt>
                <c:pt idx="194">
                  <c:v>10</c:v>
                </c:pt>
                <c:pt idx="195">
                  <c:v>12</c:v>
                </c:pt>
                <c:pt idx="196">
                  <c:v>18</c:v>
                </c:pt>
                <c:pt idx="197">
                  <c:v>13</c:v>
                </c:pt>
                <c:pt idx="198">
                  <c:v>15</c:v>
                </c:pt>
                <c:pt idx="199">
                  <c:v>13</c:v>
                </c:pt>
                <c:pt idx="200">
                  <c:v>9</c:v>
                </c:pt>
                <c:pt idx="201">
                  <c:v>14</c:v>
                </c:pt>
                <c:pt idx="202">
                  <c:v>13</c:v>
                </c:pt>
                <c:pt idx="203">
                  <c:v>9</c:v>
                </c:pt>
                <c:pt idx="204">
                  <c:v>12</c:v>
                </c:pt>
                <c:pt idx="205">
                  <c:v>11</c:v>
                </c:pt>
                <c:pt idx="206">
                  <c:v>11</c:v>
                </c:pt>
                <c:pt idx="207">
                  <c:v>10</c:v>
                </c:pt>
                <c:pt idx="208">
                  <c:v>12</c:v>
                </c:pt>
                <c:pt idx="209">
                  <c:v>15</c:v>
                </c:pt>
                <c:pt idx="210">
                  <c:v>13</c:v>
                </c:pt>
                <c:pt idx="211">
                  <c:v>11</c:v>
                </c:pt>
                <c:pt idx="212">
                  <c:v>15</c:v>
                </c:pt>
                <c:pt idx="213">
                  <c:v>10</c:v>
                </c:pt>
                <c:pt idx="214">
                  <c:v>14</c:v>
                </c:pt>
                <c:pt idx="215">
                  <c:v>12</c:v>
                </c:pt>
                <c:pt idx="216">
                  <c:v>15</c:v>
                </c:pt>
                <c:pt idx="217">
                  <c:v>13</c:v>
                </c:pt>
                <c:pt idx="218">
                  <c:v>13</c:v>
                </c:pt>
                <c:pt idx="219">
                  <c:v>9</c:v>
                </c:pt>
                <c:pt idx="220">
                  <c:v>11</c:v>
                </c:pt>
                <c:pt idx="221">
                  <c:v>15</c:v>
                </c:pt>
                <c:pt idx="222">
                  <c:v>13</c:v>
                </c:pt>
                <c:pt idx="223">
                  <c:v>12</c:v>
                </c:pt>
                <c:pt idx="224">
                  <c:v>12</c:v>
                </c:pt>
                <c:pt idx="225">
                  <c:v>12</c:v>
                </c:pt>
                <c:pt idx="226">
                  <c:v>13</c:v>
                </c:pt>
                <c:pt idx="227">
                  <c:v>11</c:v>
                </c:pt>
                <c:pt idx="228">
                  <c:v>11</c:v>
                </c:pt>
                <c:pt idx="229">
                  <c:v>16</c:v>
                </c:pt>
                <c:pt idx="230">
                  <c:v>9</c:v>
                </c:pt>
                <c:pt idx="231">
                  <c:v>10</c:v>
                </c:pt>
                <c:pt idx="232">
                  <c:v>13</c:v>
                </c:pt>
                <c:pt idx="233">
                  <c:v>12</c:v>
                </c:pt>
                <c:pt idx="234">
                  <c:v>10</c:v>
                </c:pt>
                <c:pt idx="235">
                  <c:v>12</c:v>
                </c:pt>
                <c:pt idx="236">
                  <c:v>13</c:v>
                </c:pt>
                <c:pt idx="237">
                  <c:v>9</c:v>
                </c:pt>
                <c:pt idx="238">
                  <c:v>16</c:v>
                </c:pt>
                <c:pt idx="239">
                  <c:v>8</c:v>
                </c:pt>
                <c:pt idx="240">
                  <c:v>18</c:v>
                </c:pt>
                <c:pt idx="241">
                  <c:v>11</c:v>
                </c:pt>
                <c:pt idx="242">
                  <c:v>10</c:v>
                </c:pt>
                <c:pt idx="243">
                  <c:v>15</c:v>
                </c:pt>
                <c:pt idx="244">
                  <c:v>12</c:v>
                </c:pt>
                <c:pt idx="245">
                  <c:v>13</c:v>
                </c:pt>
                <c:pt idx="246">
                  <c:v>13</c:v>
                </c:pt>
                <c:pt idx="247">
                  <c:v>13</c:v>
                </c:pt>
                <c:pt idx="248">
                  <c:v>9</c:v>
                </c:pt>
                <c:pt idx="249">
                  <c:v>12</c:v>
                </c:pt>
                <c:pt idx="250">
                  <c:v>16</c:v>
                </c:pt>
                <c:pt idx="251">
                  <c:v>10</c:v>
                </c:pt>
                <c:pt idx="252">
                  <c:v>13</c:v>
                </c:pt>
                <c:pt idx="253">
                  <c:v>10</c:v>
                </c:pt>
                <c:pt idx="254">
                  <c:v>8</c:v>
                </c:pt>
                <c:pt idx="255">
                  <c:v>7</c:v>
                </c:pt>
                <c:pt idx="256">
                  <c:v>8</c:v>
                </c:pt>
                <c:pt idx="257">
                  <c:v>8</c:v>
                </c:pt>
                <c:pt idx="258">
                  <c:v>14</c:v>
                </c:pt>
                <c:pt idx="259">
                  <c:v>10</c:v>
                </c:pt>
                <c:pt idx="260">
                  <c:v>11</c:v>
                </c:pt>
                <c:pt idx="261">
                  <c:v>13</c:v>
                </c:pt>
                <c:pt idx="262">
                  <c:v>9</c:v>
                </c:pt>
                <c:pt idx="263">
                  <c:v>7</c:v>
                </c:pt>
                <c:pt idx="264">
                  <c:v>9</c:v>
                </c:pt>
                <c:pt idx="265">
                  <c:v>14</c:v>
                </c:pt>
                <c:pt idx="266">
                  <c:v>14</c:v>
                </c:pt>
                <c:pt idx="267">
                  <c:v>15</c:v>
                </c:pt>
                <c:pt idx="268">
                  <c:v>12</c:v>
                </c:pt>
                <c:pt idx="269">
                  <c:v>14</c:v>
                </c:pt>
                <c:pt idx="270">
                  <c:v>15</c:v>
                </c:pt>
                <c:pt idx="271">
                  <c:v>11</c:v>
                </c:pt>
                <c:pt idx="272">
                  <c:v>14</c:v>
                </c:pt>
                <c:pt idx="273">
                  <c:v>11</c:v>
                </c:pt>
                <c:pt idx="274">
                  <c:v>9</c:v>
                </c:pt>
                <c:pt idx="275">
                  <c:v>10</c:v>
                </c:pt>
                <c:pt idx="276">
                  <c:v>16</c:v>
                </c:pt>
                <c:pt idx="277">
                  <c:v>10</c:v>
                </c:pt>
                <c:pt idx="278">
                  <c:v>12</c:v>
                </c:pt>
                <c:pt idx="279">
                  <c:v>8</c:v>
                </c:pt>
                <c:pt idx="280">
                  <c:v>9</c:v>
                </c:pt>
                <c:pt idx="281">
                  <c:v>12</c:v>
                </c:pt>
                <c:pt idx="282">
                  <c:v>8</c:v>
                </c:pt>
                <c:pt idx="283">
                  <c:v>11</c:v>
                </c:pt>
                <c:pt idx="284">
                  <c:v>8</c:v>
                </c:pt>
                <c:pt idx="285">
                  <c:v>13</c:v>
                </c:pt>
                <c:pt idx="286">
                  <c:v>12</c:v>
                </c:pt>
                <c:pt idx="287">
                  <c:v>10</c:v>
                </c:pt>
                <c:pt idx="288">
                  <c:v>12</c:v>
                </c:pt>
                <c:pt idx="289">
                  <c:v>15</c:v>
                </c:pt>
                <c:pt idx="290">
                  <c:v>10</c:v>
                </c:pt>
                <c:pt idx="291">
                  <c:v>10</c:v>
                </c:pt>
                <c:pt idx="292">
                  <c:v>12</c:v>
                </c:pt>
                <c:pt idx="293">
                  <c:v>12</c:v>
                </c:pt>
                <c:pt idx="294">
                  <c:v>11</c:v>
                </c:pt>
                <c:pt idx="295">
                  <c:v>13</c:v>
                </c:pt>
                <c:pt idx="296">
                  <c:v>16</c:v>
                </c:pt>
                <c:pt idx="297">
                  <c:v>10</c:v>
                </c:pt>
                <c:pt idx="298">
                  <c:v>11</c:v>
                </c:pt>
                <c:pt idx="299">
                  <c:v>12</c:v>
                </c:pt>
                <c:pt idx="300">
                  <c:v>15</c:v>
                </c:pt>
                <c:pt idx="301">
                  <c:v>10</c:v>
                </c:pt>
                <c:pt idx="302">
                  <c:v>11</c:v>
                </c:pt>
                <c:pt idx="303">
                  <c:v>12</c:v>
                </c:pt>
                <c:pt idx="304">
                  <c:v>12</c:v>
                </c:pt>
                <c:pt idx="305">
                  <c:v>8</c:v>
                </c:pt>
                <c:pt idx="306">
                  <c:v>16</c:v>
                </c:pt>
                <c:pt idx="307">
                  <c:v>11</c:v>
                </c:pt>
                <c:pt idx="308">
                  <c:v>11</c:v>
                </c:pt>
                <c:pt idx="309">
                  <c:v>12</c:v>
                </c:pt>
                <c:pt idx="310">
                  <c:v>9</c:v>
                </c:pt>
                <c:pt idx="311">
                  <c:v>12</c:v>
                </c:pt>
                <c:pt idx="312">
                  <c:v>16</c:v>
                </c:pt>
                <c:pt idx="313">
                  <c:v>13</c:v>
                </c:pt>
                <c:pt idx="314">
                  <c:v>17</c:v>
                </c:pt>
                <c:pt idx="315">
                  <c:v>14</c:v>
                </c:pt>
                <c:pt idx="316">
                  <c:v>16</c:v>
                </c:pt>
                <c:pt idx="317">
                  <c:v>12</c:v>
                </c:pt>
                <c:pt idx="318">
                  <c:v>9</c:v>
                </c:pt>
                <c:pt idx="319">
                  <c:v>12</c:v>
                </c:pt>
                <c:pt idx="320">
                  <c:v>12</c:v>
                </c:pt>
                <c:pt idx="321">
                  <c:v>15</c:v>
                </c:pt>
                <c:pt idx="322">
                  <c:v>8</c:v>
                </c:pt>
                <c:pt idx="323">
                  <c:v>10</c:v>
                </c:pt>
                <c:pt idx="324">
                  <c:v>10</c:v>
                </c:pt>
                <c:pt idx="325">
                  <c:v>11</c:v>
                </c:pt>
                <c:pt idx="326">
                  <c:v>13</c:v>
                </c:pt>
                <c:pt idx="327">
                  <c:v>17</c:v>
                </c:pt>
                <c:pt idx="328">
                  <c:v>13</c:v>
                </c:pt>
                <c:pt idx="329">
                  <c:v>12</c:v>
                </c:pt>
                <c:pt idx="330">
                  <c:v>13</c:v>
                </c:pt>
                <c:pt idx="331">
                  <c:v>12</c:v>
                </c:pt>
                <c:pt idx="332">
                  <c:v>18</c:v>
                </c:pt>
                <c:pt idx="333">
                  <c:v>13</c:v>
                </c:pt>
                <c:pt idx="334">
                  <c:v>15</c:v>
                </c:pt>
                <c:pt idx="335">
                  <c:v>17</c:v>
                </c:pt>
                <c:pt idx="336">
                  <c:v>16</c:v>
                </c:pt>
                <c:pt idx="337">
                  <c:v>18</c:v>
                </c:pt>
                <c:pt idx="338">
                  <c:v>19</c:v>
                </c:pt>
                <c:pt idx="339">
                  <c:v>15</c:v>
                </c:pt>
                <c:pt idx="340">
                  <c:v>15</c:v>
                </c:pt>
                <c:pt idx="341">
                  <c:v>13</c:v>
                </c:pt>
                <c:pt idx="342">
                  <c:v>14</c:v>
                </c:pt>
                <c:pt idx="343">
                  <c:v>17</c:v>
                </c:pt>
                <c:pt idx="344">
                  <c:v>18</c:v>
                </c:pt>
                <c:pt idx="345">
                  <c:v>15</c:v>
                </c:pt>
                <c:pt idx="346">
                  <c:v>13</c:v>
                </c:pt>
                <c:pt idx="347">
                  <c:v>7</c:v>
                </c:pt>
                <c:pt idx="348">
                  <c:v>16</c:v>
                </c:pt>
                <c:pt idx="349">
                  <c:v>18</c:v>
                </c:pt>
                <c:pt idx="350">
                  <c:v>10</c:v>
                </c:pt>
                <c:pt idx="351">
                  <c:v>15</c:v>
                </c:pt>
                <c:pt idx="352">
                  <c:v>10</c:v>
                </c:pt>
                <c:pt idx="353">
                  <c:v>10</c:v>
                </c:pt>
                <c:pt idx="354">
                  <c:v>12</c:v>
                </c:pt>
                <c:pt idx="355">
                  <c:v>12</c:v>
                </c:pt>
                <c:pt idx="356">
                  <c:v>16</c:v>
                </c:pt>
                <c:pt idx="357">
                  <c:v>15</c:v>
                </c:pt>
                <c:pt idx="358">
                  <c:v>12</c:v>
                </c:pt>
                <c:pt idx="359">
                  <c:v>15</c:v>
                </c:pt>
                <c:pt idx="360">
                  <c:v>12</c:v>
                </c:pt>
                <c:pt idx="361">
                  <c:v>10</c:v>
                </c:pt>
                <c:pt idx="362">
                  <c:v>11</c:v>
                </c:pt>
                <c:pt idx="363">
                  <c:v>12</c:v>
                </c:pt>
                <c:pt idx="364">
                  <c:v>15</c:v>
                </c:pt>
                <c:pt idx="365">
                  <c:v>14</c:v>
                </c:pt>
                <c:pt idx="366">
                  <c:v>12</c:v>
                </c:pt>
                <c:pt idx="367">
                  <c:v>12</c:v>
                </c:pt>
                <c:pt idx="368">
                  <c:v>9</c:v>
                </c:pt>
                <c:pt idx="369">
                  <c:v>10</c:v>
                </c:pt>
                <c:pt idx="370">
                  <c:v>8</c:v>
                </c:pt>
                <c:pt idx="371">
                  <c:v>10</c:v>
                </c:pt>
                <c:pt idx="372">
                  <c:v>13</c:v>
                </c:pt>
                <c:pt idx="373">
                  <c:v>11</c:v>
                </c:pt>
                <c:pt idx="374">
                  <c:v>18</c:v>
                </c:pt>
                <c:pt idx="375">
                  <c:v>14</c:v>
                </c:pt>
                <c:pt idx="376">
                  <c:v>14</c:v>
                </c:pt>
                <c:pt idx="377">
                  <c:v>14</c:v>
                </c:pt>
                <c:pt idx="378">
                  <c:v>18</c:v>
                </c:pt>
                <c:pt idx="379">
                  <c:v>10</c:v>
                </c:pt>
                <c:pt idx="380">
                  <c:v>12</c:v>
                </c:pt>
                <c:pt idx="381">
                  <c:v>14</c:v>
                </c:pt>
                <c:pt idx="382">
                  <c:v>12</c:v>
                </c:pt>
                <c:pt idx="383">
                  <c:v>11</c:v>
                </c:pt>
                <c:pt idx="384">
                  <c:v>10</c:v>
                </c:pt>
                <c:pt idx="385">
                  <c:v>9</c:v>
                </c:pt>
                <c:pt idx="386">
                  <c:v>15</c:v>
                </c:pt>
                <c:pt idx="387">
                  <c:v>14</c:v>
                </c:pt>
                <c:pt idx="388">
                  <c:v>11</c:v>
                </c:pt>
                <c:pt idx="389">
                  <c:v>9</c:v>
                </c:pt>
                <c:pt idx="390">
                  <c:v>13</c:v>
                </c:pt>
                <c:pt idx="391">
                  <c:v>13</c:v>
                </c:pt>
                <c:pt idx="392">
                  <c:v>13</c:v>
                </c:pt>
                <c:pt idx="393">
                  <c:v>14</c:v>
                </c:pt>
                <c:pt idx="394">
                  <c:v>14</c:v>
                </c:pt>
                <c:pt idx="395">
                  <c:v>12</c:v>
                </c:pt>
                <c:pt idx="396">
                  <c:v>16</c:v>
                </c:pt>
                <c:pt idx="397">
                  <c:v>12</c:v>
                </c:pt>
                <c:pt idx="398">
                  <c:v>12</c:v>
                </c:pt>
                <c:pt idx="399">
                  <c:v>16</c:v>
                </c:pt>
                <c:pt idx="400">
                  <c:v>14</c:v>
                </c:pt>
                <c:pt idx="401">
                  <c:v>13</c:v>
                </c:pt>
                <c:pt idx="402">
                  <c:v>12</c:v>
                </c:pt>
                <c:pt idx="403">
                  <c:v>15</c:v>
                </c:pt>
                <c:pt idx="404">
                  <c:v>16</c:v>
                </c:pt>
                <c:pt idx="405">
                  <c:v>11</c:v>
                </c:pt>
                <c:pt idx="406">
                  <c:v>13</c:v>
                </c:pt>
                <c:pt idx="407">
                  <c:v>12</c:v>
                </c:pt>
                <c:pt idx="408">
                  <c:v>11</c:v>
                </c:pt>
                <c:pt idx="409">
                  <c:v>14</c:v>
                </c:pt>
                <c:pt idx="410">
                  <c:v>17</c:v>
                </c:pt>
                <c:pt idx="411">
                  <c:v>15</c:v>
                </c:pt>
                <c:pt idx="412">
                  <c:v>17</c:v>
                </c:pt>
                <c:pt idx="413">
                  <c:v>10</c:v>
                </c:pt>
                <c:pt idx="414">
                  <c:v>15</c:v>
                </c:pt>
                <c:pt idx="415">
                  <c:v>10</c:v>
                </c:pt>
                <c:pt idx="416">
                  <c:v>18</c:v>
                </c:pt>
                <c:pt idx="417">
                  <c:v>17</c:v>
                </c:pt>
                <c:pt idx="418">
                  <c:v>14</c:v>
                </c:pt>
                <c:pt idx="419">
                  <c:v>11</c:v>
                </c:pt>
                <c:pt idx="420">
                  <c:v>17</c:v>
                </c:pt>
                <c:pt idx="421">
                  <c:v>10</c:v>
                </c:pt>
                <c:pt idx="422">
                  <c:v>13</c:v>
                </c:pt>
                <c:pt idx="423">
                  <c:v>11</c:v>
                </c:pt>
                <c:pt idx="424">
                  <c:v>12</c:v>
                </c:pt>
                <c:pt idx="425">
                  <c:v>10</c:v>
                </c:pt>
                <c:pt idx="426">
                  <c:v>10</c:v>
                </c:pt>
                <c:pt idx="427">
                  <c:v>17</c:v>
                </c:pt>
                <c:pt idx="428">
                  <c:v>8</c:v>
                </c:pt>
                <c:pt idx="429">
                  <c:v>11</c:v>
                </c:pt>
                <c:pt idx="430">
                  <c:v>11</c:v>
                </c:pt>
                <c:pt idx="431">
                  <c:v>10</c:v>
                </c:pt>
                <c:pt idx="432">
                  <c:v>6</c:v>
                </c:pt>
                <c:pt idx="433">
                  <c:v>14</c:v>
                </c:pt>
                <c:pt idx="434">
                  <c:v>9</c:v>
                </c:pt>
                <c:pt idx="435">
                  <c:v>10</c:v>
                </c:pt>
                <c:pt idx="436">
                  <c:v>7</c:v>
                </c:pt>
                <c:pt idx="437">
                  <c:v>11</c:v>
                </c:pt>
                <c:pt idx="438">
                  <c:v>11</c:v>
                </c:pt>
                <c:pt idx="439">
                  <c:v>16</c:v>
                </c:pt>
                <c:pt idx="440">
                  <c:v>0</c:v>
                </c:pt>
                <c:pt idx="441">
                  <c:v>9</c:v>
                </c:pt>
                <c:pt idx="442">
                  <c:v>13</c:v>
                </c:pt>
                <c:pt idx="443">
                  <c:v>9</c:v>
                </c:pt>
                <c:pt idx="444">
                  <c:v>10</c:v>
                </c:pt>
                <c:pt idx="445">
                  <c:v>9</c:v>
                </c:pt>
                <c:pt idx="446">
                  <c:v>11</c:v>
                </c:pt>
                <c:pt idx="447">
                  <c:v>10</c:v>
                </c:pt>
                <c:pt idx="448">
                  <c:v>16</c:v>
                </c:pt>
                <c:pt idx="449">
                  <c:v>13</c:v>
                </c:pt>
                <c:pt idx="450">
                  <c:v>15</c:v>
                </c:pt>
                <c:pt idx="451">
                  <c:v>11</c:v>
                </c:pt>
                <c:pt idx="452">
                  <c:v>10</c:v>
                </c:pt>
                <c:pt idx="453">
                  <c:v>8</c:v>
                </c:pt>
                <c:pt idx="454">
                  <c:v>8</c:v>
                </c:pt>
                <c:pt idx="455">
                  <c:v>10</c:v>
                </c:pt>
                <c:pt idx="456">
                  <c:v>14</c:v>
                </c:pt>
                <c:pt idx="457">
                  <c:v>11</c:v>
                </c:pt>
                <c:pt idx="458">
                  <c:v>10</c:v>
                </c:pt>
                <c:pt idx="459">
                  <c:v>9</c:v>
                </c:pt>
                <c:pt idx="460">
                  <c:v>10</c:v>
                </c:pt>
                <c:pt idx="461">
                  <c:v>12</c:v>
                </c:pt>
                <c:pt idx="462">
                  <c:v>14</c:v>
                </c:pt>
                <c:pt idx="463">
                  <c:v>11</c:v>
                </c:pt>
                <c:pt idx="464">
                  <c:v>11</c:v>
                </c:pt>
                <c:pt idx="465">
                  <c:v>8</c:v>
                </c:pt>
                <c:pt idx="466">
                  <c:v>9</c:v>
                </c:pt>
                <c:pt idx="467">
                  <c:v>13</c:v>
                </c:pt>
                <c:pt idx="468">
                  <c:v>12</c:v>
                </c:pt>
                <c:pt idx="469">
                  <c:v>12</c:v>
                </c:pt>
                <c:pt idx="470">
                  <c:v>12</c:v>
                </c:pt>
                <c:pt idx="471">
                  <c:v>11</c:v>
                </c:pt>
                <c:pt idx="472">
                  <c:v>14</c:v>
                </c:pt>
                <c:pt idx="473">
                  <c:v>8</c:v>
                </c:pt>
                <c:pt idx="474">
                  <c:v>11</c:v>
                </c:pt>
                <c:pt idx="475">
                  <c:v>13</c:v>
                </c:pt>
                <c:pt idx="476">
                  <c:v>8</c:v>
                </c:pt>
                <c:pt idx="477">
                  <c:v>10</c:v>
                </c:pt>
                <c:pt idx="478">
                  <c:v>7</c:v>
                </c:pt>
                <c:pt idx="479">
                  <c:v>9</c:v>
                </c:pt>
                <c:pt idx="480">
                  <c:v>9</c:v>
                </c:pt>
                <c:pt idx="481">
                  <c:v>10</c:v>
                </c:pt>
                <c:pt idx="482">
                  <c:v>10</c:v>
                </c:pt>
                <c:pt idx="483">
                  <c:v>10</c:v>
                </c:pt>
                <c:pt idx="484">
                  <c:v>7</c:v>
                </c:pt>
                <c:pt idx="485">
                  <c:v>10</c:v>
                </c:pt>
                <c:pt idx="486">
                  <c:v>10</c:v>
                </c:pt>
                <c:pt idx="487">
                  <c:v>9</c:v>
                </c:pt>
                <c:pt idx="488">
                  <c:v>9</c:v>
                </c:pt>
                <c:pt idx="489">
                  <c:v>9</c:v>
                </c:pt>
                <c:pt idx="490">
                  <c:v>11</c:v>
                </c:pt>
                <c:pt idx="491">
                  <c:v>8</c:v>
                </c:pt>
                <c:pt idx="492">
                  <c:v>10</c:v>
                </c:pt>
                <c:pt idx="493">
                  <c:v>9</c:v>
                </c:pt>
                <c:pt idx="494">
                  <c:v>9</c:v>
                </c:pt>
                <c:pt idx="495">
                  <c:v>13</c:v>
                </c:pt>
                <c:pt idx="496">
                  <c:v>14</c:v>
                </c:pt>
                <c:pt idx="497">
                  <c:v>11</c:v>
                </c:pt>
                <c:pt idx="498">
                  <c:v>13</c:v>
                </c:pt>
                <c:pt idx="499">
                  <c:v>16</c:v>
                </c:pt>
                <c:pt idx="500">
                  <c:v>7</c:v>
                </c:pt>
                <c:pt idx="501">
                  <c:v>12</c:v>
                </c:pt>
                <c:pt idx="502">
                  <c:v>8</c:v>
                </c:pt>
                <c:pt idx="503">
                  <c:v>14</c:v>
                </c:pt>
                <c:pt idx="504">
                  <c:v>13</c:v>
                </c:pt>
                <c:pt idx="505">
                  <c:v>11</c:v>
                </c:pt>
                <c:pt idx="506">
                  <c:v>9</c:v>
                </c:pt>
                <c:pt idx="507">
                  <c:v>11</c:v>
                </c:pt>
                <c:pt idx="508">
                  <c:v>9</c:v>
                </c:pt>
                <c:pt idx="509">
                  <c:v>17</c:v>
                </c:pt>
                <c:pt idx="510">
                  <c:v>17</c:v>
                </c:pt>
                <c:pt idx="511">
                  <c:v>9</c:v>
                </c:pt>
                <c:pt idx="512">
                  <c:v>7</c:v>
                </c:pt>
                <c:pt idx="513">
                  <c:v>6</c:v>
                </c:pt>
                <c:pt idx="514">
                  <c:v>6</c:v>
                </c:pt>
                <c:pt idx="515">
                  <c:v>8</c:v>
                </c:pt>
                <c:pt idx="516">
                  <c:v>16</c:v>
                </c:pt>
                <c:pt idx="517">
                  <c:v>14</c:v>
                </c:pt>
                <c:pt idx="518">
                  <c:v>5</c:v>
                </c:pt>
                <c:pt idx="519">
                  <c:v>7</c:v>
                </c:pt>
                <c:pt idx="520">
                  <c:v>8</c:v>
                </c:pt>
                <c:pt idx="521">
                  <c:v>10</c:v>
                </c:pt>
                <c:pt idx="522">
                  <c:v>8</c:v>
                </c:pt>
                <c:pt idx="523">
                  <c:v>6</c:v>
                </c:pt>
                <c:pt idx="524">
                  <c:v>9</c:v>
                </c:pt>
                <c:pt idx="525">
                  <c:v>14</c:v>
                </c:pt>
                <c:pt idx="526">
                  <c:v>14</c:v>
                </c:pt>
                <c:pt idx="527">
                  <c:v>9</c:v>
                </c:pt>
                <c:pt idx="528">
                  <c:v>9</c:v>
                </c:pt>
                <c:pt idx="529">
                  <c:v>11</c:v>
                </c:pt>
                <c:pt idx="530">
                  <c:v>10</c:v>
                </c:pt>
                <c:pt idx="531">
                  <c:v>10</c:v>
                </c:pt>
                <c:pt idx="532">
                  <c:v>7</c:v>
                </c:pt>
                <c:pt idx="533">
                  <c:v>15</c:v>
                </c:pt>
                <c:pt idx="534">
                  <c:v>12</c:v>
                </c:pt>
                <c:pt idx="535">
                  <c:v>11</c:v>
                </c:pt>
                <c:pt idx="536">
                  <c:v>14</c:v>
                </c:pt>
                <c:pt idx="537">
                  <c:v>13</c:v>
                </c:pt>
                <c:pt idx="538">
                  <c:v>11</c:v>
                </c:pt>
                <c:pt idx="539">
                  <c:v>10</c:v>
                </c:pt>
                <c:pt idx="540">
                  <c:v>11</c:v>
                </c:pt>
                <c:pt idx="541">
                  <c:v>9</c:v>
                </c:pt>
                <c:pt idx="542">
                  <c:v>11</c:v>
                </c:pt>
                <c:pt idx="543">
                  <c:v>9</c:v>
                </c:pt>
                <c:pt idx="544">
                  <c:v>11</c:v>
                </c:pt>
                <c:pt idx="545">
                  <c:v>9</c:v>
                </c:pt>
                <c:pt idx="546">
                  <c:v>15</c:v>
                </c:pt>
                <c:pt idx="547">
                  <c:v>11</c:v>
                </c:pt>
                <c:pt idx="548">
                  <c:v>10</c:v>
                </c:pt>
                <c:pt idx="549">
                  <c:v>18</c:v>
                </c:pt>
                <c:pt idx="550">
                  <c:v>13</c:v>
                </c:pt>
                <c:pt idx="551">
                  <c:v>14</c:v>
                </c:pt>
                <c:pt idx="552">
                  <c:v>9</c:v>
                </c:pt>
                <c:pt idx="553">
                  <c:v>11</c:v>
                </c:pt>
                <c:pt idx="554">
                  <c:v>11</c:v>
                </c:pt>
                <c:pt idx="555">
                  <c:v>14</c:v>
                </c:pt>
                <c:pt idx="556">
                  <c:v>10</c:v>
                </c:pt>
                <c:pt idx="557">
                  <c:v>9</c:v>
                </c:pt>
                <c:pt idx="558">
                  <c:v>13</c:v>
                </c:pt>
                <c:pt idx="559">
                  <c:v>12</c:v>
                </c:pt>
                <c:pt idx="560">
                  <c:v>9</c:v>
                </c:pt>
                <c:pt idx="561">
                  <c:v>9</c:v>
                </c:pt>
                <c:pt idx="562">
                  <c:v>13</c:v>
                </c:pt>
                <c:pt idx="563">
                  <c:v>0</c:v>
                </c:pt>
                <c:pt idx="564">
                  <c:v>9</c:v>
                </c:pt>
                <c:pt idx="565">
                  <c:v>10</c:v>
                </c:pt>
                <c:pt idx="566">
                  <c:v>7</c:v>
                </c:pt>
                <c:pt idx="567">
                  <c:v>0</c:v>
                </c:pt>
                <c:pt idx="568">
                  <c:v>11</c:v>
                </c:pt>
                <c:pt idx="569">
                  <c:v>8</c:v>
                </c:pt>
                <c:pt idx="570">
                  <c:v>8</c:v>
                </c:pt>
                <c:pt idx="571">
                  <c:v>9</c:v>
                </c:pt>
                <c:pt idx="572">
                  <c:v>5</c:v>
                </c:pt>
                <c:pt idx="573">
                  <c:v>9</c:v>
                </c:pt>
                <c:pt idx="574">
                  <c:v>11</c:v>
                </c:pt>
                <c:pt idx="575">
                  <c:v>11</c:v>
                </c:pt>
                <c:pt idx="576">
                  <c:v>10</c:v>
                </c:pt>
                <c:pt idx="577">
                  <c:v>9</c:v>
                </c:pt>
                <c:pt idx="578">
                  <c:v>9</c:v>
                </c:pt>
                <c:pt idx="579">
                  <c:v>10</c:v>
                </c:pt>
                <c:pt idx="580">
                  <c:v>9</c:v>
                </c:pt>
                <c:pt idx="581">
                  <c:v>8</c:v>
                </c:pt>
                <c:pt idx="582">
                  <c:v>8</c:v>
                </c:pt>
                <c:pt idx="583">
                  <c:v>6</c:v>
                </c:pt>
                <c:pt idx="584">
                  <c:v>11</c:v>
                </c:pt>
                <c:pt idx="585">
                  <c:v>7</c:v>
                </c:pt>
                <c:pt idx="586">
                  <c:v>8</c:v>
                </c:pt>
                <c:pt idx="587">
                  <c:v>6</c:v>
                </c:pt>
                <c:pt idx="588">
                  <c:v>10</c:v>
                </c:pt>
                <c:pt idx="589">
                  <c:v>10</c:v>
                </c:pt>
                <c:pt idx="590">
                  <c:v>8</c:v>
                </c:pt>
                <c:pt idx="591">
                  <c:v>13</c:v>
                </c:pt>
                <c:pt idx="592">
                  <c:v>12</c:v>
                </c:pt>
                <c:pt idx="593">
                  <c:v>13</c:v>
                </c:pt>
                <c:pt idx="594">
                  <c:v>18</c:v>
                </c:pt>
                <c:pt idx="595">
                  <c:v>17</c:v>
                </c:pt>
                <c:pt idx="596">
                  <c:v>18</c:v>
                </c:pt>
                <c:pt idx="597">
                  <c:v>0</c:v>
                </c:pt>
                <c:pt idx="598">
                  <c:v>11</c:v>
                </c:pt>
                <c:pt idx="599">
                  <c:v>13</c:v>
                </c:pt>
                <c:pt idx="600">
                  <c:v>13</c:v>
                </c:pt>
                <c:pt idx="601">
                  <c:v>8</c:v>
                </c:pt>
                <c:pt idx="602">
                  <c:v>12</c:v>
                </c:pt>
                <c:pt idx="603">
                  <c:v>0</c:v>
                </c:pt>
                <c:pt idx="604">
                  <c:v>10</c:v>
                </c:pt>
                <c:pt idx="605">
                  <c:v>0</c:v>
                </c:pt>
                <c:pt idx="606">
                  <c:v>18</c:v>
                </c:pt>
                <c:pt idx="607">
                  <c:v>11</c:v>
                </c:pt>
                <c:pt idx="608">
                  <c:v>10</c:v>
                </c:pt>
                <c:pt idx="609">
                  <c:v>11</c:v>
                </c:pt>
                <c:pt idx="610">
                  <c:v>0</c:v>
                </c:pt>
                <c:pt idx="611">
                  <c:v>14</c:v>
                </c:pt>
                <c:pt idx="612">
                  <c:v>11</c:v>
                </c:pt>
                <c:pt idx="613">
                  <c:v>10</c:v>
                </c:pt>
                <c:pt idx="614">
                  <c:v>12</c:v>
                </c:pt>
                <c:pt idx="615">
                  <c:v>14</c:v>
                </c:pt>
                <c:pt idx="616">
                  <c:v>13</c:v>
                </c:pt>
                <c:pt idx="617">
                  <c:v>17</c:v>
                </c:pt>
                <c:pt idx="618">
                  <c:v>15</c:v>
                </c:pt>
                <c:pt idx="619">
                  <c:v>12</c:v>
                </c:pt>
                <c:pt idx="620">
                  <c:v>14</c:v>
                </c:pt>
                <c:pt idx="621">
                  <c:v>13</c:v>
                </c:pt>
                <c:pt idx="622">
                  <c:v>10</c:v>
                </c:pt>
                <c:pt idx="623">
                  <c:v>16</c:v>
                </c:pt>
                <c:pt idx="624">
                  <c:v>8</c:v>
                </c:pt>
                <c:pt idx="625">
                  <c:v>10</c:v>
                </c:pt>
                <c:pt idx="626">
                  <c:v>5</c:v>
                </c:pt>
                <c:pt idx="627">
                  <c:v>10</c:v>
                </c:pt>
                <c:pt idx="628">
                  <c:v>11</c:v>
                </c:pt>
                <c:pt idx="629">
                  <c:v>8</c:v>
                </c:pt>
                <c:pt idx="630">
                  <c:v>17</c:v>
                </c:pt>
                <c:pt idx="631">
                  <c:v>11</c:v>
                </c:pt>
                <c:pt idx="632">
                  <c:v>8</c:v>
                </c:pt>
                <c:pt idx="633">
                  <c:v>14</c:v>
                </c:pt>
                <c:pt idx="634">
                  <c:v>16</c:v>
                </c:pt>
                <c:pt idx="635">
                  <c:v>9</c:v>
                </c:pt>
                <c:pt idx="636">
                  <c:v>18</c:v>
                </c:pt>
                <c:pt idx="637">
                  <c:v>7</c:v>
                </c:pt>
                <c:pt idx="638">
                  <c:v>15</c:v>
                </c:pt>
                <c:pt idx="639">
                  <c:v>8</c:v>
                </c:pt>
                <c:pt idx="640">
                  <c:v>7</c:v>
                </c:pt>
                <c:pt idx="641">
                  <c:v>17</c:v>
                </c:pt>
                <c:pt idx="642">
                  <c:v>9</c:v>
                </c:pt>
                <c:pt idx="643">
                  <c:v>9</c:v>
                </c:pt>
                <c:pt idx="644">
                  <c:v>11</c:v>
                </c:pt>
                <c:pt idx="645">
                  <c:v>15</c:v>
                </c:pt>
                <c:pt idx="646">
                  <c:v>12</c:v>
                </c:pt>
                <c:pt idx="647">
                  <c:v>10</c:v>
                </c:pt>
                <c:pt idx="648">
                  <c:v>11</c:v>
                </c:pt>
              </c:numCache>
            </c:numRef>
          </c:xVal>
          <c:yVal>
            <c:numRef>
              <c:f>'Chart Data'!$B$2:$B$650</c:f>
              <c:numCache>
                <c:formatCode>General</c:formatCode>
                <c:ptCount val="649"/>
                <c:pt idx="0">
                  <c:v>11</c:v>
                </c:pt>
                <c:pt idx="1">
                  <c:v>11</c:v>
                </c:pt>
                <c:pt idx="2">
                  <c:v>12</c:v>
                </c:pt>
                <c:pt idx="3">
                  <c:v>14</c:v>
                </c:pt>
                <c:pt idx="4">
                  <c:v>13</c:v>
                </c:pt>
                <c:pt idx="5">
                  <c:v>13</c:v>
                </c:pt>
                <c:pt idx="6">
                  <c:v>13</c:v>
                </c:pt>
                <c:pt idx="7">
                  <c:v>13</c:v>
                </c:pt>
                <c:pt idx="8">
                  <c:v>17</c:v>
                </c:pt>
                <c:pt idx="9">
                  <c:v>13</c:v>
                </c:pt>
                <c:pt idx="10">
                  <c:v>14</c:v>
                </c:pt>
                <c:pt idx="11">
                  <c:v>13</c:v>
                </c:pt>
                <c:pt idx="12">
                  <c:v>12</c:v>
                </c:pt>
                <c:pt idx="13">
                  <c:v>13</c:v>
                </c:pt>
                <c:pt idx="14">
                  <c:v>15</c:v>
                </c:pt>
                <c:pt idx="15">
                  <c:v>17</c:v>
                </c:pt>
                <c:pt idx="16">
                  <c:v>14</c:v>
                </c:pt>
                <c:pt idx="17">
                  <c:v>14</c:v>
                </c:pt>
                <c:pt idx="18">
                  <c:v>7</c:v>
                </c:pt>
                <c:pt idx="19">
                  <c:v>12</c:v>
                </c:pt>
                <c:pt idx="20">
                  <c:v>14</c:v>
                </c:pt>
                <c:pt idx="21">
                  <c:v>12</c:v>
                </c:pt>
                <c:pt idx="22">
                  <c:v>14</c:v>
                </c:pt>
                <c:pt idx="23">
                  <c:v>10</c:v>
                </c:pt>
                <c:pt idx="24">
                  <c:v>10</c:v>
                </c:pt>
                <c:pt idx="25">
                  <c:v>12</c:v>
                </c:pt>
                <c:pt idx="26">
                  <c:v>12</c:v>
                </c:pt>
                <c:pt idx="27">
                  <c:v>11</c:v>
                </c:pt>
                <c:pt idx="28">
                  <c:v>13</c:v>
                </c:pt>
                <c:pt idx="29">
                  <c:v>12</c:v>
                </c:pt>
                <c:pt idx="30">
                  <c:v>11</c:v>
                </c:pt>
                <c:pt idx="31">
                  <c:v>15</c:v>
                </c:pt>
                <c:pt idx="32">
                  <c:v>15</c:v>
                </c:pt>
                <c:pt idx="33">
                  <c:v>12</c:v>
                </c:pt>
                <c:pt idx="34">
                  <c:v>12</c:v>
                </c:pt>
                <c:pt idx="35">
                  <c:v>11</c:v>
                </c:pt>
                <c:pt idx="36">
                  <c:v>14</c:v>
                </c:pt>
                <c:pt idx="37">
                  <c:v>13</c:v>
                </c:pt>
                <c:pt idx="38">
                  <c:v>12</c:v>
                </c:pt>
                <c:pt idx="39">
                  <c:v>12</c:v>
                </c:pt>
                <c:pt idx="40">
                  <c:v>10</c:v>
                </c:pt>
                <c:pt idx="41">
                  <c:v>11</c:v>
                </c:pt>
                <c:pt idx="42">
                  <c:v>15</c:v>
                </c:pt>
                <c:pt idx="43">
                  <c:v>10</c:v>
                </c:pt>
                <c:pt idx="44">
                  <c:v>11</c:v>
                </c:pt>
                <c:pt idx="45">
                  <c:v>11</c:v>
                </c:pt>
                <c:pt idx="46">
                  <c:v>13</c:v>
                </c:pt>
                <c:pt idx="47">
                  <c:v>17</c:v>
                </c:pt>
                <c:pt idx="48">
                  <c:v>13</c:v>
                </c:pt>
                <c:pt idx="49">
                  <c:v>12</c:v>
                </c:pt>
                <c:pt idx="50">
                  <c:v>13</c:v>
                </c:pt>
                <c:pt idx="51">
                  <c:v>16</c:v>
                </c:pt>
                <c:pt idx="52">
                  <c:v>9</c:v>
                </c:pt>
                <c:pt idx="53">
                  <c:v>12</c:v>
                </c:pt>
                <c:pt idx="54">
                  <c:v>13</c:v>
                </c:pt>
                <c:pt idx="55">
                  <c:v>12</c:v>
                </c:pt>
                <c:pt idx="56">
                  <c:v>15</c:v>
                </c:pt>
                <c:pt idx="57">
                  <c:v>16</c:v>
                </c:pt>
                <c:pt idx="58">
                  <c:v>14</c:v>
                </c:pt>
                <c:pt idx="59">
                  <c:v>16</c:v>
                </c:pt>
                <c:pt idx="60">
                  <c:v>16</c:v>
                </c:pt>
                <c:pt idx="61">
                  <c:v>16</c:v>
                </c:pt>
                <c:pt idx="62">
                  <c:v>10</c:v>
                </c:pt>
                <c:pt idx="63">
                  <c:v>13</c:v>
                </c:pt>
                <c:pt idx="64">
                  <c:v>12</c:v>
                </c:pt>
                <c:pt idx="65">
                  <c:v>16</c:v>
                </c:pt>
                <c:pt idx="66">
                  <c:v>12</c:v>
                </c:pt>
                <c:pt idx="67">
                  <c:v>10</c:v>
                </c:pt>
                <c:pt idx="68">
                  <c:v>11</c:v>
                </c:pt>
                <c:pt idx="69">
                  <c:v>15</c:v>
                </c:pt>
                <c:pt idx="70">
                  <c:v>11</c:v>
                </c:pt>
                <c:pt idx="71">
                  <c:v>10</c:v>
                </c:pt>
                <c:pt idx="72">
                  <c:v>11</c:v>
                </c:pt>
                <c:pt idx="73">
                  <c:v>14</c:v>
                </c:pt>
                <c:pt idx="74">
                  <c:v>11</c:v>
                </c:pt>
                <c:pt idx="75">
                  <c:v>11</c:v>
                </c:pt>
                <c:pt idx="76">
                  <c:v>11</c:v>
                </c:pt>
                <c:pt idx="77">
                  <c:v>13</c:v>
                </c:pt>
                <c:pt idx="78">
                  <c:v>10</c:v>
                </c:pt>
                <c:pt idx="79">
                  <c:v>11</c:v>
                </c:pt>
                <c:pt idx="80">
                  <c:v>12</c:v>
                </c:pt>
                <c:pt idx="81">
                  <c:v>9</c:v>
                </c:pt>
                <c:pt idx="82">
                  <c:v>11</c:v>
                </c:pt>
                <c:pt idx="83">
                  <c:v>13</c:v>
                </c:pt>
                <c:pt idx="84">
                  <c:v>12</c:v>
                </c:pt>
                <c:pt idx="85">
                  <c:v>12</c:v>
                </c:pt>
                <c:pt idx="86">
                  <c:v>11</c:v>
                </c:pt>
                <c:pt idx="87">
                  <c:v>15</c:v>
                </c:pt>
                <c:pt idx="88">
                  <c:v>11</c:v>
                </c:pt>
                <c:pt idx="89">
                  <c:v>10</c:v>
                </c:pt>
                <c:pt idx="90">
                  <c:v>11</c:v>
                </c:pt>
                <c:pt idx="91">
                  <c:v>13</c:v>
                </c:pt>
                <c:pt idx="92">
                  <c:v>12</c:v>
                </c:pt>
                <c:pt idx="93">
                  <c:v>14</c:v>
                </c:pt>
                <c:pt idx="94">
                  <c:v>12</c:v>
                </c:pt>
                <c:pt idx="95">
                  <c:v>13</c:v>
                </c:pt>
                <c:pt idx="96">
                  <c:v>11</c:v>
                </c:pt>
                <c:pt idx="97">
                  <c:v>12</c:v>
                </c:pt>
                <c:pt idx="98">
                  <c:v>13</c:v>
                </c:pt>
                <c:pt idx="99">
                  <c:v>13</c:v>
                </c:pt>
                <c:pt idx="100">
                  <c:v>8</c:v>
                </c:pt>
                <c:pt idx="101">
                  <c:v>16</c:v>
                </c:pt>
                <c:pt idx="102">
                  <c:v>12</c:v>
                </c:pt>
                <c:pt idx="103">
                  <c:v>10</c:v>
                </c:pt>
                <c:pt idx="104">
                  <c:v>16</c:v>
                </c:pt>
                <c:pt idx="105">
                  <c:v>10</c:v>
                </c:pt>
                <c:pt idx="106">
                  <c:v>10</c:v>
                </c:pt>
                <c:pt idx="107">
                  <c:v>14</c:v>
                </c:pt>
                <c:pt idx="108">
                  <c:v>11</c:v>
                </c:pt>
                <c:pt idx="109">
                  <c:v>14</c:v>
                </c:pt>
                <c:pt idx="110">
                  <c:v>14</c:v>
                </c:pt>
                <c:pt idx="111">
                  <c:v>11</c:v>
                </c:pt>
                <c:pt idx="112">
                  <c:v>10</c:v>
                </c:pt>
                <c:pt idx="113">
                  <c:v>18</c:v>
                </c:pt>
                <c:pt idx="114">
                  <c:v>10</c:v>
                </c:pt>
                <c:pt idx="115">
                  <c:v>14</c:v>
                </c:pt>
                <c:pt idx="116">
                  <c:v>16</c:v>
                </c:pt>
                <c:pt idx="117">
                  <c:v>15</c:v>
                </c:pt>
                <c:pt idx="118">
                  <c:v>11</c:v>
                </c:pt>
                <c:pt idx="119">
                  <c:v>14</c:v>
                </c:pt>
                <c:pt idx="120">
                  <c:v>14</c:v>
                </c:pt>
                <c:pt idx="121">
                  <c:v>13</c:v>
                </c:pt>
                <c:pt idx="122">
                  <c:v>13</c:v>
                </c:pt>
                <c:pt idx="123">
                  <c:v>13</c:v>
                </c:pt>
                <c:pt idx="124">
                  <c:v>11</c:v>
                </c:pt>
                <c:pt idx="125">
                  <c:v>9</c:v>
                </c:pt>
                <c:pt idx="126">
                  <c:v>11</c:v>
                </c:pt>
                <c:pt idx="127">
                  <c:v>11</c:v>
                </c:pt>
                <c:pt idx="128">
                  <c:v>15</c:v>
                </c:pt>
                <c:pt idx="129">
                  <c:v>13</c:v>
                </c:pt>
                <c:pt idx="130">
                  <c:v>12</c:v>
                </c:pt>
                <c:pt idx="131">
                  <c:v>8</c:v>
                </c:pt>
                <c:pt idx="132">
                  <c:v>11</c:v>
                </c:pt>
                <c:pt idx="133">
                  <c:v>13</c:v>
                </c:pt>
                <c:pt idx="134">
                  <c:v>12</c:v>
                </c:pt>
                <c:pt idx="135">
                  <c:v>14</c:v>
                </c:pt>
                <c:pt idx="136">
                  <c:v>11</c:v>
                </c:pt>
                <c:pt idx="137">
                  <c:v>11</c:v>
                </c:pt>
                <c:pt idx="138">
                  <c:v>11</c:v>
                </c:pt>
                <c:pt idx="139">
                  <c:v>15</c:v>
                </c:pt>
                <c:pt idx="140">
                  <c:v>10</c:v>
                </c:pt>
                <c:pt idx="141">
                  <c:v>13</c:v>
                </c:pt>
                <c:pt idx="142">
                  <c:v>12</c:v>
                </c:pt>
                <c:pt idx="143">
                  <c:v>11</c:v>
                </c:pt>
                <c:pt idx="144">
                  <c:v>11</c:v>
                </c:pt>
                <c:pt idx="145">
                  <c:v>10</c:v>
                </c:pt>
                <c:pt idx="146">
                  <c:v>10</c:v>
                </c:pt>
                <c:pt idx="147">
                  <c:v>14</c:v>
                </c:pt>
                <c:pt idx="148">
                  <c:v>9</c:v>
                </c:pt>
                <c:pt idx="149">
                  <c:v>11</c:v>
                </c:pt>
                <c:pt idx="150">
                  <c:v>9</c:v>
                </c:pt>
                <c:pt idx="151">
                  <c:v>13</c:v>
                </c:pt>
                <c:pt idx="152">
                  <c:v>11</c:v>
                </c:pt>
                <c:pt idx="153">
                  <c:v>13</c:v>
                </c:pt>
                <c:pt idx="154">
                  <c:v>11</c:v>
                </c:pt>
                <c:pt idx="155">
                  <c:v>6</c:v>
                </c:pt>
                <c:pt idx="156">
                  <c:v>12</c:v>
                </c:pt>
                <c:pt idx="157">
                  <c:v>10</c:v>
                </c:pt>
                <c:pt idx="158">
                  <c:v>11</c:v>
                </c:pt>
                <c:pt idx="159">
                  <c:v>13</c:v>
                </c:pt>
                <c:pt idx="160">
                  <c:v>11</c:v>
                </c:pt>
                <c:pt idx="161">
                  <c:v>8</c:v>
                </c:pt>
                <c:pt idx="162">
                  <c:v>11</c:v>
                </c:pt>
                <c:pt idx="163">
                  <c:v>0</c:v>
                </c:pt>
                <c:pt idx="164">
                  <c:v>10</c:v>
                </c:pt>
                <c:pt idx="165">
                  <c:v>13</c:v>
                </c:pt>
                <c:pt idx="166">
                  <c:v>11</c:v>
                </c:pt>
                <c:pt idx="167">
                  <c:v>13</c:v>
                </c:pt>
                <c:pt idx="168">
                  <c:v>8</c:v>
                </c:pt>
                <c:pt idx="169">
                  <c:v>10</c:v>
                </c:pt>
                <c:pt idx="170">
                  <c:v>11</c:v>
                </c:pt>
                <c:pt idx="171">
                  <c:v>11</c:v>
                </c:pt>
                <c:pt idx="172">
                  <c:v>1</c:v>
                </c:pt>
                <c:pt idx="173">
                  <c:v>10</c:v>
                </c:pt>
                <c:pt idx="174">
                  <c:v>9</c:v>
                </c:pt>
                <c:pt idx="175">
                  <c:v>8</c:v>
                </c:pt>
                <c:pt idx="176">
                  <c:v>10</c:v>
                </c:pt>
                <c:pt idx="177">
                  <c:v>8</c:v>
                </c:pt>
                <c:pt idx="178">
                  <c:v>8</c:v>
                </c:pt>
                <c:pt idx="179">
                  <c:v>8</c:v>
                </c:pt>
                <c:pt idx="180">
                  <c:v>11</c:v>
                </c:pt>
                <c:pt idx="181">
                  <c:v>18</c:v>
                </c:pt>
                <c:pt idx="182">
                  <c:v>13</c:v>
                </c:pt>
                <c:pt idx="183">
                  <c:v>17</c:v>
                </c:pt>
                <c:pt idx="184">
                  <c:v>10</c:v>
                </c:pt>
                <c:pt idx="185">
                  <c:v>18</c:v>
                </c:pt>
                <c:pt idx="186">
                  <c:v>10</c:v>
                </c:pt>
                <c:pt idx="187">
                  <c:v>13</c:v>
                </c:pt>
                <c:pt idx="188">
                  <c:v>15</c:v>
                </c:pt>
                <c:pt idx="189">
                  <c:v>11</c:v>
                </c:pt>
                <c:pt idx="190">
                  <c:v>14</c:v>
                </c:pt>
                <c:pt idx="191">
                  <c:v>10</c:v>
                </c:pt>
                <c:pt idx="192">
                  <c:v>11</c:v>
                </c:pt>
                <c:pt idx="193">
                  <c:v>13</c:v>
                </c:pt>
                <c:pt idx="194">
                  <c:v>11</c:v>
                </c:pt>
                <c:pt idx="195">
                  <c:v>13</c:v>
                </c:pt>
                <c:pt idx="196">
                  <c:v>17</c:v>
                </c:pt>
                <c:pt idx="197">
                  <c:v>14</c:v>
                </c:pt>
                <c:pt idx="198">
                  <c:v>16</c:v>
                </c:pt>
                <c:pt idx="199">
                  <c:v>14</c:v>
                </c:pt>
                <c:pt idx="200">
                  <c:v>11</c:v>
                </c:pt>
                <c:pt idx="201">
                  <c:v>16</c:v>
                </c:pt>
                <c:pt idx="202">
                  <c:v>14</c:v>
                </c:pt>
                <c:pt idx="203">
                  <c:v>10</c:v>
                </c:pt>
                <c:pt idx="204">
                  <c:v>13</c:v>
                </c:pt>
                <c:pt idx="205">
                  <c:v>12</c:v>
                </c:pt>
                <c:pt idx="206">
                  <c:v>12</c:v>
                </c:pt>
                <c:pt idx="207">
                  <c:v>10</c:v>
                </c:pt>
                <c:pt idx="208">
                  <c:v>12</c:v>
                </c:pt>
                <c:pt idx="209">
                  <c:v>16</c:v>
                </c:pt>
                <c:pt idx="210">
                  <c:v>14</c:v>
                </c:pt>
                <c:pt idx="211">
                  <c:v>12</c:v>
                </c:pt>
                <c:pt idx="212">
                  <c:v>16</c:v>
                </c:pt>
                <c:pt idx="213">
                  <c:v>11</c:v>
                </c:pt>
                <c:pt idx="214">
                  <c:v>15</c:v>
                </c:pt>
                <c:pt idx="215">
                  <c:v>12</c:v>
                </c:pt>
                <c:pt idx="216">
                  <c:v>15</c:v>
                </c:pt>
                <c:pt idx="217">
                  <c:v>13</c:v>
                </c:pt>
                <c:pt idx="218">
                  <c:v>13</c:v>
                </c:pt>
                <c:pt idx="219">
                  <c:v>8</c:v>
                </c:pt>
                <c:pt idx="220">
                  <c:v>12</c:v>
                </c:pt>
                <c:pt idx="221">
                  <c:v>15</c:v>
                </c:pt>
                <c:pt idx="222">
                  <c:v>13</c:v>
                </c:pt>
                <c:pt idx="223">
                  <c:v>12</c:v>
                </c:pt>
                <c:pt idx="224">
                  <c:v>12</c:v>
                </c:pt>
                <c:pt idx="225">
                  <c:v>12</c:v>
                </c:pt>
                <c:pt idx="226">
                  <c:v>13</c:v>
                </c:pt>
                <c:pt idx="227">
                  <c:v>11</c:v>
                </c:pt>
                <c:pt idx="228">
                  <c:v>11</c:v>
                </c:pt>
                <c:pt idx="229">
                  <c:v>15</c:v>
                </c:pt>
                <c:pt idx="230">
                  <c:v>10</c:v>
                </c:pt>
                <c:pt idx="231">
                  <c:v>10</c:v>
                </c:pt>
                <c:pt idx="232">
                  <c:v>13</c:v>
                </c:pt>
                <c:pt idx="233">
                  <c:v>13</c:v>
                </c:pt>
                <c:pt idx="234">
                  <c:v>11</c:v>
                </c:pt>
                <c:pt idx="235">
                  <c:v>12</c:v>
                </c:pt>
                <c:pt idx="236">
                  <c:v>14</c:v>
                </c:pt>
                <c:pt idx="237">
                  <c:v>10</c:v>
                </c:pt>
                <c:pt idx="238">
                  <c:v>16</c:v>
                </c:pt>
                <c:pt idx="239">
                  <c:v>8</c:v>
                </c:pt>
                <c:pt idx="240">
                  <c:v>17</c:v>
                </c:pt>
                <c:pt idx="241">
                  <c:v>11</c:v>
                </c:pt>
                <c:pt idx="242">
                  <c:v>11</c:v>
                </c:pt>
                <c:pt idx="243">
                  <c:v>16</c:v>
                </c:pt>
                <c:pt idx="244">
                  <c:v>12</c:v>
                </c:pt>
                <c:pt idx="245">
                  <c:v>13</c:v>
                </c:pt>
                <c:pt idx="246">
                  <c:v>13</c:v>
                </c:pt>
                <c:pt idx="247">
                  <c:v>14</c:v>
                </c:pt>
                <c:pt idx="248">
                  <c:v>9</c:v>
                </c:pt>
                <c:pt idx="249">
                  <c:v>12</c:v>
                </c:pt>
                <c:pt idx="250">
                  <c:v>16</c:v>
                </c:pt>
                <c:pt idx="251">
                  <c:v>10</c:v>
                </c:pt>
                <c:pt idx="252">
                  <c:v>13</c:v>
                </c:pt>
                <c:pt idx="253">
                  <c:v>10</c:v>
                </c:pt>
                <c:pt idx="254">
                  <c:v>10</c:v>
                </c:pt>
                <c:pt idx="255">
                  <c:v>7</c:v>
                </c:pt>
                <c:pt idx="256">
                  <c:v>8</c:v>
                </c:pt>
                <c:pt idx="257">
                  <c:v>9</c:v>
                </c:pt>
                <c:pt idx="258">
                  <c:v>15</c:v>
                </c:pt>
                <c:pt idx="259">
                  <c:v>10</c:v>
                </c:pt>
                <c:pt idx="260">
                  <c:v>11</c:v>
                </c:pt>
                <c:pt idx="261">
                  <c:v>13</c:v>
                </c:pt>
                <c:pt idx="262">
                  <c:v>8</c:v>
                </c:pt>
                <c:pt idx="263">
                  <c:v>8</c:v>
                </c:pt>
                <c:pt idx="264">
                  <c:v>10</c:v>
                </c:pt>
                <c:pt idx="265">
                  <c:v>15</c:v>
                </c:pt>
                <c:pt idx="266">
                  <c:v>14</c:v>
                </c:pt>
                <c:pt idx="267">
                  <c:v>15</c:v>
                </c:pt>
                <c:pt idx="268">
                  <c:v>12</c:v>
                </c:pt>
                <c:pt idx="269">
                  <c:v>15</c:v>
                </c:pt>
                <c:pt idx="270">
                  <c:v>15</c:v>
                </c:pt>
                <c:pt idx="271">
                  <c:v>12</c:v>
                </c:pt>
                <c:pt idx="272">
                  <c:v>15</c:v>
                </c:pt>
                <c:pt idx="273">
                  <c:v>11</c:v>
                </c:pt>
                <c:pt idx="274">
                  <c:v>10</c:v>
                </c:pt>
                <c:pt idx="275">
                  <c:v>11</c:v>
                </c:pt>
                <c:pt idx="276">
                  <c:v>16</c:v>
                </c:pt>
                <c:pt idx="277">
                  <c:v>11</c:v>
                </c:pt>
                <c:pt idx="278">
                  <c:v>13</c:v>
                </c:pt>
                <c:pt idx="279">
                  <c:v>5</c:v>
                </c:pt>
                <c:pt idx="280">
                  <c:v>10</c:v>
                </c:pt>
                <c:pt idx="281">
                  <c:v>11</c:v>
                </c:pt>
                <c:pt idx="282">
                  <c:v>7</c:v>
                </c:pt>
                <c:pt idx="283">
                  <c:v>10</c:v>
                </c:pt>
                <c:pt idx="284">
                  <c:v>6</c:v>
                </c:pt>
                <c:pt idx="285">
                  <c:v>12</c:v>
                </c:pt>
                <c:pt idx="286">
                  <c:v>13</c:v>
                </c:pt>
                <c:pt idx="287">
                  <c:v>10</c:v>
                </c:pt>
                <c:pt idx="288">
                  <c:v>13</c:v>
                </c:pt>
                <c:pt idx="289">
                  <c:v>17</c:v>
                </c:pt>
                <c:pt idx="290">
                  <c:v>11</c:v>
                </c:pt>
                <c:pt idx="291">
                  <c:v>11</c:v>
                </c:pt>
                <c:pt idx="292">
                  <c:v>14</c:v>
                </c:pt>
                <c:pt idx="293">
                  <c:v>14</c:v>
                </c:pt>
                <c:pt idx="294">
                  <c:v>13</c:v>
                </c:pt>
                <c:pt idx="295">
                  <c:v>14</c:v>
                </c:pt>
                <c:pt idx="296">
                  <c:v>16</c:v>
                </c:pt>
                <c:pt idx="297">
                  <c:v>10</c:v>
                </c:pt>
                <c:pt idx="298">
                  <c:v>12</c:v>
                </c:pt>
                <c:pt idx="299">
                  <c:v>12</c:v>
                </c:pt>
                <c:pt idx="300">
                  <c:v>15</c:v>
                </c:pt>
                <c:pt idx="301">
                  <c:v>11</c:v>
                </c:pt>
                <c:pt idx="302">
                  <c:v>12</c:v>
                </c:pt>
                <c:pt idx="303">
                  <c:v>13</c:v>
                </c:pt>
                <c:pt idx="304">
                  <c:v>13</c:v>
                </c:pt>
                <c:pt idx="305">
                  <c:v>9</c:v>
                </c:pt>
                <c:pt idx="306">
                  <c:v>16</c:v>
                </c:pt>
                <c:pt idx="307">
                  <c:v>14</c:v>
                </c:pt>
                <c:pt idx="308">
                  <c:v>12</c:v>
                </c:pt>
                <c:pt idx="309">
                  <c:v>14</c:v>
                </c:pt>
                <c:pt idx="310">
                  <c:v>10</c:v>
                </c:pt>
                <c:pt idx="311">
                  <c:v>12</c:v>
                </c:pt>
                <c:pt idx="312">
                  <c:v>16</c:v>
                </c:pt>
                <c:pt idx="313">
                  <c:v>13</c:v>
                </c:pt>
                <c:pt idx="314">
                  <c:v>18</c:v>
                </c:pt>
                <c:pt idx="315">
                  <c:v>15</c:v>
                </c:pt>
                <c:pt idx="316">
                  <c:v>16</c:v>
                </c:pt>
                <c:pt idx="317">
                  <c:v>12</c:v>
                </c:pt>
                <c:pt idx="318">
                  <c:v>10</c:v>
                </c:pt>
                <c:pt idx="319">
                  <c:v>12</c:v>
                </c:pt>
                <c:pt idx="320">
                  <c:v>13</c:v>
                </c:pt>
                <c:pt idx="321">
                  <c:v>15</c:v>
                </c:pt>
                <c:pt idx="322">
                  <c:v>10</c:v>
                </c:pt>
                <c:pt idx="323">
                  <c:v>10</c:v>
                </c:pt>
                <c:pt idx="324">
                  <c:v>11</c:v>
                </c:pt>
                <c:pt idx="325">
                  <c:v>10</c:v>
                </c:pt>
                <c:pt idx="326">
                  <c:v>13</c:v>
                </c:pt>
                <c:pt idx="327">
                  <c:v>18</c:v>
                </c:pt>
                <c:pt idx="328">
                  <c:v>13</c:v>
                </c:pt>
                <c:pt idx="329">
                  <c:v>14</c:v>
                </c:pt>
                <c:pt idx="330">
                  <c:v>14</c:v>
                </c:pt>
                <c:pt idx="331">
                  <c:v>12</c:v>
                </c:pt>
                <c:pt idx="332">
                  <c:v>18</c:v>
                </c:pt>
                <c:pt idx="333">
                  <c:v>14</c:v>
                </c:pt>
                <c:pt idx="334">
                  <c:v>15</c:v>
                </c:pt>
                <c:pt idx="335">
                  <c:v>17</c:v>
                </c:pt>
                <c:pt idx="336">
                  <c:v>16</c:v>
                </c:pt>
                <c:pt idx="337">
                  <c:v>18</c:v>
                </c:pt>
                <c:pt idx="338">
                  <c:v>19</c:v>
                </c:pt>
                <c:pt idx="339">
                  <c:v>15</c:v>
                </c:pt>
                <c:pt idx="340">
                  <c:v>15</c:v>
                </c:pt>
                <c:pt idx="341">
                  <c:v>13</c:v>
                </c:pt>
                <c:pt idx="342">
                  <c:v>14</c:v>
                </c:pt>
                <c:pt idx="343">
                  <c:v>17</c:v>
                </c:pt>
                <c:pt idx="344">
                  <c:v>17</c:v>
                </c:pt>
                <c:pt idx="345">
                  <c:v>15</c:v>
                </c:pt>
                <c:pt idx="346">
                  <c:v>13</c:v>
                </c:pt>
                <c:pt idx="347">
                  <c:v>8</c:v>
                </c:pt>
                <c:pt idx="348">
                  <c:v>16</c:v>
                </c:pt>
                <c:pt idx="349">
                  <c:v>18</c:v>
                </c:pt>
                <c:pt idx="350">
                  <c:v>11</c:v>
                </c:pt>
                <c:pt idx="351">
                  <c:v>15</c:v>
                </c:pt>
                <c:pt idx="352">
                  <c:v>11</c:v>
                </c:pt>
                <c:pt idx="353">
                  <c:v>11</c:v>
                </c:pt>
                <c:pt idx="354">
                  <c:v>15</c:v>
                </c:pt>
                <c:pt idx="355">
                  <c:v>14</c:v>
                </c:pt>
                <c:pt idx="356">
                  <c:v>17</c:v>
                </c:pt>
                <c:pt idx="357">
                  <c:v>17</c:v>
                </c:pt>
                <c:pt idx="358">
                  <c:v>15</c:v>
                </c:pt>
                <c:pt idx="359">
                  <c:v>17</c:v>
                </c:pt>
                <c:pt idx="360">
                  <c:v>14</c:v>
                </c:pt>
                <c:pt idx="361">
                  <c:v>10</c:v>
                </c:pt>
                <c:pt idx="362">
                  <c:v>13</c:v>
                </c:pt>
                <c:pt idx="363">
                  <c:v>14</c:v>
                </c:pt>
                <c:pt idx="364">
                  <c:v>17</c:v>
                </c:pt>
                <c:pt idx="365">
                  <c:v>17</c:v>
                </c:pt>
                <c:pt idx="366">
                  <c:v>13</c:v>
                </c:pt>
                <c:pt idx="367">
                  <c:v>14</c:v>
                </c:pt>
                <c:pt idx="368">
                  <c:v>11</c:v>
                </c:pt>
                <c:pt idx="369">
                  <c:v>11</c:v>
                </c:pt>
                <c:pt idx="370">
                  <c:v>9</c:v>
                </c:pt>
                <c:pt idx="371">
                  <c:v>10</c:v>
                </c:pt>
                <c:pt idx="372">
                  <c:v>13</c:v>
                </c:pt>
                <c:pt idx="373">
                  <c:v>10</c:v>
                </c:pt>
                <c:pt idx="374">
                  <c:v>17</c:v>
                </c:pt>
                <c:pt idx="375">
                  <c:v>15</c:v>
                </c:pt>
                <c:pt idx="376">
                  <c:v>14</c:v>
                </c:pt>
                <c:pt idx="377">
                  <c:v>13</c:v>
                </c:pt>
                <c:pt idx="378">
                  <c:v>17</c:v>
                </c:pt>
                <c:pt idx="379">
                  <c:v>10</c:v>
                </c:pt>
                <c:pt idx="380">
                  <c:v>13</c:v>
                </c:pt>
                <c:pt idx="381">
                  <c:v>15</c:v>
                </c:pt>
                <c:pt idx="382">
                  <c:v>11</c:v>
                </c:pt>
                <c:pt idx="383">
                  <c:v>12</c:v>
                </c:pt>
                <c:pt idx="384">
                  <c:v>10</c:v>
                </c:pt>
                <c:pt idx="385">
                  <c:v>10</c:v>
                </c:pt>
                <c:pt idx="386">
                  <c:v>15</c:v>
                </c:pt>
                <c:pt idx="387">
                  <c:v>15</c:v>
                </c:pt>
                <c:pt idx="388">
                  <c:v>12</c:v>
                </c:pt>
                <c:pt idx="389">
                  <c:v>12</c:v>
                </c:pt>
                <c:pt idx="390">
                  <c:v>14</c:v>
                </c:pt>
                <c:pt idx="391">
                  <c:v>14</c:v>
                </c:pt>
                <c:pt idx="392">
                  <c:v>15</c:v>
                </c:pt>
                <c:pt idx="393">
                  <c:v>15</c:v>
                </c:pt>
                <c:pt idx="394">
                  <c:v>16</c:v>
                </c:pt>
                <c:pt idx="395">
                  <c:v>13</c:v>
                </c:pt>
                <c:pt idx="396">
                  <c:v>17</c:v>
                </c:pt>
                <c:pt idx="397">
                  <c:v>14</c:v>
                </c:pt>
                <c:pt idx="398">
                  <c:v>14</c:v>
                </c:pt>
                <c:pt idx="399">
                  <c:v>17</c:v>
                </c:pt>
                <c:pt idx="400">
                  <c:v>17</c:v>
                </c:pt>
                <c:pt idx="401">
                  <c:v>14</c:v>
                </c:pt>
                <c:pt idx="402">
                  <c:v>13</c:v>
                </c:pt>
                <c:pt idx="403">
                  <c:v>15</c:v>
                </c:pt>
                <c:pt idx="404">
                  <c:v>16</c:v>
                </c:pt>
                <c:pt idx="405">
                  <c:v>11</c:v>
                </c:pt>
                <c:pt idx="406">
                  <c:v>13</c:v>
                </c:pt>
                <c:pt idx="407">
                  <c:v>12</c:v>
                </c:pt>
                <c:pt idx="408">
                  <c:v>12</c:v>
                </c:pt>
                <c:pt idx="409">
                  <c:v>15</c:v>
                </c:pt>
                <c:pt idx="410">
                  <c:v>17</c:v>
                </c:pt>
                <c:pt idx="411">
                  <c:v>15</c:v>
                </c:pt>
                <c:pt idx="412">
                  <c:v>17</c:v>
                </c:pt>
                <c:pt idx="413">
                  <c:v>10</c:v>
                </c:pt>
                <c:pt idx="414">
                  <c:v>15</c:v>
                </c:pt>
                <c:pt idx="415">
                  <c:v>11</c:v>
                </c:pt>
                <c:pt idx="416">
                  <c:v>18</c:v>
                </c:pt>
                <c:pt idx="417">
                  <c:v>17</c:v>
                </c:pt>
                <c:pt idx="418">
                  <c:v>14</c:v>
                </c:pt>
                <c:pt idx="419">
                  <c:v>11</c:v>
                </c:pt>
                <c:pt idx="420">
                  <c:v>17</c:v>
                </c:pt>
                <c:pt idx="421">
                  <c:v>10</c:v>
                </c:pt>
                <c:pt idx="422">
                  <c:v>13</c:v>
                </c:pt>
                <c:pt idx="423">
                  <c:v>11</c:v>
                </c:pt>
                <c:pt idx="424">
                  <c:v>12</c:v>
                </c:pt>
                <c:pt idx="425">
                  <c:v>10</c:v>
                </c:pt>
                <c:pt idx="426">
                  <c:v>11</c:v>
                </c:pt>
                <c:pt idx="427">
                  <c:v>17</c:v>
                </c:pt>
                <c:pt idx="428">
                  <c:v>9</c:v>
                </c:pt>
                <c:pt idx="429">
                  <c:v>11</c:v>
                </c:pt>
                <c:pt idx="430">
                  <c:v>11</c:v>
                </c:pt>
                <c:pt idx="431">
                  <c:v>10</c:v>
                </c:pt>
                <c:pt idx="432">
                  <c:v>7</c:v>
                </c:pt>
                <c:pt idx="433">
                  <c:v>14</c:v>
                </c:pt>
                <c:pt idx="434">
                  <c:v>11</c:v>
                </c:pt>
                <c:pt idx="435">
                  <c:v>10</c:v>
                </c:pt>
                <c:pt idx="436">
                  <c:v>8</c:v>
                </c:pt>
                <c:pt idx="437">
                  <c:v>12</c:v>
                </c:pt>
                <c:pt idx="438">
                  <c:v>12</c:v>
                </c:pt>
                <c:pt idx="439">
                  <c:v>16</c:v>
                </c:pt>
                <c:pt idx="440">
                  <c:v>0</c:v>
                </c:pt>
                <c:pt idx="441">
                  <c:v>9</c:v>
                </c:pt>
                <c:pt idx="442">
                  <c:v>14</c:v>
                </c:pt>
                <c:pt idx="443">
                  <c:v>8</c:v>
                </c:pt>
                <c:pt idx="444">
                  <c:v>11</c:v>
                </c:pt>
                <c:pt idx="445">
                  <c:v>9</c:v>
                </c:pt>
                <c:pt idx="446">
                  <c:v>11</c:v>
                </c:pt>
                <c:pt idx="447">
                  <c:v>9</c:v>
                </c:pt>
                <c:pt idx="448">
                  <c:v>17</c:v>
                </c:pt>
                <c:pt idx="449">
                  <c:v>13</c:v>
                </c:pt>
                <c:pt idx="450">
                  <c:v>15</c:v>
                </c:pt>
                <c:pt idx="451">
                  <c:v>11</c:v>
                </c:pt>
                <c:pt idx="452">
                  <c:v>11</c:v>
                </c:pt>
                <c:pt idx="453">
                  <c:v>8</c:v>
                </c:pt>
                <c:pt idx="454">
                  <c:v>8</c:v>
                </c:pt>
                <c:pt idx="455">
                  <c:v>9</c:v>
                </c:pt>
                <c:pt idx="456">
                  <c:v>15</c:v>
                </c:pt>
                <c:pt idx="457">
                  <c:v>11</c:v>
                </c:pt>
                <c:pt idx="458">
                  <c:v>13</c:v>
                </c:pt>
                <c:pt idx="459">
                  <c:v>10</c:v>
                </c:pt>
                <c:pt idx="460">
                  <c:v>11</c:v>
                </c:pt>
                <c:pt idx="461">
                  <c:v>14</c:v>
                </c:pt>
                <c:pt idx="462">
                  <c:v>14</c:v>
                </c:pt>
                <c:pt idx="463">
                  <c:v>12</c:v>
                </c:pt>
                <c:pt idx="464">
                  <c:v>11</c:v>
                </c:pt>
                <c:pt idx="465">
                  <c:v>8</c:v>
                </c:pt>
                <c:pt idx="466">
                  <c:v>11</c:v>
                </c:pt>
                <c:pt idx="467">
                  <c:v>14</c:v>
                </c:pt>
                <c:pt idx="468">
                  <c:v>13</c:v>
                </c:pt>
                <c:pt idx="469">
                  <c:v>13</c:v>
                </c:pt>
                <c:pt idx="470">
                  <c:v>12</c:v>
                </c:pt>
                <c:pt idx="471">
                  <c:v>12</c:v>
                </c:pt>
                <c:pt idx="472">
                  <c:v>16</c:v>
                </c:pt>
                <c:pt idx="473">
                  <c:v>10</c:v>
                </c:pt>
                <c:pt idx="474">
                  <c:v>11</c:v>
                </c:pt>
                <c:pt idx="475">
                  <c:v>14</c:v>
                </c:pt>
                <c:pt idx="476">
                  <c:v>8</c:v>
                </c:pt>
                <c:pt idx="477">
                  <c:v>11</c:v>
                </c:pt>
                <c:pt idx="478">
                  <c:v>8</c:v>
                </c:pt>
                <c:pt idx="479">
                  <c:v>10</c:v>
                </c:pt>
                <c:pt idx="480">
                  <c:v>10</c:v>
                </c:pt>
                <c:pt idx="481">
                  <c:v>11</c:v>
                </c:pt>
                <c:pt idx="482">
                  <c:v>9</c:v>
                </c:pt>
                <c:pt idx="483">
                  <c:v>11</c:v>
                </c:pt>
                <c:pt idx="484">
                  <c:v>8</c:v>
                </c:pt>
                <c:pt idx="485">
                  <c:v>11</c:v>
                </c:pt>
                <c:pt idx="486">
                  <c:v>10</c:v>
                </c:pt>
                <c:pt idx="487">
                  <c:v>10</c:v>
                </c:pt>
                <c:pt idx="488">
                  <c:v>9</c:v>
                </c:pt>
                <c:pt idx="489">
                  <c:v>10</c:v>
                </c:pt>
                <c:pt idx="490">
                  <c:v>10</c:v>
                </c:pt>
                <c:pt idx="491">
                  <c:v>9</c:v>
                </c:pt>
                <c:pt idx="492">
                  <c:v>10</c:v>
                </c:pt>
                <c:pt idx="493">
                  <c:v>10</c:v>
                </c:pt>
                <c:pt idx="494">
                  <c:v>9</c:v>
                </c:pt>
                <c:pt idx="495">
                  <c:v>13</c:v>
                </c:pt>
                <c:pt idx="496">
                  <c:v>14</c:v>
                </c:pt>
                <c:pt idx="497">
                  <c:v>10</c:v>
                </c:pt>
                <c:pt idx="498">
                  <c:v>14</c:v>
                </c:pt>
                <c:pt idx="499">
                  <c:v>16</c:v>
                </c:pt>
                <c:pt idx="500">
                  <c:v>7</c:v>
                </c:pt>
                <c:pt idx="501">
                  <c:v>13</c:v>
                </c:pt>
                <c:pt idx="502">
                  <c:v>9</c:v>
                </c:pt>
                <c:pt idx="503">
                  <c:v>14</c:v>
                </c:pt>
                <c:pt idx="504">
                  <c:v>13</c:v>
                </c:pt>
                <c:pt idx="505">
                  <c:v>11</c:v>
                </c:pt>
                <c:pt idx="506">
                  <c:v>10</c:v>
                </c:pt>
                <c:pt idx="507">
                  <c:v>10</c:v>
                </c:pt>
                <c:pt idx="508">
                  <c:v>9</c:v>
                </c:pt>
                <c:pt idx="509">
                  <c:v>18</c:v>
                </c:pt>
                <c:pt idx="510">
                  <c:v>17</c:v>
                </c:pt>
                <c:pt idx="511">
                  <c:v>10</c:v>
                </c:pt>
                <c:pt idx="512">
                  <c:v>7</c:v>
                </c:pt>
                <c:pt idx="513">
                  <c:v>8</c:v>
                </c:pt>
                <c:pt idx="514">
                  <c:v>7</c:v>
                </c:pt>
                <c:pt idx="515">
                  <c:v>10</c:v>
                </c:pt>
                <c:pt idx="516">
                  <c:v>16</c:v>
                </c:pt>
                <c:pt idx="517">
                  <c:v>15</c:v>
                </c:pt>
                <c:pt idx="518">
                  <c:v>8</c:v>
                </c:pt>
                <c:pt idx="519">
                  <c:v>0</c:v>
                </c:pt>
                <c:pt idx="520">
                  <c:v>8</c:v>
                </c:pt>
                <c:pt idx="521">
                  <c:v>10</c:v>
                </c:pt>
                <c:pt idx="522">
                  <c:v>8</c:v>
                </c:pt>
                <c:pt idx="523">
                  <c:v>6</c:v>
                </c:pt>
                <c:pt idx="524">
                  <c:v>8</c:v>
                </c:pt>
                <c:pt idx="525">
                  <c:v>16</c:v>
                </c:pt>
                <c:pt idx="526">
                  <c:v>14</c:v>
                </c:pt>
                <c:pt idx="527">
                  <c:v>10</c:v>
                </c:pt>
                <c:pt idx="528">
                  <c:v>9</c:v>
                </c:pt>
                <c:pt idx="529">
                  <c:v>11</c:v>
                </c:pt>
                <c:pt idx="530">
                  <c:v>9</c:v>
                </c:pt>
                <c:pt idx="531">
                  <c:v>10</c:v>
                </c:pt>
                <c:pt idx="532">
                  <c:v>8</c:v>
                </c:pt>
                <c:pt idx="533">
                  <c:v>16</c:v>
                </c:pt>
                <c:pt idx="534">
                  <c:v>12</c:v>
                </c:pt>
                <c:pt idx="535">
                  <c:v>10</c:v>
                </c:pt>
                <c:pt idx="536">
                  <c:v>14</c:v>
                </c:pt>
                <c:pt idx="537">
                  <c:v>12</c:v>
                </c:pt>
                <c:pt idx="538">
                  <c:v>11</c:v>
                </c:pt>
                <c:pt idx="539">
                  <c:v>10</c:v>
                </c:pt>
                <c:pt idx="540">
                  <c:v>11</c:v>
                </c:pt>
                <c:pt idx="541">
                  <c:v>11</c:v>
                </c:pt>
                <c:pt idx="542">
                  <c:v>12</c:v>
                </c:pt>
                <c:pt idx="543">
                  <c:v>8</c:v>
                </c:pt>
                <c:pt idx="544">
                  <c:v>12</c:v>
                </c:pt>
                <c:pt idx="545">
                  <c:v>8</c:v>
                </c:pt>
                <c:pt idx="546">
                  <c:v>16</c:v>
                </c:pt>
                <c:pt idx="547">
                  <c:v>11</c:v>
                </c:pt>
                <c:pt idx="548">
                  <c:v>11</c:v>
                </c:pt>
                <c:pt idx="549">
                  <c:v>18</c:v>
                </c:pt>
                <c:pt idx="550">
                  <c:v>13</c:v>
                </c:pt>
                <c:pt idx="551">
                  <c:v>13</c:v>
                </c:pt>
                <c:pt idx="552">
                  <c:v>10</c:v>
                </c:pt>
                <c:pt idx="553">
                  <c:v>12</c:v>
                </c:pt>
                <c:pt idx="554">
                  <c:v>10</c:v>
                </c:pt>
                <c:pt idx="555">
                  <c:v>13</c:v>
                </c:pt>
                <c:pt idx="556">
                  <c:v>11</c:v>
                </c:pt>
                <c:pt idx="557">
                  <c:v>10</c:v>
                </c:pt>
                <c:pt idx="558">
                  <c:v>10</c:v>
                </c:pt>
                <c:pt idx="559">
                  <c:v>13</c:v>
                </c:pt>
                <c:pt idx="560">
                  <c:v>10</c:v>
                </c:pt>
                <c:pt idx="561">
                  <c:v>10</c:v>
                </c:pt>
                <c:pt idx="562">
                  <c:v>12</c:v>
                </c:pt>
                <c:pt idx="563">
                  <c:v>0</c:v>
                </c:pt>
                <c:pt idx="564">
                  <c:v>10</c:v>
                </c:pt>
                <c:pt idx="565">
                  <c:v>9</c:v>
                </c:pt>
                <c:pt idx="566">
                  <c:v>9</c:v>
                </c:pt>
                <c:pt idx="567">
                  <c:v>0</c:v>
                </c:pt>
                <c:pt idx="568">
                  <c:v>9</c:v>
                </c:pt>
                <c:pt idx="569">
                  <c:v>8</c:v>
                </c:pt>
                <c:pt idx="570">
                  <c:v>8</c:v>
                </c:pt>
                <c:pt idx="571">
                  <c:v>9</c:v>
                </c:pt>
                <c:pt idx="572">
                  <c:v>7</c:v>
                </c:pt>
                <c:pt idx="573">
                  <c:v>10</c:v>
                </c:pt>
                <c:pt idx="574">
                  <c:v>10</c:v>
                </c:pt>
                <c:pt idx="575">
                  <c:v>10</c:v>
                </c:pt>
                <c:pt idx="576">
                  <c:v>11</c:v>
                </c:pt>
                <c:pt idx="577">
                  <c:v>11</c:v>
                </c:pt>
                <c:pt idx="578">
                  <c:v>10</c:v>
                </c:pt>
                <c:pt idx="579">
                  <c:v>9</c:v>
                </c:pt>
                <c:pt idx="580">
                  <c:v>10</c:v>
                </c:pt>
                <c:pt idx="581">
                  <c:v>8</c:v>
                </c:pt>
                <c:pt idx="582">
                  <c:v>7</c:v>
                </c:pt>
                <c:pt idx="583">
                  <c:v>0</c:v>
                </c:pt>
                <c:pt idx="584">
                  <c:v>11</c:v>
                </c:pt>
                <c:pt idx="585">
                  <c:v>8</c:v>
                </c:pt>
                <c:pt idx="586">
                  <c:v>0</c:v>
                </c:pt>
                <c:pt idx="587">
                  <c:v>8</c:v>
                </c:pt>
                <c:pt idx="588">
                  <c:v>9</c:v>
                </c:pt>
                <c:pt idx="589">
                  <c:v>10</c:v>
                </c:pt>
                <c:pt idx="590">
                  <c:v>7</c:v>
                </c:pt>
                <c:pt idx="591">
                  <c:v>14</c:v>
                </c:pt>
                <c:pt idx="592">
                  <c:v>13</c:v>
                </c:pt>
                <c:pt idx="593">
                  <c:v>14</c:v>
                </c:pt>
                <c:pt idx="594">
                  <c:v>18</c:v>
                </c:pt>
                <c:pt idx="595">
                  <c:v>17</c:v>
                </c:pt>
                <c:pt idx="596">
                  <c:v>18</c:v>
                </c:pt>
                <c:pt idx="597">
                  <c:v>0</c:v>
                </c:pt>
                <c:pt idx="598">
                  <c:v>11</c:v>
                </c:pt>
                <c:pt idx="599">
                  <c:v>14</c:v>
                </c:pt>
                <c:pt idx="600">
                  <c:v>14</c:v>
                </c:pt>
                <c:pt idx="601">
                  <c:v>10</c:v>
                </c:pt>
                <c:pt idx="602">
                  <c:v>13</c:v>
                </c:pt>
                <c:pt idx="603">
                  <c:v>0</c:v>
                </c:pt>
                <c:pt idx="604">
                  <c:v>10</c:v>
                </c:pt>
                <c:pt idx="605">
                  <c:v>0</c:v>
                </c:pt>
                <c:pt idx="606">
                  <c:v>18</c:v>
                </c:pt>
                <c:pt idx="607">
                  <c:v>12</c:v>
                </c:pt>
                <c:pt idx="608">
                  <c:v>11</c:v>
                </c:pt>
                <c:pt idx="609">
                  <c:v>12</c:v>
                </c:pt>
                <c:pt idx="610">
                  <c:v>0</c:v>
                </c:pt>
                <c:pt idx="611">
                  <c:v>15</c:v>
                </c:pt>
                <c:pt idx="612">
                  <c:v>11</c:v>
                </c:pt>
                <c:pt idx="613">
                  <c:v>10</c:v>
                </c:pt>
                <c:pt idx="614">
                  <c:v>12</c:v>
                </c:pt>
                <c:pt idx="615">
                  <c:v>15</c:v>
                </c:pt>
                <c:pt idx="616">
                  <c:v>14</c:v>
                </c:pt>
                <c:pt idx="617">
                  <c:v>18</c:v>
                </c:pt>
                <c:pt idx="618">
                  <c:v>15</c:v>
                </c:pt>
                <c:pt idx="619">
                  <c:v>13</c:v>
                </c:pt>
                <c:pt idx="620">
                  <c:v>15</c:v>
                </c:pt>
                <c:pt idx="621">
                  <c:v>13</c:v>
                </c:pt>
                <c:pt idx="622">
                  <c:v>9</c:v>
                </c:pt>
                <c:pt idx="623">
                  <c:v>16</c:v>
                </c:pt>
                <c:pt idx="624">
                  <c:v>9</c:v>
                </c:pt>
                <c:pt idx="625">
                  <c:v>10</c:v>
                </c:pt>
                <c:pt idx="626">
                  <c:v>0</c:v>
                </c:pt>
                <c:pt idx="627">
                  <c:v>10</c:v>
                </c:pt>
                <c:pt idx="628">
                  <c:v>12</c:v>
                </c:pt>
                <c:pt idx="629">
                  <c:v>9</c:v>
                </c:pt>
                <c:pt idx="630">
                  <c:v>17</c:v>
                </c:pt>
                <c:pt idx="631">
                  <c:v>12</c:v>
                </c:pt>
                <c:pt idx="632">
                  <c:v>9</c:v>
                </c:pt>
                <c:pt idx="633">
                  <c:v>14</c:v>
                </c:pt>
                <c:pt idx="634">
                  <c:v>16</c:v>
                </c:pt>
                <c:pt idx="635">
                  <c:v>9</c:v>
                </c:pt>
                <c:pt idx="636">
                  <c:v>19</c:v>
                </c:pt>
                <c:pt idx="637">
                  <c:v>0</c:v>
                </c:pt>
                <c:pt idx="638">
                  <c:v>16</c:v>
                </c:pt>
                <c:pt idx="639">
                  <c:v>0</c:v>
                </c:pt>
                <c:pt idx="640">
                  <c:v>0</c:v>
                </c:pt>
                <c:pt idx="641">
                  <c:v>15</c:v>
                </c:pt>
                <c:pt idx="642">
                  <c:v>11</c:v>
                </c:pt>
                <c:pt idx="643">
                  <c:v>10</c:v>
                </c:pt>
                <c:pt idx="644">
                  <c:v>10</c:v>
                </c:pt>
                <c:pt idx="645">
                  <c:v>16</c:v>
                </c:pt>
                <c:pt idx="646">
                  <c:v>9</c:v>
                </c:pt>
                <c:pt idx="647">
                  <c:v>10</c:v>
                </c:pt>
                <c:pt idx="648">
                  <c:v>11</c:v>
                </c:pt>
              </c:numCache>
            </c:numRef>
          </c:yVal>
        </c:ser>
        <c:ser>
          <c:idx val="1"/>
          <c:order val="1"/>
          <c:tx>
            <c:v>Descriptive fitted line</c:v>
          </c:tx>
          <c:spPr>
            <a:noFill xmlns:a="http://schemas.openxmlformats.org/drawingml/2006/main"/>
            <a:ln xmlns:a="http://schemas.openxmlformats.org/drawingml/2006/main" w="19050">
              <a:solidFill>
                <a:srgbClr val="000000"/>
              </a:solidFill>
              <a:prstDash val="solid"/>
            </a:ln>
          </c:spPr>
          <c:marker>
            <c:symbol val="none"/>
          </c:marker>
          <c:xVal>
            <c:numRef>
              <c:f>'Chart Data'!$C$2:$C$101</c:f>
              <c:numCache>
                <c:formatCode>General</c:formatCode>
                <c:ptCount val="100"/>
                <c:pt idx="0">
                  <c:v>0</c:v>
                </c:pt>
                <c:pt idx="1">
                  <c:v>0.191919191919</c:v>
                </c:pt>
                <c:pt idx="2">
                  <c:v>0.383838383838</c:v>
                </c:pt>
                <c:pt idx="3">
                  <c:v>0.575757575758</c:v>
                </c:pt>
                <c:pt idx="4">
                  <c:v>0.767676767677</c:v>
                </c:pt>
                <c:pt idx="5">
                  <c:v>0.959595959596</c:v>
                </c:pt>
                <c:pt idx="6">
                  <c:v>1.15151515152</c:v>
                </c:pt>
                <c:pt idx="7">
                  <c:v>1.34343434343</c:v>
                </c:pt>
                <c:pt idx="8">
                  <c:v>1.53535353535</c:v>
                </c:pt>
                <c:pt idx="9">
                  <c:v>1.72727272727</c:v>
                </c:pt>
                <c:pt idx="10">
                  <c:v>1.91919191919</c:v>
                </c:pt>
                <c:pt idx="11">
                  <c:v>2.11111111111</c:v>
                </c:pt>
                <c:pt idx="12">
                  <c:v>2.30303030303</c:v>
                </c:pt>
                <c:pt idx="13">
                  <c:v>2.49494949495</c:v>
                </c:pt>
                <c:pt idx="14">
                  <c:v>2.68686868687</c:v>
                </c:pt>
                <c:pt idx="15">
                  <c:v>2.87878787879</c:v>
                </c:pt>
                <c:pt idx="16">
                  <c:v>3.07070707071</c:v>
                </c:pt>
                <c:pt idx="17">
                  <c:v>3.26262626263</c:v>
                </c:pt>
                <c:pt idx="18">
                  <c:v>3.45454545455</c:v>
                </c:pt>
                <c:pt idx="19">
                  <c:v>3.64646464646</c:v>
                </c:pt>
                <c:pt idx="20">
                  <c:v>3.83838383838</c:v>
                </c:pt>
                <c:pt idx="21">
                  <c:v>4.0303030303</c:v>
                </c:pt>
                <c:pt idx="22">
                  <c:v>4.22222222222</c:v>
                </c:pt>
                <c:pt idx="23">
                  <c:v>4.41414141414</c:v>
                </c:pt>
                <c:pt idx="24">
                  <c:v>4.60606060606</c:v>
                </c:pt>
                <c:pt idx="25">
                  <c:v>4.79797979798</c:v>
                </c:pt>
                <c:pt idx="26">
                  <c:v>4.9898989899</c:v>
                </c:pt>
                <c:pt idx="27">
                  <c:v>5.18181818182</c:v>
                </c:pt>
                <c:pt idx="28">
                  <c:v>5.37373737374</c:v>
                </c:pt>
                <c:pt idx="29">
                  <c:v>5.56565656566</c:v>
                </c:pt>
                <c:pt idx="30">
                  <c:v>5.75757575758</c:v>
                </c:pt>
                <c:pt idx="31">
                  <c:v>5.94949494949</c:v>
                </c:pt>
                <c:pt idx="32">
                  <c:v>6.14141414141</c:v>
                </c:pt>
                <c:pt idx="33">
                  <c:v>6.33333333333</c:v>
                </c:pt>
                <c:pt idx="34">
                  <c:v>6.52525252525</c:v>
                </c:pt>
                <c:pt idx="35">
                  <c:v>6.71717171717</c:v>
                </c:pt>
                <c:pt idx="36">
                  <c:v>6.90909090909</c:v>
                </c:pt>
                <c:pt idx="37">
                  <c:v>7.10101010101</c:v>
                </c:pt>
                <c:pt idx="38">
                  <c:v>7.29292929293</c:v>
                </c:pt>
                <c:pt idx="39">
                  <c:v>7.48484848485</c:v>
                </c:pt>
                <c:pt idx="40">
                  <c:v>7.67676767677</c:v>
                </c:pt>
                <c:pt idx="41">
                  <c:v>7.86868686869</c:v>
                </c:pt>
                <c:pt idx="42">
                  <c:v>8.06060606061</c:v>
                </c:pt>
                <c:pt idx="43">
                  <c:v>8.25252525253</c:v>
                </c:pt>
                <c:pt idx="44">
                  <c:v>8.44444444444</c:v>
                </c:pt>
                <c:pt idx="45">
                  <c:v>8.63636363636</c:v>
                </c:pt>
                <c:pt idx="46">
                  <c:v>8.82828282828</c:v>
                </c:pt>
                <c:pt idx="47">
                  <c:v>9.0202020202</c:v>
                </c:pt>
                <c:pt idx="48">
                  <c:v>9.21212121212</c:v>
                </c:pt>
                <c:pt idx="49">
                  <c:v>9.40404040404</c:v>
                </c:pt>
                <c:pt idx="50">
                  <c:v>9.59595959596</c:v>
                </c:pt>
                <c:pt idx="51">
                  <c:v>9.78787878788</c:v>
                </c:pt>
                <c:pt idx="52">
                  <c:v>9.9797979798</c:v>
                </c:pt>
                <c:pt idx="53">
                  <c:v>10.1717171717</c:v>
                </c:pt>
                <c:pt idx="54">
                  <c:v>10.3636363636</c:v>
                </c:pt>
                <c:pt idx="55">
                  <c:v>10.5555555556</c:v>
                </c:pt>
                <c:pt idx="56">
                  <c:v>10.7474747475</c:v>
                </c:pt>
                <c:pt idx="57">
                  <c:v>10.9393939394</c:v>
                </c:pt>
                <c:pt idx="58">
                  <c:v>11.1313131313</c:v>
                </c:pt>
                <c:pt idx="59">
                  <c:v>11.3232323232</c:v>
                </c:pt>
                <c:pt idx="60">
                  <c:v>11.5151515152</c:v>
                </c:pt>
                <c:pt idx="61">
                  <c:v>11.7070707071</c:v>
                </c:pt>
                <c:pt idx="62">
                  <c:v>11.898989899</c:v>
                </c:pt>
                <c:pt idx="63">
                  <c:v>12.0909090909</c:v>
                </c:pt>
                <c:pt idx="64">
                  <c:v>12.2828282828</c:v>
                </c:pt>
                <c:pt idx="65">
                  <c:v>12.4747474747</c:v>
                </c:pt>
                <c:pt idx="66">
                  <c:v>12.6666666667</c:v>
                </c:pt>
                <c:pt idx="67">
                  <c:v>12.8585858586</c:v>
                </c:pt>
                <c:pt idx="68">
                  <c:v>13.0505050505</c:v>
                </c:pt>
                <c:pt idx="69">
                  <c:v>13.2424242424</c:v>
                </c:pt>
                <c:pt idx="70">
                  <c:v>13.4343434343</c:v>
                </c:pt>
                <c:pt idx="71">
                  <c:v>13.6262626263</c:v>
                </c:pt>
                <c:pt idx="72">
                  <c:v>13.8181818182</c:v>
                </c:pt>
                <c:pt idx="73">
                  <c:v>14.0101010101</c:v>
                </c:pt>
                <c:pt idx="74">
                  <c:v>14.202020202</c:v>
                </c:pt>
                <c:pt idx="75">
                  <c:v>14.3939393939</c:v>
                </c:pt>
                <c:pt idx="76">
                  <c:v>14.5858585859</c:v>
                </c:pt>
                <c:pt idx="77">
                  <c:v>14.7777777778</c:v>
                </c:pt>
                <c:pt idx="78">
                  <c:v>14.9696969697</c:v>
                </c:pt>
                <c:pt idx="79">
                  <c:v>15.1616161616</c:v>
                </c:pt>
                <c:pt idx="80">
                  <c:v>15.3535353535</c:v>
                </c:pt>
                <c:pt idx="81">
                  <c:v>15.5454545455</c:v>
                </c:pt>
                <c:pt idx="82">
                  <c:v>15.7373737374</c:v>
                </c:pt>
                <c:pt idx="83">
                  <c:v>15.9292929293</c:v>
                </c:pt>
                <c:pt idx="84">
                  <c:v>16.1212121212</c:v>
                </c:pt>
                <c:pt idx="85">
                  <c:v>16.3131313131</c:v>
                </c:pt>
                <c:pt idx="86">
                  <c:v>16.5050505051</c:v>
                </c:pt>
                <c:pt idx="87">
                  <c:v>16.696969697</c:v>
                </c:pt>
                <c:pt idx="88">
                  <c:v>16.8888888889</c:v>
                </c:pt>
                <c:pt idx="89">
                  <c:v>17.0808080808</c:v>
                </c:pt>
                <c:pt idx="90">
                  <c:v>17.2727272727</c:v>
                </c:pt>
                <c:pt idx="91">
                  <c:v>17.4646464646</c:v>
                </c:pt>
                <c:pt idx="92">
                  <c:v>17.6565656566</c:v>
                </c:pt>
                <c:pt idx="93">
                  <c:v>17.8484848485</c:v>
                </c:pt>
                <c:pt idx="94">
                  <c:v>18.0404040404</c:v>
                </c:pt>
                <c:pt idx="95">
                  <c:v>18.2323232323</c:v>
                </c:pt>
                <c:pt idx="96">
                  <c:v>18.4242424242</c:v>
                </c:pt>
                <c:pt idx="97">
                  <c:v>18.6161616162</c:v>
                </c:pt>
                <c:pt idx="98">
                  <c:v>18.8080808081</c:v>
                </c:pt>
                <c:pt idx="99">
                  <c:v>19</c:v>
                </c:pt>
              </c:numCache>
            </c:numRef>
          </c:xVal>
          <c:yVal>
            <c:numRef>
              <c:f>'Chart Data'!$D$2:$D$101</c:f>
              <c:numCache>
                <c:formatCode>General</c:formatCode>
                <c:ptCount val="100"/>
                <c:pt idx="0">
                  <c:v>0.121966126154</c:v>
                </c:pt>
                <c:pt idx="1">
                  <c:v>0.317433969722</c:v>
                </c:pt>
                <c:pt idx="2">
                  <c:v>0.512901813291</c:v>
                </c:pt>
                <c:pt idx="3">
                  <c:v>0.70836965686</c:v>
                </c:pt>
                <c:pt idx="4">
                  <c:v>0.903837500428</c:v>
                </c:pt>
                <c:pt idx="5">
                  <c:v>1.099305344</c:v>
                </c:pt>
                <c:pt idx="6">
                  <c:v>1.29477318757</c:v>
                </c:pt>
                <c:pt idx="7">
                  <c:v>1.49024103113</c:v>
                </c:pt>
                <c:pt idx="8">
                  <c:v>1.6857088747</c:v>
                </c:pt>
                <c:pt idx="9">
                  <c:v>1.88117671827</c:v>
                </c:pt>
                <c:pt idx="10">
                  <c:v>2.07664456184</c:v>
                </c:pt>
                <c:pt idx="11">
                  <c:v>2.27211240541</c:v>
                </c:pt>
                <c:pt idx="12">
                  <c:v>2.46758024898</c:v>
                </c:pt>
                <c:pt idx="13">
                  <c:v>2.66304809255</c:v>
                </c:pt>
                <c:pt idx="14">
                  <c:v>2.85851593612</c:v>
                </c:pt>
                <c:pt idx="15">
                  <c:v>3.05398377968</c:v>
                </c:pt>
                <c:pt idx="16">
                  <c:v>3.24945162325</c:v>
                </c:pt>
                <c:pt idx="17">
                  <c:v>3.44491946682</c:v>
                </c:pt>
                <c:pt idx="18">
                  <c:v>3.64038731039</c:v>
                </c:pt>
                <c:pt idx="19">
                  <c:v>3.83585515396</c:v>
                </c:pt>
                <c:pt idx="20">
                  <c:v>4.03132299753</c:v>
                </c:pt>
                <c:pt idx="21">
                  <c:v>4.2267908411</c:v>
                </c:pt>
                <c:pt idx="22">
                  <c:v>4.42225868467</c:v>
                </c:pt>
                <c:pt idx="23">
                  <c:v>4.61772652823</c:v>
                </c:pt>
                <c:pt idx="24">
                  <c:v>4.8131943718</c:v>
                </c:pt>
                <c:pt idx="25">
                  <c:v>5.00866221537</c:v>
                </c:pt>
                <c:pt idx="26">
                  <c:v>5.20413005894</c:v>
                </c:pt>
                <c:pt idx="27">
                  <c:v>5.39959790251</c:v>
                </c:pt>
                <c:pt idx="28">
                  <c:v>5.59506574608</c:v>
                </c:pt>
                <c:pt idx="29">
                  <c:v>5.79053358965</c:v>
                </c:pt>
                <c:pt idx="30">
                  <c:v>5.98600143322</c:v>
                </c:pt>
                <c:pt idx="31">
                  <c:v>6.18146927678</c:v>
                </c:pt>
                <c:pt idx="32">
                  <c:v>6.37693712035</c:v>
                </c:pt>
                <c:pt idx="33">
                  <c:v>6.57240496392</c:v>
                </c:pt>
                <c:pt idx="34">
                  <c:v>6.76787280749</c:v>
                </c:pt>
                <c:pt idx="35">
                  <c:v>6.96334065106</c:v>
                </c:pt>
                <c:pt idx="36">
                  <c:v>7.15880849463</c:v>
                </c:pt>
                <c:pt idx="37">
                  <c:v>7.3542763382</c:v>
                </c:pt>
                <c:pt idx="38">
                  <c:v>7.54974418177</c:v>
                </c:pt>
                <c:pt idx="39">
                  <c:v>7.74521202533</c:v>
                </c:pt>
                <c:pt idx="40">
                  <c:v>7.9406798689</c:v>
                </c:pt>
                <c:pt idx="41">
                  <c:v>8.13614771247</c:v>
                </c:pt>
                <c:pt idx="42">
                  <c:v>8.33161555604</c:v>
                </c:pt>
                <c:pt idx="43">
                  <c:v>8.52708339961</c:v>
                </c:pt>
                <c:pt idx="44">
                  <c:v>8.72255124318</c:v>
                </c:pt>
                <c:pt idx="45">
                  <c:v>8.91801908675</c:v>
                </c:pt>
                <c:pt idx="46">
                  <c:v>9.11348693032</c:v>
                </c:pt>
                <c:pt idx="47">
                  <c:v>9.30895477388</c:v>
                </c:pt>
                <c:pt idx="48">
                  <c:v>9.50442261745</c:v>
                </c:pt>
                <c:pt idx="49">
                  <c:v>9.69989046102</c:v>
                </c:pt>
                <c:pt idx="50">
                  <c:v>9.89535830459</c:v>
                </c:pt>
                <c:pt idx="51">
                  <c:v>10.0908261482</c:v>
                </c:pt>
                <c:pt idx="52">
                  <c:v>10.2862939917</c:v>
                </c:pt>
                <c:pt idx="53">
                  <c:v>10.4817618353</c:v>
                </c:pt>
                <c:pt idx="54">
                  <c:v>10.6772296789</c:v>
                </c:pt>
                <c:pt idx="55">
                  <c:v>10.8726975224</c:v>
                </c:pt>
                <c:pt idx="56">
                  <c:v>11.068165366</c:v>
                </c:pt>
                <c:pt idx="57">
                  <c:v>11.2636332096</c:v>
                </c:pt>
                <c:pt idx="58">
                  <c:v>11.4591010531</c:v>
                </c:pt>
                <c:pt idx="59">
                  <c:v>11.6545688967</c:v>
                </c:pt>
                <c:pt idx="60">
                  <c:v>11.8500367403</c:v>
                </c:pt>
                <c:pt idx="61">
                  <c:v>12.0455045838</c:v>
                </c:pt>
                <c:pt idx="62">
                  <c:v>12.2409724274</c:v>
                </c:pt>
                <c:pt idx="63">
                  <c:v>12.436440271</c:v>
                </c:pt>
                <c:pt idx="64">
                  <c:v>12.6319081146</c:v>
                </c:pt>
                <c:pt idx="65">
                  <c:v>12.8273759581</c:v>
                </c:pt>
                <c:pt idx="66">
                  <c:v>13.0228438017</c:v>
                </c:pt>
                <c:pt idx="67">
                  <c:v>13.2183116453</c:v>
                </c:pt>
                <c:pt idx="68">
                  <c:v>13.4137794888</c:v>
                </c:pt>
                <c:pt idx="69">
                  <c:v>13.6092473324</c:v>
                </c:pt>
                <c:pt idx="70">
                  <c:v>13.804715176</c:v>
                </c:pt>
                <c:pt idx="71">
                  <c:v>14.0001830195</c:v>
                </c:pt>
                <c:pt idx="72">
                  <c:v>14.1956508631</c:v>
                </c:pt>
                <c:pt idx="73">
                  <c:v>14.3911187067</c:v>
                </c:pt>
                <c:pt idx="74">
                  <c:v>14.5865865502</c:v>
                </c:pt>
                <c:pt idx="75">
                  <c:v>14.7820543938</c:v>
                </c:pt>
                <c:pt idx="76">
                  <c:v>14.9775222374</c:v>
                </c:pt>
                <c:pt idx="77">
                  <c:v>15.1729900809</c:v>
                </c:pt>
                <c:pt idx="78">
                  <c:v>15.3684579245</c:v>
                </c:pt>
                <c:pt idx="79">
                  <c:v>15.5639257681</c:v>
                </c:pt>
                <c:pt idx="80">
                  <c:v>15.7593936117</c:v>
                </c:pt>
                <c:pt idx="81">
                  <c:v>15.9548614552</c:v>
                </c:pt>
                <c:pt idx="82">
                  <c:v>16.1503292988</c:v>
                </c:pt>
                <c:pt idx="83">
                  <c:v>16.3457971424</c:v>
                </c:pt>
                <c:pt idx="84">
                  <c:v>16.5412649859</c:v>
                </c:pt>
                <c:pt idx="85">
                  <c:v>16.7367328295</c:v>
                </c:pt>
                <c:pt idx="86">
                  <c:v>16.9322006731</c:v>
                </c:pt>
                <c:pt idx="87">
                  <c:v>17.1276685166</c:v>
                </c:pt>
                <c:pt idx="88">
                  <c:v>17.3231363602</c:v>
                </c:pt>
                <c:pt idx="89">
                  <c:v>17.5186042038</c:v>
                </c:pt>
                <c:pt idx="90">
                  <c:v>17.7140720473</c:v>
                </c:pt>
                <c:pt idx="91">
                  <c:v>17.9095398909</c:v>
                </c:pt>
                <c:pt idx="92">
                  <c:v>18.1050077345</c:v>
                </c:pt>
                <c:pt idx="93">
                  <c:v>18.300475578</c:v>
                </c:pt>
                <c:pt idx="94">
                  <c:v>18.4959434216</c:v>
                </c:pt>
                <c:pt idx="95">
                  <c:v>18.6914112652</c:v>
                </c:pt>
                <c:pt idx="96">
                  <c:v>18.8868791088</c:v>
                </c:pt>
                <c:pt idx="97">
                  <c:v>19.0823469523</c:v>
                </c:pt>
                <c:pt idx="98">
                  <c:v>19.2778147959</c:v>
                </c:pt>
                <c:pt idx="99">
                  <c:v>19.4732826395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G3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majorUnit val="5"/>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G2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varyColors val="0"/>
        <c:ser>
          <c:idx val="0"/>
          <c:order val="0"/>
          <c:tx>
            <c:v>Earlier-grade mean</c:v>
          </c:tx>
          <c:spPr>
            <a:solidFill xmlns:a="http://schemas.openxmlformats.org/drawingml/2006/main">
              <a:srgbClr val="DDDDDD"/>
            </a:solidFill>
            <a:ln xmlns:a="http://schemas.openxmlformats.org/drawingml/2006/main" w="9525">
              <a:solidFill>
                <a:srgbClr val="000000"/>
              </a:solidFill>
              <a:prstDash val="solid"/>
            </a:ln>
          </c:spPr>
          <c:invertIfNegative val="0"/>
          <c:cat>
            <c:numRef>
              <c:f>'Chart Data'!$A$2:$A$6</c:f>
              <c:numCache>
                <c:formatCode>General</c:formatCode>
                <c:ptCount val="5"/>
                <c:pt idx="0">
                  <c:v>1</c:v>
                </c:pt>
                <c:pt idx="1">
                  <c:v>2</c:v>
                </c:pt>
                <c:pt idx="2">
                  <c:v>3</c:v>
                </c:pt>
                <c:pt idx="3">
                  <c:v>4</c:v>
                </c:pt>
                <c:pt idx="4">
                  <c:v>5</c:v>
                </c:pt>
              </c:numCache>
            </c:numRef>
          </c:cat>
          <c:val>
            <c:numRef>
              <c:f>'Chart Data'!$B$2:$B$6</c:f>
              <c:numCache>
                <c:formatCode>General</c:formatCode>
                <c:ptCount val="5"/>
                <c:pt idx="0">
                  <c:v>5.5</c:v>
                </c:pt>
                <c:pt idx="1">
                  <c:v>10</c:v>
                </c:pt>
                <c:pt idx="2">
                  <c:v>12.5</c:v>
                </c:pt>
                <c:pt idx="3">
                  <c:v>14</c:v>
                </c:pt>
                <c:pt idx="4">
                  <c:v>12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Source row number (one-based)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of G1 and G2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886100C0-5C2D-499F-9F8B-49658D929FAA}"/>
              </a:ext>
            </a:extLst>
          </p:cNvPr>
          <p:cNvPicPr>
            <a:picLocks xmlns:a="http://schemas.openxmlformats.org/drawingml/2006/main" noChangeAspect="1"/>
          </p:cNvPicPr>
          <p:nvPr/>
        </p:nvPicPr>
        <p:blipFill>
          <a:blip xmlns:r="http://schemas.openxmlformats.org/officeDocument/2006/relationships" xmlns:a="http://schemas.openxmlformats.org/drawingml/2006/main" r:embed="R5c3a5f3df8c5422f"/>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798BA27-E9ED-4E8A-8FEF-20CD8D117070}"/>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 Analysis and Visualization</a:t>
            </a:r>
          </a:p>
        </p:txBody>
      </p:sp>
      <p:sp>
        <p:nvSpPr>
          <p:cNvPr id="3" name="Thin monochrome rule">
            <a:extLst xmlns:a="http://schemas.openxmlformats.org/drawingml/2006/main">
              <a:ext uri="{FF2B5EF4-FFF2-40B4-BE49-F238E27FC236}">
                <a16:creationId xmlns:a16="http://schemas.microsoft.com/office/drawing/2014/main" id="{8CD568B1-6F66-4DF7-B311-8FA87AFB259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1">
            <a:extLst xmlns:a="http://schemas.openxmlformats.org/drawingml/2006/main">
              <a:ext uri="{FF2B5EF4-FFF2-40B4-BE49-F238E27FC236}">
                <a16:creationId xmlns:a16="http://schemas.microsoft.com/office/drawing/2014/main" id="{23642B40-25A4-4C10-855A-421C373949AB}"/>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01</a:t>
            </a:r>
          </a:p>
        </p:txBody>
      </p:sp>
      <p:sp>
        <p:nvSpPr>
          <p:cNvPr id="5" name="Student Performance">
            <a:extLst xmlns:a="http://schemas.openxmlformats.org/drawingml/2006/main">
              <a:ext uri="{FF2B5EF4-FFF2-40B4-BE49-F238E27FC236}">
                <a16:creationId xmlns:a16="http://schemas.microsoft.com/office/drawing/2014/main" id="{FFEBA334-ECB5-491F-B2DB-A6D4A62B5FC6}"/>
              </a:ext>
            </a:extLst>
          </p:cNvPr>
          <p:cNvSpPr>
            <a:spLocks xmlns:a="http://schemas.openxmlformats.org/drawingml/2006/main" noGrp="1"/>
          </p:cNvSpPr>
          <p:nvPr/>
        </p:nvSpPr>
        <p:spPr>
          <a:xfrm xmlns:a="http://schemas.openxmlformats.org/drawingml/2006/main">
            <a:off x="762000" y="171450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Arial"/>
                <a:ea typeface="Arial"/>
                <a:cs typeface="Arial"/>
              </a:defRPr>
            </a:defPPr>
          </a:lstStyle>
          <a:p xmlns:a="http://schemas.openxmlformats.org/drawingml/2006/main">
            <a:pPr algn="l">
              <a:defRPr sz="4800" b="1">
                <a:solidFill>
                  <a:srgbClr val="000000"/>
                </a:solidFill>
                <a:latin typeface="Arial"/>
                <a:ea typeface="Arial"/>
                <a:cs typeface="Arial"/>
              </a:defRPr>
            </a:pPr>
            <a:r>
              <a:rPr sz="4800" b="1">
                <a:solidFill>
                  <a:srgbClr val="000000"/>
                </a:solidFill>
                <a:latin typeface="Arial"/>
                <a:ea typeface="Arial"/>
                <a:cs typeface="Arial"/>
              </a:rPr>
              <a:t>Student Performance</a:t>
            </a:r>
          </a:p>
        </p:txBody>
      </p:sp>
      <p:sp>
        <p:nvSpPr>
          <p:cNvPr id="6" name="Preprocessing, Statistics and Visualization">
            <a:extLst xmlns:a="http://schemas.openxmlformats.org/drawingml/2006/main">
              <a:ext uri="{FF2B5EF4-FFF2-40B4-BE49-F238E27FC236}">
                <a16:creationId xmlns:a16="http://schemas.microsoft.com/office/drawing/2014/main" id="{321FA98C-0299-40BE-90F6-D44CC600672A}"/>
              </a:ext>
            </a:extLst>
          </p:cNvPr>
          <p:cNvSpPr>
            <a:spLocks xmlns:a="http://schemas.openxmlformats.org/drawingml/2006/main" noGrp="1"/>
          </p:cNvSpPr>
          <p:nvPr/>
        </p:nvSpPr>
        <p:spPr>
          <a:xfrm xmlns:a="http://schemas.openxmlformats.org/drawingml/2006/main">
            <a:off x="762000" y="27241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000000"/>
                </a:solidFill>
                <a:latin typeface="Arial"/>
                <a:ea typeface="Arial"/>
                <a:cs typeface="Arial"/>
              </a:defRPr>
            </a:defPPr>
          </a:lstStyle>
          <a:p xmlns:a="http://schemas.openxmlformats.org/drawingml/2006/main">
            <a:pPr algn="l">
              <a:defRPr sz="2700" b="0">
                <a:solidFill>
                  <a:srgbClr val="000000"/>
                </a:solidFill>
                <a:latin typeface="Arial"/>
                <a:ea typeface="Arial"/>
                <a:cs typeface="Arial"/>
              </a:defRPr>
            </a:pPr>
            <a:r>
              <a:rPr sz="2700" b="0">
                <a:solidFill>
                  <a:srgbClr val="000000"/>
                </a:solidFill>
                <a:latin typeface="Arial"/>
                <a:ea typeface="Arial"/>
                <a:cs typeface="Arial"/>
              </a:rPr>
              <a:t>Preprocessing, Statistics and Visualization</a:t>
            </a:r>
          </a:p>
        </p:txBody>
      </p:sp>
      <p:sp>
        <p:nvSpPr>
          <p:cNvPr id="7" name="ENDTERM REPORT">
            <a:extLst xmlns:a="http://schemas.openxmlformats.org/drawingml/2006/main">
              <a:ext uri="{FF2B5EF4-FFF2-40B4-BE49-F238E27FC236}">
                <a16:creationId xmlns:a16="http://schemas.microsoft.com/office/drawing/2014/main" id="{7817020D-A558-4960-AC70-285339D6785B}"/>
              </a:ext>
            </a:extLst>
          </p:cNvPr>
          <p:cNvSpPr>
            <a:spLocks xmlns:a="http://schemas.openxmlformats.org/drawingml/2006/main" noGrp="1"/>
          </p:cNvSpPr>
          <p:nvPr/>
        </p:nvSpPr>
        <p:spPr>
          <a:xfrm xmlns:a="http://schemas.openxmlformats.org/drawingml/2006/main">
            <a:off x="762000" y="34766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ENDTERM REPORT</a:t>
            </a:r>
          </a:p>
        </p:txBody>
      </p:sp>
      <p:sp>
        <p:nvSpPr>
          <p:cNvPr id="8" name="NGO LAM TIEN  524H0195&#10;NGUYEN CONG THANH  524H0191&#10;NGUY">
            <a:extLst xmlns:a="http://schemas.openxmlformats.org/drawingml/2006/main">
              <a:ext uri="{FF2B5EF4-FFF2-40B4-BE49-F238E27FC236}">
                <a16:creationId xmlns:a16="http://schemas.microsoft.com/office/drawing/2014/main" id="{626B548B-92A1-4D52-A2B6-7D78B929EBCD}"/>
              </a:ext>
            </a:extLst>
          </p:cNvPr>
          <p:cNvSpPr>
            <a:spLocks xmlns:a="http://schemas.openxmlformats.org/drawingml/2006/main" noGrp="1"/>
          </p:cNvSpPr>
          <p:nvPr/>
        </p:nvSpPr>
        <p:spPr>
          <a:xfrm xmlns:a="http://schemas.openxmlformats.org/drawingml/2006/main">
            <a:off x="762000" y="4095750"/>
            <a:ext cx="6477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LAM TIEN  524H0195</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CONG THANH  524H0191</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LE NHAT TAM  524H0186</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BINH MINH  524H0169</a:t>
            </a:r>
          </a:p>
        </p:txBody>
      </p:sp>
      <p:sp>
        <p:nvSpPr>
          <p:cNvPr id="9" name="VibeCoding_Expert&#10;Advised by&#10;Ho Thi Linh, Ph.D.">
            <a:extLst xmlns:a="http://schemas.openxmlformats.org/drawingml/2006/main">
              <a:ext uri="{FF2B5EF4-FFF2-40B4-BE49-F238E27FC236}">
                <a16:creationId xmlns:a16="http://schemas.microsoft.com/office/drawing/2014/main" id="{F77DBD2E-A851-4EB0-A0A7-F410A4486CEA}"/>
              </a:ext>
            </a:extLst>
          </p:cNvPr>
          <p:cNvSpPr>
            <a:spLocks xmlns:a="http://schemas.openxmlformats.org/drawingml/2006/main" noGrp="1"/>
          </p:cNvSpPr>
          <p:nvPr/>
        </p:nvSpPr>
        <p:spPr>
          <a:xfrm xmlns:a="http://schemas.openxmlformats.org/drawingml/2006/main">
            <a:off x="7810500" y="4238625"/>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VibeCoding_Expert</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Advised by</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 Thi Linh, Ph.D.</a:t>
            </a:r>
          </a:p>
        </p:txBody>
      </p:sp>
      <p:sp>
        <p:nvSpPr>
          <p:cNvPr id="10" name="20 October 2026">
            <a:extLst xmlns:a="http://schemas.openxmlformats.org/drawingml/2006/main">
              <a:ext uri="{FF2B5EF4-FFF2-40B4-BE49-F238E27FC236}">
                <a16:creationId xmlns:a16="http://schemas.microsoft.com/office/drawing/2014/main" id="{DEECAB65-43B1-4B15-9659-8DF003C3D9D4}"/>
              </a:ext>
            </a:extLst>
          </p:cNvPr>
          <p:cNvSpPr>
            <a:spLocks xmlns:a="http://schemas.openxmlformats.org/drawingml/2006/main" noGrp="1"/>
          </p:cNvSpPr>
          <p:nvPr/>
        </p:nvSpPr>
        <p:spPr>
          <a:xfrm xmlns:a="http://schemas.openxmlformats.org/drawingml/2006/main">
            <a:off x="762000" y="617220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00000"/>
                </a:solidFill>
                <a:latin typeface="Arial"/>
                <a:ea typeface="Arial"/>
                <a:cs typeface="Arial"/>
              </a:defRPr>
            </a:defPPr>
          </a:lstStyle>
          <a:p xmlns:a="http://schemas.openxmlformats.org/drawingml/2006/main">
            <a:pPr algn="l">
              <a:defRPr sz="1700" b="0">
                <a:solidFill>
                  <a:srgbClr val="000000"/>
                </a:solidFill>
                <a:latin typeface="Arial"/>
                <a:ea typeface="Arial"/>
                <a:cs typeface="Arial"/>
              </a:defRPr>
            </a:pPr>
            <a:r>
              <a:rPr sz="1700" b="0">
                <a:solidFill>
                  <a:srgbClr val="000000"/>
                </a:solidFill>
                <a:latin typeface="Arial"/>
                <a:ea typeface="Arial"/>
                <a:cs typeface="Arial"/>
              </a:rPr>
              <a:t>20 October 2026</a:t>
            </a:r>
          </a:p>
        </p:txBody>
      </p:sp>
    </p:spTree>
    <p:extLst>
      <p:ext uri="{BB962C8B-B14F-4D97-AF65-F5344CB8AC3E}">
        <p14:creationId xmlns:p14="http://schemas.microsoft.com/office/powerpoint/2010/main" val="11940470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F78E034-196B-4279-AFC6-F77697CEA129}"/>
              </a:ext>
            </a:extLst>
          </p:cNvPr>
          <p:cNvPicPr>
            <a:picLocks xmlns:a="http://schemas.openxmlformats.org/drawingml/2006/main" noChangeAspect="1"/>
          </p:cNvPicPr>
          <p:nvPr/>
        </p:nvPicPr>
        <p:blipFill>
          <a:blip xmlns:r="http://schemas.openxmlformats.org/officeDocument/2006/relationships" xmlns:a="http://schemas.openxmlformats.org/drawingml/2006/main" r:embed="R209189e215144d79"/>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0D5A185-A5D0-42CA-ACB5-1DB79E3D7BB0}"/>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Objectives and analytical questions</a:t>
            </a:r>
          </a:p>
        </p:txBody>
      </p:sp>
      <p:sp>
        <p:nvSpPr>
          <p:cNvPr id="3" name="Thin monochrome rule">
            <a:extLst xmlns:a="http://schemas.openxmlformats.org/drawingml/2006/main">
              <a:ext uri="{FF2B5EF4-FFF2-40B4-BE49-F238E27FC236}">
                <a16:creationId xmlns:a16="http://schemas.microsoft.com/office/drawing/2014/main" id="{A0777E50-B985-4A30-B570-7ABA6D5EF038}"/>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2">
            <a:extLst xmlns:a="http://schemas.openxmlformats.org/drawingml/2006/main">
              <a:ext uri="{FF2B5EF4-FFF2-40B4-BE49-F238E27FC236}">
                <a16:creationId xmlns:a16="http://schemas.microsoft.com/office/drawing/2014/main" id="{E6E26087-7879-47AA-997D-9E44F2332829}"/>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02</a:t>
            </a:r>
          </a:p>
        </p:txBody>
      </p:sp>
      <p:sp>
        <p:nvSpPr>
          <p:cNvPr id="5" name="01">
            <a:extLst xmlns:a="http://schemas.openxmlformats.org/drawingml/2006/main">
              <a:ext uri="{FF2B5EF4-FFF2-40B4-BE49-F238E27FC236}">
                <a16:creationId xmlns:a16="http://schemas.microsoft.com/office/drawing/2014/main" id="{0770766D-4F70-4E65-8497-A45D8D7B2CD6}"/>
              </a:ext>
            </a:extLst>
          </p:cNvPr>
          <p:cNvSpPr>
            <a:spLocks xmlns:a="http://schemas.openxmlformats.org/drawingml/2006/main" noGrp="1"/>
          </p:cNvSpPr>
          <p:nvPr/>
        </p:nvSpPr>
        <p:spPr>
          <a:xfrm xmlns:a="http://schemas.openxmlformats.org/drawingml/2006/main">
            <a:off x="762000" y="1666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How are final grades distributed?">
            <a:extLst xmlns:a="http://schemas.openxmlformats.org/drawingml/2006/main">
              <a:ext uri="{FF2B5EF4-FFF2-40B4-BE49-F238E27FC236}">
                <a16:creationId xmlns:a16="http://schemas.microsoft.com/office/drawing/2014/main" id="{976D3154-1644-40ED-B23F-DBCF5B1A25AE}"/>
              </a:ext>
            </a:extLst>
          </p:cNvPr>
          <p:cNvSpPr>
            <a:spLocks xmlns:a="http://schemas.openxmlformats.org/drawingml/2006/main" noGrp="1"/>
          </p:cNvSpPr>
          <p:nvPr/>
        </p:nvSpPr>
        <p:spPr>
          <a:xfrm xmlns:a="http://schemas.openxmlformats.org/drawingml/2006/main">
            <a:off x="1571625" y="16668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How are final grades distributed?</a:t>
            </a:r>
          </a:p>
        </p:txBody>
      </p:sp>
      <p:sp>
        <p:nvSpPr>
          <p:cNvPr id="7" name="02">
            <a:extLst xmlns:a="http://schemas.openxmlformats.org/drawingml/2006/main">
              <a:ext uri="{FF2B5EF4-FFF2-40B4-BE49-F238E27FC236}">
                <a16:creationId xmlns:a16="http://schemas.microsoft.com/office/drawing/2014/main" id="{0BEB52EE-D663-4BEC-A87B-E0E791B0BBFF}"/>
              </a:ext>
            </a:extLst>
          </p:cNvPr>
          <p:cNvSpPr>
            <a:spLocks xmlns:a="http://schemas.openxmlformats.org/drawingml/2006/main" noGrp="1"/>
          </p:cNvSpPr>
          <p:nvPr/>
        </p:nvSpPr>
        <p:spPr>
          <a:xfrm xmlns:a="http://schemas.openxmlformats.org/drawingml/2006/main">
            <a:off x="762000" y="27336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What changes when missing values are imputed or removed">
            <a:extLst xmlns:a="http://schemas.openxmlformats.org/drawingml/2006/main">
              <a:ext uri="{FF2B5EF4-FFF2-40B4-BE49-F238E27FC236}">
                <a16:creationId xmlns:a16="http://schemas.microsoft.com/office/drawing/2014/main" id="{CD96CD51-3C16-4D41-8472-465E86AE86EF}"/>
              </a:ext>
            </a:extLst>
          </p:cNvPr>
          <p:cNvSpPr>
            <a:spLocks xmlns:a="http://schemas.openxmlformats.org/drawingml/2006/main" noGrp="1"/>
          </p:cNvSpPr>
          <p:nvPr/>
        </p:nvSpPr>
        <p:spPr>
          <a:xfrm xmlns:a="http://schemas.openxmlformats.org/drawingml/2006/main">
            <a:off x="1571625" y="27336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What changes when missing values are imputed or removed?</a:t>
            </a:r>
          </a:p>
        </p:txBody>
      </p:sp>
      <p:sp>
        <p:nvSpPr>
          <p:cNvPr id="9" name="03">
            <a:extLst xmlns:a="http://schemas.openxmlformats.org/drawingml/2006/main">
              <a:ext uri="{FF2B5EF4-FFF2-40B4-BE49-F238E27FC236}">
                <a16:creationId xmlns:a16="http://schemas.microsoft.com/office/drawing/2014/main" id="{8B91E5EF-9962-4884-8D60-48620381C9E3}"/>
              </a:ext>
            </a:extLst>
          </p:cNvPr>
          <p:cNvSpPr>
            <a:spLocks xmlns:a="http://schemas.openxmlformats.org/drawingml/2006/main" noGrp="1"/>
          </p:cNvSpPr>
          <p:nvPr/>
        </p:nvSpPr>
        <p:spPr>
          <a:xfrm xmlns:a="http://schemas.openxmlformats.org/drawingml/2006/main">
            <a:off x="762000" y="38004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Which original factors have the strongest observed asso">
            <a:extLst xmlns:a="http://schemas.openxmlformats.org/drawingml/2006/main">
              <a:ext uri="{FF2B5EF4-FFF2-40B4-BE49-F238E27FC236}">
                <a16:creationId xmlns:a16="http://schemas.microsoft.com/office/drawing/2014/main" id="{34E10EEC-2B48-40A5-AA2D-FACB0C5BBD14}"/>
              </a:ext>
            </a:extLst>
          </p:cNvPr>
          <p:cNvSpPr>
            <a:spLocks xmlns:a="http://schemas.openxmlformats.org/drawingml/2006/main" noGrp="1"/>
          </p:cNvSpPr>
          <p:nvPr/>
        </p:nvSpPr>
        <p:spPr>
          <a:xfrm xmlns:a="http://schemas.openxmlformats.org/drawingml/2006/main">
            <a:off x="1571625" y="38004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Which original factors have the strongest observed association with G3?</a:t>
            </a:r>
          </a:p>
        </p:txBody>
      </p:sp>
      <p:sp>
        <p:nvSpPr>
          <p:cNvPr id="11" name="04">
            <a:extLst xmlns:a="http://schemas.openxmlformats.org/drawingml/2006/main">
              <a:ext uri="{FF2B5EF4-FFF2-40B4-BE49-F238E27FC236}">
                <a16:creationId xmlns:a16="http://schemas.microsoft.com/office/drawing/2014/main" id="{645FE3C9-9A6A-41FD-800B-C1048EB699D0}"/>
              </a:ext>
            </a:extLst>
          </p:cNvPr>
          <p:cNvSpPr>
            <a:spLocks xmlns:a="http://schemas.openxmlformats.org/drawingml/2006/main" noGrp="1"/>
          </p:cNvSpPr>
          <p:nvPr/>
        </p:nvSpPr>
        <p:spPr>
          <a:xfrm xmlns:a="http://schemas.openxmlformats.org/drawingml/2006/main">
            <a:off x="762000" y="48672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How do group comparisons and visualizations qualify the">
            <a:extLst xmlns:a="http://schemas.openxmlformats.org/drawingml/2006/main">
              <a:ext uri="{FF2B5EF4-FFF2-40B4-BE49-F238E27FC236}">
                <a16:creationId xmlns:a16="http://schemas.microsoft.com/office/drawing/2014/main" id="{323889F6-F123-4C71-B57F-819EE639B32F}"/>
              </a:ext>
            </a:extLst>
          </p:cNvPr>
          <p:cNvSpPr>
            <a:spLocks xmlns:a="http://schemas.openxmlformats.org/drawingml/2006/main" noGrp="1"/>
          </p:cNvSpPr>
          <p:nvPr/>
        </p:nvSpPr>
        <p:spPr>
          <a:xfrm xmlns:a="http://schemas.openxmlformats.org/drawingml/2006/main">
            <a:off x="1571625" y="48672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How do group comparisons and visualizations qualify the findings?</a:t>
            </a:r>
          </a:p>
        </p:txBody>
      </p:sp>
    </p:spTree>
    <p:extLst>
      <p:ext uri="{BB962C8B-B14F-4D97-AF65-F5344CB8AC3E}">
        <p14:creationId xmlns:p14="http://schemas.microsoft.com/office/powerpoint/2010/main" val="7428908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F729CF8-E0FB-4D93-A315-368153F24EAF}"/>
              </a:ext>
            </a:extLst>
          </p:cNvPr>
          <p:cNvPicPr>
            <a:picLocks xmlns:a="http://schemas.openxmlformats.org/drawingml/2006/main" noChangeAspect="1"/>
          </p:cNvPicPr>
          <p:nvPr/>
        </p:nvPicPr>
        <p:blipFill>
          <a:blip xmlns:r="http://schemas.openxmlformats.org/officeDocument/2006/relationships" xmlns:a="http://schemas.openxmlformats.org/drawingml/2006/main" r:embed="Rd30e9591dd524739"/>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8793E643-CBF6-4A49-B8C0-97F30DDE29E5}"/>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Dataset and provenance</a:t>
            </a:r>
          </a:p>
        </p:txBody>
      </p:sp>
      <p:sp>
        <p:nvSpPr>
          <p:cNvPr id="3" name="Thin monochrome rule">
            <a:extLst xmlns:a="http://schemas.openxmlformats.org/drawingml/2006/main">
              <a:ext uri="{FF2B5EF4-FFF2-40B4-BE49-F238E27FC236}">
                <a16:creationId xmlns:a16="http://schemas.microsoft.com/office/drawing/2014/main" id="{D6BFD7C3-DC02-43BD-823F-6C1A81930D2B}"/>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3">
            <a:extLst xmlns:a="http://schemas.openxmlformats.org/drawingml/2006/main">
              <a:ext uri="{FF2B5EF4-FFF2-40B4-BE49-F238E27FC236}">
                <a16:creationId xmlns:a16="http://schemas.microsoft.com/office/drawing/2014/main" id="{FE0D345F-E039-42D6-8EF3-5673FB0C596A}"/>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B804F065-2A94-467F-871E-878D2BD36DDF}"/>
              </a:ext>
            </a:extLst>
          </p:cNvPr>
          <p:cNvGraphicFramePr/>
          <p:nvPr/>
        </p:nvGraphicFramePr>
        <p:xfrm>
          <a:off xmlns:a="http://schemas.openxmlformats.org/drawingml/2006/main" x="762000" y="1666875"/>
          <a:ext xmlns:a="http://schemas.openxmlformats.org/drawingml/2006/main" cx="10668000" cy="3714750"/>
        </p:xfrm>
        <a:graphic xmlns:a="http://schemas.openxmlformats.org/drawingml/2006/main">
          <a:graphicData uri="http://schemas.openxmlformats.org/drawingml/2006/table">
            <a:tbl>
              <a:tblPr firstRow="0" bandRow="0"/>
              <a:tblGrid>
                <a:gridCol w="3048000"/>
                <a:gridCol w="7620000"/>
              </a:tblGrid>
              <a:tr h="530679">
                <a:tc>
                  <a:txBody>
                    <a:bodyPr wrap="square" lIns="85725" tIns="85725" rIns="85725" bIns="85725">
                      <a:noAutofit/>
                    </a:bodyPr>
                    <a:lstStyle/>
                    <a:p>
                      <a:pPr algn="l"/>
                      <a:r>
                        <a:rPr sz="2100" b="1">
                          <a:solidFill>
                            <a:srgbClr val="000000"/>
                          </a:solidFill>
                          <a:latin typeface="Arial"/>
                          <a:ea typeface="Arial"/>
                          <a:cs typeface="Arial"/>
                        </a:rPr>
                        <a:t>Property</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Selected data</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30679">
                <a:tc>
                  <a:txBody>
                    <a:bodyPr wrap="square" lIns="85725" tIns="85725" rIns="85725" bIns="85725">
                      <a:noAutofit/>
                    </a:bodyPr>
                    <a:lstStyle/>
                    <a:p>
                      <a:pPr algn="l"/>
                      <a:r>
                        <a:rPr sz="2100" b="0">
                          <a:solidFill>
                            <a:srgbClr val="000000"/>
                          </a:solidFill>
                          <a:latin typeface="Arial"/>
                          <a:ea typeface="Arial"/>
                          <a:cs typeface="Arial"/>
                        </a:rPr>
                        <a:t>Subject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Portuguese language</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Records / original columns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 / 33</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Schools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GP: 423 · MS: 226</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Original missing cells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Outcome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G3, final grade on a 0–20 scale</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Licence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CC BY 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Two Portuguese schools; findings do not directly repres">
            <a:extLst xmlns:a="http://schemas.openxmlformats.org/drawingml/2006/main">
              <a:ext uri="{FF2B5EF4-FFF2-40B4-BE49-F238E27FC236}">
                <a16:creationId xmlns:a16="http://schemas.microsoft.com/office/drawing/2014/main" id="{6D587F34-96DD-4EC1-800C-A5A56740363C}"/>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Two Portuguese schools; findings do not directly represent TDTU students.</a:t>
            </a:r>
          </a:p>
        </p:txBody>
      </p:sp>
    </p:spTree>
    <p:extLst>
      <p:ext uri="{BB962C8B-B14F-4D97-AF65-F5344CB8AC3E}">
        <p14:creationId xmlns:p14="http://schemas.microsoft.com/office/powerpoint/2010/main" val="6192557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68B14C1-763A-4618-83B2-6FEE9E341C07}"/>
              </a:ext>
            </a:extLst>
          </p:cNvPr>
          <p:cNvPicPr>
            <a:picLocks xmlns:a="http://schemas.openxmlformats.org/drawingml/2006/main" noChangeAspect="1"/>
          </p:cNvPicPr>
          <p:nvPr/>
        </p:nvPicPr>
        <p:blipFill>
          <a:blip xmlns:r="http://schemas.openxmlformats.org/officeDocument/2006/relationships" xmlns:a="http://schemas.openxmlformats.org/drawingml/2006/main" r:embed="Re50a1a00e2ba4431"/>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2AB29DD1-9A2B-4664-A8EC-8E3B8BFC57F9}"/>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Inspect before transforming</a:t>
            </a:r>
          </a:p>
        </p:txBody>
      </p:sp>
      <p:sp>
        <p:nvSpPr>
          <p:cNvPr id="3" name="Thin monochrome rule">
            <a:extLst xmlns:a="http://schemas.openxmlformats.org/drawingml/2006/main">
              <a:ext uri="{FF2B5EF4-FFF2-40B4-BE49-F238E27FC236}">
                <a16:creationId xmlns:a16="http://schemas.microsoft.com/office/drawing/2014/main" id="{D935D004-E613-461A-AB03-DC5ADAA3EC18}"/>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4">
            <a:extLst xmlns:a="http://schemas.openxmlformats.org/drawingml/2006/main">
              <a:ext uri="{FF2B5EF4-FFF2-40B4-BE49-F238E27FC236}">
                <a16:creationId xmlns:a16="http://schemas.microsoft.com/office/drawing/2014/main" id="{70B59CB0-9611-4616-B33F-3F44C00B8C8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04</a:t>
            </a:r>
          </a:p>
        </p:txBody>
      </p:sp>
      <p:sp>
        <p:nvSpPr>
          <p:cNvPr id="5" name="raw = pd.read_csv(path, sep=';')&#10;raw.head(5)&#10;raw.tail(5">
            <a:extLst xmlns:a="http://schemas.openxmlformats.org/drawingml/2006/main">
              <a:ext uri="{FF2B5EF4-FFF2-40B4-BE49-F238E27FC236}">
                <a16:creationId xmlns:a16="http://schemas.microsoft.com/office/drawing/2014/main" id="{87008024-4B61-4E5E-A601-9F1A229ECE0A}"/>
              </a:ext>
            </a:extLst>
          </p:cNvPr>
          <p:cNvSpPr>
            <a:spLocks xmlns:a="http://schemas.openxmlformats.org/drawingml/2006/main" noGrp="1"/>
          </p:cNvSpPr>
          <p:nvPr/>
        </p:nvSpPr>
        <p:spPr>
          <a:xfrm xmlns:a="http://schemas.openxmlformats.org/drawingml/2006/main">
            <a:off x="762000" y="1809750"/>
            <a:ext cx="72390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DejaVu Sans Mono"/>
                <a:ea typeface="DejaVu Sans Mono"/>
                <a:cs typeface="DejaVu Sans Mono"/>
              </a:defRPr>
            </a:defPPr>
          </a:lstStyle>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 = pd.read_csv(path, sep=';')</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raw.head(5)</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raw.tail(5)</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raw.shape</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raw.dtypes</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raw.info()</a:t>
            </a:r>
          </a:p>
        </p:txBody>
      </p:sp>
      <p:sp>
        <p:nvSpPr>
          <p:cNvPr id="6" name="649 × 33">
            <a:extLst xmlns:a="http://schemas.openxmlformats.org/drawingml/2006/main">
              <a:ext uri="{FF2B5EF4-FFF2-40B4-BE49-F238E27FC236}">
                <a16:creationId xmlns:a16="http://schemas.microsoft.com/office/drawing/2014/main" id="{50454774-6BE7-4990-BF45-B97242C6FDA8}"/>
              </a:ext>
            </a:extLst>
          </p:cNvPr>
          <p:cNvSpPr>
            <a:spLocks xmlns:a="http://schemas.openxmlformats.org/drawingml/2006/main" noGrp="1"/>
          </p:cNvSpPr>
          <p:nvPr/>
        </p:nvSpPr>
        <p:spPr>
          <a:xfrm xmlns:a="http://schemas.openxmlformats.org/drawingml/2006/main">
            <a:off x="8953500" y="2047875"/>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00" b="1">
                <a:solidFill>
                  <a:srgbClr val="000000"/>
                </a:solidFill>
                <a:latin typeface="Arial"/>
                <a:ea typeface="Arial"/>
                <a:cs typeface="Arial"/>
              </a:defRPr>
            </a:defPPr>
          </a:lstStyle>
          <a:p xmlns:a="http://schemas.openxmlformats.org/drawingml/2006/main">
            <a:pPr algn="l">
              <a:defRPr sz="3500" b="1">
                <a:solidFill>
                  <a:srgbClr val="000000"/>
                </a:solidFill>
                <a:latin typeface="Arial"/>
                <a:ea typeface="Arial"/>
                <a:cs typeface="Arial"/>
              </a:defRPr>
            </a:pPr>
            <a:r>
              <a:rPr sz="3500" b="1">
                <a:solidFill>
                  <a:srgbClr val="000000"/>
                </a:solidFill>
                <a:latin typeface="Arial"/>
                <a:ea typeface="Arial"/>
                <a:cs typeface="Arial"/>
              </a:rPr>
              <a:t>649 × 33</a:t>
            </a:r>
          </a:p>
        </p:txBody>
      </p:sp>
      <p:sp>
        <p:nvSpPr>
          <p:cNvPr id="7" name="Numeric, ordinal and categorical fields&#10;&#10;Preserve raw d">
            <a:extLst xmlns:a="http://schemas.openxmlformats.org/drawingml/2006/main">
              <a:ext uri="{FF2B5EF4-FFF2-40B4-BE49-F238E27FC236}">
                <a16:creationId xmlns:a16="http://schemas.microsoft.com/office/drawing/2014/main" id="{8D9D378B-4C14-4DD9-B5E8-4331998012CE}"/>
              </a:ext>
            </a:extLst>
          </p:cNvPr>
          <p:cNvSpPr>
            <a:spLocks xmlns:a="http://schemas.openxmlformats.org/drawingml/2006/main" noGrp="1"/>
          </p:cNvSpPr>
          <p:nvPr/>
        </p:nvSpPr>
        <p:spPr>
          <a:xfrm xmlns:a="http://schemas.openxmlformats.org/drawingml/2006/main">
            <a:off x="8953500" y="314325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000000"/>
                </a:solidFill>
                <a:latin typeface="Arial"/>
                <a:ea typeface="Arial"/>
                <a:cs typeface="Arial"/>
              </a:defRPr>
            </a:defPPr>
          </a:lstStyle>
          <a:p xmlns:a="http://schemas.openxmlformats.org/drawingml/2006/main">
            <a:pPr algn="l">
              <a:defRPr sz="2200" b="0">
                <a:solidFill>
                  <a:srgbClr val="000000"/>
                </a:solidFill>
                <a:latin typeface="Arial"/>
                <a:ea typeface="Arial"/>
                <a:cs typeface="Arial"/>
              </a:defRPr>
            </a:pPr>
            <a:r>
              <a:rPr sz="2200" b="0">
                <a:solidFill>
                  <a:srgbClr val="000000"/>
                </a:solidFill>
                <a:latin typeface="Arial"/>
                <a:ea typeface="Arial"/>
                <a:cs typeface="Arial"/>
              </a:rPr>
              <a:t>Numeric, ordinal and categorical fields</a:t>
            </a:r>
          </a:p>
          <a:p xmlns:a="http://schemas.openxmlformats.org/drawingml/2006/main">
            <a:r>
              <a:t/>
            </a:r>
          </a:p>
          <a:p xmlns:a="http://schemas.openxmlformats.org/drawingml/2006/main">
            <a:pPr algn="l">
              <a:defRPr sz="2200" b="0">
                <a:solidFill>
                  <a:srgbClr val="000000"/>
                </a:solidFill>
                <a:latin typeface="Arial"/>
                <a:ea typeface="Arial"/>
                <a:cs typeface="Arial"/>
              </a:defRPr>
            </a:pPr>
            <a:r>
              <a:rPr sz="2200" b="0">
                <a:solidFill>
                  <a:srgbClr val="000000"/>
                </a:solidFill>
                <a:latin typeface="Arial"/>
                <a:ea typeface="Arial"/>
                <a:cs typeface="Arial"/>
              </a:rPr>
              <a:t>Preserve raw data</a:t>
            </a:r>
          </a:p>
        </p:txBody>
      </p:sp>
      <p:sp>
        <p:nvSpPr>
          <p:cNvPr id="8" name="Recorded zero grades remain observations; they are not ">
            <a:extLst xmlns:a="http://schemas.openxmlformats.org/drawingml/2006/main">
              <a:ext uri="{FF2B5EF4-FFF2-40B4-BE49-F238E27FC236}">
                <a16:creationId xmlns:a16="http://schemas.microsoft.com/office/drawing/2014/main" id="{0B88379E-1EF8-446A-B2F8-CCF8FF5288B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Recorded zero grades remain observations; they are not reclassified as missing.</a:t>
            </a:r>
          </a:p>
        </p:txBody>
      </p:sp>
    </p:spTree>
    <p:extLst>
      <p:ext uri="{BB962C8B-B14F-4D97-AF65-F5344CB8AC3E}">
        <p14:creationId xmlns:p14="http://schemas.microsoft.com/office/powerpoint/2010/main" val="2779214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24D705B-7482-40FA-8A80-AACDDCFDD154}"/>
              </a:ext>
            </a:extLst>
          </p:cNvPr>
          <p:cNvPicPr>
            <a:picLocks xmlns:a="http://schemas.openxmlformats.org/drawingml/2006/main" noChangeAspect="1"/>
          </p:cNvPicPr>
          <p:nvPr/>
        </p:nvPicPr>
        <p:blipFill>
          <a:blip xmlns:r="http://schemas.openxmlformats.org/officeDocument/2006/relationships" xmlns:a="http://schemas.openxmlformats.org/drawingml/2006/main" r:embed="Rf6060a799f2a4601"/>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398A2A37-0550-42E3-B19F-CB6A9087EB64}"/>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 controlled missingness experiment</a:t>
            </a:r>
          </a:p>
        </p:txBody>
      </p:sp>
      <p:sp>
        <p:nvSpPr>
          <p:cNvPr id="3" name="Thin monochrome rule">
            <a:extLst xmlns:a="http://schemas.openxmlformats.org/drawingml/2006/main">
              <a:ext uri="{FF2B5EF4-FFF2-40B4-BE49-F238E27FC236}">
                <a16:creationId xmlns:a16="http://schemas.microsoft.com/office/drawing/2014/main" id="{58F87661-80D8-4A6D-BC80-9771D973CFF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5">
            <a:extLst xmlns:a="http://schemas.openxmlformats.org/drawingml/2006/main">
              <a:ext uri="{FF2B5EF4-FFF2-40B4-BE49-F238E27FC236}">
                <a16:creationId xmlns:a16="http://schemas.microsoft.com/office/drawing/2014/main" id="{DB1B4FA8-D9B1-48C6-A538-69FDA5204A99}"/>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05</a:t>
            </a:r>
          </a:p>
        </p:txBody>
      </p:sp>
      <p:sp>
        <p:nvSpPr>
          <p:cNvPr id="5" name="649">
            <a:extLst xmlns:a="http://schemas.openxmlformats.org/drawingml/2006/main">
              <a:ext uri="{FF2B5EF4-FFF2-40B4-BE49-F238E27FC236}">
                <a16:creationId xmlns:a16="http://schemas.microsoft.com/office/drawing/2014/main" id="{9E60B020-0F43-4A82-A053-7A18779BD34B}"/>
              </a:ext>
            </a:extLst>
          </p:cNvPr>
          <p:cNvSpPr>
            <a:spLocks xmlns:a="http://schemas.openxmlformats.org/drawingml/2006/main" noGrp="1"/>
          </p:cNvSpPr>
          <p:nvPr/>
        </p:nvSpPr>
        <p:spPr>
          <a:xfrm xmlns:a="http://schemas.openxmlformats.org/drawingml/2006/main">
            <a:off x="762000" y="18097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00000"/>
                </a:solidFill>
                <a:latin typeface="Arial"/>
                <a:ea typeface="Arial"/>
                <a:cs typeface="Arial"/>
              </a:defRPr>
            </a:defPPr>
          </a:lstStyle>
          <a:p xmlns:a="http://schemas.openxmlformats.org/drawingml/2006/main">
            <a:pPr algn="l">
              <a:defRPr sz="5400" b="1">
                <a:solidFill>
                  <a:srgbClr val="000000"/>
                </a:solidFill>
                <a:latin typeface="Arial"/>
                <a:ea typeface="Arial"/>
                <a:cs typeface="Arial"/>
              </a:defRPr>
            </a:pPr>
            <a:r>
              <a:rPr sz="5400" b="1">
                <a:solidFill>
                  <a:srgbClr val="000000"/>
                </a:solidFill>
                <a:latin typeface="Arial"/>
                <a:ea typeface="Arial"/>
                <a:cs typeface="Arial"/>
              </a:rPr>
              <a:t>649</a:t>
            </a:r>
          </a:p>
        </p:txBody>
      </p:sp>
      <p:sp>
        <p:nvSpPr>
          <p:cNvPr id="6" name="complete original records">
            <a:extLst xmlns:a="http://schemas.openxmlformats.org/drawingml/2006/main">
              <a:ext uri="{FF2B5EF4-FFF2-40B4-BE49-F238E27FC236}">
                <a16:creationId xmlns:a16="http://schemas.microsoft.com/office/drawing/2014/main" id="{58AFA71B-4A8D-4A64-B1CD-3DC795C4DCD1}"/>
              </a:ext>
            </a:extLst>
          </p:cNvPr>
          <p:cNvSpPr>
            <a:spLocks xmlns:a="http://schemas.openxmlformats.org/drawingml/2006/main" noGrp="1"/>
          </p:cNvSpPr>
          <p:nvPr/>
        </p:nvSpPr>
        <p:spPr>
          <a:xfrm xmlns:a="http://schemas.openxmlformats.org/drawingml/2006/main">
            <a:off x="762000" y="285750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complete original records</a:t>
            </a:r>
          </a:p>
        </p:txBody>
      </p:sp>
      <p:sp>
        <p:nvSpPr>
          <p:cNvPr id="7" name="Thin monochrome rule">
            <a:extLst xmlns:a="http://schemas.openxmlformats.org/drawingml/2006/main">
              <a:ext uri="{FF2B5EF4-FFF2-40B4-BE49-F238E27FC236}">
                <a16:creationId xmlns:a16="http://schemas.microsoft.com/office/drawing/2014/main" id="{89800071-7F08-40B5-A5BF-56B6CAE45A6A}"/>
              </a:ext>
            </a:extLst>
          </p:cNvPr>
          <p:cNvSpPr>
            <a:spLocks xmlns:a="http://schemas.openxmlformats.org/drawingml/2006/main" noGrp="1"/>
          </p:cNvSpPr>
          <p:nvPr/>
        </p:nvSpPr>
        <p:spPr>
          <a:xfrm xmlns:a="http://schemas.openxmlformats.org/drawingml/2006/main">
            <a:off x="4191000" y="1809750"/>
            <a:ext cx="14288" cy="32385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32">
            <a:extLst xmlns:a="http://schemas.openxmlformats.org/drawingml/2006/main">
              <a:ext uri="{FF2B5EF4-FFF2-40B4-BE49-F238E27FC236}">
                <a16:creationId xmlns:a16="http://schemas.microsoft.com/office/drawing/2014/main" id="{6B2931BB-C81E-4733-9194-1D44B93FEB0F}"/>
              </a:ext>
            </a:extLst>
          </p:cNvPr>
          <p:cNvSpPr>
            <a:spLocks xmlns:a="http://schemas.openxmlformats.org/drawingml/2006/main" noGrp="1"/>
          </p:cNvSpPr>
          <p:nvPr/>
        </p:nvSpPr>
        <p:spPr>
          <a:xfrm xmlns:a="http://schemas.openxmlformats.org/drawingml/2006/main">
            <a:off x="4667250" y="18097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00000"/>
                </a:solidFill>
                <a:latin typeface="Arial"/>
                <a:ea typeface="Arial"/>
                <a:cs typeface="Arial"/>
              </a:defRPr>
            </a:defPPr>
          </a:lstStyle>
          <a:p xmlns:a="http://schemas.openxmlformats.org/drawingml/2006/main">
            <a:pPr algn="l">
              <a:defRPr sz="5400" b="1">
                <a:solidFill>
                  <a:srgbClr val="000000"/>
                </a:solidFill>
                <a:latin typeface="Arial"/>
                <a:ea typeface="Arial"/>
                <a:cs typeface="Arial"/>
              </a:defRPr>
            </a:pPr>
            <a:r>
              <a:rPr sz="5400" b="1">
                <a:solidFill>
                  <a:srgbClr val="000000"/>
                </a:solidFill>
                <a:latin typeface="Arial"/>
                <a:ea typeface="Arial"/>
                <a:cs typeface="Arial"/>
              </a:rPr>
              <a:t>32</a:t>
            </a:r>
          </a:p>
        </p:txBody>
      </p:sp>
      <p:sp>
        <p:nvSpPr>
          <p:cNvPr id="9" name="masked absences values&#10;4.93% of records&#10;Seed 42">
            <a:extLst xmlns:a="http://schemas.openxmlformats.org/drawingml/2006/main">
              <a:ext uri="{FF2B5EF4-FFF2-40B4-BE49-F238E27FC236}">
                <a16:creationId xmlns:a16="http://schemas.microsoft.com/office/drawing/2014/main" id="{ADB2CE32-1842-467C-8503-ED0949820174}"/>
              </a:ext>
            </a:extLst>
          </p:cNvPr>
          <p:cNvSpPr>
            <a:spLocks xmlns:a="http://schemas.openxmlformats.org/drawingml/2006/main" noGrp="1"/>
          </p:cNvSpPr>
          <p:nvPr/>
        </p:nvSpPr>
        <p:spPr>
          <a:xfrm xmlns:a="http://schemas.openxmlformats.org/drawingml/2006/main">
            <a:off x="4667250" y="2857500"/>
            <a:ext cx="304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masked absences values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4.93% of records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Seed 42</a:t>
            </a:r>
          </a:p>
        </p:txBody>
      </p:sp>
      <p:sp>
        <p:nvSpPr>
          <p:cNvPr id="10" name="Thin monochrome rule">
            <a:extLst xmlns:a="http://schemas.openxmlformats.org/drawingml/2006/main">
              <a:ext uri="{FF2B5EF4-FFF2-40B4-BE49-F238E27FC236}">
                <a16:creationId xmlns:a16="http://schemas.microsoft.com/office/drawing/2014/main" id="{BBA0B5A6-F8D1-4FBA-AC37-8C79FEEAEBD2}"/>
              </a:ext>
            </a:extLst>
          </p:cNvPr>
          <p:cNvSpPr>
            <a:spLocks xmlns:a="http://schemas.openxmlformats.org/drawingml/2006/main" noGrp="1"/>
          </p:cNvSpPr>
          <p:nvPr/>
        </p:nvSpPr>
        <p:spPr>
          <a:xfrm xmlns:a="http://schemas.openxmlformats.org/drawingml/2006/main">
            <a:off x="8191500" y="1809750"/>
            <a:ext cx="14288" cy="32385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1" name="Two treatments">
            <a:extLst xmlns:a="http://schemas.openxmlformats.org/drawingml/2006/main">
              <a:ext uri="{FF2B5EF4-FFF2-40B4-BE49-F238E27FC236}">
                <a16:creationId xmlns:a16="http://schemas.microsoft.com/office/drawing/2014/main" id="{47CEEF94-7DE0-45AE-B1B3-7C12712EB339}"/>
              </a:ext>
            </a:extLst>
          </p:cNvPr>
          <p:cNvSpPr>
            <a:spLocks xmlns:a="http://schemas.openxmlformats.org/drawingml/2006/main" noGrp="1"/>
          </p:cNvSpPr>
          <p:nvPr/>
        </p:nvSpPr>
        <p:spPr>
          <a:xfrm xmlns:a="http://schemas.openxmlformats.org/drawingml/2006/main">
            <a:off x="8667750" y="1857375"/>
            <a:ext cx="304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0000"/>
                </a:solidFill>
                <a:latin typeface="Arial"/>
                <a:ea typeface="Arial"/>
                <a:cs typeface="Arial"/>
              </a:defRPr>
            </a:defPPr>
          </a:lstStyle>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Two treatments</a:t>
            </a:r>
          </a:p>
        </p:txBody>
      </p:sp>
      <p:sp>
        <p:nvSpPr>
          <p:cNvPr id="12" name="Mean imputation&#10;&#10;Drop missing rows">
            <a:extLst xmlns:a="http://schemas.openxmlformats.org/drawingml/2006/main">
              <a:ext uri="{FF2B5EF4-FFF2-40B4-BE49-F238E27FC236}">
                <a16:creationId xmlns:a16="http://schemas.microsoft.com/office/drawing/2014/main" id="{F2958566-4E0C-4333-A969-C4B3B399B6F1}"/>
              </a:ext>
            </a:extLst>
          </p:cNvPr>
          <p:cNvSpPr>
            <a:spLocks xmlns:a="http://schemas.openxmlformats.org/drawingml/2006/main" noGrp="1"/>
          </p:cNvSpPr>
          <p:nvPr/>
        </p:nvSpPr>
        <p:spPr>
          <a:xfrm xmlns:a="http://schemas.openxmlformats.org/drawingml/2006/main">
            <a:off x="8667750" y="3000375"/>
            <a:ext cx="304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Mean imputation</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Drop missing rows</a:t>
            </a:r>
          </a:p>
        </p:txBody>
      </p:sp>
      <p:sp>
        <p:nvSpPr>
          <p:cNvPr id="13" name="The missingness exercise is separate from the primary a">
            <a:extLst xmlns:a="http://schemas.openxmlformats.org/drawingml/2006/main">
              <a:ext uri="{FF2B5EF4-FFF2-40B4-BE49-F238E27FC236}">
                <a16:creationId xmlns:a16="http://schemas.microsoft.com/office/drawing/2014/main" id="{D347C2B1-0339-4263-BD65-96A6BE86253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missingness exercise is separate from the primary analysis of original measurements.</a:t>
            </a:r>
          </a:p>
        </p:txBody>
      </p:sp>
    </p:spTree>
    <p:extLst>
      <p:ext uri="{BB962C8B-B14F-4D97-AF65-F5344CB8AC3E}">
        <p14:creationId xmlns:p14="http://schemas.microsoft.com/office/powerpoint/2010/main" val="19644773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36BA35C6-E6EC-4F79-99E6-36CD3A699FCD}"/>
              </a:ext>
            </a:extLst>
          </p:cNvPr>
          <p:cNvPicPr>
            <a:picLocks xmlns:a="http://schemas.openxmlformats.org/drawingml/2006/main" noChangeAspect="1"/>
          </p:cNvPicPr>
          <p:nvPr/>
        </p:nvPicPr>
        <p:blipFill>
          <a:blip xmlns:r="http://schemas.openxmlformats.org/officeDocument/2006/relationships" xmlns:a="http://schemas.openxmlformats.org/drawingml/2006/main" r:embed="R0ea567e63e214ec5"/>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786462B-86E8-4A73-B91E-F4952CEB32E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Imputation and deletion change the data</a:t>
            </a:r>
          </a:p>
        </p:txBody>
      </p:sp>
      <p:sp>
        <p:nvSpPr>
          <p:cNvPr id="3" name="Thin monochrome rule">
            <a:extLst xmlns:a="http://schemas.openxmlformats.org/drawingml/2006/main">
              <a:ext uri="{FF2B5EF4-FFF2-40B4-BE49-F238E27FC236}">
                <a16:creationId xmlns:a16="http://schemas.microsoft.com/office/drawing/2014/main" id="{EAF0FB4B-DDDF-47BE-9FDF-D5879B06FD9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6">
            <a:extLst xmlns:a="http://schemas.openxmlformats.org/drawingml/2006/main">
              <a:ext uri="{FF2B5EF4-FFF2-40B4-BE49-F238E27FC236}">
                <a16:creationId xmlns:a16="http://schemas.microsoft.com/office/drawing/2014/main" id="{E5100D70-2843-402A-B376-3A302DF23FA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06</a:t>
            </a:r>
          </a:p>
        </p:txBody>
      </p:sp>
      <p:graphicFrame>
        <p:nvGraphicFramePr>
          <p:cNvPr id="5" name="">
            <a:extLst xmlns:a="http://schemas.openxmlformats.org/drawingml/2006/main">
              <a:ext uri="{FF2B5EF4-FFF2-40B4-BE49-F238E27FC236}">
                <a16:creationId xmlns:a16="http://schemas.microsoft.com/office/drawing/2014/main" id="{2F683770-4B8D-4D9C-B5A8-C429BCFBD4B2}"/>
              </a:ext>
            </a:extLst>
          </p:cNvPr>
          <p:cNvGraphicFramePr/>
          <p:nvPr/>
        </p:nvGraphicFramePr>
        <p:xfrm>
          <a:off xmlns:a="http://schemas.openxmlformats.org/drawingml/2006/main" x="666750" y="1809750"/>
          <a:ext xmlns:a="http://schemas.openxmlformats.org/drawingml/2006/main" cx="10858500" cy="2952750"/>
        </p:xfrm>
        <a:graphic xmlns:a="http://schemas.openxmlformats.org/drawingml/2006/main">
          <a:graphicData uri="http://schemas.openxmlformats.org/drawingml/2006/table">
            <a:tbl>
              <a:tblPr firstRow="0" bandRow="0"/>
              <a:tblGrid>
                <a:gridCol w="3619500"/>
                <a:gridCol w="1316182"/>
                <a:gridCol w="1480705"/>
                <a:gridCol w="2303318"/>
                <a:gridCol w="2138795"/>
              </a:tblGrid>
              <a:tr h="590550">
                <a:tc>
                  <a:txBody>
                    <a:bodyPr wrap="square" lIns="85725" tIns="85725" rIns="85725" bIns="85725">
                      <a:noAutofit/>
                    </a:bodyPr>
                    <a:lstStyle/>
                    <a:p>
                      <a:pPr algn="l"/>
                      <a:r>
                        <a:rPr sz="2000" b="1">
                          <a:solidFill>
                            <a:srgbClr val="000000"/>
                          </a:solidFill>
                          <a:latin typeface="Arial"/>
                          <a:ea typeface="Arial"/>
                          <a:cs typeface="Arial"/>
                        </a:rPr>
                        <a:t>Variant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Rows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Missing</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Mean absences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Sample SD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90550">
                <a:tc>
                  <a:txBody>
                    <a:bodyPr wrap="square" lIns="85725" tIns="85725" rIns="85725" bIns="85725">
                      <a:noAutofit/>
                    </a:bodyPr>
                    <a:lstStyle/>
                    <a:p>
                      <a:pPr algn="l"/>
                      <a:r>
                        <a:rPr sz="2000" b="0">
                          <a:solidFill>
                            <a:srgbClr val="000000"/>
                          </a:solidFill>
                          <a:latin typeface="Arial"/>
                          <a:ea typeface="Arial"/>
                          <a:cs typeface="Arial"/>
                        </a:rPr>
                        <a:t>Original</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3.6595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4.6408</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0550">
                <a:tc>
                  <a:txBody>
                    <a:bodyPr wrap="square" lIns="85725" tIns="85725" rIns="85725" bIns="85725">
                      <a:noAutofit/>
                    </a:bodyPr>
                    <a:lstStyle/>
                    <a:p>
                      <a:pPr algn="l"/>
                      <a:r>
                        <a:rPr sz="2000" b="0">
                          <a:solidFill>
                            <a:srgbClr val="000000"/>
                          </a:solidFill>
                          <a:latin typeface="Arial"/>
                          <a:ea typeface="Arial"/>
                          <a:cs typeface="Arial"/>
                        </a:rPr>
                        <a:t>Simulated missing</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32</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3.6240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4.6092</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0550">
                <a:tc>
                  <a:txBody>
                    <a:bodyPr wrap="square" lIns="85725" tIns="85725" rIns="85725" bIns="85725">
                      <a:noAutofit/>
                    </a:bodyPr>
                    <a:lstStyle/>
                    <a:p>
                      <a:pPr algn="l"/>
                      <a:r>
                        <a:rPr sz="2000" b="0">
                          <a:solidFill>
                            <a:srgbClr val="000000"/>
                          </a:solidFill>
                          <a:latin typeface="Arial"/>
                          <a:ea typeface="Arial"/>
                          <a:cs typeface="Arial"/>
                        </a:rPr>
                        <a:t>Mean imputation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3.6240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4.4940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0550">
                <a:tc>
                  <a:txBody>
                    <a:bodyPr wrap="square" lIns="85725" tIns="85725" rIns="85725" bIns="85725">
                      <a:noAutofit/>
                    </a:bodyPr>
                    <a:lstStyle/>
                    <a:p>
                      <a:pPr algn="l"/>
                      <a:r>
                        <a:rPr sz="2000" b="0">
                          <a:solidFill>
                            <a:srgbClr val="000000"/>
                          </a:solidFill>
                          <a:latin typeface="Arial"/>
                          <a:ea typeface="Arial"/>
                          <a:cs typeface="Arial"/>
                        </a:rPr>
                        <a:t>Drop missing</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3.6240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4.6092</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Imputation preserves rows and concentrates replacement ">
            <a:extLst xmlns:a="http://schemas.openxmlformats.org/drawingml/2006/main">
              <a:ext uri="{FF2B5EF4-FFF2-40B4-BE49-F238E27FC236}">
                <a16:creationId xmlns:a16="http://schemas.microsoft.com/office/drawing/2014/main" id="{E3220EE9-C9E0-4F12-B751-615A4B2ADAEB}"/>
              </a:ext>
            </a:extLst>
          </p:cNvPr>
          <p:cNvSpPr>
            <a:spLocks xmlns:a="http://schemas.openxmlformats.org/drawingml/2006/main" noGrp="1"/>
          </p:cNvSpPr>
          <p:nvPr/>
        </p:nvSpPr>
        <p:spPr>
          <a:xfrm xmlns:a="http://schemas.openxmlformats.org/drawingml/2006/main">
            <a:off x="762000" y="51435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Imputation preserves rows and concentrates replacement values at the mean.</a:t>
            </a:r>
          </a:p>
        </p:txBody>
      </p:sp>
      <p:sp>
        <p:nvSpPr>
          <p:cNvPr id="7" name="A single seeded simulation does not establish a univers">
            <a:extLst xmlns:a="http://schemas.openxmlformats.org/drawingml/2006/main">
              <a:ext uri="{FF2B5EF4-FFF2-40B4-BE49-F238E27FC236}">
                <a16:creationId xmlns:a16="http://schemas.microsoft.com/office/drawing/2014/main" id="{7384FA6F-29E8-4066-9611-A938E21B4F5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 single seeded simulation does not establish a universally best treatment.</a:t>
            </a:r>
          </a:p>
        </p:txBody>
      </p:sp>
    </p:spTree>
    <p:extLst>
      <p:ext uri="{BB962C8B-B14F-4D97-AF65-F5344CB8AC3E}">
        <p14:creationId xmlns:p14="http://schemas.microsoft.com/office/powerpoint/2010/main" val="85954139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DEDA9E4D-5075-4972-A2D5-D99C48A337E2}"/>
              </a:ext>
            </a:extLst>
          </p:cNvPr>
          <p:cNvPicPr>
            <a:picLocks xmlns:a="http://schemas.openxmlformats.org/drawingml/2006/main" noChangeAspect="1"/>
          </p:cNvPicPr>
          <p:nvPr/>
        </p:nvPicPr>
        <p:blipFill>
          <a:blip xmlns:r="http://schemas.openxmlformats.org/officeDocument/2006/relationships" xmlns:a="http://schemas.openxmlformats.org/drawingml/2006/main" r:embed="Rc0fdbaad55954a26"/>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831C896-4BD8-459C-AEAA-C04DD4D1D2A0}"/>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Python structures and regex</a:t>
            </a:r>
          </a:p>
        </p:txBody>
      </p:sp>
      <p:sp>
        <p:nvSpPr>
          <p:cNvPr id="3" name="Thin monochrome rule">
            <a:extLst xmlns:a="http://schemas.openxmlformats.org/drawingml/2006/main">
              <a:ext uri="{FF2B5EF4-FFF2-40B4-BE49-F238E27FC236}">
                <a16:creationId xmlns:a16="http://schemas.microsoft.com/office/drawing/2014/main" id="{C919CA91-EC0D-4F94-8065-B3DA42C477D5}"/>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7">
            <a:extLst xmlns:a="http://schemas.openxmlformats.org/drawingml/2006/main">
              <a:ext uri="{FF2B5EF4-FFF2-40B4-BE49-F238E27FC236}">
                <a16:creationId xmlns:a16="http://schemas.microsoft.com/office/drawing/2014/main" id="{A7A13F19-24FD-4BCC-A673-8077EFB364C0}"/>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07</a:t>
            </a:r>
          </a:p>
        </p:txBody>
      </p:sp>
      <p:sp>
        <p:nvSpPr>
          <p:cNvPr id="5" name="grades = raw['G3'].tolist()&#10;selected = [g for g in grad">
            <a:extLst xmlns:a="http://schemas.openxmlformats.org/drawingml/2006/main">
              <a:ext uri="{FF2B5EF4-FFF2-40B4-BE49-F238E27FC236}">
                <a16:creationId xmlns:a16="http://schemas.microsoft.com/office/drawing/2014/main" id="{F264CE7A-EBC1-48B7-803A-63EF88F28262}"/>
              </a:ext>
            </a:extLst>
          </p:cNvPr>
          <p:cNvSpPr>
            <a:spLocks xmlns:a="http://schemas.openxmlformats.org/drawingml/2006/main" noGrp="1"/>
          </p:cNvSpPr>
          <p:nvPr/>
        </p:nvSpPr>
        <p:spPr>
          <a:xfrm xmlns:a="http://schemas.openxmlformats.org/drawingml/2006/main">
            <a:off x="762000" y="1809750"/>
            <a:ext cx="10668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DejaVu Sans Mono"/>
                <a:ea typeface="DejaVu Sans Mono"/>
                <a:cs typeface="DejaVu Sans Mono"/>
              </a:defRPr>
            </a:defPPr>
          </a:lstStyle>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grades = raw['G3'].tolist()</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selected = [g for g in grades if g &gt;= 10]</a:t>
            </a:r>
          </a:p>
          <a:p xmlns:a="http://schemas.openxmlformats.org/drawingml/2006/main">
            <a:r>
              <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grade_cols = [c for c in raw.columns</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              if re.fullmatch(r'G[123]', c)]</a:t>
            </a:r>
          </a:p>
        </p:txBody>
      </p:sp>
      <p:sp>
        <p:nvSpPr>
          <p:cNvPr id="6" name="Filtered list: 549 grades">
            <a:extLst xmlns:a="http://schemas.openxmlformats.org/drawingml/2006/main">
              <a:ext uri="{FF2B5EF4-FFF2-40B4-BE49-F238E27FC236}">
                <a16:creationId xmlns:a16="http://schemas.microsoft.com/office/drawing/2014/main" id="{54542F95-DAB5-43FC-B1B0-77F310C78E22}"/>
              </a:ext>
            </a:extLst>
          </p:cNvPr>
          <p:cNvSpPr>
            <a:spLocks xmlns:a="http://schemas.openxmlformats.org/drawingml/2006/main" noGrp="1"/>
          </p:cNvSpPr>
          <p:nvPr/>
        </p:nvSpPr>
        <p:spPr>
          <a:xfrm xmlns:a="http://schemas.openxmlformats.org/drawingml/2006/main">
            <a:off x="762000" y="46672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Filtered list: 549 grades</a:t>
            </a:r>
          </a:p>
        </p:txBody>
      </p:sp>
      <p:sp>
        <p:nvSpPr>
          <p:cNvPr id="7" name="Full matching validates actual schema names without inv">
            <a:extLst xmlns:a="http://schemas.openxmlformats.org/drawingml/2006/main">
              <a:ext uri="{FF2B5EF4-FFF2-40B4-BE49-F238E27FC236}">
                <a16:creationId xmlns:a16="http://schemas.microsoft.com/office/drawing/2014/main" id="{2E94DF2E-8997-426E-B596-9CCD25685671}"/>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Full matching validates actual schema names without inventing personal identifiers.</a:t>
            </a:r>
          </a:p>
        </p:txBody>
      </p:sp>
    </p:spTree>
    <p:extLst>
      <p:ext uri="{BB962C8B-B14F-4D97-AF65-F5344CB8AC3E}">
        <p14:creationId xmlns:p14="http://schemas.microsoft.com/office/powerpoint/2010/main" val="191838909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FB01E9B-639A-41F5-AF8E-AC06126ECE27}"/>
              </a:ext>
            </a:extLst>
          </p:cNvPr>
          <p:cNvPicPr>
            <a:picLocks xmlns:a="http://schemas.openxmlformats.org/drawingml/2006/main" noChangeAspect="1"/>
          </p:cNvPicPr>
          <p:nvPr/>
        </p:nvPicPr>
        <p:blipFill>
          <a:blip xmlns:r="http://schemas.openxmlformats.org/officeDocument/2006/relationships" xmlns:a="http://schemas.openxmlformats.org/drawingml/2006/main" r:embed="Re1b1cadbd65744ca"/>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14E50BC-9983-4376-A96E-DA0559BFC6FD}"/>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Indexing and a two-condition filter</a:t>
            </a:r>
          </a:p>
        </p:txBody>
      </p:sp>
      <p:sp>
        <p:nvSpPr>
          <p:cNvPr id="3" name="Thin monochrome rule">
            <a:extLst xmlns:a="http://schemas.openxmlformats.org/drawingml/2006/main">
              <a:ext uri="{FF2B5EF4-FFF2-40B4-BE49-F238E27FC236}">
                <a16:creationId xmlns:a16="http://schemas.microsoft.com/office/drawing/2014/main" id="{E42D4785-2E51-4404-A2CC-BA29E3BEC97F}"/>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8">
            <a:extLst xmlns:a="http://schemas.openxmlformats.org/drawingml/2006/main">
              <a:ext uri="{FF2B5EF4-FFF2-40B4-BE49-F238E27FC236}">
                <a16:creationId xmlns:a16="http://schemas.microsoft.com/office/drawing/2014/main" id="{CC8E8F4B-FE61-4A88-8A58-A2385D829AD1}"/>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08</a:t>
            </a:r>
          </a:p>
        </p:txBody>
      </p:sp>
      <p:sp>
        <p:nvSpPr>
          <p:cNvPr id="5" name="df.loc[:9]&#10;df.iloc[:, selected_positions]&#10;&#10;df.loc[(df.s">
            <a:extLst xmlns:a="http://schemas.openxmlformats.org/drawingml/2006/main">
              <a:ext uri="{FF2B5EF4-FFF2-40B4-BE49-F238E27FC236}">
                <a16:creationId xmlns:a16="http://schemas.microsoft.com/office/drawing/2014/main" id="{EE02EA1E-5594-4E6E-B67A-7D8FC5DA0D3D}"/>
              </a:ext>
            </a:extLst>
          </p:cNvPr>
          <p:cNvSpPr>
            <a:spLocks xmlns:a="http://schemas.openxmlformats.org/drawingml/2006/main" noGrp="1"/>
          </p:cNvSpPr>
          <p:nvPr/>
        </p:nvSpPr>
        <p:spPr>
          <a:xfrm xmlns:a="http://schemas.openxmlformats.org/drawingml/2006/main">
            <a:off x="762000" y="1809750"/>
            <a:ext cx="7572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DejaVu Sans Mono"/>
                <a:ea typeface="DejaVu Sans Mono"/>
                <a:cs typeface="DejaVu Sans Mono"/>
              </a:defRPr>
            </a:defPPr>
          </a:lstStyle>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df.loc[:9]</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df.iloc[:, selected_positions]</a:t>
            </a:r>
          </a:p>
          <a:p xmlns:a="http://schemas.openxmlformats.org/drawingml/2006/main">
            <a:r>
              <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df.loc[(df.studytime &gt;= 2) &amp;</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       (df.absences &lt;= 5)]</a:t>
            </a:r>
          </a:p>
        </p:txBody>
      </p:sp>
      <p:sp>
        <p:nvSpPr>
          <p:cNvPr id="6" name="334">
            <a:extLst xmlns:a="http://schemas.openxmlformats.org/drawingml/2006/main">
              <a:ext uri="{FF2B5EF4-FFF2-40B4-BE49-F238E27FC236}">
                <a16:creationId xmlns:a16="http://schemas.microsoft.com/office/drawing/2014/main" id="{47C0B5D3-66FE-4E16-9C73-D2EB30989852}"/>
              </a:ext>
            </a:extLst>
          </p:cNvPr>
          <p:cNvSpPr>
            <a:spLocks xmlns:a="http://schemas.openxmlformats.org/drawingml/2006/main" noGrp="1"/>
          </p:cNvSpPr>
          <p:nvPr/>
        </p:nvSpPr>
        <p:spPr>
          <a:xfrm xmlns:a="http://schemas.openxmlformats.org/drawingml/2006/main">
            <a:off x="8953500" y="2047875"/>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Arial"/>
                <a:ea typeface="Arial"/>
                <a:cs typeface="Arial"/>
              </a:defRPr>
            </a:defPPr>
          </a:lstStyle>
          <a:p xmlns:a="http://schemas.openxmlformats.org/drawingml/2006/main">
            <a:pPr algn="l">
              <a:defRPr sz="4800" b="1">
                <a:solidFill>
                  <a:srgbClr val="000000"/>
                </a:solidFill>
                <a:latin typeface="Arial"/>
                <a:ea typeface="Arial"/>
                <a:cs typeface="Arial"/>
              </a:defRPr>
            </a:pPr>
            <a:r>
              <a:rPr sz="4800" b="1">
                <a:solidFill>
                  <a:srgbClr val="000000"/>
                </a:solidFill>
                <a:latin typeface="Arial"/>
                <a:ea typeface="Arial"/>
                <a:cs typeface="Arial"/>
              </a:rPr>
              <a:t>334</a:t>
            </a:r>
          </a:p>
        </p:txBody>
      </p:sp>
      <p:sp>
        <p:nvSpPr>
          <p:cNvPr id="7" name="51.46% of records&#10;&#10;Both conditions hold">
            <a:extLst xmlns:a="http://schemas.openxmlformats.org/drawingml/2006/main">
              <a:ext uri="{FF2B5EF4-FFF2-40B4-BE49-F238E27FC236}">
                <a16:creationId xmlns:a16="http://schemas.microsoft.com/office/drawing/2014/main" id="{AA06F7A6-6A7E-4B59-AF05-04D097FCBCFB}"/>
              </a:ext>
            </a:extLst>
          </p:cNvPr>
          <p:cNvSpPr>
            <a:spLocks xmlns:a="http://schemas.openxmlformats.org/drawingml/2006/main" noGrp="1"/>
          </p:cNvSpPr>
          <p:nvPr/>
        </p:nvSpPr>
        <p:spPr>
          <a:xfrm xmlns:a="http://schemas.openxmlformats.org/drawingml/2006/main">
            <a:off x="8953500" y="3143250"/>
            <a:ext cx="2667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51.46% of records</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Both conditions hold</a:t>
            </a:r>
          </a:p>
        </p:txBody>
      </p:sp>
      <p:sp>
        <p:nvSpPr>
          <p:cNvPr id="8" name="The study-time variable is an ordered interval code, no">
            <a:extLst xmlns:a="http://schemas.openxmlformats.org/drawingml/2006/main">
              <a:ext uri="{FF2B5EF4-FFF2-40B4-BE49-F238E27FC236}">
                <a16:creationId xmlns:a16="http://schemas.microsoft.com/office/drawing/2014/main" id="{5F09DDF0-3C4A-426F-8DEE-FF3200428509}"/>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study-time variable is an ordered interval code, not a continuous hour count.</a:t>
            </a:r>
          </a:p>
        </p:txBody>
      </p:sp>
    </p:spTree>
    <p:extLst>
      <p:ext uri="{BB962C8B-B14F-4D97-AF65-F5344CB8AC3E}">
        <p14:creationId xmlns:p14="http://schemas.microsoft.com/office/powerpoint/2010/main" val="32608221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A147AED4-E9E6-482B-A0E0-6FABCF0810A0}"/>
              </a:ext>
            </a:extLst>
          </p:cNvPr>
          <p:cNvPicPr>
            <a:picLocks xmlns:a="http://schemas.openxmlformats.org/drawingml/2006/main" noChangeAspect="1"/>
          </p:cNvPicPr>
          <p:nvPr/>
        </p:nvPicPr>
        <p:blipFill>
          <a:blip xmlns:r="http://schemas.openxmlformats.org/officeDocument/2006/relationships" xmlns:a="http://schemas.openxmlformats.org/drawingml/2006/main" r:embed="R614c66a9db094cc1"/>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C853F454-117D-4817-9A83-8982C7AE0E8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Three engineered features</a:t>
            </a:r>
          </a:p>
        </p:txBody>
      </p:sp>
      <p:sp>
        <p:nvSpPr>
          <p:cNvPr id="3" name="Thin monochrome rule">
            <a:extLst xmlns:a="http://schemas.openxmlformats.org/drawingml/2006/main">
              <a:ext uri="{FF2B5EF4-FFF2-40B4-BE49-F238E27FC236}">
                <a16:creationId xmlns:a16="http://schemas.microsoft.com/office/drawing/2014/main" id="{29211946-3170-44C5-8398-B4315EA76F89}"/>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9">
            <a:extLst xmlns:a="http://schemas.openxmlformats.org/drawingml/2006/main">
              <a:ext uri="{FF2B5EF4-FFF2-40B4-BE49-F238E27FC236}">
                <a16:creationId xmlns:a16="http://schemas.microsoft.com/office/drawing/2014/main" id="{D95A3313-D2FD-4861-9EB1-8BE9A29C44BA}"/>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6D1D7E99-B44C-42D2-9BF1-8794C191E17F}"/>
              </a:ext>
            </a:extLst>
          </p:cNvPr>
          <p:cNvGraphicFramePr/>
          <p:nvPr/>
        </p:nvGraphicFramePr>
        <p:xfrm>
          <a:off xmlns:a="http://schemas.openxmlformats.org/drawingml/2006/main" x="666750" y="1857375"/>
          <a:ext xmlns:a="http://schemas.openxmlformats.org/drawingml/2006/main" cx="10858500" cy="2667000"/>
        </p:xfrm>
        <a:graphic xmlns:a="http://schemas.openxmlformats.org/drawingml/2006/main">
          <a:graphicData uri="http://schemas.openxmlformats.org/drawingml/2006/table">
            <a:tbl>
              <a:tblPr firstRow="0" bandRow="0"/>
              <a:tblGrid>
                <a:gridCol w="3701761"/>
                <a:gridCol w="3454977"/>
                <a:gridCol w="3701761"/>
              </a:tblGrid>
              <a:tr h="666750">
                <a:tc>
                  <a:txBody>
                    <a:bodyPr wrap="square" lIns="85725" tIns="85725" rIns="85725" bIns="85725">
                      <a:noAutofit/>
                    </a:bodyPr>
                    <a:lstStyle/>
                    <a:p>
                      <a:pPr algn="l"/>
                      <a:r>
                        <a:rPr sz="2000" b="1">
                          <a:solidFill>
                            <a:srgbClr val="000000"/>
                          </a:solidFill>
                          <a:latin typeface="Arial"/>
                          <a:ea typeface="Arial"/>
                          <a:cs typeface="Arial"/>
                        </a:rPr>
                        <a:t>Feature</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Definition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Purpose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666750">
                <a:tc>
                  <a:txBody>
                    <a:bodyPr wrap="square" lIns="85725" tIns="85725" rIns="85725" bIns="85725">
                      <a:noAutofit/>
                    </a:bodyPr>
                    <a:lstStyle/>
                    <a:p>
                      <a:pPr algn="l"/>
                      <a:r>
                        <a:rPr sz="2000" b="0">
                          <a:solidFill>
                            <a:srgbClr val="000000"/>
                          </a:solidFill>
                          <a:latin typeface="Arial"/>
                          <a:ea typeface="Arial"/>
                          <a:cs typeface="Arial"/>
                        </a:rPr>
                        <a:t>prior_grade_mean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(G1 + G2) / 2</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Earlier-grade summary</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000" b="0">
                          <a:solidFill>
                            <a:srgbClr val="000000"/>
                          </a:solidFill>
                          <a:latin typeface="Arial"/>
                          <a:ea typeface="Arial"/>
                          <a:cs typeface="Arial"/>
                        </a:rPr>
                        <a:t>grade_progress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G2 − G1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Assessment difference</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000" b="0">
                          <a:solidFill>
                            <a:srgbClr val="000000"/>
                          </a:solidFill>
                          <a:latin typeface="Arial"/>
                          <a:ea typeface="Arial"/>
                          <a:cs typeface="Arial"/>
                        </a:rPr>
                        <a:t>performance_band</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0–9; 10–14; 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Outcome description</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DataFrame.insert() places prior_grade_mean immediately ">
            <a:extLst xmlns:a="http://schemas.openxmlformats.org/drawingml/2006/main">
              <a:ext uri="{FF2B5EF4-FFF2-40B4-BE49-F238E27FC236}">
                <a16:creationId xmlns:a16="http://schemas.microsoft.com/office/drawing/2014/main" id="{A5F1ACE3-45AD-452E-B27C-5FD00F18A995}"/>
              </a:ext>
            </a:extLst>
          </p:cNvPr>
          <p:cNvSpPr>
            <a:spLocks xmlns:a="http://schemas.openxmlformats.org/drawingml/2006/main" noGrp="1"/>
          </p:cNvSpPr>
          <p:nvPr/>
        </p:nvSpPr>
        <p:spPr>
          <a:xfrm xmlns:a="http://schemas.openxmlformats.org/drawingml/2006/main">
            <a:off x="762000" y="50006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DataFrame.insert() places prior_grade_mean immediately before G3.</a:t>
            </a:r>
          </a:p>
        </p:txBody>
      </p:sp>
      <p:sp>
        <p:nvSpPr>
          <p:cNvPr id="7" name="All derived features are excluded from the original-fac">
            <a:extLst xmlns:a="http://schemas.openxmlformats.org/drawingml/2006/main">
              <a:ext uri="{FF2B5EF4-FFF2-40B4-BE49-F238E27FC236}">
                <a16:creationId xmlns:a16="http://schemas.microsoft.com/office/drawing/2014/main" id="{60C37AA2-1167-43DB-B7D2-0A739F629A6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All derived features are excluded from the original-factor association ranking.</a:t>
            </a:r>
          </a:p>
        </p:txBody>
      </p:sp>
    </p:spTree>
    <p:extLst>
      <p:ext uri="{BB962C8B-B14F-4D97-AF65-F5344CB8AC3E}">
        <p14:creationId xmlns:p14="http://schemas.microsoft.com/office/powerpoint/2010/main" val="32083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02331F2-73A1-487A-B58B-B45E15C5B425}"/>
              </a:ext>
            </a:extLst>
          </p:cNvPr>
          <p:cNvPicPr>
            <a:picLocks xmlns:a="http://schemas.openxmlformats.org/drawingml/2006/main" noChangeAspect="1"/>
          </p:cNvPicPr>
          <p:nvPr/>
        </p:nvPicPr>
        <p:blipFill>
          <a:blip xmlns:r="http://schemas.openxmlformats.org/officeDocument/2006/relationships" xmlns:a="http://schemas.openxmlformats.org/drawingml/2006/main" r:embed="Re2d0e092b9d14bad"/>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6AD5752F-1844-4174-97EC-9D12F585F32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Grouped statistics and transformation</a:t>
            </a:r>
          </a:p>
        </p:txBody>
      </p:sp>
      <p:sp>
        <p:nvSpPr>
          <p:cNvPr id="3" name="Thin monochrome rule">
            <a:extLst xmlns:a="http://schemas.openxmlformats.org/drawingml/2006/main">
              <a:ext uri="{FF2B5EF4-FFF2-40B4-BE49-F238E27FC236}">
                <a16:creationId xmlns:a16="http://schemas.microsoft.com/office/drawing/2014/main" id="{D8C16E99-A63A-40DC-85F1-A31621D6E0C5}"/>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0">
            <a:extLst xmlns:a="http://schemas.openxmlformats.org/drawingml/2006/main">
              <a:ext uri="{FF2B5EF4-FFF2-40B4-BE49-F238E27FC236}">
                <a16:creationId xmlns:a16="http://schemas.microsoft.com/office/drawing/2014/main" id="{76133B92-0766-480F-A577-631475EB5A04}"/>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0DCFE278-C1DA-4AB9-A6FC-9A7AEEAC3E46}"/>
              </a:ext>
            </a:extLst>
          </p:cNvPr>
          <p:cNvGraphicFramePr/>
          <p:nvPr/>
        </p:nvGraphicFramePr>
        <p:xfrm>
          <a:off xmlns:a="http://schemas.openxmlformats.org/drawingml/2006/main" x="666750" y="1762125"/>
          <a:ext xmlns:a="http://schemas.openxmlformats.org/drawingml/2006/main" cx="10858500" cy="2000250"/>
        </p:xfrm>
        <a:graphic xmlns:a="http://schemas.openxmlformats.org/drawingml/2006/main">
          <a:graphicData uri="http://schemas.openxmlformats.org/drawingml/2006/table">
            <a:tbl>
              <a:tblPr firstRow="0" bandRow="0"/>
              <a:tblGrid>
                <a:gridCol w="1751371"/>
                <a:gridCol w="1751371"/>
                <a:gridCol w="2451919"/>
                <a:gridCol w="2451919"/>
                <a:gridCol w="2451919"/>
              </a:tblGrid>
              <a:tr h="666750">
                <a:tc>
                  <a:txBody>
                    <a:bodyPr wrap="square" lIns="85725" tIns="85725" rIns="85725" bIns="85725">
                      <a:noAutofit/>
                    </a:bodyPr>
                    <a:lstStyle/>
                    <a:p>
                      <a:pPr algn="l"/>
                      <a:r>
                        <a:rPr sz="2300" b="1">
                          <a:solidFill>
                            <a:srgbClr val="000000"/>
                          </a:solidFill>
                          <a:latin typeface="Arial"/>
                          <a:ea typeface="Arial"/>
                          <a:cs typeface="Arial"/>
                        </a:rPr>
                        <a:t>School</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G3 mean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G3 median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G3 SD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666750">
                <a:tc>
                  <a:txBody>
                    <a:bodyPr wrap="square" lIns="85725" tIns="85725" rIns="85725" bIns="85725">
                      <a:noAutofit/>
                    </a:bodyPr>
                    <a:lstStyle/>
                    <a:p>
                      <a:pPr algn="l"/>
                      <a:r>
                        <a:rPr sz="2300" b="0">
                          <a:solidFill>
                            <a:srgbClr val="000000"/>
                          </a:solidFill>
                          <a:latin typeface="Arial"/>
                          <a:ea typeface="Arial"/>
                          <a:cs typeface="Arial"/>
                        </a:rPr>
                        <a:t>GP</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423</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12.577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13</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2.626</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MS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226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10.650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3.834</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Within-school score">
            <a:extLst xmlns:a="http://schemas.openxmlformats.org/drawingml/2006/main">
              <a:ext uri="{FF2B5EF4-FFF2-40B4-BE49-F238E27FC236}">
                <a16:creationId xmlns:a16="http://schemas.microsoft.com/office/drawing/2014/main" id="{6CDC568E-67C9-4D05-BD11-D0EB8CA876C1}"/>
              </a:ext>
            </a:extLst>
          </p:cNvPr>
          <p:cNvSpPr>
            <a:spLocks xmlns:a="http://schemas.openxmlformats.org/drawingml/2006/main" noGrp="1"/>
          </p:cNvSpPr>
          <p:nvPr/>
        </p:nvSpPr>
        <p:spPr>
          <a:xfrm xmlns:a="http://schemas.openxmlformats.org/drawingml/2006/main">
            <a:off x="762000" y="41910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Within-school score</a:t>
            </a:r>
          </a:p>
        </p:txBody>
      </p:sp>
      <p:sp>
        <p:nvSpPr>
          <p:cNvPr id="7" name="(G3 − school minimum) / (school maximum − school minimu">
            <a:extLst xmlns:a="http://schemas.openxmlformats.org/drawingml/2006/main">
              <a:ext uri="{FF2B5EF4-FFF2-40B4-BE49-F238E27FC236}">
                <a16:creationId xmlns:a16="http://schemas.microsoft.com/office/drawing/2014/main" id="{BD603A2C-B2A9-4F4E-B803-2D3121B938FA}"/>
              </a:ext>
            </a:extLst>
          </p:cNvPr>
          <p:cNvSpPr>
            <a:spLocks xmlns:a="http://schemas.openxmlformats.org/drawingml/2006/main" noGrp="1"/>
          </p:cNvSpPr>
          <p:nvPr/>
        </p:nvSpPr>
        <p:spPr>
          <a:xfrm xmlns:a="http://schemas.openxmlformats.org/drawingml/2006/main">
            <a:off x="762000" y="48101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000000"/>
                </a:solidFill>
                <a:latin typeface="Arial"/>
                <a:ea typeface="Arial"/>
                <a:cs typeface="Arial"/>
              </a:defRPr>
            </a:defPPr>
          </a:lstStyle>
          <a:p xmlns:a="http://schemas.openxmlformats.org/drawingml/2006/main">
            <a:pPr algn="l">
              <a:defRPr sz="2200" b="0">
                <a:solidFill>
                  <a:srgbClr val="000000"/>
                </a:solidFill>
                <a:latin typeface="Arial"/>
                <a:ea typeface="Arial"/>
                <a:cs typeface="Arial"/>
              </a:defRPr>
            </a:pPr>
            <a:r>
              <a:rPr sz="2200" b="0">
                <a:solidFill>
                  <a:srgbClr val="000000"/>
                </a:solidFill>
                <a:latin typeface="Arial"/>
                <a:ea typeface="Arial"/>
                <a:cs typeface="Arial"/>
              </a:rPr>
              <a:t>(G3 − school minimum) / (school maximum − school minimum)</a:t>
            </a:r>
          </a:p>
        </p:txBody>
      </p:sp>
      <p:sp>
        <p:nvSpPr>
          <p:cNvPr id="8" name="Constant groups receive 0; the scale describes relative">
            <a:extLst xmlns:a="http://schemas.openxmlformats.org/drawingml/2006/main">
              <a:ext uri="{FF2B5EF4-FFF2-40B4-BE49-F238E27FC236}">
                <a16:creationId xmlns:a16="http://schemas.microsoft.com/office/drawing/2014/main" id="{8B69D25F-F29A-44FE-B705-8921995FA29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Constant groups receive 0; the scale describes relative position within each school.</a:t>
            </a:r>
          </a:p>
        </p:txBody>
      </p:sp>
    </p:spTree>
    <p:extLst>
      <p:ext uri="{BB962C8B-B14F-4D97-AF65-F5344CB8AC3E}">
        <p14:creationId xmlns:p14="http://schemas.microsoft.com/office/powerpoint/2010/main" val="82931821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1FAD382E-AC60-46F0-9444-AFFA1908B7AF}"/>
              </a:ext>
            </a:extLst>
          </p:cNvPr>
          <p:cNvPicPr>
            <a:picLocks xmlns:a="http://schemas.openxmlformats.org/drawingml/2006/main" noChangeAspect="1"/>
          </p:cNvPicPr>
          <p:nvPr/>
        </p:nvPicPr>
        <p:blipFill>
          <a:blip xmlns:r="http://schemas.openxmlformats.org/officeDocument/2006/relationships" xmlns:a="http://schemas.openxmlformats.org/drawingml/2006/main" r:embed="Re0d3f89239994045"/>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3E711A56-5AD4-4B45-960A-27000947F068}"/>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Association ranking: two distinct families</a:t>
            </a:r>
          </a:p>
        </p:txBody>
      </p:sp>
      <p:sp>
        <p:nvSpPr>
          <p:cNvPr id="3" name="Thin monochrome rule">
            <a:extLst xmlns:a="http://schemas.openxmlformats.org/drawingml/2006/main">
              <a:ext uri="{FF2B5EF4-FFF2-40B4-BE49-F238E27FC236}">
                <a16:creationId xmlns:a16="http://schemas.microsoft.com/office/drawing/2014/main" id="{A4255A89-B4BF-409B-BED9-B783EC2DDD11}"/>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1">
            <a:extLst xmlns:a="http://schemas.openxmlformats.org/drawingml/2006/main">
              <a:ext uri="{FF2B5EF4-FFF2-40B4-BE49-F238E27FC236}">
                <a16:creationId xmlns:a16="http://schemas.microsoft.com/office/drawing/2014/main" id="{F9156F76-4627-474D-AD60-5B7E8D60320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11</a:t>
            </a:r>
          </a:p>
        </p:txBody>
      </p:sp>
      <p:sp>
        <p:nvSpPr>
          <p:cNvPr id="5" name="Prior grade: G2, Spearman ρ = 0.9445">
            <a:extLst xmlns:a="http://schemas.openxmlformats.org/drawingml/2006/main">
              <a:ext uri="{FF2B5EF4-FFF2-40B4-BE49-F238E27FC236}">
                <a16:creationId xmlns:a16="http://schemas.microsoft.com/office/drawing/2014/main" id="{17A785E6-310F-498A-AA48-A9441C0DC293}"/>
              </a:ext>
            </a:extLst>
          </p:cNvPr>
          <p:cNvSpPr>
            <a:spLocks xmlns:a="http://schemas.openxmlformats.org/drawingml/2006/main" noGrp="1"/>
          </p:cNvSpPr>
          <p:nvPr/>
        </p:nvSpPr>
        <p:spPr>
          <a:xfrm xmlns:a="http://schemas.openxmlformats.org/drawingml/2006/main">
            <a:off x="762000" y="1619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Prior grade: G2, Spearman ρ = 0.9445</a:t>
            </a:r>
          </a:p>
        </p:txBody>
      </p:sp>
      <p:graphicFrame>
        <p:nvGraphicFramePr>
          <p:cNvPr id="6" name="">
            <a:extLst xmlns:a="http://schemas.openxmlformats.org/drawingml/2006/main">
              <a:ext uri="{FF2B5EF4-FFF2-40B4-BE49-F238E27FC236}">
                <a16:creationId xmlns:a16="http://schemas.microsoft.com/office/drawing/2014/main" id="{FD38AF9F-7AF9-4F16-B1F8-E315E1BE9CAD}"/>
              </a:ext>
            </a:extLst>
          </p:cNvPr>
          <p:cNvGraphicFramePr/>
          <p:nvPr/>
        </p:nvGraphicFramePr>
        <p:xfrm>
          <a:off xmlns:a="http://schemas.openxmlformats.org/drawingml/2006/main" x="762000" y="2381250"/>
          <a:ext xmlns:a="http://schemas.openxmlformats.org/drawingml/2006/main" cx="10668000" cy="2857500"/>
        </p:xfrm>
        <a:graphic xmlns:a="http://schemas.openxmlformats.org/drawingml/2006/main">
          <a:graphicData uri="http://schemas.openxmlformats.org/drawingml/2006/table">
            <a:tbl>
              <a:tblPr firstRow="0" bandRow="0"/>
              <a:tblGrid>
                <a:gridCol w="6096000"/>
                <a:gridCol w="2540000"/>
                <a:gridCol w="2032000"/>
              </a:tblGrid>
              <a:tr h="476250">
                <a:tc>
                  <a:txBody>
                    <a:bodyPr wrap="square" lIns="85725" tIns="85725" rIns="85725" bIns="85725">
                      <a:noAutofit/>
                    </a:bodyPr>
                    <a:lstStyle/>
                    <a:p>
                      <a:pPr algn="l"/>
                      <a:r>
                        <a:rPr sz="2100" b="1">
                          <a:solidFill>
                            <a:srgbClr val="000000"/>
                          </a:solidFill>
                          <a:latin typeface="Arial"/>
                          <a:ea typeface="Arial"/>
                          <a:cs typeface="Arial"/>
                        </a:rPr>
                        <a:t>Contextual numerical/ordinal factor</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Spearman ρ</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476250">
                <a:tc>
                  <a:txBody>
                    <a:bodyPr wrap="square" lIns="85725" tIns="85725" rIns="85725" bIns="85725">
                      <a:noAutofit/>
                    </a:bodyPr>
                    <a:lstStyle/>
                    <a:p>
                      <a:pPr algn="l"/>
                      <a:r>
                        <a:rPr sz="2100" b="0">
                          <a:solidFill>
                            <a:srgbClr val="000000"/>
                          </a:solidFill>
                          <a:latin typeface="Arial"/>
                          <a:ea typeface="Arial"/>
                          <a:cs typeface="Arial"/>
                        </a:rPr>
                        <a:t>failures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-0.4484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Medu</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0.2839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studytime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0.2747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Fedu</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0.2346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Dalc</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-0.2084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7" name="The ranking is unadjusted association among examined or">
            <a:extLst xmlns:a="http://schemas.openxmlformats.org/drawingml/2006/main">
              <a:ext uri="{FF2B5EF4-FFF2-40B4-BE49-F238E27FC236}">
                <a16:creationId xmlns:a16="http://schemas.microsoft.com/office/drawing/2014/main" id="{527AF2A5-AA2D-49C9-B1D5-29A82D76D8B6}"/>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ranking is unadjusted association among examined original numerical/ordinal factors.</a:t>
            </a:r>
          </a:p>
        </p:txBody>
      </p:sp>
    </p:spTree>
    <p:extLst>
      <p:ext uri="{BB962C8B-B14F-4D97-AF65-F5344CB8AC3E}">
        <p14:creationId xmlns:p14="http://schemas.microsoft.com/office/powerpoint/2010/main" val="120551729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7311705-F0E3-40C3-B3B5-0E9C3D9E929B}"/>
              </a:ext>
            </a:extLst>
          </p:cNvPr>
          <p:cNvPicPr>
            <a:picLocks xmlns:a="http://schemas.openxmlformats.org/drawingml/2006/main" noChangeAspect="1"/>
          </p:cNvPicPr>
          <p:nvPr/>
        </p:nvPicPr>
        <p:blipFill>
          <a:blip xmlns:r="http://schemas.openxmlformats.org/officeDocument/2006/relationships" xmlns:a="http://schemas.openxmlformats.org/drawingml/2006/main" r:embed="Ra2ea970e6ce34c7d"/>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8456F6D7-999C-42D0-B994-4669E116CF3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Final-grade distribution</a:t>
            </a:r>
          </a:p>
        </p:txBody>
      </p:sp>
      <p:sp>
        <p:nvSpPr>
          <p:cNvPr id="3" name="Thin monochrome rule">
            <a:extLst xmlns:a="http://schemas.openxmlformats.org/drawingml/2006/main">
              <a:ext uri="{FF2B5EF4-FFF2-40B4-BE49-F238E27FC236}">
                <a16:creationId xmlns:a16="http://schemas.microsoft.com/office/drawing/2014/main" id="{422EF8CB-40B4-416E-83F2-CBDEE2F94FDF}"/>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2">
            <a:extLst xmlns:a="http://schemas.openxmlformats.org/drawingml/2006/main">
              <a:ext uri="{FF2B5EF4-FFF2-40B4-BE49-F238E27FC236}">
                <a16:creationId xmlns:a16="http://schemas.microsoft.com/office/drawing/2014/main" id="{6BBD53D3-A29A-45ED-89EB-E5125E73F6D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12</a:t>
            </a:r>
          </a:p>
        </p:txBody>
      </p:sp>
      <p:graphicFrame>
        <p:nvGraphicFramePr>
          <p:cNvPr id="5" name="Chart">
            <a:extLst xmlns:a="http://schemas.openxmlformats.org/drawingml/2006/main">
              <a:ext uri="{FF2B5EF4-FFF2-40B4-BE49-F238E27FC236}">
                <a16:creationId xmlns:a16="http://schemas.microsoft.com/office/drawing/2014/main" id="{08F03DE4-3BB8-44A7-9058-B93E5BABEF85}"/>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0724bbc2eaeb4e80"/>
          </a:graphicData>
        </a:graphic>
      </p:graphicFrame>
      <p:sp>
        <p:nvSpPr>
          <p:cNvPr id="6" name="Mean 11.91">
            <a:extLst xmlns:a="http://schemas.openxmlformats.org/drawingml/2006/main">
              <a:ext uri="{FF2B5EF4-FFF2-40B4-BE49-F238E27FC236}">
                <a16:creationId xmlns:a16="http://schemas.microsoft.com/office/drawing/2014/main" id="{17C6032E-CBD6-43A4-931C-B28DF542ACB1}"/>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Mean 11.91</a:t>
            </a:r>
          </a:p>
        </p:txBody>
      </p:sp>
      <p:sp>
        <p:nvSpPr>
          <p:cNvPr id="7" name="Median 12&#10;Sample SD 3.23&#10;&#10;n = 649">
            <a:extLst xmlns:a="http://schemas.openxmlformats.org/drawingml/2006/main">
              <a:ext uri="{FF2B5EF4-FFF2-40B4-BE49-F238E27FC236}">
                <a16:creationId xmlns:a16="http://schemas.microsoft.com/office/drawing/2014/main" id="{1EC8A274-8F70-4514-92D0-160AE5912146}"/>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Median 12</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Sample SD 3.23</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 = 649</a:t>
            </a:r>
          </a:p>
        </p:txBody>
      </p:sp>
      <p:sp>
        <p:nvSpPr>
          <p:cNvPr id="8" name="One-point-wide bins retain the integer-score distributi">
            <a:extLst xmlns:a="http://schemas.openxmlformats.org/drawingml/2006/main">
              <a:ext uri="{FF2B5EF4-FFF2-40B4-BE49-F238E27FC236}">
                <a16:creationId xmlns:a16="http://schemas.microsoft.com/office/drawing/2014/main" id="{A8EBD003-8913-4336-AFB5-7F09B2C3B914}"/>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One-point-wide bins retain the integer-score distribution.</a:t>
            </a:r>
          </a:p>
        </p:txBody>
      </p:sp>
    </p:spTree>
    <p:extLst>
      <p:ext uri="{BB962C8B-B14F-4D97-AF65-F5344CB8AC3E}">
        <p14:creationId xmlns:p14="http://schemas.microsoft.com/office/powerpoint/2010/main" val="117628912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7" name="">
            <a:extLst xmlns:a="http://schemas.openxmlformats.org/drawingml/2006/main">
              <a:ext uri="{FF2B5EF4-FFF2-40B4-BE49-F238E27FC236}">
                <a16:creationId xmlns:a16="http://schemas.microsoft.com/office/drawing/2014/main" id="{BD539B62-94FE-4E9E-9FE1-CB2307F674B3}"/>
              </a:ext>
            </a:extLst>
          </p:cNvPr>
          <p:cNvPicPr>
            <a:picLocks xmlns:a="http://schemas.openxmlformats.org/drawingml/2006/main" noChangeAspect="1"/>
          </p:cNvPicPr>
          <p:nvPr/>
        </p:nvPicPr>
        <p:blipFill>
          <a:blip xmlns:r="http://schemas.openxmlformats.org/officeDocument/2006/relationships" xmlns:a="http://schemas.openxmlformats.org/drawingml/2006/main" r:embed="R0975a6067bc54b4a"/>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0FDFC2B-0030-4596-AD82-3EC8E15E17A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Final grades by school</a:t>
            </a:r>
          </a:p>
        </p:txBody>
      </p:sp>
      <p:sp>
        <p:nvSpPr>
          <p:cNvPr id="3" name="Thin monochrome rule">
            <a:extLst xmlns:a="http://schemas.openxmlformats.org/drawingml/2006/main">
              <a:ext uri="{FF2B5EF4-FFF2-40B4-BE49-F238E27FC236}">
                <a16:creationId xmlns:a16="http://schemas.microsoft.com/office/drawing/2014/main" id="{635FFF5B-0831-4B69-9861-E441924343E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3">
            <a:extLst xmlns:a="http://schemas.openxmlformats.org/drawingml/2006/main">
              <a:ext uri="{FF2B5EF4-FFF2-40B4-BE49-F238E27FC236}">
                <a16:creationId xmlns:a16="http://schemas.microsoft.com/office/drawing/2014/main" id="{FF72FB6B-3268-47EF-9183-D394F5C82AC1}"/>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13</a:t>
            </a:r>
          </a:p>
        </p:txBody>
      </p:sp>
      <p:sp>
        <p:nvSpPr>
          <p:cNvPr id="5" name="Thin monochrome rule">
            <a:extLst xmlns:a="http://schemas.openxmlformats.org/drawingml/2006/main">
              <a:ext uri="{FF2B5EF4-FFF2-40B4-BE49-F238E27FC236}">
                <a16:creationId xmlns:a16="http://schemas.microsoft.com/office/drawing/2014/main" id="{BDE82B17-0910-4F07-9162-8892A2ADBF3B}"/>
              </a:ext>
            </a:extLst>
          </p:cNvPr>
          <p:cNvSpPr>
            <a:spLocks xmlns:a="http://schemas.openxmlformats.org/drawingml/2006/main" noGrp="1"/>
          </p:cNvSpPr>
          <p:nvPr/>
        </p:nvSpPr>
        <p:spPr>
          <a:xfrm xmlns:a="http://schemas.openxmlformats.org/drawingml/2006/main">
            <a:off x="1333500" y="5191125"/>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 name="0">
            <a:extLst xmlns:a="http://schemas.openxmlformats.org/drawingml/2006/main">
              <a:ext uri="{FF2B5EF4-FFF2-40B4-BE49-F238E27FC236}">
                <a16:creationId xmlns:a16="http://schemas.microsoft.com/office/drawing/2014/main" id="{227F5289-5C79-4A29-938E-B6651463B79E}"/>
              </a:ext>
            </a:extLst>
          </p:cNvPr>
          <p:cNvSpPr>
            <a:spLocks xmlns:a="http://schemas.openxmlformats.org/drawingml/2006/main" noGrp="1"/>
          </p:cNvSpPr>
          <p:nvPr/>
        </p:nvSpPr>
        <p:spPr>
          <a:xfrm xmlns:a="http://schemas.openxmlformats.org/drawingml/2006/main">
            <a:off x="762000" y="50482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0</a:t>
            </a:r>
          </a:p>
        </p:txBody>
      </p:sp>
      <p:sp>
        <p:nvSpPr>
          <p:cNvPr id="7" name="Thin monochrome rule">
            <a:extLst xmlns:a="http://schemas.openxmlformats.org/drawingml/2006/main">
              <a:ext uri="{FF2B5EF4-FFF2-40B4-BE49-F238E27FC236}">
                <a16:creationId xmlns:a16="http://schemas.microsoft.com/office/drawing/2014/main" id="{9ADF889C-0101-4BF8-B4CC-9B64E11F237A}"/>
              </a:ext>
            </a:extLst>
          </p:cNvPr>
          <p:cNvSpPr>
            <a:spLocks xmlns:a="http://schemas.openxmlformats.org/drawingml/2006/main" noGrp="1"/>
          </p:cNvSpPr>
          <p:nvPr/>
        </p:nvSpPr>
        <p:spPr>
          <a:xfrm xmlns:a="http://schemas.openxmlformats.org/drawingml/2006/main">
            <a:off x="1333500" y="4357688"/>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5">
            <a:extLst xmlns:a="http://schemas.openxmlformats.org/drawingml/2006/main">
              <a:ext uri="{FF2B5EF4-FFF2-40B4-BE49-F238E27FC236}">
                <a16:creationId xmlns:a16="http://schemas.microsoft.com/office/drawing/2014/main" id="{AAB45159-5EEC-40B6-83F7-3A84428AB6B1}"/>
              </a:ext>
            </a:extLst>
          </p:cNvPr>
          <p:cNvSpPr>
            <a:spLocks xmlns:a="http://schemas.openxmlformats.org/drawingml/2006/main" noGrp="1"/>
          </p:cNvSpPr>
          <p:nvPr/>
        </p:nvSpPr>
        <p:spPr>
          <a:xfrm xmlns:a="http://schemas.openxmlformats.org/drawingml/2006/main">
            <a:off x="762000" y="4214813"/>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5</a:t>
            </a:r>
          </a:p>
        </p:txBody>
      </p:sp>
      <p:sp>
        <p:nvSpPr>
          <p:cNvPr id="9" name="Thin monochrome rule">
            <a:extLst xmlns:a="http://schemas.openxmlformats.org/drawingml/2006/main">
              <a:ext uri="{FF2B5EF4-FFF2-40B4-BE49-F238E27FC236}">
                <a16:creationId xmlns:a16="http://schemas.microsoft.com/office/drawing/2014/main" id="{7FBBAB3E-CCBD-46C4-A556-E6A7C7D9D504}"/>
              </a:ext>
            </a:extLst>
          </p:cNvPr>
          <p:cNvSpPr>
            <a:spLocks xmlns:a="http://schemas.openxmlformats.org/drawingml/2006/main" noGrp="1"/>
          </p:cNvSpPr>
          <p:nvPr/>
        </p:nvSpPr>
        <p:spPr>
          <a:xfrm xmlns:a="http://schemas.openxmlformats.org/drawingml/2006/main">
            <a:off x="1333500" y="3524250"/>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0" name="10">
            <a:extLst xmlns:a="http://schemas.openxmlformats.org/drawingml/2006/main">
              <a:ext uri="{FF2B5EF4-FFF2-40B4-BE49-F238E27FC236}">
                <a16:creationId xmlns:a16="http://schemas.microsoft.com/office/drawing/2014/main" id="{F6C3DA4D-73CF-4B52-A87D-4A776D54B035}"/>
              </a:ext>
            </a:extLst>
          </p:cNvPr>
          <p:cNvSpPr>
            <a:spLocks xmlns:a="http://schemas.openxmlformats.org/drawingml/2006/main" noGrp="1"/>
          </p:cNvSpPr>
          <p:nvPr/>
        </p:nvSpPr>
        <p:spPr>
          <a:xfrm xmlns:a="http://schemas.openxmlformats.org/drawingml/2006/main">
            <a:off x="762000" y="3381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10</a:t>
            </a:r>
          </a:p>
        </p:txBody>
      </p:sp>
      <p:sp>
        <p:nvSpPr>
          <p:cNvPr id="11" name="Thin monochrome rule">
            <a:extLst xmlns:a="http://schemas.openxmlformats.org/drawingml/2006/main">
              <a:ext uri="{FF2B5EF4-FFF2-40B4-BE49-F238E27FC236}">
                <a16:creationId xmlns:a16="http://schemas.microsoft.com/office/drawing/2014/main" id="{AC38D1EB-984F-4CD2-AF7D-55F0287459BC}"/>
              </a:ext>
            </a:extLst>
          </p:cNvPr>
          <p:cNvSpPr>
            <a:spLocks xmlns:a="http://schemas.openxmlformats.org/drawingml/2006/main" noGrp="1"/>
          </p:cNvSpPr>
          <p:nvPr/>
        </p:nvSpPr>
        <p:spPr>
          <a:xfrm xmlns:a="http://schemas.openxmlformats.org/drawingml/2006/main">
            <a:off x="1333500" y="2690813"/>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2" name="15">
            <a:extLst xmlns:a="http://schemas.openxmlformats.org/drawingml/2006/main">
              <a:ext uri="{FF2B5EF4-FFF2-40B4-BE49-F238E27FC236}">
                <a16:creationId xmlns:a16="http://schemas.microsoft.com/office/drawing/2014/main" id="{C1346680-D32B-49AD-9B89-D24CAE1DAB6D}"/>
              </a:ext>
            </a:extLst>
          </p:cNvPr>
          <p:cNvSpPr>
            <a:spLocks xmlns:a="http://schemas.openxmlformats.org/drawingml/2006/main" noGrp="1"/>
          </p:cNvSpPr>
          <p:nvPr/>
        </p:nvSpPr>
        <p:spPr>
          <a:xfrm xmlns:a="http://schemas.openxmlformats.org/drawingml/2006/main">
            <a:off x="762000" y="2547938"/>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15</a:t>
            </a:r>
          </a:p>
        </p:txBody>
      </p:sp>
      <p:sp>
        <p:nvSpPr>
          <p:cNvPr id="13" name="Thin monochrome rule">
            <a:extLst xmlns:a="http://schemas.openxmlformats.org/drawingml/2006/main">
              <a:ext uri="{FF2B5EF4-FFF2-40B4-BE49-F238E27FC236}">
                <a16:creationId xmlns:a16="http://schemas.microsoft.com/office/drawing/2014/main" id="{EC0BA668-8F78-4395-B15B-5AEB908D5450}"/>
              </a:ext>
            </a:extLst>
          </p:cNvPr>
          <p:cNvSpPr>
            <a:spLocks xmlns:a="http://schemas.openxmlformats.org/drawingml/2006/main" noGrp="1"/>
          </p:cNvSpPr>
          <p:nvPr/>
        </p:nvSpPr>
        <p:spPr>
          <a:xfrm xmlns:a="http://schemas.openxmlformats.org/drawingml/2006/main">
            <a:off x="1333500" y="1857375"/>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4" name="20">
            <a:extLst xmlns:a="http://schemas.openxmlformats.org/drawingml/2006/main">
              <a:ext uri="{FF2B5EF4-FFF2-40B4-BE49-F238E27FC236}">
                <a16:creationId xmlns:a16="http://schemas.microsoft.com/office/drawing/2014/main" id="{EB1A54A6-0C56-4E1A-97BC-D6F82A66E4F5}"/>
              </a:ext>
            </a:extLst>
          </p:cNvPr>
          <p:cNvSpPr>
            <a:spLocks xmlns:a="http://schemas.openxmlformats.org/drawingml/2006/main" noGrp="1"/>
          </p:cNvSpPr>
          <p:nvPr/>
        </p:nvSpPr>
        <p:spPr>
          <a:xfrm xmlns:a="http://schemas.openxmlformats.org/drawingml/2006/main">
            <a:off x="7620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20</a:t>
            </a:r>
          </a:p>
        </p:txBody>
      </p:sp>
      <p:sp>
        <p:nvSpPr>
          <p:cNvPr id="15" name="G3 (points)">
            <a:extLst xmlns:a="http://schemas.openxmlformats.org/drawingml/2006/main">
              <a:ext uri="{FF2B5EF4-FFF2-40B4-BE49-F238E27FC236}">
                <a16:creationId xmlns:a16="http://schemas.microsoft.com/office/drawing/2014/main" id="{023D907D-3610-482E-9703-A9D22302C1ED}"/>
              </a:ext>
            </a:extLst>
          </p:cNvPr>
          <p:cNvSpPr>
            <a:spLocks xmlns:a="http://schemas.openxmlformats.org/drawingml/2006/main" noGrp="1"/>
          </p:cNvSpPr>
          <p:nvPr/>
        </p:nvSpPr>
        <p:spPr>
          <a:xfrm xmlns:a="http://schemas.openxmlformats.org/drawingml/2006/main">
            <a:off x="762000" y="1476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G3 (points)</a:t>
            </a:r>
          </a:p>
        </p:txBody>
      </p:sp>
      <p:sp>
        <p:nvSpPr>
          <p:cNvPr id="16" name="Thin monochrome rule">
            <a:extLst xmlns:a="http://schemas.openxmlformats.org/drawingml/2006/main">
              <a:ext uri="{FF2B5EF4-FFF2-40B4-BE49-F238E27FC236}">
                <a16:creationId xmlns:a16="http://schemas.microsoft.com/office/drawing/2014/main" id="{8CFA3C10-4526-4D66-AC4E-BAD9F33A2134}"/>
              </a:ext>
            </a:extLst>
          </p:cNvPr>
          <p:cNvSpPr>
            <a:spLocks xmlns:a="http://schemas.openxmlformats.org/drawingml/2006/main" noGrp="1"/>
          </p:cNvSpPr>
          <p:nvPr/>
        </p:nvSpPr>
        <p:spPr>
          <a:xfrm xmlns:a="http://schemas.openxmlformats.org/drawingml/2006/main">
            <a:off x="3238500" y="2190750"/>
            <a:ext cx="14288" cy="183356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7" name="Thin monochrome rule">
            <a:extLst xmlns:a="http://schemas.openxmlformats.org/drawingml/2006/main">
              <a:ext uri="{FF2B5EF4-FFF2-40B4-BE49-F238E27FC236}">
                <a16:creationId xmlns:a16="http://schemas.microsoft.com/office/drawing/2014/main" id="{50F0AE90-D736-439B-9B5A-F185BA851CFA}"/>
              </a:ext>
            </a:extLst>
          </p:cNvPr>
          <p:cNvSpPr>
            <a:spLocks xmlns:a="http://schemas.openxmlformats.org/drawingml/2006/main" noGrp="1"/>
          </p:cNvSpPr>
          <p:nvPr/>
        </p:nvSpPr>
        <p:spPr>
          <a:xfrm xmlns:a="http://schemas.openxmlformats.org/drawingml/2006/main">
            <a:off x="2905125" y="2190750"/>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8" name="Thin monochrome rule">
            <a:extLst xmlns:a="http://schemas.openxmlformats.org/drawingml/2006/main">
              <a:ext uri="{FF2B5EF4-FFF2-40B4-BE49-F238E27FC236}">
                <a16:creationId xmlns:a16="http://schemas.microsoft.com/office/drawing/2014/main" id="{983E727D-B44A-40DF-9DEC-6763AA0013E4}"/>
              </a:ext>
            </a:extLst>
          </p:cNvPr>
          <p:cNvSpPr>
            <a:spLocks xmlns:a="http://schemas.openxmlformats.org/drawingml/2006/main" noGrp="1"/>
          </p:cNvSpPr>
          <p:nvPr/>
        </p:nvSpPr>
        <p:spPr>
          <a:xfrm xmlns:a="http://schemas.openxmlformats.org/drawingml/2006/main">
            <a:off x="2905125" y="4024313"/>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9" name="GP Q1–Q3, exported Seaborn statistics">
            <a:extLst xmlns:a="http://schemas.openxmlformats.org/drawingml/2006/main">
              <a:ext uri="{FF2B5EF4-FFF2-40B4-BE49-F238E27FC236}">
                <a16:creationId xmlns:a16="http://schemas.microsoft.com/office/drawing/2014/main" id="{98E11FB1-FF45-48AB-BF2F-60FD4F2365EC}"/>
              </a:ext>
            </a:extLst>
          </p:cNvPr>
          <p:cNvSpPr>
            <a:spLocks xmlns:a="http://schemas.openxmlformats.org/drawingml/2006/main" noGrp="1"/>
          </p:cNvSpPr>
          <p:nvPr/>
        </p:nvSpPr>
        <p:spPr>
          <a:xfrm xmlns:a="http://schemas.openxmlformats.org/drawingml/2006/main">
            <a:off x="2619375" y="2857500"/>
            <a:ext cx="1238250" cy="500063"/>
          </a:xfrm>
          <a:prstGeom xmlns:a="http://schemas.openxmlformats.org/drawingml/2006/main" prst="rect">
            <a:avLst/>
          </a:prstGeom>
          <a:solidFill xmlns:a="http://schemas.openxmlformats.org/drawingml/2006/main">
            <a:srgbClr val="CCCCCC"/>
          </a:solidFill>
          <a:ln xmlns:a="http://schemas.openxmlformats.org/drawingml/2006/main" w="9525">
            <a:solidFill>
              <a:srgbClr val="000000"/>
            </a:solidFill>
            <a:prstDash val="solid"/>
          </a:ln>
        </p:spPr>
      </p:sp>
      <p:sp>
        <p:nvSpPr>
          <p:cNvPr id="20" name="Thin monochrome rule">
            <a:extLst xmlns:a="http://schemas.openxmlformats.org/drawingml/2006/main">
              <a:ext uri="{FF2B5EF4-FFF2-40B4-BE49-F238E27FC236}">
                <a16:creationId xmlns:a16="http://schemas.microsoft.com/office/drawing/2014/main" id="{E707D30D-FA97-4AA3-ADD8-CF7552B9756F}"/>
              </a:ext>
            </a:extLst>
          </p:cNvPr>
          <p:cNvSpPr>
            <a:spLocks xmlns:a="http://schemas.openxmlformats.org/drawingml/2006/main" noGrp="1"/>
          </p:cNvSpPr>
          <p:nvPr/>
        </p:nvSpPr>
        <p:spPr>
          <a:xfrm xmlns:a="http://schemas.openxmlformats.org/drawingml/2006/main">
            <a:off x="2619375" y="3024188"/>
            <a:ext cx="1238250" cy="2381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1" name="GP outlier 6">
            <a:extLst xmlns:a="http://schemas.openxmlformats.org/drawingml/2006/main">
              <a:ext uri="{FF2B5EF4-FFF2-40B4-BE49-F238E27FC236}">
                <a16:creationId xmlns:a16="http://schemas.microsoft.com/office/drawing/2014/main" id="{3B23A3B1-D6C6-405E-A4F2-3F8DD259FBE2}"/>
              </a:ext>
            </a:extLst>
          </p:cNvPr>
          <p:cNvSpPr>
            <a:spLocks xmlns:a="http://schemas.openxmlformats.org/drawingml/2006/main" noGrp="1"/>
          </p:cNvSpPr>
          <p:nvPr/>
        </p:nvSpPr>
        <p:spPr>
          <a:xfrm xmlns:a="http://schemas.openxmlformats.org/drawingml/2006/main">
            <a:off x="3200400" y="41529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2" name="GP outlier 0">
            <a:extLst xmlns:a="http://schemas.openxmlformats.org/drawingml/2006/main">
              <a:ext uri="{FF2B5EF4-FFF2-40B4-BE49-F238E27FC236}">
                <a16:creationId xmlns:a16="http://schemas.microsoft.com/office/drawing/2014/main" id="{120B24E7-5519-4429-B3CB-AC31EBC340E6}"/>
              </a:ext>
            </a:extLst>
          </p:cNvPr>
          <p:cNvSpPr>
            <a:spLocks xmlns:a="http://schemas.openxmlformats.org/drawingml/2006/main" noGrp="1"/>
          </p:cNvSpPr>
          <p:nvPr/>
        </p:nvSpPr>
        <p:spPr>
          <a:xfrm xmlns:a="http://schemas.openxmlformats.org/drawingml/2006/main">
            <a:off x="3200400" y="5153025"/>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3" name="GP outlier 1">
            <a:extLst xmlns:a="http://schemas.openxmlformats.org/drawingml/2006/main">
              <a:ext uri="{FF2B5EF4-FFF2-40B4-BE49-F238E27FC236}">
                <a16:creationId xmlns:a16="http://schemas.microsoft.com/office/drawing/2014/main" id="{03FB9732-BB5C-4FB2-BB5F-E0437A5D9BDA}"/>
              </a:ext>
            </a:extLst>
          </p:cNvPr>
          <p:cNvSpPr>
            <a:spLocks xmlns:a="http://schemas.openxmlformats.org/drawingml/2006/main" noGrp="1"/>
          </p:cNvSpPr>
          <p:nvPr/>
        </p:nvSpPr>
        <p:spPr>
          <a:xfrm xmlns:a="http://schemas.openxmlformats.org/drawingml/2006/main">
            <a:off x="3200400" y="4986338"/>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4" name="GP outlier 5">
            <a:extLst xmlns:a="http://schemas.openxmlformats.org/drawingml/2006/main">
              <a:ext uri="{FF2B5EF4-FFF2-40B4-BE49-F238E27FC236}">
                <a16:creationId xmlns:a16="http://schemas.microsoft.com/office/drawing/2014/main" id="{967DF0DF-6041-42F5-8006-64071ED3FF2A}"/>
              </a:ext>
            </a:extLst>
          </p:cNvPr>
          <p:cNvSpPr>
            <a:spLocks xmlns:a="http://schemas.openxmlformats.org/drawingml/2006/main" noGrp="1"/>
          </p:cNvSpPr>
          <p:nvPr/>
        </p:nvSpPr>
        <p:spPr>
          <a:xfrm xmlns:a="http://schemas.openxmlformats.org/drawingml/2006/main">
            <a:off x="3200400" y="4319588"/>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5" name="GP outlier 19">
            <a:extLst xmlns:a="http://schemas.openxmlformats.org/drawingml/2006/main">
              <a:ext uri="{FF2B5EF4-FFF2-40B4-BE49-F238E27FC236}">
                <a16:creationId xmlns:a16="http://schemas.microsoft.com/office/drawing/2014/main" id="{0473A835-0E1F-4967-8FA6-6550C42DA512}"/>
              </a:ext>
            </a:extLst>
          </p:cNvPr>
          <p:cNvSpPr>
            <a:spLocks xmlns:a="http://schemas.openxmlformats.org/drawingml/2006/main" noGrp="1"/>
          </p:cNvSpPr>
          <p:nvPr/>
        </p:nvSpPr>
        <p:spPr>
          <a:xfrm xmlns:a="http://schemas.openxmlformats.org/drawingml/2006/main">
            <a:off x="3200400" y="1985963"/>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6" name="GP&#10;n = 423">
            <a:extLst xmlns:a="http://schemas.openxmlformats.org/drawingml/2006/main">
              <a:ext uri="{FF2B5EF4-FFF2-40B4-BE49-F238E27FC236}">
                <a16:creationId xmlns:a16="http://schemas.microsoft.com/office/drawing/2014/main" id="{91547798-C3C9-47CE-A7F7-683A03806E32}"/>
              </a:ext>
            </a:extLst>
          </p:cNvPr>
          <p:cNvSpPr>
            <a:spLocks xmlns:a="http://schemas.openxmlformats.org/drawingml/2006/main" noGrp="1"/>
          </p:cNvSpPr>
          <p:nvPr/>
        </p:nvSpPr>
        <p:spPr>
          <a:xfrm xmlns:a="http://schemas.openxmlformats.org/drawingml/2006/main">
            <a:off x="2286000" y="5429250"/>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00" b="0">
                <a:solidFill>
                  <a:srgbClr val="000000"/>
                </a:solidFill>
                <a:latin typeface="Arial"/>
                <a:ea typeface="Arial"/>
                <a:cs typeface="Arial"/>
              </a:defRPr>
            </a:defPPr>
          </a:lstStyle>
          <a:p xmlns:a="http://schemas.openxmlformats.org/drawingml/2006/main">
            <a:pPr algn="ctr">
              <a:defRPr sz="2000" b="0">
                <a:solidFill>
                  <a:srgbClr val="000000"/>
                </a:solidFill>
                <a:latin typeface="Arial"/>
                <a:ea typeface="Arial"/>
                <a:cs typeface="Arial"/>
              </a:defRPr>
            </a:pPr>
            <a:r>
              <a:rPr sz="2000" b="0">
                <a:solidFill>
                  <a:srgbClr val="000000"/>
                </a:solidFill>
                <a:latin typeface="Arial"/>
                <a:ea typeface="Arial"/>
                <a:cs typeface="Arial"/>
              </a:rPr>
              <a:t>GP</a:t>
            </a:r>
          </a:p>
          <a:p xmlns:a="http://schemas.openxmlformats.org/drawingml/2006/main">
            <a:pPr algn="ctr">
              <a:defRPr sz="2000" b="0">
                <a:solidFill>
                  <a:srgbClr val="000000"/>
                </a:solidFill>
                <a:latin typeface="Arial"/>
                <a:ea typeface="Arial"/>
                <a:cs typeface="Arial"/>
              </a:defRPr>
            </a:pPr>
            <a:r>
              <a:rPr sz="2000" b="0">
                <a:solidFill>
                  <a:srgbClr val="000000"/>
                </a:solidFill>
                <a:latin typeface="Arial"/>
                <a:ea typeface="Arial"/>
                <a:cs typeface="Arial"/>
              </a:rPr>
              <a:t>n = 423</a:t>
            </a:r>
          </a:p>
        </p:txBody>
      </p:sp>
      <p:sp>
        <p:nvSpPr>
          <p:cNvPr id="27" name="Thin monochrome rule">
            <a:extLst xmlns:a="http://schemas.openxmlformats.org/drawingml/2006/main">
              <a:ext uri="{FF2B5EF4-FFF2-40B4-BE49-F238E27FC236}">
                <a16:creationId xmlns:a16="http://schemas.microsoft.com/office/drawing/2014/main" id="{DD87F396-5F05-4700-A5D0-BAC68EAAA06C}"/>
              </a:ext>
            </a:extLst>
          </p:cNvPr>
          <p:cNvSpPr>
            <a:spLocks xmlns:a="http://schemas.openxmlformats.org/drawingml/2006/main" noGrp="1"/>
          </p:cNvSpPr>
          <p:nvPr/>
        </p:nvSpPr>
        <p:spPr>
          <a:xfrm xmlns:a="http://schemas.openxmlformats.org/drawingml/2006/main">
            <a:off x="6096000" y="2024063"/>
            <a:ext cx="14288" cy="216693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8" name="Thin monochrome rule">
            <a:extLst xmlns:a="http://schemas.openxmlformats.org/drawingml/2006/main">
              <a:ext uri="{FF2B5EF4-FFF2-40B4-BE49-F238E27FC236}">
                <a16:creationId xmlns:a16="http://schemas.microsoft.com/office/drawing/2014/main" id="{DCC1E9CB-CF0F-436F-ABA2-8E558B9D3F73}"/>
              </a:ext>
            </a:extLst>
          </p:cNvPr>
          <p:cNvSpPr>
            <a:spLocks xmlns:a="http://schemas.openxmlformats.org/drawingml/2006/main" noGrp="1"/>
          </p:cNvSpPr>
          <p:nvPr/>
        </p:nvSpPr>
        <p:spPr>
          <a:xfrm xmlns:a="http://schemas.openxmlformats.org/drawingml/2006/main">
            <a:off x="5762625" y="2024063"/>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9" name="Thin monochrome rule">
            <a:extLst xmlns:a="http://schemas.openxmlformats.org/drawingml/2006/main">
              <a:ext uri="{FF2B5EF4-FFF2-40B4-BE49-F238E27FC236}">
                <a16:creationId xmlns:a16="http://schemas.microsoft.com/office/drawing/2014/main" id="{9129707E-BF8C-46B4-8747-3D17BFA42C8B}"/>
              </a:ext>
            </a:extLst>
          </p:cNvPr>
          <p:cNvSpPr>
            <a:spLocks xmlns:a="http://schemas.openxmlformats.org/drawingml/2006/main" noGrp="1"/>
          </p:cNvSpPr>
          <p:nvPr/>
        </p:nvSpPr>
        <p:spPr>
          <a:xfrm xmlns:a="http://schemas.openxmlformats.org/drawingml/2006/main">
            <a:off x="5762625" y="4191000"/>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0" name="MS Q1–Q3, exported Seaborn statistics">
            <a:extLst xmlns:a="http://schemas.openxmlformats.org/drawingml/2006/main">
              <a:ext uri="{FF2B5EF4-FFF2-40B4-BE49-F238E27FC236}">
                <a16:creationId xmlns:a16="http://schemas.microsoft.com/office/drawing/2014/main" id="{1CE5C1EF-5431-4191-873E-F64C44C3B531}"/>
              </a:ext>
            </a:extLst>
          </p:cNvPr>
          <p:cNvSpPr>
            <a:spLocks xmlns:a="http://schemas.openxmlformats.org/drawingml/2006/main" noGrp="1"/>
          </p:cNvSpPr>
          <p:nvPr/>
        </p:nvSpPr>
        <p:spPr>
          <a:xfrm xmlns:a="http://schemas.openxmlformats.org/drawingml/2006/main">
            <a:off x="5476875" y="3024188"/>
            <a:ext cx="1238250" cy="666750"/>
          </a:xfrm>
          <a:prstGeom xmlns:a="http://schemas.openxmlformats.org/drawingml/2006/main" prst="rect">
            <a:avLst/>
          </a:prstGeom>
          <a:solidFill xmlns:a="http://schemas.openxmlformats.org/drawingml/2006/main">
            <a:srgbClr val="CCCCCC"/>
          </a:solidFill>
          <a:ln xmlns:a="http://schemas.openxmlformats.org/drawingml/2006/main" w="9525">
            <a:solidFill>
              <a:srgbClr val="000000"/>
            </a:solidFill>
            <a:prstDash val="solid"/>
          </a:ln>
        </p:spPr>
      </p:sp>
      <p:sp>
        <p:nvSpPr>
          <p:cNvPr id="31" name="Thin monochrome rule">
            <a:extLst xmlns:a="http://schemas.openxmlformats.org/drawingml/2006/main">
              <a:ext uri="{FF2B5EF4-FFF2-40B4-BE49-F238E27FC236}">
                <a16:creationId xmlns:a16="http://schemas.microsoft.com/office/drawing/2014/main" id="{BC0172F8-7E40-491A-B345-EB65785EB941}"/>
              </a:ext>
            </a:extLst>
          </p:cNvPr>
          <p:cNvSpPr>
            <a:spLocks xmlns:a="http://schemas.openxmlformats.org/drawingml/2006/main" noGrp="1"/>
          </p:cNvSpPr>
          <p:nvPr/>
        </p:nvSpPr>
        <p:spPr>
          <a:xfrm xmlns:a="http://schemas.openxmlformats.org/drawingml/2006/main">
            <a:off x="5476875" y="3357563"/>
            <a:ext cx="1238250" cy="2381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2" name="MS outlier 0">
            <a:extLst xmlns:a="http://schemas.openxmlformats.org/drawingml/2006/main">
              <a:ext uri="{FF2B5EF4-FFF2-40B4-BE49-F238E27FC236}">
                <a16:creationId xmlns:a16="http://schemas.microsoft.com/office/drawing/2014/main" id="{0B699FC9-0C3A-4306-8CE7-5D1D29F58E3D}"/>
              </a:ext>
            </a:extLst>
          </p:cNvPr>
          <p:cNvSpPr>
            <a:spLocks xmlns:a="http://schemas.openxmlformats.org/drawingml/2006/main" noGrp="1"/>
          </p:cNvSpPr>
          <p:nvPr/>
        </p:nvSpPr>
        <p:spPr>
          <a:xfrm xmlns:a="http://schemas.openxmlformats.org/drawingml/2006/main">
            <a:off x="6057900" y="5153025"/>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33" name="MS&#10;n = 226">
            <a:extLst xmlns:a="http://schemas.openxmlformats.org/drawingml/2006/main">
              <a:ext uri="{FF2B5EF4-FFF2-40B4-BE49-F238E27FC236}">
                <a16:creationId xmlns:a16="http://schemas.microsoft.com/office/drawing/2014/main" id="{0B1B3768-9900-45AC-81B8-5E3F0C1EBF79}"/>
              </a:ext>
            </a:extLst>
          </p:cNvPr>
          <p:cNvSpPr>
            <a:spLocks xmlns:a="http://schemas.openxmlformats.org/drawingml/2006/main" noGrp="1"/>
          </p:cNvSpPr>
          <p:nvPr/>
        </p:nvSpPr>
        <p:spPr>
          <a:xfrm xmlns:a="http://schemas.openxmlformats.org/drawingml/2006/main">
            <a:off x="5143500" y="5429250"/>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00" b="0">
                <a:solidFill>
                  <a:srgbClr val="000000"/>
                </a:solidFill>
                <a:latin typeface="Arial"/>
                <a:ea typeface="Arial"/>
                <a:cs typeface="Arial"/>
              </a:defRPr>
            </a:defPPr>
          </a:lstStyle>
          <a:p xmlns:a="http://schemas.openxmlformats.org/drawingml/2006/main">
            <a:pPr algn="ctr">
              <a:defRPr sz="2000" b="0">
                <a:solidFill>
                  <a:srgbClr val="000000"/>
                </a:solidFill>
                <a:latin typeface="Arial"/>
                <a:ea typeface="Arial"/>
                <a:cs typeface="Arial"/>
              </a:defRPr>
            </a:pPr>
            <a:r>
              <a:rPr sz="2000" b="0">
                <a:solidFill>
                  <a:srgbClr val="000000"/>
                </a:solidFill>
                <a:latin typeface="Arial"/>
                <a:ea typeface="Arial"/>
                <a:cs typeface="Arial"/>
              </a:rPr>
              <a:t>MS</a:t>
            </a:r>
          </a:p>
          <a:p xmlns:a="http://schemas.openxmlformats.org/drawingml/2006/main">
            <a:pPr algn="ctr">
              <a:defRPr sz="2000" b="0">
                <a:solidFill>
                  <a:srgbClr val="000000"/>
                </a:solidFill>
                <a:latin typeface="Arial"/>
                <a:ea typeface="Arial"/>
                <a:cs typeface="Arial"/>
              </a:defRPr>
            </a:pPr>
            <a:r>
              <a:rPr sz="2000" b="0">
                <a:solidFill>
                  <a:srgbClr val="000000"/>
                </a:solidFill>
                <a:latin typeface="Arial"/>
                <a:ea typeface="Arial"/>
                <a:cs typeface="Arial"/>
              </a:rPr>
              <a:t>n = 226</a:t>
            </a:r>
          </a:p>
        </p:txBody>
      </p:sp>
      <p:sp>
        <p:nvSpPr>
          <p:cNvPr id="34" name="Medians: 13 / 11">
            <a:extLst xmlns:a="http://schemas.openxmlformats.org/drawingml/2006/main">
              <a:ext uri="{FF2B5EF4-FFF2-40B4-BE49-F238E27FC236}">
                <a16:creationId xmlns:a16="http://schemas.microsoft.com/office/drawing/2014/main" id="{2DDDCCEB-1015-46E2-89AA-1A6D5598B395}"/>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Medians: 13 / 11</a:t>
            </a:r>
          </a:p>
        </p:txBody>
      </p:sp>
      <p:sp>
        <p:nvSpPr>
          <p:cNvPr id="35" name="GP has a higher observed centre.&#10;&#10;MS has greater disper">
            <a:extLst xmlns:a="http://schemas.openxmlformats.org/drawingml/2006/main">
              <a:ext uri="{FF2B5EF4-FFF2-40B4-BE49-F238E27FC236}">
                <a16:creationId xmlns:a16="http://schemas.microsoft.com/office/drawing/2014/main" id="{D8A15785-564E-4EC3-9EB2-89FC431147C1}"/>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GP has a higher observed centre.</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MS has greater dispersion.</a:t>
            </a:r>
          </a:p>
        </p:txBody>
      </p:sp>
      <p:sp>
        <p:nvSpPr>
          <p:cNvPr id="36" name="Descriptive group differences do not identify a causal ">
            <a:extLst xmlns:a="http://schemas.openxmlformats.org/drawingml/2006/main">
              <a:ext uri="{FF2B5EF4-FFF2-40B4-BE49-F238E27FC236}">
                <a16:creationId xmlns:a16="http://schemas.microsoft.com/office/drawing/2014/main" id="{345DE1C2-7A20-46DD-8807-4F4BFC3D5616}"/>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Descriptive group differences do not identify a causal school effect.</a:t>
            </a:r>
          </a:p>
        </p:txBody>
      </p:sp>
    </p:spTree>
    <p:extLst>
      <p:ext uri="{BB962C8B-B14F-4D97-AF65-F5344CB8AC3E}">
        <p14:creationId xmlns:p14="http://schemas.microsoft.com/office/powerpoint/2010/main" val="92110961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D0D52FD-0DCD-4866-A093-DB15D5B6C47A}"/>
              </a:ext>
            </a:extLst>
          </p:cNvPr>
          <p:cNvPicPr>
            <a:picLocks xmlns:a="http://schemas.openxmlformats.org/drawingml/2006/main" noChangeAspect="1"/>
          </p:cNvPicPr>
          <p:nvPr/>
        </p:nvPicPr>
        <p:blipFill>
          <a:blip xmlns:r="http://schemas.openxmlformats.org/officeDocument/2006/relationships" xmlns:a="http://schemas.openxmlformats.org/drawingml/2006/main" r:embed="R8facd593605a432d"/>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7603302-ECEA-470E-9B81-9DB9EE00A02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Final grade by study-time category</a:t>
            </a:r>
          </a:p>
        </p:txBody>
      </p:sp>
      <p:sp>
        <p:nvSpPr>
          <p:cNvPr id="3" name="Thin monochrome rule">
            <a:extLst xmlns:a="http://schemas.openxmlformats.org/drawingml/2006/main">
              <a:ext uri="{FF2B5EF4-FFF2-40B4-BE49-F238E27FC236}">
                <a16:creationId xmlns:a16="http://schemas.microsoft.com/office/drawing/2014/main" id="{34B7B3B9-54C8-4679-98B0-CF177DAC8575}"/>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4">
            <a:extLst xmlns:a="http://schemas.openxmlformats.org/drawingml/2006/main">
              <a:ext uri="{FF2B5EF4-FFF2-40B4-BE49-F238E27FC236}">
                <a16:creationId xmlns:a16="http://schemas.microsoft.com/office/drawing/2014/main" id="{DDC16248-39C3-4A7B-97E4-71E6DB0A7860}"/>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14</a:t>
            </a:r>
          </a:p>
        </p:txBody>
      </p:sp>
      <p:graphicFrame>
        <p:nvGraphicFramePr>
          <p:cNvPr id="5" name="Chart">
            <a:extLst xmlns:a="http://schemas.openxmlformats.org/drawingml/2006/main">
              <a:ext uri="{FF2B5EF4-FFF2-40B4-BE49-F238E27FC236}">
                <a16:creationId xmlns:a16="http://schemas.microsoft.com/office/drawing/2014/main" id="{47A1A4AD-15A9-4313-8598-D60DCABF19AD}"/>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88146afe32034fa6"/>
          </a:graphicData>
        </a:graphic>
      </p:graphicFrame>
      <p:sp>
        <p:nvSpPr>
          <p:cNvPr id="6" name="Unequal groups">
            <a:extLst xmlns:a="http://schemas.openxmlformats.org/drawingml/2006/main">
              <a:ext uri="{FF2B5EF4-FFF2-40B4-BE49-F238E27FC236}">
                <a16:creationId xmlns:a16="http://schemas.microsoft.com/office/drawing/2014/main" id="{CB1F878D-E841-4A1E-A575-69E2DE14F9EF}"/>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Unequal groups</a:t>
            </a:r>
          </a:p>
        </p:txBody>
      </p:sp>
      <p:sp>
        <p:nvSpPr>
          <p:cNvPr id="7" name="Category codes represent intervals.&#10;&#10;Counts accompany m">
            <a:extLst xmlns:a="http://schemas.openxmlformats.org/drawingml/2006/main">
              <a:ext uri="{FF2B5EF4-FFF2-40B4-BE49-F238E27FC236}">
                <a16:creationId xmlns:a16="http://schemas.microsoft.com/office/drawing/2014/main" id="{7BD19D3E-4374-4C56-9086-8339A9E84FC1}"/>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Category codes represent intervals.</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Counts accompany means.</a:t>
            </a:r>
          </a:p>
        </p:txBody>
      </p:sp>
      <p:sp>
        <p:nvSpPr>
          <p:cNvPr id="8" name="The positive association remains observational and pote">
            <a:extLst xmlns:a="http://schemas.openxmlformats.org/drawingml/2006/main">
              <a:ext uri="{FF2B5EF4-FFF2-40B4-BE49-F238E27FC236}">
                <a16:creationId xmlns:a16="http://schemas.microsoft.com/office/drawing/2014/main" id="{EE97B22A-ABF9-4D5E-BB51-6117F5E07FC9}"/>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positive association remains observational and potentially confounded.</a:t>
            </a:r>
          </a:p>
        </p:txBody>
      </p:sp>
    </p:spTree>
    <p:extLst>
      <p:ext uri="{BB962C8B-B14F-4D97-AF65-F5344CB8AC3E}">
        <p14:creationId xmlns:p14="http://schemas.microsoft.com/office/powerpoint/2010/main" val="76146476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6CBC8F0F-F2D1-461C-A0A7-F4E2112EF96C}"/>
              </a:ext>
            </a:extLst>
          </p:cNvPr>
          <p:cNvPicPr>
            <a:picLocks xmlns:a="http://schemas.openxmlformats.org/drawingml/2006/main" noChangeAspect="1"/>
          </p:cNvPicPr>
          <p:nvPr/>
        </p:nvPicPr>
        <p:blipFill>
          <a:blip xmlns:r="http://schemas.openxmlformats.org/officeDocument/2006/relationships" xmlns:a="http://schemas.openxmlformats.org/drawingml/2006/main" r:embed="Raf069c7d4eba4bc2"/>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C8A0C64-60AB-42FF-9341-AAD00061C46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Performance-band proportions</a:t>
            </a:r>
          </a:p>
        </p:txBody>
      </p:sp>
      <p:sp>
        <p:nvSpPr>
          <p:cNvPr id="3" name="Thin monochrome rule">
            <a:extLst xmlns:a="http://schemas.openxmlformats.org/drawingml/2006/main">
              <a:ext uri="{FF2B5EF4-FFF2-40B4-BE49-F238E27FC236}">
                <a16:creationId xmlns:a16="http://schemas.microsoft.com/office/drawing/2014/main" id="{444486DA-9024-48FE-8F00-D342EA56583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5">
            <a:extLst xmlns:a="http://schemas.openxmlformats.org/drawingml/2006/main">
              <a:ext uri="{FF2B5EF4-FFF2-40B4-BE49-F238E27FC236}">
                <a16:creationId xmlns:a16="http://schemas.microsoft.com/office/drawing/2014/main" id="{4DCB433E-2D9C-403F-ADA3-32D421E2C58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15</a:t>
            </a:r>
          </a:p>
        </p:txBody>
      </p:sp>
      <p:graphicFrame>
        <p:nvGraphicFramePr>
          <p:cNvPr id="5" name="Chart">
            <a:extLst xmlns:a="http://schemas.openxmlformats.org/drawingml/2006/main">
              <a:ext uri="{FF2B5EF4-FFF2-40B4-BE49-F238E27FC236}">
                <a16:creationId xmlns:a16="http://schemas.microsoft.com/office/drawing/2014/main" id="{B6062D5F-14B0-420C-BB7B-F1858ADC9AD6}"/>
              </a:ext>
            </a:extLst>
          </p:cNvPr>
          <p:cNvGraphicFramePr/>
          <p:nvPr/>
        </p:nvGraphicFramePr>
        <p:xfrm>
          <a:off xmlns:a="http://schemas.openxmlformats.org/drawingml/2006/main" x="762000" y="1666875"/>
          <a:ext xmlns:a="http://schemas.openxmlformats.org/drawingml/2006/main" cx="7524750" cy="4286250"/>
        </p:xfrm>
        <a:graphic xmlns:a="http://schemas.openxmlformats.org/drawingml/2006/main">
          <a:graphicData uri="http://schemas.openxmlformats.org/drawingml/2006/chart">
            <c:chart xmlns:r="http://schemas.openxmlformats.org/officeDocument/2006/relationships" xmlns:c="http://schemas.openxmlformats.org/drawingml/2006/chart" r:id="R4960f1e7381b4fa0"/>
          </a:graphicData>
        </a:graphic>
      </p:graphicFrame>
      <p:sp>
        <p:nvSpPr>
          <p:cNvPr id="6" name="Largest band: 10–14">
            <a:extLst xmlns:a="http://schemas.openxmlformats.org/drawingml/2006/main">
              <a:ext uri="{FF2B5EF4-FFF2-40B4-BE49-F238E27FC236}">
                <a16:creationId xmlns:a16="http://schemas.microsoft.com/office/drawing/2014/main" id="{C25A36B8-A708-4A86-B9B4-11AC26F07A89}"/>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Largest band: 10–14</a:t>
            </a:r>
          </a:p>
        </p:txBody>
      </p:sp>
      <p:sp>
        <p:nvSpPr>
          <p:cNvPr id="7" name="0–9: 100&#10;15.41%&#10;&#10;10–14: 418&#10;64.41%&#10;&#10;15–20: 131&#10;20.18%">
            <a:extLst xmlns:a="http://schemas.openxmlformats.org/drawingml/2006/main">
              <a:ext uri="{FF2B5EF4-FFF2-40B4-BE49-F238E27FC236}">
                <a16:creationId xmlns:a16="http://schemas.microsoft.com/office/drawing/2014/main" id="{F86E8EB2-FB18-4C00-9497-C54F9FF2E1A2}"/>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0–9: 100</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15.41%</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10–14: 418</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64.41%</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15–20: 131</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20.18%</a:t>
            </a:r>
          </a:p>
        </p:txBody>
      </p:sp>
      <p:sp>
        <p:nvSpPr>
          <p:cNvPr id="8" name="The bands are analyst-defined descriptions, not an offi">
            <a:extLst xmlns:a="http://schemas.openxmlformats.org/drawingml/2006/main">
              <a:ext uri="{FF2B5EF4-FFF2-40B4-BE49-F238E27FC236}">
                <a16:creationId xmlns:a16="http://schemas.microsoft.com/office/drawing/2014/main" id="{914D8AEC-98DA-42B1-9854-A45D42E1B2C1}"/>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bands are analyst-defined descriptions, not an official grading classification.</a:t>
            </a:r>
          </a:p>
        </p:txBody>
      </p:sp>
    </p:spTree>
    <p:extLst>
      <p:ext uri="{BB962C8B-B14F-4D97-AF65-F5344CB8AC3E}">
        <p14:creationId xmlns:p14="http://schemas.microsoft.com/office/powerpoint/2010/main" val="3117394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FB11F7D-56F2-468B-AF92-6BD0332580E9}"/>
              </a:ext>
            </a:extLst>
          </p:cNvPr>
          <p:cNvPicPr>
            <a:picLocks xmlns:a="http://schemas.openxmlformats.org/drawingml/2006/main" noChangeAspect="1"/>
          </p:cNvPicPr>
          <p:nvPr/>
        </p:nvPicPr>
        <p:blipFill>
          <a:blip xmlns:r="http://schemas.openxmlformats.org/officeDocument/2006/relationships" xmlns:a="http://schemas.openxmlformats.org/drawingml/2006/main" r:embed="Rfedcc7322b6a4c27"/>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404A3D8-5277-4330-9924-621D768E20B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Earlier and final grades</a:t>
            </a:r>
          </a:p>
        </p:txBody>
      </p:sp>
      <p:sp>
        <p:nvSpPr>
          <p:cNvPr id="3" name="Thin monochrome rule">
            <a:extLst xmlns:a="http://schemas.openxmlformats.org/drawingml/2006/main">
              <a:ext uri="{FF2B5EF4-FFF2-40B4-BE49-F238E27FC236}">
                <a16:creationId xmlns:a16="http://schemas.microsoft.com/office/drawing/2014/main" id="{9AFD7777-7E45-424B-A0A0-4D6A9A149C03}"/>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6">
            <a:extLst xmlns:a="http://schemas.openxmlformats.org/drawingml/2006/main">
              <a:ext uri="{FF2B5EF4-FFF2-40B4-BE49-F238E27FC236}">
                <a16:creationId xmlns:a16="http://schemas.microsoft.com/office/drawing/2014/main" id="{E656EF39-6E8C-4D38-BB9F-656F67903F64}"/>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16</a:t>
            </a:r>
          </a:p>
        </p:txBody>
      </p:sp>
      <p:graphicFrame>
        <p:nvGraphicFramePr>
          <p:cNvPr id="5" name="Chart">
            <a:extLst xmlns:a="http://schemas.openxmlformats.org/drawingml/2006/main">
              <a:ext uri="{FF2B5EF4-FFF2-40B4-BE49-F238E27FC236}">
                <a16:creationId xmlns:a16="http://schemas.microsoft.com/office/drawing/2014/main" id="{0FDAB023-B3E2-41AC-8DE3-509FF30634F9}"/>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20f7d26653ac4b22"/>
          </a:graphicData>
        </a:graphic>
      </p:graphicFrame>
      <p:sp>
        <p:nvSpPr>
          <p:cNvPr id="6" name="ρ = 0.9445">
            <a:extLst xmlns:a="http://schemas.openxmlformats.org/drawingml/2006/main">
              <a:ext uri="{FF2B5EF4-FFF2-40B4-BE49-F238E27FC236}">
                <a16:creationId xmlns:a16="http://schemas.microsoft.com/office/drawing/2014/main" id="{E4B1A643-5BCD-464C-A8D5-4E6AC97940AB}"/>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ρ = 0.9445</a:t>
            </a:r>
          </a:p>
        </p:txBody>
      </p:sp>
      <p:sp>
        <p:nvSpPr>
          <p:cNvPr id="7" name="Pearson r = 0.9185&#10;&#10;Related assessments at different pe">
            <a:extLst xmlns:a="http://schemas.openxmlformats.org/drawingml/2006/main">
              <a:ext uri="{FF2B5EF4-FFF2-40B4-BE49-F238E27FC236}">
                <a16:creationId xmlns:a16="http://schemas.microsoft.com/office/drawing/2014/main" id="{91936C47-CD31-4502-B6C3-4997C82E4FAC}"/>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Pearson r = 0.9185</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Related assessments at different periods</a:t>
            </a:r>
          </a:p>
        </p:txBody>
      </p:sp>
      <p:sp>
        <p:nvSpPr>
          <p:cNvPr id="8" name="The fitted line describes the observations; it is not a">
            <a:extLst xmlns:a="http://schemas.openxmlformats.org/drawingml/2006/main">
              <a:ext uri="{FF2B5EF4-FFF2-40B4-BE49-F238E27FC236}">
                <a16:creationId xmlns:a16="http://schemas.microsoft.com/office/drawing/2014/main" id="{64636207-CF10-4A11-9DDE-C516C882C241}"/>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fitted line describes the observations; it is not a validated forecasting model.</a:t>
            </a:r>
          </a:p>
        </p:txBody>
      </p:sp>
    </p:spTree>
    <p:extLst>
      <p:ext uri="{BB962C8B-B14F-4D97-AF65-F5344CB8AC3E}">
        <p14:creationId xmlns:p14="http://schemas.microsoft.com/office/powerpoint/2010/main" val="67160248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61DABF0-94C4-4631-B254-7DCC79B0D8A2}"/>
              </a:ext>
            </a:extLst>
          </p:cNvPr>
          <p:cNvPicPr>
            <a:picLocks xmlns:a="http://schemas.openxmlformats.org/drawingml/2006/main" noChangeAspect="1"/>
          </p:cNvPicPr>
          <p:nvPr/>
        </p:nvPicPr>
        <p:blipFill>
          <a:blip xmlns:r="http://schemas.openxmlformats.org/officeDocument/2006/relationships" xmlns:a="http://schemas.openxmlformats.org/drawingml/2006/main" r:embed="Rc8f55c6022574d04"/>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63D3E313-F0EA-47ED-A5ED-4B3716DD3D9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Matplotlib core from Python structures</a:t>
            </a:r>
          </a:p>
        </p:txBody>
      </p:sp>
      <p:sp>
        <p:nvSpPr>
          <p:cNvPr id="3" name="Thin monochrome rule">
            <a:extLst xmlns:a="http://schemas.openxmlformats.org/drawingml/2006/main">
              <a:ext uri="{FF2B5EF4-FFF2-40B4-BE49-F238E27FC236}">
                <a16:creationId xmlns:a16="http://schemas.microsoft.com/office/drawing/2014/main" id="{99695A3B-03A5-40AD-BFB4-B2E1FE159512}"/>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7">
            <a:extLst xmlns:a="http://schemas.openxmlformats.org/drawingml/2006/main">
              <a:ext uri="{FF2B5EF4-FFF2-40B4-BE49-F238E27FC236}">
                <a16:creationId xmlns:a16="http://schemas.microsoft.com/office/drawing/2014/main" id="{43570D58-BE73-4897-B428-36E17BFECCFA}"/>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17</a:t>
            </a:r>
          </a:p>
        </p:txBody>
      </p:sp>
      <p:graphicFrame>
        <p:nvGraphicFramePr>
          <p:cNvPr id="5" name="Chart">
            <a:extLst xmlns:a="http://schemas.openxmlformats.org/drawingml/2006/main">
              <a:ext uri="{FF2B5EF4-FFF2-40B4-BE49-F238E27FC236}">
                <a16:creationId xmlns:a16="http://schemas.microsoft.com/office/drawing/2014/main" id="{7E9763DF-A1F7-4697-AA66-0F6887A08539}"/>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90d0c87bcbc441d0"/>
          </a:graphicData>
        </a:graphic>
      </p:graphicFrame>
      <p:sp>
        <p:nvSpPr>
          <p:cNvPr id="6" name="List + dictionary">
            <a:extLst xmlns:a="http://schemas.openxmlformats.org/drawingml/2006/main">
              <a:ext uri="{FF2B5EF4-FFF2-40B4-BE49-F238E27FC236}">
                <a16:creationId xmlns:a16="http://schemas.microsoft.com/office/drawing/2014/main" id="{28EEE4CC-E00F-414B-8446-B773C66182AD}"/>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List + dictionary</a:t>
            </a:r>
          </a:p>
        </p:txBody>
      </p:sp>
      <p:sp>
        <p:nvSpPr>
          <p:cNvPr id="7" name="Only Matplotlib plots the notebook demonstration.&#10;&#10;Five">
            <a:extLst xmlns:a="http://schemas.openxmlformats.org/drawingml/2006/main">
              <a:ext uri="{FF2B5EF4-FFF2-40B4-BE49-F238E27FC236}">
                <a16:creationId xmlns:a16="http://schemas.microsoft.com/office/drawing/2014/main" id="{90D5A67E-EAD1-4B65-8BE8-CC0230D34D31}"/>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Only Matplotlib plots the notebook demonstration.</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Five records illustrate mechanics.</a:t>
            </a:r>
          </a:p>
        </p:txBody>
      </p:sp>
      <p:sp>
        <p:nvSpPr>
          <p:cNvPr id="8" name="This small example is not a random sample or a populati">
            <a:extLst xmlns:a="http://schemas.openxmlformats.org/drawingml/2006/main">
              <a:ext uri="{FF2B5EF4-FFF2-40B4-BE49-F238E27FC236}">
                <a16:creationId xmlns:a16="http://schemas.microsoft.com/office/drawing/2014/main" id="{911AD11A-382D-4228-8DF3-59F56FD25F37}"/>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This small example is not a random sample or a population trend.</a:t>
            </a:r>
          </a:p>
        </p:txBody>
      </p:sp>
    </p:spTree>
    <p:extLst>
      <p:ext uri="{BB962C8B-B14F-4D97-AF65-F5344CB8AC3E}">
        <p14:creationId xmlns:p14="http://schemas.microsoft.com/office/powerpoint/2010/main" val="107395976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00F5516-0078-48D0-BDAF-935FF238AC95}"/>
              </a:ext>
            </a:extLst>
          </p:cNvPr>
          <p:cNvPicPr>
            <a:picLocks xmlns:a="http://schemas.openxmlformats.org/drawingml/2006/main" noChangeAspect="1"/>
          </p:cNvPicPr>
          <p:nvPr/>
        </p:nvPicPr>
        <p:blipFill>
          <a:blip xmlns:r="http://schemas.openxmlformats.org/officeDocument/2006/relationships" xmlns:a="http://schemas.openxmlformats.org/drawingml/2006/main" r:embed="R8693b0c7bd6e4eee"/>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0730B58-6FD7-49A6-8D7A-8BC4A8B1420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Comprehensive report and extreme records</a:t>
            </a:r>
          </a:p>
        </p:txBody>
      </p:sp>
      <p:sp>
        <p:nvSpPr>
          <p:cNvPr id="3" name="Thin monochrome rule">
            <a:extLst xmlns:a="http://schemas.openxmlformats.org/drawingml/2006/main">
              <a:ext uri="{FF2B5EF4-FFF2-40B4-BE49-F238E27FC236}">
                <a16:creationId xmlns:a16="http://schemas.microsoft.com/office/drawing/2014/main" id="{0F86611B-50F4-42C2-B6F9-FCE104358176}"/>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8">
            <a:extLst xmlns:a="http://schemas.openxmlformats.org/drawingml/2006/main">
              <a:ext uri="{FF2B5EF4-FFF2-40B4-BE49-F238E27FC236}">
                <a16:creationId xmlns:a16="http://schemas.microsoft.com/office/drawing/2014/main" id="{67D707A1-A95E-48C0-8DD6-6E7740904909}"/>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02B6205A-1705-4B66-B6EB-33B7A396CF6A}"/>
              </a:ext>
            </a:extLst>
          </p:cNvPr>
          <p:cNvGraphicFramePr/>
          <p:nvPr/>
        </p:nvGraphicFramePr>
        <p:xfrm>
          <a:off xmlns:a="http://schemas.openxmlformats.org/drawingml/2006/main" x="666750" y="1809750"/>
          <a:ext xmlns:a="http://schemas.openxmlformats.org/drawingml/2006/main" cx="10858500" cy="3143250"/>
        </p:xfrm>
        <a:graphic xmlns:a="http://schemas.openxmlformats.org/drawingml/2006/main">
          <a:graphicData uri="http://schemas.openxmlformats.org/drawingml/2006/table">
            <a:tbl>
              <a:tblPr firstRow="0" bandRow="0"/>
              <a:tblGrid>
                <a:gridCol w="4485033"/>
                <a:gridCol w="2360543"/>
                <a:gridCol w="4012924"/>
              </a:tblGrid>
              <a:tr h="523875">
                <a:tc>
                  <a:txBody>
                    <a:bodyPr wrap="square" lIns="85725" tIns="85725" rIns="85725" bIns="85725">
                      <a:noAutofit/>
                    </a:bodyPr>
                    <a:lstStyle/>
                    <a:p>
                      <a:pPr algn="l"/>
                      <a:r>
                        <a:rPr sz="2100" b="1">
                          <a:solidFill>
                            <a:srgbClr val="000000"/>
                          </a:solidFill>
                          <a:latin typeface="Arial"/>
                          <a:ea typeface="Arial"/>
                          <a:cs typeface="Arial"/>
                        </a:rPr>
                        <a:t>Summary item</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Count</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Share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23875">
                <a:tc>
                  <a:txBody>
                    <a:bodyPr wrap="square" lIns="85725" tIns="85725" rIns="85725" bIns="85725">
                      <a:noAutofit/>
                    </a:bodyPr>
                    <a:lstStyle/>
                    <a:p>
                      <a:pPr algn="l"/>
                      <a:r>
                        <a:rPr sz="2100" b="0">
                          <a:solidFill>
                            <a:srgbClr val="000000"/>
                          </a:solidFill>
                          <a:latin typeface="Arial"/>
                          <a:ea typeface="Arial"/>
                          <a:cs typeface="Arial"/>
                        </a:rPr>
                        <a:t>Analysis records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100%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Analysis columns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37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33 original + 4 derived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G3 band 0–9</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100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15.41%</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G3 band 10–14</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418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64.41%</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G3 band 15–20</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131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20.18%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Top/bottom: exactly ten rows; original source order res">
            <a:extLst xmlns:a="http://schemas.openxmlformats.org/drawingml/2006/main">
              <a:ext uri="{FF2B5EF4-FFF2-40B4-BE49-F238E27FC236}">
                <a16:creationId xmlns:a16="http://schemas.microsoft.com/office/drawing/2014/main" id="{A0D4E127-E2B9-44C0-8B77-B64BDFC808FF}"/>
              </a:ext>
            </a:extLst>
          </p:cNvPr>
          <p:cNvSpPr>
            <a:spLocks xmlns:a="http://schemas.openxmlformats.org/drawingml/2006/main" noGrp="1"/>
          </p:cNvSpPr>
          <p:nvPr/>
        </p:nvSpPr>
        <p:spPr>
          <a:xfrm xmlns:a="http://schemas.openxmlformats.org/drawingml/2006/main">
            <a:off x="762000" y="52863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Top/bottom: exactly ten rows; original source order resolves ties.</a:t>
            </a:r>
          </a:p>
        </p:txBody>
      </p:sp>
      <p:sp>
        <p:nvSpPr>
          <p:cNvPr id="7" name="Complete rows and all columns are preserved in the note">
            <a:extLst xmlns:a="http://schemas.openxmlformats.org/drawingml/2006/main">
              <a:ext uri="{FF2B5EF4-FFF2-40B4-BE49-F238E27FC236}">
                <a16:creationId xmlns:a16="http://schemas.microsoft.com/office/drawing/2014/main" id="{0995025C-119F-4056-9424-23E3E7466C47}"/>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Complete rows and all columns are preserved in the notebook and CSV exports.</a:t>
            </a:r>
          </a:p>
        </p:txBody>
      </p:sp>
    </p:spTree>
    <p:extLst>
      <p:ext uri="{BB962C8B-B14F-4D97-AF65-F5344CB8AC3E}">
        <p14:creationId xmlns:p14="http://schemas.microsoft.com/office/powerpoint/2010/main" val="96567363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9DCA2E2-73C8-4686-98FB-E0231576103A}"/>
              </a:ext>
            </a:extLst>
          </p:cNvPr>
          <p:cNvPicPr>
            <a:picLocks xmlns:a="http://schemas.openxmlformats.org/drawingml/2006/main" noChangeAspect="1"/>
          </p:cNvPicPr>
          <p:nvPr/>
        </p:nvPicPr>
        <p:blipFill>
          <a:blip xmlns:r="http://schemas.openxmlformats.org/officeDocument/2006/relationships" xmlns:a="http://schemas.openxmlformats.org/drawingml/2006/main" r:embed="R1267b9cd88334de7"/>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88ECE8BE-E6F5-4112-8785-E8F4FA8E425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Code demonstration</a:t>
            </a:r>
          </a:p>
        </p:txBody>
      </p:sp>
      <p:sp>
        <p:nvSpPr>
          <p:cNvPr id="3" name="Thin monochrome rule">
            <a:extLst xmlns:a="http://schemas.openxmlformats.org/drawingml/2006/main">
              <a:ext uri="{FF2B5EF4-FFF2-40B4-BE49-F238E27FC236}">
                <a16:creationId xmlns:a16="http://schemas.microsoft.com/office/drawing/2014/main" id="{8BA70F4D-23F5-4872-8D79-4D12CB06D551}"/>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9">
            <a:extLst xmlns:a="http://schemas.openxmlformats.org/drawingml/2006/main">
              <a:ext uri="{FF2B5EF4-FFF2-40B4-BE49-F238E27FC236}">
                <a16:creationId xmlns:a16="http://schemas.microsoft.com/office/drawing/2014/main" id="{41A4B17B-6E22-4D82-A457-8E91620C56C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19</a:t>
            </a:r>
          </a:p>
        </p:txBody>
      </p:sp>
      <p:sp>
        <p:nvSpPr>
          <p:cNvPr id="5" name="01">
            <a:extLst xmlns:a="http://schemas.openxmlformats.org/drawingml/2006/main">
              <a:ext uri="{FF2B5EF4-FFF2-40B4-BE49-F238E27FC236}">
                <a16:creationId xmlns:a16="http://schemas.microsoft.com/office/drawing/2014/main" id="{AAD7D6BF-AEFD-412B-AB7F-F9D3D08F4052}"/>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Show the same 32-cell mask and both treatment branches.">
            <a:extLst xmlns:a="http://schemas.openxmlformats.org/drawingml/2006/main">
              <a:ext uri="{FF2B5EF4-FFF2-40B4-BE49-F238E27FC236}">
                <a16:creationId xmlns:a16="http://schemas.microsoft.com/office/drawing/2014/main" id="{9825599A-C7F8-40CA-9CED-07BA49FCB6B4}"/>
              </a:ext>
            </a:extLst>
          </p:cNvPr>
          <p:cNvSpPr>
            <a:spLocks xmlns:a="http://schemas.openxmlformats.org/drawingml/2006/main" noGrp="1"/>
          </p:cNvSpPr>
          <p:nvPr/>
        </p:nvSpPr>
        <p:spPr>
          <a:xfrm xmlns:a="http://schemas.openxmlformats.org/drawingml/2006/main">
            <a:off x="1571625" y="17145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Show the same 32-cell mask and both treatment branches.</a:t>
            </a:r>
          </a:p>
        </p:txBody>
      </p:sp>
      <p:sp>
        <p:nvSpPr>
          <p:cNvPr id="7" name="02">
            <a:extLst xmlns:a="http://schemas.openxmlformats.org/drawingml/2006/main">
              <a:ext uri="{FF2B5EF4-FFF2-40B4-BE49-F238E27FC236}">
                <a16:creationId xmlns:a16="http://schemas.microsoft.com/office/drawing/2014/main" id="{23DF432E-7B4D-4092-BF4A-864724BBD965}"/>
              </a:ext>
            </a:extLst>
          </p:cNvPr>
          <p:cNvSpPr>
            <a:spLocks xmlns:a="http://schemas.openxmlformats.org/drawingml/2006/main" noGrp="1"/>
          </p:cNvSpPr>
          <p:nvPr/>
        </p:nvSpPr>
        <p:spPr>
          <a:xfrm xmlns:a="http://schemas.openxmlformats.org/drawingml/2006/main">
            <a:off x="762000" y="27432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Inspect insert(), grouped statistics and transform().">
            <a:extLst xmlns:a="http://schemas.openxmlformats.org/drawingml/2006/main">
              <a:ext uri="{FF2B5EF4-FFF2-40B4-BE49-F238E27FC236}">
                <a16:creationId xmlns:a16="http://schemas.microsoft.com/office/drawing/2014/main" id="{52505DCC-0F27-4AC5-9240-FF8600D306C3}"/>
              </a:ext>
            </a:extLst>
          </p:cNvPr>
          <p:cNvSpPr>
            <a:spLocks xmlns:a="http://schemas.openxmlformats.org/drawingml/2006/main" noGrp="1"/>
          </p:cNvSpPr>
          <p:nvPr/>
        </p:nvSpPr>
        <p:spPr>
          <a:xfrm xmlns:a="http://schemas.openxmlformats.org/drawingml/2006/main">
            <a:off x="1571625" y="27432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Inspect insert(), grouped statistics and transform().</a:t>
            </a:r>
          </a:p>
        </p:txBody>
      </p:sp>
      <p:sp>
        <p:nvSpPr>
          <p:cNvPr id="9" name="03">
            <a:extLst xmlns:a="http://schemas.openxmlformats.org/drawingml/2006/main">
              <a:ext uri="{FF2B5EF4-FFF2-40B4-BE49-F238E27FC236}">
                <a16:creationId xmlns:a16="http://schemas.microsoft.com/office/drawing/2014/main" id="{7B16A2FD-2ED7-4366-86F9-30430A31D580}"/>
              </a:ext>
            </a:extLst>
          </p:cNvPr>
          <p:cNvSpPr>
            <a:spLocks xmlns:a="http://schemas.openxmlformats.org/drawingml/2006/main" noGrp="1"/>
          </p:cNvSpPr>
          <p:nvPr/>
        </p:nvSpPr>
        <p:spPr>
          <a:xfrm xmlns:a="http://schemas.openxmlformats.org/drawingml/2006/main">
            <a:off x="762000" y="37719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Call comprehensive_report(df) and inspect complete top/">
            <a:extLst xmlns:a="http://schemas.openxmlformats.org/drawingml/2006/main">
              <a:ext uri="{FF2B5EF4-FFF2-40B4-BE49-F238E27FC236}">
                <a16:creationId xmlns:a16="http://schemas.microsoft.com/office/drawing/2014/main" id="{0EE7377C-D41D-4C48-B279-F6D9FE3FA285}"/>
              </a:ext>
            </a:extLst>
          </p:cNvPr>
          <p:cNvSpPr>
            <a:spLocks xmlns:a="http://schemas.openxmlformats.org/drawingml/2006/main" noGrp="1"/>
          </p:cNvSpPr>
          <p:nvPr/>
        </p:nvSpPr>
        <p:spPr>
          <a:xfrm xmlns:a="http://schemas.openxmlformats.org/drawingml/2006/main">
            <a:off x="1571625" y="37719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Call comprehensive_report(df) and inspect complete top/bottom rows.</a:t>
            </a:r>
          </a:p>
        </p:txBody>
      </p:sp>
      <p:sp>
        <p:nvSpPr>
          <p:cNvPr id="11" name="04">
            <a:extLst xmlns:a="http://schemas.openxmlformats.org/drawingml/2006/main">
              <a:ext uri="{FF2B5EF4-FFF2-40B4-BE49-F238E27FC236}">
                <a16:creationId xmlns:a16="http://schemas.microsoft.com/office/drawing/2014/main" id="{FBD25A8C-6439-4D7F-B18E-6C2D7428FA15}"/>
              </a:ext>
            </a:extLst>
          </p:cNvPr>
          <p:cNvSpPr>
            <a:spLocks xmlns:a="http://schemas.openxmlformats.org/drawingml/2006/main" noGrp="1"/>
          </p:cNvSpPr>
          <p:nvPr/>
        </p:nvSpPr>
        <p:spPr>
          <a:xfrm xmlns:a="http://schemas.openxmlformats.org/drawingml/2006/main">
            <a:off x="762000" y="48006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Use the executed notebook if live execution fails.">
            <a:extLst xmlns:a="http://schemas.openxmlformats.org/drawingml/2006/main">
              <a:ext uri="{FF2B5EF4-FFF2-40B4-BE49-F238E27FC236}">
                <a16:creationId xmlns:a16="http://schemas.microsoft.com/office/drawing/2014/main" id="{5FA03782-0D53-48BB-9132-8A685637864A}"/>
              </a:ext>
            </a:extLst>
          </p:cNvPr>
          <p:cNvSpPr>
            <a:spLocks xmlns:a="http://schemas.openxmlformats.org/drawingml/2006/main" noGrp="1"/>
          </p:cNvSpPr>
          <p:nvPr/>
        </p:nvSpPr>
        <p:spPr>
          <a:xfrm xmlns:a="http://schemas.openxmlformats.org/drawingml/2006/main">
            <a:off x="1571625" y="48006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Use the executed notebook if live execution fails.</a:t>
            </a:r>
          </a:p>
        </p:txBody>
      </p:sp>
    </p:spTree>
    <p:extLst>
      <p:ext uri="{BB962C8B-B14F-4D97-AF65-F5344CB8AC3E}">
        <p14:creationId xmlns:p14="http://schemas.microsoft.com/office/powerpoint/2010/main" val="207333581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AF1B386-E6A5-4FD9-A5BB-39FADB467A00}"/>
              </a:ext>
            </a:extLst>
          </p:cNvPr>
          <p:cNvPicPr>
            <a:picLocks xmlns:a="http://schemas.openxmlformats.org/drawingml/2006/main" noChangeAspect="1"/>
          </p:cNvPicPr>
          <p:nvPr/>
        </p:nvPicPr>
        <p:blipFill>
          <a:blip xmlns:r="http://schemas.openxmlformats.org/officeDocument/2006/relationships" xmlns:a="http://schemas.openxmlformats.org/drawingml/2006/main" r:embed="Rd753dfb664294b77"/>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F095C867-9348-4602-BA52-DBB5A838F01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Conclusions and limitations</a:t>
            </a:r>
          </a:p>
        </p:txBody>
      </p:sp>
      <p:sp>
        <p:nvSpPr>
          <p:cNvPr id="3" name="Thin monochrome rule">
            <a:extLst xmlns:a="http://schemas.openxmlformats.org/drawingml/2006/main">
              <a:ext uri="{FF2B5EF4-FFF2-40B4-BE49-F238E27FC236}">
                <a16:creationId xmlns:a16="http://schemas.microsoft.com/office/drawing/2014/main" id="{4ABA835B-45C6-4652-A7AA-DE93BFF560E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0">
            <a:extLst xmlns:a="http://schemas.openxmlformats.org/drawingml/2006/main">
              <a:ext uri="{FF2B5EF4-FFF2-40B4-BE49-F238E27FC236}">
                <a16:creationId xmlns:a16="http://schemas.microsoft.com/office/drawing/2014/main" id="{FC6FDF34-DDC6-4A12-B94D-5C92421DB119}"/>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20</a:t>
            </a:r>
          </a:p>
        </p:txBody>
      </p:sp>
      <p:sp>
        <p:nvSpPr>
          <p:cNvPr id="5" name="Observed findings">
            <a:extLst xmlns:a="http://schemas.openxmlformats.org/drawingml/2006/main">
              <a:ext uri="{FF2B5EF4-FFF2-40B4-BE49-F238E27FC236}">
                <a16:creationId xmlns:a16="http://schemas.microsoft.com/office/drawing/2014/main" id="{428687E8-5CE1-4066-82E8-92B9E3553605}"/>
              </a:ext>
            </a:extLst>
          </p:cNvPr>
          <p:cNvSpPr>
            <a:spLocks xmlns:a="http://schemas.openxmlformats.org/drawingml/2006/main" noGrp="1"/>
          </p:cNvSpPr>
          <p:nvPr/>
        </p:nvSpPr>
        <p:spPr>
          <a:xfrm xmlns:a="http://schemas.openxmlformats.org/drawingml/2006/main">
            <a:off x="762000" y="17145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000000"/>
                </a:solidFill>
                <a:latin typeface="Arial"/>
                <a:ea typeface="Arial"/>
                <a:cs typeface="Arial"/>
              </a:defRPr>
            </a:defPPr>
          </a:lstStyle>
          <a:p xmlns:a="http://schemas.openxmlformats.org/drawingml/2006/main">
            <a:pPr algn="l">
              <a:defRPr sz="2800" b="1">
                <a:solidFill>
                  <a:srgbClr val="000000"/>
                </a:solidFill>
                <a:latin typeface="Arial"/>
                <a:ea typeface="Arial"/>
                <a:cs typeface="Arial"/>
              </a:defRPr>
            </a:pPr>
            <a:r>
              <a:rPr sz="2800" b="1">
                <a:solidFill>
                  <a:srgbClr val="000000"/>
                </a:solidFill>
                <a:latin typeface="Arial"/>
                <a:ea typeface="Arial"/>
                <a:cs typeface="Arial"/>
              </a:rPr>
              <a:t>Observed findings</a:t>
            </a:r>
          </a:p>
        </p:txBody>
      </p:sp>
      <p:sp>
        <p:nvSpPr>
          <p:cNvPr id="6" name="Final grade mean: 11.91&#10;&#10;G2 association: ρ = 0.9445&#10;&#10;St">
            <a:extLst xmlns:a="http://schemas.openxmlformats.org/drawingml/2006/main">
              <a:ext uri="{FF2B5EF4-FFF2-40B4-BE49-F238E27FC236}">
                <a16:creationId xmlns:a16="http://schemas.microsoft.com/office/drawing/2014/main" id="{2C465092-B6FE-4870-9CBB-461D26DB4738}"/>
              </a:ext>
            </a:extLst>
          </p:cNvPr>
          <p:cNvSpPr>
            <a:spLocks xmlns:a="http://schemas.openxmlformats.org/drawingml/2006/main" noGrp="1"/>
          </p:cNvSpPr>
          <p:nvPr/>
        </p:nvSpPr>
        <p:spPr>
          <a:xfrm xmlns:a="http://schemas.openxmlformats.org/drawingml/2006/main">
            <a:off x="762000" y="2428875"/>
            <a:ext cx="5048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Final grade mean: 11.91</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G2 association: ρ = 0.9445</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Strongest examined contextual rank association: failures</a:t>
            </a:r>
          </a:p>
        </p:txBody>
      </p:sp>
      <p:sp>
        <p:nvSpPr>
          <p:cNvPr id="7" name="Thin monochrome rule">
            <a:extLst xmlns:a="http://schemas.openxmlformats.org/drawingml/2006/main">
              <a:ext uri="{FF2B5EF4-FFF2-40B4-BE49-F238E27FC236}">
                <a16:creationId xmlns:a16="http://schemas.microsoft.com/office/drawing/2014/main" id="{D2DEC77E-01DE-4A36-BA01-3A0A3FB8CEC4}"/>
              </a:ext>
            </a:extLst>
          </p:cNvPr>
          <p:cNvSpPr>
            <a:spLocks xmlns:a="http://schemas.openxmlformats.org/drawingml/2006/main" noGrp="1"/>
          </p:cNvSpPr>
          <p:nvPr/>
        </p:nvSpPr>
        <p:spPr>
          <a:xfrm xmlns:a="http://schemas.openxmlformats.org/drawingml/2006/main">
            <a:off x="6191250" y="1762125"/>
            <a:ext cx="14288" cy="376237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Interpretation limits">
            <a:extLst xmlns:a="http://schemas.openxmlformats.org/drawingml/2006/main">
              <a:ext uri="{FF2B5EF4-FFF2-40B4-BE49-F238E27FC236}">
                <a16:creationId xmlns:a16="http://schemas.microsoft.com/office/drawing/2014/main" id="{3E2D619A-A9BD-4A51-8619-A4DB596FFCE2}"/>
              </a:ext>
            </a:extLst>
          </p:cNvPr>
          <p:cNvSpPr>
            <a:spLocks xmlns:a="http://schemas.openxmlformats.org/drawingml/2006/main" noGrp="1"/>
          </p:cNvSpPr>
          <p:nvPr/>
        </p:nvSpPr>
        <p:spPr>
          <a:xfrm xmlns:a="http://schemas.openxmlformats.org/drawingml/2006/main">
            <a:off x="6762750" y="17145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000000"/>
                </a:solidFill>
                <a:latin typeface="Arial"/>
                <a:ea typeface="Arial"/>
                <a:cs typeface="Arial"/>
              </a:defRPr>
            </a:defPPr>
          </a:lstStyle>
          <a:p xmlns:a="http://schemas.openxmlformats.org/drawingml/2006/main">
            <a:pPr algn="l">
              <a:defRPr sz="2800" b="1">
                <a:solidFill>
                  <a:srgbClr val="000000"/>
                </a:solidFill>
                <a:latin typeface="Arial"/>
                <a:ea typeface="Arial"/>
                <a:cs typeface="Arial"/>
              </a:defRPr>
            </a:pPr>
            <a:r>
              <a:rPr sz="2800" b="1">
                <a:solidFill>
                  <a:srgbClr val="000000"/>
                </a:solidFill>
                <a:latin typeface="Arial"/>
                <a:ea typeface="Arial"/>
                <a:cs typeface="Arial"/>
              </a:rPr>
              <a:t>Interpretation limits</a:t>
            </a:r>
          </a:p>
        </p:txBody>
      </p:sp>
      <p:sp>
        <p:nvSpPr>
          <p:cNvPr id="9" name="Two schools and one subject&#10;&#10;Ordinal coding and unequal">
            <a:extLst xmlns:a="http://schemas.openxmlformats.org/drawingml/2006/main">
              <a:ext uri="{FF2B5EF4-FFF2-40B4-BE49-F238E27FC236}">
                <a16:creationId xmlns:a16="http://schemas.microsoft.com/office/drawing/2014/main" id="{D9188EB1-2572-4665-8999-15FC833500A5}"/>
              </a:ext>
            </a:extLst>
          </p:cNvPr>
          <p:cNvSpPr>
            <a:spLocks xmlns:a="http://schemas.openxmlformats.org/drawingml/2006/main" noGrp="1"/>
          </p:cNvSpPr>
          <p:nvPr/>
        </p:nvSpPr>
        <p:spPr>
          <a:xfrm xmlns:a="http://schemas.openxmlformats.org/drawingml/2006/main">
            <a:off x="6762750" y="2428875"/>
            <a:ext cx="4762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Two schools and one subject</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Ordinal coding and unequal groups</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Unadjusted observational associations</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One MCAR simulation</a:t>
            </a:r>
          </a:p>
        </p:txBody>
      </p:sp>
    </p:spTree>
    <p:extLst>
      <p:ext uri="{BB962C8B-B14F-4D97-AF65-F5344CB8AC3E}">
        <p14:creationId xmlns:p14="http://schemas.microsoft.com/office/powerpoint/2010/main" val="186691644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D2F59E3-FFDE-4195-8325-B91B482CC137}"/>
              </a:ext>
            </a:extLst>
          </p:cNvPr>
          <p:cNvPicPr>
            <a:picLocks xmlns:a="http://schemas.openxmlformats.org/drawingml/2006/main" noChangeAspect="1"/>
          </p:cNvPicPr>
          <p:nvPr/>
        </p:nvPicPr>
        <p:blipFill>
          <a:blip xmlns:r="http://schemas.openxmlformats.org/officeDocument/2006/relationships" xmlns:a="http://schemas.openxmlformats.org/drawingml/2006/main" r:embed="R2b320fcc0ac6480f"/>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59D22E6D-7197-408F-8C7F-5EAD70440E0D}"/>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References</a:t>
            </a:r>
          </a:p>
        </p:txBody>
      </p:sp>
      <p:sp>
        <p:nvSpPr>
          <p:cNvPr id="3" name="Thin monochrome rule">
            <a:extLst xmlns:a="http://schemas.openxmlformats.org/drawingml/2006/main">
              <a:ext uri="{FF2B5EF4-FFF2-40B4-BE49-F238E27FC236}">
                <a16:creationId xmlns:a16="http://schemas.microsoft.com/office/drawing/2014/main" id="{1C3C6776-F55E-455C-AB1F-A87CFCB13A03}"/>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1">
            <a:extLst xmlns:a="http://schemas.openxmlformats.org/drawingml/2006/main">
              <a:ext uri="{FF2B5EF4-FFF2-40B4-BE49-F238E27FC236}">
                <a16:creationId xmlns:a16="http://schemas.microsoft.com/office/drawing/2014/main" id="{886A3EDD-E97C-4A62-A1FD-E08AC8720749}"/>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21</a:t>
            </a:r>
          </a:p>
        </p:txBody>
      </p:sp>
      <p:sp>
        <p:nvSpPr>
          <p:cNvPr id="5" name="Cortez (2008). Student Performance. UCI Machine Learnin">
            <a:extLst xmlns:a="http://schemas.openxmlformats.org/drawingml/2006/main">
              <a:ext uri="{FF2B5EF4-FFF2-40B4-BE49-F238E27FC236}">
                <a16:creationId xmlns:a16="http://schemas.microsoft.com/office/drawing/2014/main" id="{96F9750D-D3D2-4120-9802-FF01D9E1EB01}"/>
              </a:ext>
            </a:extLst>
          </p:cNvPr>
          <p:cNvSpPr>
            <a:spLocks xmlns:a="http://schemas.openxmlformats.org/drawingml/2006/main" noGrp="1"/>
          </p:cNvSpPr>
          <p:nvPr/>
        </p:nvSpPr>
        <p:spPr>
          <a:xfrm xmlns:a="http://schemas.openxmlformats.org/drawingml/2006/main">
            <a:off x="762000" y="1809750"/>
            <a:ext cx="10668000" cy="395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rial"/>
                <a:ea typeface="Arial"/>
                <a:cs typeface="Arial"/>
              </a:defRPr>
            </a:defPPr>
          </a:lstStyle>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Cortez (2008). Student Performance. UCI Machine Learning Repository.</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https://doi.org/10.24432/C5TG7T</a:t>
            </a:r>
          </a:p>
          <a:p xmlns:a="http://schemas.openxmlformats.org/drawingml/2006/main">
            <a:r>
              <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Pandas documentation  https://pandas.pydata.org/docs/</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Seaborn API  https://seaborn.pydata.org/api.html</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Matplotlib documentation  https://matplotlib.org/stable/</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NumPy documentation  https://numpy.org/doc/</a:t>
            </a:r>
          </a:p>
        </p:txBody>
      </p:sp>
      <p:sp>
        <p:nvSpPr>
          <p:cNvPr id="6" name="The dataset is reused under CC BY 4.0 with attribution.">
            <a:extLst xmlns:a="http://schemas.openxmlformats.org/drawingml/2006/main">
              <a:ext uri="{FF2B5EF4-FFF2-40B4-BE49-F238E27FC236}">
                <a16:creationId xmlns:a16="http://schemas.microsoft.com/office/drawing/2014/main" id="{C6374EED-87A5-4404-80D1-B67B3347FECF}"/>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dataset is reused under CC BY 4.0 with attribution.</a:t>
            </a:r>
          </a:p>
        </p:txBody>
      </p:sp>
    </p:spTree>
    <p:extLst>
      <p:ext uri="{BB962C8B-B14F-4D97-AF65-F5344CB8AC3E}">
        <p14:creationId xmlns:p14="http://schemas.microsoft.com/office/powerpoint/2010/main" val="112238890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D2B6AD57-6351-48F2-9163-FBB2F82A6DB5}"/>
              </a:ext>
            </a:extLst>
          </p:cNvPr>
          <p:cNvPicPr>
            <a:picLocks xmlns:a="http://schemas.openxmlformats.org/drawingml/2006/main" noChangeAspect="1"/>
          </p:cNvPicPr>
          <p:nvPr/>
        </p:nvPicPr>
        <p:blipFill>
          <a:blip xmlns:r="http://schemas.openxmlformats.org/officeDocument/2006/relationships" xmlns:a="http://schemas.openxmlformats.org/drawingml/2006/main" r:embed="Rb4054b4308e7413a"/>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AA2617EE-6687-47A7-B407-F2E6B5E4455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Questions and discussion</a:t>
            </a:r>
          </a:p>
        </p:txBody>
      </p:sp>
      <p:sp>
        <p:nvSpPr>
          <p:cNvPr id="3" name="Thin monochrome rule">
            <a:extLst xmlns:a="http://schemas.openxmlformats.org/drawingml/2006/main">
              <a:ext uri="{FF2B5EF4-FFF2-40B4-BE49-F238E27FC236}">
                <a16:creationId xmlns:a16="http://schemas.microsoft.com/office/drawing/2014/main" id="{B1EB4E6F-C897-4098-8120-B0DA7F6EB8C0}"/>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2">
            <a:extLst xmlns:a="http://schemas.openxmlformats.org/drawingml/2006/main">
              <a:ext uri="{FF2B5EF4-FFF2-40B4-BE49-F238E27FC236}">
                <a16:creationId xmlns:a16="http://schemas.microsoft.com/office/drawing/2014/main" id="{01977EEA-C249-4231-9029-645C8DA51323}"/>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22</a:t>
            </a:r>
          </a:p>
        </p:txBody>
      </p:sp>
      <p:sp>
        <p:nvSpPr>
          <p:cNvPr id="5" name="Questions">
            <a:extLst xmlns:a="http://schemas.openxmlformats.org/drawingml/2006/main">
              <a:ext uri="{FF2B5EF4-FFF2-40B4-BE49-F238E27FC236}">
                <a16:creationId xmlns:a16="http://schemas.microsoft.com/office/drawing/2014/main" id="{32ED6A7A-FCAC-4440-BD3A-277FE92BB965}"/>
              </a:ext>
            </a:extLst>
          </p:cNvPr>
          <p:cNvSpPr>
            <a:spLocks xmlns:a="http://schemas.openxmlformats.org/drawingml/2006/main" noGrp="1"/>
          </p:cNvSpPr>
          <p:nvPr/>
        </p:nvSpPr>
        <p:spPr>
          <a:xfrm xmlns:a="http://schemas.openxmlformats.org/drawingml/2006/main">
            <a:off x="762000" y="2000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00" b="1">
                <a:solidFill>
                  <a:srgbClr val="000000"/>
                </a:solidFill>
                <a:latin typeface="Arial"/>
                <a:ea typeface="Arial"/>
                <a:cs typeface="Arial"/>
              </a:defRPr>
            </a:defPPr>
          </a:lstStyle>
          <a:p xmlns:a="http://schemas.openxmlformats.org/drawingml/2006/main">
            <a:pPr algn="l">
              <a:defRPr sz="4400" b="1">
                <a:solidFill>
                  <a:srgbClr val="000000"/>
                </a:solidFill>
                <a:latin typeface="Arial"/>
                <a:ea typeface="Arial"/>
                <a:cs typeface="Arial"/>
              </a:defRPr>
            </a:pPr>
            <a:r>
              <a:rPr sz="4400" b="1">
                <a:solidFill>
                  <a:srgbClr val="000000"/>
                </a:solidFill>
                <a:latin typeface="Arial"/>
                <a:ea typeface="Arial"/>
                <a:cs typeface="Arial"/>
              </a:rPr>
              <a:t>Questions</a:t>
            </a:r>
          </a:p>
        </p:txBody>
      </p:sp>
      <p:sp>
        <p:nvSpPr>
          <p:cNvPr id="6" name="Missing data, association, group comparison and reprodu">
            <a:extLst xmlns:a="http://schemas.openxmlformats.org/drawingml/2006/main">
              <a:ext uri="{FF2B5EF4-FFF2-40B4-BE49-F238E27FC236}">
                <a16:creationId xmlns:a16="http://schemas.microsoft.com/office/drawing/2014/main" id="{21BD8BB6-8ED6-4D13-AE72-D476BD4DAC87}"/>
              </a:ext>
            </a:extLst>
          </p:cNvPr>
          <p:cNvSpPr>
            <a:spLocks xmlns:a="http://schemas.openxmlformats.org/drawingml/2006/main" noGrp="1"/>
          </p:cNvSpPr>
          <p:nvPr/>
        </p:nvSpPr>
        <p:spPr>
          <a:xfrm xmlns:a="http://schemas.openxmlformats.org/drawingml/2006/main">
            <a:off x="762000" y="3286125"/>
            <a:ext cx="1066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000000"/>
                </a:solidFill>
                <a:latin typeface="Arial"/>
                <a:ea typeface="Arial"/>
                <a:cs typeface="Arial"/>
              </a:defRPr>
            </a:defPPr>
          </a:lstStyle>
          <a:p xmlns:a="http://schemas.openxmlformats.org/drawingml/2006/main">
            <a:pPr algn="l">
              <a:defRPr sz="2800" b="0">
                <a:solidFill>
                  <a:srgbClr val="000000"/>
                </a:solidFill>
                <a:latin typeface="Arial"/>
                <a:ea typeface="Arial"/>
                <a:cs typeface="Arial"/>
              </a:defRPr>
            </a:pPr>
            <a:r>
              <a:rPr sz="2800" b="0">
                <a:solidFill>
                  <a:srgbClr val="000000"/>
                </a:solidFill>
                <a:latin typeface="Arial"/>
                <a:ea typeface="Arial"/>
                <a:cs typeface="Arial"/>
              </a:rPr>
              <a:t>Missing data, association, group comparison and reproducibility</a:t>
            </a:r>
          </a:p>
        </p:txBody>
      </p:sp>
    </p:spTree>
    <p:extLst>
      <p:ext uri="{BB962C8B-B14F-4D97-AF65-F5344CB8AC3E}">
        <p14:creationId xmlns:p14="http://schemas.microsoft.com/office/powerpoint/2010/main" val="210887311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E54B6C99-2985-44BE-A021-037F4AA0268A}"/>
              </a:ext>
            </a:extLst>
          </p:cNvPr>
          <p:cNvPicPr>
            <a:picLocks xmlns:a="http://schemas.openxmlformats.org/drawingml/2006/main" noChangeAspect="1"/>
          </p:cNvPicPr>
          <p:nvPr/>
        </p:nvPicPr>
        <p:blipFill>
          <a:blip xmlns:r="http://schemas.openxmlformats.org/officeDocument/2006/relationships" xmlns:a="http://schemas.openxmlformats.org/drawingml/2006/main" r:embed="R6a3adcb45888458e"/>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297B290-3E72-4EC7-ADFE-CAB029AC706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highest ten records</a:t>
            </a:r>
          </a:p>
        </p:txBody>
      </p:sp>
      <p:sp>
        <p:nvSpPr>
          <p:cNvPr id="3" name="Thin monochrome rule">
            <a:extLst xmlns:a="http://schemas.openxmlformats.org/drawingml/2006/main">
              <a:ext uri="{FF2B5EF4-FFF2-40B4-BE49-F238E27FC236}">
                <a16:creationId xmlns:a16="http://schemas.microsoft.com/office/drawing/2014/main" id="{C360E188-90D4-4D28-BD05-AF746AE2FC93}"/>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3">
            <a:extLst xmlns:a="http://schemas.openxmlformats.org/drawingml/2006/main">
              <a:ext uri="{FF2B5EF4-FFF2-40B4-BE49-F238E27FC236}">
                <a16:creationId xmlns:a16="http://schemas.microsoft.com/office/drawing/2014/main" id="{15C5D8C9-8644-4D00-A65A-BB80E25111F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23</a:t>
            </a:r>
          </a:p>
        </p:txBody>
      </p:sp>
      <p:graphicFrame>
        <p:nvGraphicFramePr>
          <p:cNvPr id="5" name="">
            <a:extLst xmlns:a="http://schemas.openxmlformats.org/drawingml/2006/main">
              <a:ext uri="{FF2B5EF4-FFF2-40B4-BE49-F238E27FC236}">
                <a16:creationId xmlns:a16="http://schemas.microsoft.com/office/drawing/2014/main" id="{473E0907-50BD-4897-9683-3E2A16D8AE38}"/>
              </a:ext>
            </a:extLst>
          </p:cNvPr>
          <p:cNvGraphicFramePr/>
          <p:nvPr/>
        </p:nvGraphicFramePr>
        <p:xfrm>
          <a:off xmlns:a="http://schemas.openxmlformats.org/drawingml/2006/main" x="762000" y="1666875"/>
          <a:ext xmlns:a="http://schemas.openxmlformats.org/drawingml/2006/main" cx="10668000" cy="4191000"/>
        </p:xfrm>
        <a:graphic xmlns:a="http://schemas.openxmlformats.org/drawingml/2006/main">
          <a:graphicData uri="http://schemas.openxmlformats.org/drawingml/2006/table">
            <a:tbl>
              <a:tblPr firstRow="0" bandRow="0"/>
              <a:tblGrid>
                <a:gridCol w="2625969"/>
                <a:gridCol w="1641231"/>
                <a:gridCol w="1312985"/>
                <a:gridCol w="1312985"/>
                <a:gridCol w="1312985"/>
                <a:gridCol w="2461846"/>
              </a:tblGrid>
              <a:tr h="381000">
                <a:tc>
                  <a:txBody>
                    <a:bodyPr wrap="square" lIns="85725" tIns="85725" rIns="85725" bIns="85725">
                      <a:noAutofit/>
                    </a:bodyPr>
                    <a:lstStyle/>
                    <a:p>
                      <a:pPr algn="l"/>
                      <a:r>
                        <a:rPr sz="1800" b="1">
                          <a:solidFill>
                            <a:srgbClr val="000000"/>
                          </a:solidFill>
                          <a:latin typeface="Arial"/>
                          <a:ea typeface="Arial"/>
                          <a:cs typeface="Arial"/>
                        </a:rPr>
                        <a:t>Source index</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School</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G1</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G2</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G3</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Band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381000">
                <a:tc>
                  <a:txBody>
                    <a:bodyPr wrap="square" lIns="85725" tIns="85725" rIns="85725" bIns="85725">
                      <a:noAutofit/>
                    </a:bodyPr>
                    <a:lstStyle/>
                    <a:p>
                      <a:pPr algn="l"/>
                      <a:r>
                        <a:rPr sz="1800" b="0">
                          <a:solidFill>
                            <a:srgbClr val="000000"/>
                          </a:solidFill>
                          <a:latin typeface="Arial"/>
                          <a:ea typeface="Arial"/>
                          <a:cs typeface="Arial"/>
                        </a:rPr>
                        <a:t>338</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636</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113</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181</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185</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314</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327</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332</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337</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349</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Selected columns shown; the full 37-column rows are in ">
            <a:extLst xmlns:a="http://schemas.openxmlformats.org/drawingml/2006/main">
              <a:ext uri="{FF2B5EF4-FFF2-40B4-BE49-F238E27FC236}">
                <a16:creationId xmlns:a16="http://schemas.microsoft.com/office/drawing/2014/main" id="{393234E1-D6F1-4ACF-A46A-B2C09C99555C}"/>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Selected columns shown; the full 37-column rows are in the notebook and CSV.</a:t>
            </a:r>
          </a:p>
        </p:txBody>
      </p:sp>
    </p:spTree>
    <p:extLst>
      <p:ext uri="{BB962C8B-B14F-4D97-AF65-F5344CB8AC3E}">
        <p14:creationId xmlns:p14="http://schemas.microsoft.com/office/powerpoint/2010/main" val="158039392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214AC2C-3D83-418C-B6F2-12779C04D035}"/>
              </a:ext>
            </a:extLst>
          </p:cNvPr>
          <p:cNvPicPr>
            <a:picLocks xmlns:a="http://schemas.openxmlformats.org/drawingml/2006/main" noChangeAspect="1"/>
          </p:cNvPicPr>
          <p:nvPr/>
        </p:nvPicPr>
        <p:blipFill>
          <a:blip xmlns:r="http://schemas.openxmlformats.org/officeDocument/2006/relationships" xmlns:a="http://schemas.openxmlformats.org/drawingml/2006/main" r:embed="R57ee853f465d46da"/>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547BBB98-09AF-4D98-BDE9-E4C47DD75CCB}"/>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lowest ten records</a:t>
            </a:r>
          </a:p>
        </p:txBody>
      </p:sp>
      <p:sp>
        <p:nvSpPr>
          <p:cNvPr id="3" name="Thin monochrome rule">
            <a:extLst xmlns:a="http://schemas.openxmlformats.org/drawingml/2006/main">
              <a:ext uri="{FF2B5EF4-FFF2-40B4-BE49-F238E27FC236}">
                <a16:creationId xmlns:a16="http://schemas.microsoft.com/office/drawing/2014/main" id="{257AF935-EBE3-4522-AEAC-F920AB4A2ECB}"/>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4">
            <a:extLst xmlns:a="http://schemas.openxmlformats.org/drawingml/2006/main">
              <a:ext uri="{FF2B5EF4-FFF2-40B4-BE49-F238E27FC236}">
                <a16:creationId xmlns:a16="http://schemas.microsoft.com/office/drawing/2014/main" id="{464AB5C1-BE82-46A5-99B1-E4D1758F3D3A}"/>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24</a:t>
            </a:r>
          </a:p>
        </p:txBody>
      </p:sp>
      <p:graphicFrame>
        <p:nvGraphicFramePr>
          <p:cNvPr id="5" name="">
            <a:extLst xmlns:a="http://schemas.openxmlformats.org/drawingml/2006/main">
              <a:ext uri="{FF2B5EF4-FFF2-40B4-BE49-F238E27FC236}">
                <a16:creationId xmlns:a16="http://schemas.microsoft.com/office/drawing/2014/main" id="{183E8EE5-7405-47F7-BE6D-C0C16DBF4719}"/>
              </a:ext>
            </a:extLst>
          </p:cNvPr>
          <p:cNvGraphicFramePr/>
          <p:nvPr/>
        </p:nvGraphicFramePr>
        <p:xfrm>
          <a:off xmlns:a="http://schemas.openxmlformats.org/drawingml/2006/main" x="762000" y="1666875"/>
          <a:ext xmlns:a="http://schemas.openxmlformats.org/drawingml/2006/main" cx="10668000" cy="4191000"/>
        </p:xfrm>
        <a:graphic xmlns:a="http://schemas.openxmlformats.org/drawingml/2006/main">
          <a:graphicData uri="http://schemas.openxmlformats.org/drawingml/2006/table">
            <a:tbl>
              <a:tblPr firstRow="0" bandRow="0"/>
              <a:tblGrid>
                <a:gridCol w="2625969"/>
                <a:gridCol w="1641231"/>
                <a:gridCol w="1312985"/>
                <a:gridCol w="1312985"/>
                <a:gridCol w="1312985"/>
                <a:gridCol w="2461846"/>
              </a:tblGrid>
              <a:tr h="381000">
                <a:tc>
                  <a:txBody>
                    <a:bodyPr wrap="square" lIns="85725" tIns="85725" rIns="85725" bIns="85725">
                      <a:noAutofit/>
                    </a:bodyPr>
                    <a:lstStyle/>
                    <a:p>
                      <a:pPr algn="l"/>
                      <a:r>
                        <a:rPr sz="1800" b="1">
                          <a:solidFill>
                            <a:srgbClr val="000000"/>
                          </a:solidFill>
                          <a:latin typeface="Arial"/>
                          <a:ea typeface="Arial"/>
                          <a:cs typeface="Arial"/>
                        </a:rPr>
                        <a:t>Source index</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School</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G1</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G2</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G3</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Band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381000">
                <a:tc>
                  <a:txBody>
                    <a:bodyPr wrap="square" lIns="85725" tIns="85725" rIns="85725" bIns="85725">
                      <a:noAutofit/>
                    </a:bodyPr>
                    <a:lstStyle/>
                    <a:p>
                      <a:pPr algn="l"/>
                      <a:r>
                        <a:rPr sz="1800" b="0">
                          <a:solidFill>
                            <a:srgbClr val="000000"/>
                          </a:solidFill>
                          <a:latin typeface="Arial"/>
                          <a:ea typeface="Arial"/>
                          <a:cs typeface="Arial"/>
                        </a:rPr>
                        <a:t>163</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440</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519</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563</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567</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583</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586</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597</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603</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605</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Selected columns shown; the full 37-column rows are in ">
            <a:extLst xmlns:a="http://schemas.openxmlformats.org/drawingml/2006/main">
              <a:ext uri="{FF2B5EF4-FFF2-40B4-BE49-F238E27FC236}">
                <a16:creationId xmlns:a16="http://schemas.microsoft.com/office/drawing/2014/main" id="{F39F55AA-87BE-432D-A934-D025EBC6BA57}"/>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Selected columns shown; the full 37-column rows are in the notebook and CSV.</a:t>
            </a:r>
          </a:p>
        </p:txBody>
      </p:sp>
    </p:spTree>
    <p:extLst>
      <p:ext uri="{BB962C8B-B14F-4D97-AF65-F5344CB8AC3E}">
        <p14:creationId xmlns:p14="http://schemas.microsoft.com/office/powerpoint/2010/main" val="210600415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461F5E7-599B-4682-BA95-C0111F11282D}"/>
              </a:ext>
            </a:extLst>
          </p:cNvPr>
          <p:cNvPicPr>
            <a:picLocks xmlns:a="http://schemas.openxmlformats.org/drawingml/2006/main" noChangeAspect="1"/>
          </p:cNvPicPr>
          <p:nvPr/>
        </p:nvPicPr>
        <p:blipFill>
          <a:blip xmlns:r="http://schemas.openxmlformats.org/officeDocument/2006/relationships" xmlns:a="http://schemas.openxmlformats.org/drawingml/2006/main" r:embed="R0f742d03c4ad4e37"/>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5BFB3BC6-401A-44BD-BC20-146E63DC4B3A}"/>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sensitivity and method checks</a:t>
            </a:r>
          </a:p>
        </p:txBody>
      </p:sp>
      <p:sp>
        <p:nvSpPr>
          <p:cNvPr id="3" name="Thin monochrome rule">
            <a:extLst xmlns:a="http://schemas.openxmlformats.org/drawingml/2006/main">
              <a:ext uri="{FF2B5EF4-FFF2-40B4-BE49-F238E27FC236}">
                <a16:creationId xmlns:a16="http://schemas.microsoft.com/office/drawing/2014/main" id="{2C31737E-4B89-4661-BE36-82E57B4EB7B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5">
            <a:extLst xmlns:a="http://schemas.openxmlformats.org/drawingml/2006/main">
              <a:ext uri="{FF2B5EF4-FFF2-40B4-BE49-F238E27FC236}">
                <a16:creationId xmlns:a16="http://schemas.microsoft.com/office/drawing/2014/main" id="{9D99D90C-2EEB-4C03-87F8-2759D9445964}"/>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25</a:t>
            </a:r>
          </a:p>
        </p:txBody>
      </p:sp>
      <p:graphicFrame>
        <p:nvGraphicFramePr>
          <p:cNvPr id="5" name="">
            <a:extLst xmlns:a="http://schemas.openxmlformats.org/drawingml/2006/main">
              <a:ext uri="{FF2B5EF4-FFF2-40B4-BE49-F238E27FC236}">
                <a16:creationId xmlns:a16="http://schemas.microsoft.com/office/drawing/2014/main" id="{1D482F11-7C38-4E6A-BE89-C8AFD6E8F735}"/>
              </a:ext>
            </a:extLst>
          </p:cNvPr>
          <p:cNvGraphicFramePr/>
          <p:nvPr/>
        </p:nvGraphicFramePr>
        <p:xfrm>
          <a:off xmlns:a="http://schemas.openxmlformats.org/drawingml/2006/main" x="666750" y="1762125"/>
          <a:ext xmlns:a="http://schemas.openxmlformats.org/drawingml/2006/main" cx="10858500" cy="2381250"/>
        </p:xfrm>
        <a:graphic xmlns:a="http://schemas.openxmlformats.org/drawingml/2006/main">
          <a:graphicData uri="http://schemas.openxmlformats.org/drawingml/2006/table">
            <a:tbl>
              <a:tblPr firstRow="0" bandRow="0"/>
              <a:tblGrid>
                <a:gridCol w="3447143"/>
                <a:gridCol w="1206500"/>
                <a:gridCol w="2240643"/>
                <a:gridCol w="2240643"/>
                <a:gridCol w="1723571"/>
              </a:tblGrid>
              <a:tr h="595313">
                <a:tc>
                  <a:txBody>
                    <a:bodyPr wrap="square" lIns="85725" tIns="85725" rIns="85725" bIns="85725">
                      <a:noAutofit/>
                    </a:bodyPr>
                    <a:lstStyle/>
                    <a:p>
                      <a:pPr algn="l"/>
                      <a:r>
                        <a:rPr sz="1900" b="1">
                          <a:solidFill>
                            <a:srgbClr val="000000"/>
                          </a:solidFill>
                          <a:latin typeface="Arial"/>
                          <a:ea typeface="Arial"/>
                          <a:cs typeface="Arial"/>
                        </a:rPr>
                        <a:t>Variant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Absences SD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ρ with G3</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Filter 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95313">
                <a:tc>
                  <a:txBody>
                    <a:bodyPr wrap="square" lIns="85725" tIns="85725" rIns="85725" bIns="85725">
                      <a:noAutofit/>
                    </a:bodyPr>
                    <a:lstStyle/>
                    <a:p>
                      <a:pPr algn="l"/>
                      <a:r>
                        <a:rPr sz="1900" b="0">
                          <a:solidFill>
                            <a:srgbClr val="000000"/>
                          </a:solidFill>
                          <a:latin typeface="Arial"/>
                          <a:ea typeface="Arial"/>
                          <a:cs typeface="Arial"/>
                        </a:rPr>
                        <a:t>Original</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4.6408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-0.1585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334</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5313">
                <a:tc>
                  <a:txBody>
                    <a:bodyPr wrap="square" lIns="85725" tIns="85725" rIns="85725" bIns="85725">
                      <a:noAutofit/>
                    </a:bodyPr>
                    <a:lstStyle/>
                    <a:p>
                      <a:pPr algn="l"/>
                      <a:r>
                        <a:rPr sz="1900" b="0">
                          <a:solidFill>
                            <a:srgbClr val="000000"/>
                          </a:solidFill>
                          <a:latin typeface="Arial"/>
                          <a:ea typeface="Arial"/>
                          <a:cs typeface="Arial"/>
                        </a:rPr>
                        <a:t>Mean imputation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4.4940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-0.1628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339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5313">
                <a:tc>
                  <a:txBody>
                    <a:bodyPr wrap="square" lIns="85725" tIns="85725" rIns="85725" bIns="85725">
                      <a:noAutofit/>
                    </a:bodyPr>
                    <a:lstStyle/>
                    <a:p>
                      <a:pPr algn="l"/>
                      <a:r>
                        <a:rPr sz="1900" b="0">
                          <a:solidFill>
                            <a:srgbClr val="000000"/>
                          </a:solidFill>
                          <a:latin typeface="Arial"/>
                          <a:ea typeface="Arial"/>
                          <a:cs typeface="Arial"/>
                        </a:rPr>
                        <a:t>Drop missing</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617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4.6092</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-0.1671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319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Boundary checks: score bands, constant groups, zero-cou">
            <a:extLst xmlns:a="http://schemas.openxmlformats.org/drawingml/2006/main">
              <a:ext uri="{FF2B5EF4-FFF2-40B4-BE49-F238E27FC236}">
                <a16:creationId xmlns:a16="http://schemas.microsoft.com/office/drawing/2014/main" id="{1D05DD11-28A0-4582-B1E6-2708684E6D1D}"/>
              </a:ext>
            </a:extLst>
          </p:cNvPr>
          <p:cNvSpPr>
            <a:spLocks xmlns:a="http://schemas.openxmlformats.org/drawingml/2006/main" noGrp="1"/>
          </p:cNvSpPr>
          <p:nvPr/>
        </p:nvSpPr>
        <p:spPr>
          <a:xfrm xmlns:a="http://schemas.openxmlformats.org/drawingml/2006/main">
            <a:off x="762000" y="46196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Boundary checks: score bands, constant groups, zero-count categories and stable ties.</a:t>
            </a:r>
          </a:p>
        </p:txBody>
      </p:sp>
      <p:sp>
        <p:nvSpPr>
          <p:cNvPr id="7" name="Actual failure codes are retained; the upper-code ambig">
            <a:extLst xmlns:a="http://schemas.openxmlformats.org/drawingml/2006/main">
              <a:ext uri="{FF2B5EF4-FFF2-40B4-BE49-F238E27FC236}">
                <a16:creationId xmlns:a16="http://schemas.microsoft.com/office/drawing/2014/main" id="{7725324B-9451-48A7-BDA2-CFECF24523E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Actual failure codes are retained; the upper-code ambiguity is documented.</a:t>
            </a:r>
          </a:p>
        </p:txBody>
      </p:sp>
    </p:spTree>
    <p:extLst>
      <p:ext uri="{BB962C8B-B14F-4D97-AF65-F5344CB8AC3E}">
        <p14:creationId xmlns:p14="http://schemas.microsoft.com/office/powerpoint/2010/main" val="112262473"/>
      </p:ext>
    </p:extLst>
  </p:cSld>
</p:sld>
</file>

<file path=ppt/theme/theme1.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2026-10-20T05:12:52.1810000Z</dcterms:created>
  <dcterms:modified xsi:type="dcterms:W3CDTF">2026-10-20T05:12:52.1810000Z</dcterms:modified>
</coreProperties>
</file>