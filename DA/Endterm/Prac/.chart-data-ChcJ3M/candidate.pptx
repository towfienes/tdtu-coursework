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1.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2.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3.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4.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5.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af4a4acd4484039" /><Relationship Type="http://schemas.openxmlformats.org/officeDocument/2006/relationships/extended-properties" Target="/docProps/app.xml" Id="R889b2340a3ec42e1" /><Relationship Type="http://schemas.openxmlformats.org/officeDocument/2006/relationships/officeDocument" Target="/ppt/presentation.xml" Id="Re8b65b33ee574fb3" /></Relationships>
</file>

<file path=ppt/presentation.xml><?xml version="1.0" encoding="utf-8"?>
<p:presentation xmlns:p="http://schemas.openxmlformats.org/presentationml/2006/main">
  <p:sldMasterIdLst>
    <p:sldMasterId xmlns:r="http://schemas.openxmlformats.org/officeDocument/2006/relationships" id="2147483648" r:id="R20edb19560cf4898"/>
  </p:sldMasterIdLst>
  <p:notesMasterIdLst>
    <p:notesMasterId xmlns:r="http://schemas.openxmlformats.org/officeDocument/2006/relationships" r:id="R34035c0557e4480e"/>
  </p:notesMasterIdLst>
  <p:sldIdLst>
    <p:sldId xmlns:r="http://schemas.openxmlformats.org/officeDocument/2006/relationships" id="256" r:id="Reda12451359d4777"/>
    <p:sldId xmlns:r="http://schemas.openxmlformats.org/officeDocument/2006/relationships" id="257" r:id="Raa44426dfa6a4fdb"/>
    <p:sldId xmlns:r="http://schemas.openxmlformats.org/officeDocument/2006/relationships" id="258" r:id="R0a4517c07af145c3"/>
    <p:sldId xmlns:r="http://schemas.openxmlformats.org/officeDocument/2006/relationships" id="259" r:id="Rac0bf7232d654552"/>
    <p:sldId xmlns:r="http://schemas.openxmlformats.org/officeDocument/2006/relationships" id="260" r:id="R0975ff18aa0e47c9"/>
    <p:sldId xmlns:r="http://schemas.openxmlformats.org/officeDocument/2006/relationships" id="261" r:id="R15ecc043bda744bb"/>
    <p:sldId xmlns:r="http://schemas.openxmlformats.org/officeDocument/2006/relationships" id="262" r:id="R8dece38fdf8b44db"/>
    <p:sldId xmlns:r="http://schemas.openxmlformats.org/officeDocument/2006/relationships" id="263" r:id="Ra66bbd5021194bf0"/>
    <p:sldId xmlns:r="http://schemas.openxmlformats.org/officeDocument/2006/relationships" id="264" r:id="R16ca851afb274fdf"/>
    <p:sldId xmlns:r="http://schemas.openxmlformats.org/officeDocument/2006/relationships" id="265" r:id="R3ffd74e5649f4b26"/>
    <p:sldId xmlns:r="http://schemas.openxmlformats.org/officeDocument/2006/relationships" id="266" r:id="Re2c071c981334278"/>
    <p:sldId xmlns:r="http://schemas.openxmlformats.org/officeDocument/2006/relationships" id="267" r:id="R7495984591624932"/>
    <p:sldId xmlns:r="http://schemas.openxmlformats.org/officeDocument/2006/relationships" id="268" r:id="R5f1cb79143dc456e"/>
    <p:sldId xmlns:r="http://schemas.openxmlformats.org/officeDocument/2006/relationships" id="269" r:id="Rff21578d099d4d00"/>
    <p:sldId xmlns:r="http://schemas.openxmlformats.org/officeDocument/2006/relationships" id="270" r:id="R5556b59359a24925"/>
    <p:sldId xmlns:r="http://schemas.openxmlformats.org/officeDocument/2006/relationships" id="271" r:id="R1cb1fe912ea84e20"/>
    <p:sldId xmlns:r="http://schemas.openxmlformats.org/officeDocument/2006/relationships" id="272" r:id="R0e5d08a0700c42cb"/>
    <p:sldId xmlns:r="http://schemas.openxmlformats.org/officeDocument/2006/relationships" id="273" r:id="R085afecfb4514651"/>
    <p:sldId xmlns:r="http://schemas.openxmlformats.org/officeDocument/2006/relationships" id="274" r:id="R058923b3e03146c1"/>
    <p:sldId xmlns:r="http://schemas.openxmlformats.org/officeDocument/2006/relationships" id="275" r:id="Ra9de3c9714284757"/>
    <p:sldId xmlns:r="http://schemas.openxmlformats.org/officeDocument/2006/relationships" id="276" r:id="R260d75beac834e6d"/>
    <p:sldId xmlns:r="http://schemas.openxmlformats.org/officeDocument/2006/relationships" id="277" r:id="Rcb9d538878a447e1"/>
    <p:sldId xmlns:r="http://schemas.openxmlformats.org/officeDocument/2006/relationships" id="278" r:id="Rf150ac3d101b4496"/>
    <p:sldId xmlns:r="http://schemas.openxmlformats.org/officeDocument/2006/relationships" id="279" r:id="R2e58c66477724715"/>
    <p:sldId xmlns:r="http://schemas.openxmlformats.org/officeDocument/2006/relationships" id="280" r:id="R9e909412144e406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cc36d27a98248fa" /><Relationship Type="http://schemas.openxmlformats.org/officeDocument/2006/relationships/slideMaster" Target="/ppt/slideMasters/slideMaster1.xml" Id="R20edb19560cf4898" /><Relationship Type="http://schemas.openxmlformats.org/officeDocument/2006/relationships/notesMaster" Target="/ppt/notesMasters/notesMaster1.xml" Id="R34035c0557e4480e" /><Relationship Type="http://schemas.openxmlformats.org/officeDocument/2006/relationships/presProps" Target="/ppt/presProps.xml" Id="R75920c02e3d74c4d" /><Relationship Type="http://schemas.openxmlformats.org/officeDocument/2006/relationships/tableStyles" Target="/ppt/tableStyles.xml" Id="R87d0448f7623479e" /><Relationship Type="http://schemas.openxmlformats.org/officeDocument/2006/relationships/slide" Target="/ppt/slides/slide1.xml" Id="Reda12451359d4777" /><Relationship Type="http://schemas.openxmlformats.org/officeDocument/2006/relationships/slide" Target="/ppt/slides/slide2.xml" Id="Raa44426dfa6a4fdb" /><Relationship Type="http://schemas.openxmlformats.org/officeDocument/2006/relationships/slide" Target="/ppt/slides/slide3.xml" Id="R0a4517c07af145c3" /><Relationship Type="http://schemas.openxmlformats.org/officeDocument/2006/relationships/slide" Target="/ppt/slides/slide4.xml" Id="Rac0bf7232d654552" /><Relationship Type="http://schemas.openxmlformats.org/officeDocument/2006/relationships/slide" Target="/ppt/slides/slide5.xml" Id="R0975ff18aa0e47c9" /><Relationship Type="http://schemas.openxmlformats.org/officeDocument/2006/relationships/slide" Target="/ppt/slides/slide6.xml" Id="R15ecc043bda744bb" /><Relationship Type="http://schemas.openxmlformats.org/officeDocument/2006/relationships/slide" Target="/ppt/slides/slide7.xml" Id="R8dece38fdf8b44db" /><Relationship Type="http://schemas.openxmlformats.org/officeDocument/2006/relationships/slide" Target="/ppt/slides/slide8.xml" Id="Ra66bbd5021194bf0" /><Relationship Type="http://schemas.openxmlformats.org/officeDocument/2006/relationships/slide" Target="/ppt/slides/slide9.xml" Id="R16ca851afb274fdf" /><Relationship Type="http://schemas.openxmlformats.org/officeDocument/2006/relationships/slide" Target="/ppt/slides/slide10.xml" Id="R3ffd74e5649f4b26" /><Relationship Type="http://schemas.openxmlformats.org/officeDocument/2006/relationships/slide" Target="/ppt/slides/slide11.xml" Id="Re2c071c981334278" /><Relationship Type="http://schemas.openxmlformats.org/officeDocument/2006/relationships/slide" Target="/ppt/slides/slide12.xml" Id="R7495984591624932" /><Relationship Type="http://schemas.openxmlformats.org/officeDocument/2006/relationships/slide" Target="/ppt/slides/slide13.xml" Id="R5f1cb79143dc456e" /><Relationship Type="http://schemas.openxmlformats.org/officeDocument/2006/relationships/slide" Target="/ppt/slides/slide14.xml" Id="Rff21578d099d4d00" /><Relationship Type="http://schemas.openxmlformats.org/officeDocument/2006/relationships/slide" Target="/ppt/slides/slide15.xml" Id="R5556b59359a24925" /><Relationship Type="http://schemas.openxmlformats.org/officeDocument/2006/relationships/slide" Target="/ppt/slides/slide16.xml" Id="R1cb1fe912ea84e20" /><Relationship Type="http://schemas.openxmlformats.org/officeDocument/2006/relationships/slide" Target="/ppt/slides/slide17.xml" Id="R0e5d08a0700c42cb" /><Relationship Type="http://schemas.openxmlformats.org/officeDocument/2006/relationships/slide" Target="/ppt/slides/slide18.xml" Id="R085afecfb4514651" /><Relationship Type="http://schemas.openxmlformats.org/officeDocument/2006/relationships/slide" Target="/ppt/slides/slide19.xml" Id="R058923b3e03146c1" /><Relationship Type="http://schemas.openxmlformats.org/officeDocument/2006/relationships/slide" Target="/ppt/slides/slide20.xml" Id="Ra9de3c9714284757" /><Relationship Type="http://schemas.openxmlformats.org/officeDocument/2006/relationships/slide" Target="/ppt/slides/slide21.xml" Id="R260d75beac834e6d" /><Relationship Type="http://schemas.openxmlformats.org/officeDocument/2006/relationships/slide" Target="/ppt/slides/slide22.xml" Id="Rcb9d538878a447e1" /><Relationship Type="http://schemas.openxmlformats.org/officeDocument/2006/relationships/slide" Target="/ppt/slides/slide23.xml" Id="Rf150ac3d101b4496" /><Relationship Type="http://schemas.openxmlformats.org/officeDocument/2006/relationships/slide" Target="/ppt/slides/slide24.xml" Id="R2e58c66477724715" /><Relationship Type="http://schemas.openxmlformats.org/officeDocument/2006/relationships/slide" Target="/ppt/slides/slide25.xml" Id="R9e909412144e406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a82f7da146b446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TDTU Academic Monochrome">
      <a:dk1>
        <a:srgbClr val="000000"/>
      </a:dk1>
      <a:lt1>
        <a:srgbClr val="FFFFFF"/>
      </a:lt1>
      <a:dk2>
        <a:srgbClr val="333333"/>
      </a:dk2>
      <a:lt2>
        <a:srgbClr val="EEEEEE"/>
      </a:lt2>
      <a:accent1>
        <a:srgbClr val="555555"/>
      </a:accent1>
      <a:accent2>
        <a:srgbClr val="999999"/>
      </a:accent2>
      <a:accent3>
        <a:srgbClr val="CCCCCC"/>
      </a:accent3>
      <a:accent4>
        <a:srgbClr val="222222"/>
      </a:accent4>
      <a:accent5>
        <a:srgbClr val="EEEEEE"/>
      </a:accent5>
      <a:accent6>
        <a:srgbClr val="777777"/>
      </a:accent6>
      <a:hlink>
        <a:srgbClr val="000000"/>
      </a:hlink>
      <a:folHlink>
        <a:srgbClr val="444444"/>
      </a:folHlink>
    </a:clrScheme>
    <a:fontScheme name="">
      <a:majorFont>
        <a:latin typeface="Arial"/>
        <a:ea typeface=""/>
        <a:cs typeface=""/>
      </a:majorFont>
      <a:minorFont>
        <a:latin typeface="Arial"/>
        <a:ea typeface=""/>
        <a:cs typeface=""/>
      </a:minorFont>
    </a:fontScheme>
    <a:fmtScheme name="TDTU Academic Monochro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da3f4f579d149b2" /><Relationship Type="http://schemas.openxmlformats.org/officeDocument/2006/relationships/notesMaster" Target="/ppt/notesMasters/notesMaster1.xml" Id="R1b54868c7ff24b3f" /></Relationships>
</file>

<file path=ppt/notesSlides/_rels/notesSlide2.xml.rels>&#65279;<?xml version="1.0" encoding="utf-8"?><Relationships xmlns="http://schemas.openxmlformats.org/package/2006/relationships"><Relationship Type="http://schemas.openxmlformats.org/officeDocument/2006/relationships/slide" Target="/ppt/slides/slide2.xml" Id="R5d6f05586da04a56" /><Relationship Type="http://schemas.openxmlformats.org/officeDocument/2006/relationships/notesMaster" Target="/ppt/notesMasters/notesMaster1.xml" Id="Re2c6d8ac358e41cc" /></Relationships>
</file>

<file path=ppt/notesSlides/_rels/notesSlide3.xml.rels>&#65279;<?xml version="1.0" encoding="utf-8"?><Relationships xmlns="http://schemas.openxmlformats.org/package/2006/relationships"><Relationship Type="http://schemas.openxmlformats.org/officeDocument/2006/relationships/slide" Target="/ppt/slides/slide3.xml" Id="R6e825a06490c4502" /><Relationship Type="http://schemas.openxmlformats.org/officeDocument/2006/relationships/notesMaster" Target="/ppt/notesMasters/notesMaster1.xml" Id="R94ea93dcacb74478" /></Relationships>
</file>

<file path=ppt/notesSlides/_rels/notesSlide4.xml.rels>&#65279;<?xml version="1.0" encoding="utf-8"?><Relationships xmlns="http://schemas.openxmlformats.org/package/2006/relationships"><Relationship Type="http://schemas.openxmlformats.org/officeDocument/2006/relationships/slide" Target="/ppt/slides/slide4.xml" Id="R02d6317bdecc4f81" /><Relationship Type="http://schemas.openxmlformats.org/officeDocument/2006/relationships/notesMaster" Target="/ppt/notesMasters/notesMaster1.xml" Id="Ree69e219cb3c448d" /></Relationships>
</file>

<file path=ppt/notesSlides/_rels/notesSlide5.xml.rels>&#65279;<?xml version="1.0" encoding="utf-8"?><Relationships xmlns="http://schemas.openxmlformats.org/package/2006/relationships"><Relationship Type="http://schemas.openxmlformats.org/officeDocument/2006/relationships/slide" Target="/ppt/slides/slide5.xml" Id="R73f826af7ce94cba" /><Relationship Type="http://schemas.openxmlformats.org/officeDocument/2006/relationships/notesMaster" Target="/ppt/notesMasters/notesMaster1.xml" Id="Ra57ce7b92214483f" /></Relationships>
</file>

<file path=ppt/notesSlides/_rels/notesSlide6.xml.rels>&#65279;<?xml version="1.0" encoding="utf-8"?><Relationships xmlns="http://schemas.openxmlformats.org/package/2006/relationships"><Relationship Type="http://schemas.openxmlformats.org/officeDocument/2006/relationships/slide" Target="/ppt/slides/slide6.xml" Id="R6ee7f456b7ac401f" /><Relationship Type="http://schemas.openxmlformats.org/officeDocument/2006/relationships/notesMaster" Target="/ppt/notesMasters/notesMaster1.xml" Id="R4b34500022404022" /></Relationships>
</file>

<file path=ppt/notesSlides/_rels/notesSlide7.xml.rels>&#65279;<?xml version="1.0" encoding="utf-8"?><Relationships xmlns="http://schemas.openxmlformats.org/package/2006/relationships"><Relationship Type="http://schemas.openxmlformats.org/officeDocument/2006/relationships/slide" Target="/ppt/slides/slide7.xml" Id="R27a21c3b06224cd6" /><Relationship Type="http://schemas.openxmlformats.org/officeDocument/2006/relationships/notesMaster" Target="/ppt/notesMasters/notesMaster1.xml" Id="R1371992f5ba44345" /></Relationships>
</file>

<file path=ppt/notesSlides/_rels/notesSlide8.xml.rels>&#65279;<?xml version="1.0" encoding="utf-8"?><Relationships xmlns="http://schemas.openxmlformats.org/package/2006/relationships"><Relationship Type="http://schemas.openxmlformats.org/officeDocument/2006/relationships/slide" Target="/ppt/slides/slide8.xml" Id="R9d3a686400b14fe8" /><Relationship Type="http://schemas.openxmlformats.org/officeDocument/2006/relationships/notesMaster" Target="/ppt/notesMasters/notesMaster1.xml" Id="R226da9d996a04db1" /></Relationships>
</file>

<file path=ppt/notesSlides/_rels/notesSlide9.xml.rels>&#65279;<?xml version="1.0" encoding="utf-8"?><Relationships xmlns="http://schemas.openxmlformats.org/package/2006/relationships"><Relationship Type="http://schemas.openxmlformats.org/officeDocument/2006/relationships/slide" Target="/ppt/slides/slide9.xml" Id="R2807c0e579a0486a" /><Relationship Type="http://schemas.openxmlformats.org/officeDocument/2006/relationships/notesMaster" Target="/ppt/notesMasters/notesMaster1.xml" Id="Rc445528f7e764f3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181de41c40c4d78" /><Relationship Type="http://schemas.openxmlformats.org/officeDocument/2006/relationships/notesMaster" Target="/ppt/notesMasters/notesMaster1.xml" Id="Rd1b1e1037302487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6c54a41702b42b0" /><Relationship Type="http://schemas.openxmlformats.org/officeDocument/2006/relationships/notesMaster" Target="/ppt/notesMasters/notesMaster1.xml" Id="R82d4fdeb1e8e430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479498bd8fb4134" /><Relationship Type="http://schemas.openxmlformats.org/officeDocument/2006/relationships/notesMaster" Target="/ppt/notesMasters/notesMaster1.xml" Id="R99522bab702a435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94a8fadff29424d" /><Relationship Type="http://schemas.openxmlformats.org/officeDocument/2006/relationships/notesMaster" Target="/ppt/notesMasters/notesMaster1.xml" Id="Rd7e783601a2c42c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94fc4413ab748d1" /><Relationship Type="http://schemas.openxmlformats.org/officeDocument/2006/relationships/notesMaster" Target="/ppt/notesMasters/notesMaster1.xml" Id="Ra63a1b38ddd84b7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bd67ceb84f74839" /><Relationship Type="http://schemas.openxmlformats.org/officeDocument/2006/relationships/notesMaster" Target="/ppt/notesMasters/notesMaster1.xml" Id="Rf4e768c75828488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62fa4cd664a4f7a" /><Relationship Type="http://schemas.openxmlformats.org/officeDocument/2006/relationships/notesMaster" Target="/ppt/notesMasters/notesMaster1.xml" Id="R2d5f18e7706247c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ccc6bbd3a524127" /><Relationship Type="http://schemas.openxmlformats.org/officeDocument/2006/relationships/notesMaster" Target="/ppt/notesMasters/notesMaster1.xml" Id="Rd8bf7cc823ac4b8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1d6a79146b94f58" /><Relationship Type="http://schemas.openxmlformats.org/officeDocument/2006/relationships/notesMaster" Target="/ppt/notesMasters/notesMaster1.xml" Id="Rf117951f565f469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726708359f74880" /><Relationship Type="http://schemas.openxmlformats.org/officeDocument/2006/relationships/notesMaster" Target="/ppt/notesMasters/notesMaster1.xml" Id="R7126320a6c5941f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fb2c08b0770490a" /><Relationship Type="http://schemas.openxmlformats.org/officeDocument/2006/relationships/notesMaster" Target="/ppt/notesMasters/notesMaster1.xml" Id="R3b241699c5b648f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353163625d445b2" /><Relationship Type="http://schemas.openxmlformats.org/officeDocument/2006/relationships/notesMaster" Target="/ppt/notesMasters/notesMaster1.xml" Id="R982f3c6ab2604ba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0a0f596f5a34cc9" /><Relationship Type="http://schemas.openxmlformats.org/officeDocument/2006/relationships/notesMaster" Target="/ppt/notesMasters/notesMaster1.xml" Id="Rc99c237acb54499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5feba2c22b24031" /><Relationship Type="http://schemas.openxmlformats.org/officeDocument/2006/relationships/notesMaster" Target="/ppt/notesMasters/notesMaster1.xml" Id="R833e304db3a649c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f68214627a74a14" /><Relationship Type="http://schemas.openxmlformats.org/officeDocument/2006/relationships/notesMaster" Target="/ppt/notesMasters/notesMaster1.xml" Id="Rcea9dc63fc17494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9160fb2e88a4dc5" /><Relationship Type="http://schemas.openxmlformats.org/officeDocument/2006/relationships/notesMaster" Target="/ppt/notesMasters/notesMaster1.xml" Id="R9a9f34cddbec4fa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45 giây.</a:t>
            </a:r>
          </a:p>
          <a:p xmlns:a="http://schemas.openxmlformats.org/drawingml/2006/main">
            <a:r>
              <a:t>Giới thiệu nhóm bốn người và Cô Ho Thi Linh. Nêu đề tài phân tích thành tích học sinh từ dữ liệu công khai; báo cáo cuối kỳ ngày 20/10/2026. Không gọi đây là dữ liệu sinh viên TDTU.</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a:t>
            </a:r>
          </a:p>
          <a:p xmlns:a="http://schemas.openxmlformats.org/drawingml/2006/main">
            <a:r>
              <a:t>Trình bày bốn câu hỏi tương ứng bốn phần đề. Điểm nhấn là phân tích mô tả có thể chạy lại, có nguồn gốc dữ liệu và có giới hạn rõ ràng. Chuyển sang dataset trước khi giải thích kỹ thuật.</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 15 giây.</a:t>
            </a:r>
          </a:p>
          <a:p xmlns:a="http://schemas.openxmlformats.org/drawingml/2006/main">
            <a:r>
              <a:t>Nguồn UCI Student Performance, chỉ file student-por.csv. Có 649 bản ghi, 33 cột, không thiếu ở nguồn. GP có 423 và MS có 226 bản ghi. Không gộp môn Toán vì có học sinh trùng giữa hai file. Nêu thang lý thuyết 0–20 khác miền quan sát 0–19.</a:t>
            </a:r>
          </a:p>
          <a:p xmlns:a="http://schemas.openxmlformats.org/drawingml/2006/main">
            <a:r>
              <a:t>Nguồn: Cortez (2008), https://doi.org/10.24432/C5TG7T; references/student.txt.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a:t>
            </a:r>
          </a:p>
          <a:p xmlns:a="http://schemas.openxmlformats.org/drawingml/2006/main">
            <a:r>
              <a:t>Mở notebook mục I.1 và I.2. Giải thích delimiter chấm phẩy, kiểm checksum, shape, dtypes và info. Hiển thị cả đầu và cuối dữ liệu giúp phát hiện parse sai. Integer storage không có nghĩa studytime là số giờ thực.</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a:t>
            </a:r>
          </a:p>
          <a:p xmlns:a="http://schemas.openxmlformats.org/drawingml/2006/main">
            <a:r>
              <a:t>Giải thích 5%×649=32,45; lấy 32 ô nên tỷ lệ là 4,93%. Che duy nhất absences, cùng mask cho hai nhánh. Seed 42 tái lập; MCAR chỉ là giả lập. Tất cả kết luận chính dùng raw đã kiểm.</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 15 giây.</a:t>
            </a:r>
          </a:p>
          <a:p xmlns:a="http://schemas.openxmlformats.org/drawingml/2006/main">
            <a:r>
              <a:t>Bảng này lấy từ output chạy thật. Mean imputation dùng mean của 617 giá trị chưa bị che: 3,623987. Giữ 649 dòng nhưng giảm phân tán và tạo số lần vắng lẻ. Dropna còn 617. Cả hai bắt đầu từ cùng corrupted, không drop sau fillna.</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45 giây.</a:t>
            </a:r>
          </a:p>
          <a:p xmlns:a="http://schemas.openxmlformats.org/drawingml/2006/main">
            <a:r>
              <a:t>Chứng minh Series→list→lọc bằng Python. Có 549 điểm ≥ 10 theo quy ước bài phân tích. Regex fullmatch lấy đúng G1/G2/G3, loại G12 và G3_extra. Không cần bịa ID cá nhân hoặc dữ liệu bẩn.</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a:t>
            </a:r>
          </a:p>
          <a:p xmlns:a="http://schemas.openxmlformats.org/drawingml/2006/main">
            <a:r>
              <a:t>Giải thích loc theo nhãn có bao gồm cận cuối 9, iloc theo vị trí. Bộ lọc studytime ≥ 2 và absences ≤ 5 cho 334/649 = 51,46%. Nhấn mạnh ngưỡng minh họa, không phải quy tắc can thiệp.</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 15 giây.</a:t>
            </a:r>
          </a:p>
          <a:p xmlns:a="http://schemas.openxmlformats.org/drawingml/2006/main">
            <a:r>
              <a:t>Giải thích từng cột và thao tác insert ngay trước G3. prior_grade_mean không chứa G3; grade_progress là chênh lệch giữa hai kỳ, không tự nó chứng minh tiến bộ do can thiệp. performance_band gồm 0–9, 10–14, 15–20 là nhóm tự quy ước. Vì chứa outcome, cột này không được xếp hạng như một yếu tố giải thích.</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 30 giây.</a:t>
            </a:r>
          </a:p>
          <a:p xmlns:a="http://schemas.openxmlformats.org/drawingml/2006/main">
            <a:r>
              <a:t>Notebook và báo cáo có đủ count, mean, std, min, max cho cả G1, G2, G3 theo trường. Slide trích G3 và cỡ mẫu để đọc được. GP có 423 bản ghi, MS có 226; trung bình và độ phân tán khác nhau nhưng chưa điều chỉnh yếu tố khác. Chuẩn hóa min–max dùng transform trong từng trường và giữ đúng index; nhóm hằng trả 0. Đây là thang tương đối trong nhóm.</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 15 giây.</a:t>
            </a:r>
          </a:p>
          <a:p xmlns:a="http://schemas.openxmlformats.org/drawingml/2006/main">
            <a:r>
              <a:t>Có ma trận Pearson cho 16 biến số gốc và bảng Spearman bổ sung. G2 có rho khoảng 0,94445 và là điểm kỳ trước; không trình bày như một phát hiện mới về hoàn cảnh. failures có rho khoảng −0,44836, lớn nhất về trị tuyệt đối trong nhóm biến hoàn cảnh dạng số/thứ bậc đã xét. Đây không phải feature importance của mô hình đa biến. Không so mean difference của biến định tính trực tiếp với rho.</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a:t>
            </a:r>
          </a:p>
          <a:p xmlns:a="http://schemas.openxmlformats.org/drawingml/2006/main">
            <a:r>
              <a:t>Histogram trong notebook dùng sns.histplot với bin một điểm. Slide dùng cùng bảng tần số đã xuất ở dạng chart chỉnh sửa được. Mean khoảng 11,906; median 12; sample SD khoảng 3,231. Giữ điểm 0 như một kết quả quan sát. Trục giữ toàn thang lý thuyết 0–20, kể cả bin rỗng.</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a:t>
            </a:r>
          </a:p>
          <a:p xmlns:a="http://schemas.openxmlformats.org/drawingml/2006/main">
            <a:r>
              <a:t>Box plot trong notebook dùng Seaborn. Q1, median, Q3, whiskers và outliers được xuất theo cùng quy tắc 1,5 IQR. Slide dùng các đối tượng chỉnh sửa được dựng từ thống kê này để tránh khác biệt quy tắc quartile của Office. Median GP là 13, MS là 11. Khác biệt nhóm chưa điều chỉnh không chứng minh tác động của trường.</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a:t>
            </a:r>
          </a:p>
          <a:p xmlns:a="http://schemas.openxmlformats.org/drawingml/2006/main">
            <a:r>
              <a:t>So sánh mean G3 theo studytime 1–4. Bảng gốc có count và SD; các cỡ nhóm lần lượt là 212, 305, 97, 35. Nhãn trên slide giữ cả khoảng giờ và n. Nhóm trên 10 giờ nhỏ nhất. Không suy ra rằng một người học thêm giờ sẽ đạt đúng chênh lệch trung bình quan sát này.</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a:t>
            </a:r>
          </a:p>
          <a:p xmlns:a="http://schemas.openxmlformats.org/drawingml/2006/main">
            <a:r>
              <a:t>Pie chart sử dụng đúng cột tạo ở Phần II. Nhóm 0–9 có 100 bản ghi, 15,41%; 10–14 có 418, 64,41%; 15–20 có 131, 20,18%. Đây là dải điểm do nhóm quy ước để mô tả, không phải hệ thống xếp loại chính thức. Tổng count là 649 và phần trăm tổng 100 trước làm tròn.</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a:t>
            </a:r>
          </a:p>
          <a:p xmlns:a="http://schemas.openxmlformats.org/drawingml/2006/main">
            <a:r>
              <a:t>Notebook dùng sns.regplot, ci=None, và độ trong suốt để thấy các tọa độ chồng nhau. Tọa độ đường fit được xuất từ lần chạy Seaborn và dùng lại trên slide. Rho khoảng 0,9445 là liên hệ, không phải nhân quả. G2 và G3 là các kỳ đánh giá liên quan nhau về thời gian và nội dung.</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a:t>
            </a:r>
          </a:p>
          <a:p xmlns:a="http://schemas.openxmlformats.org/drawingml/2006/main">
            <a:r>
              <a:t>Chỉ rõ cell III.4: dữ liệu chuyển thành list/dictionary, rồi dùng Matplotlib bar và bar_label. Giá trị là mean G1/G2 của năm bản ghi đầu, không chứa G3. Nhãn 1–5 là vị trí dòng nguồn, không phải mã hay tên cá nhân. Ví dụ nhỏ này minh họa thao tác Python và vẽ, không đại diện cho toàn bộ dataset.</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 30 giây.</a:t>
            </a:r>
          </a:p>
          <a:p xmlns:a="http://schemas.openxmlformats.org/drawingml/2006/main">
            <a:r>
              <a:t>Hàm comprehensive_report(df) vừa in nội dung dễ đọc vừa trả dictionary để dùng lại đúng số liệu. Có 37 cột: 33 cột gốc và 4 cột dẫn xuất. Top/bottom giữ đúng 10 dòng; stable sort giữ thứ tự nguồn khi đồng hạng. Tất cả 37 cột có trong notebook và CSV; slide chỉ trích các cột có thể đọc được.</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3 phút.</a:t>
            </a:r>
          </a:p>
          <a:p xmlns:a="http://schemas.openxmlformats.org/drawingml/2006/main">
            <a:r>
              <a:t>Demo trong 3 phút: (1) mở I.3, chỉ mask 32 ô và hai kết quả mean/dropna 649/617; (2) mở II.2 và II.4, chỉ insert và transform; (3) mở IV.1 và IV.2, gọi comprehensive_report rồi xem bảng đủ cột. Chạy toàn bộ từ kernel sạch trước buổi báo cáo để kiểm tái lập. Nếu demo gặp lỗi, dùng outputs đã lưu, không chờ tải dữ liệu. Xem Demo_VI.md để có lời dẫn và mốc thời gian.</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 30 giây.</a:t>
            </a:r>
          </a:p>
          <a:p xmlns:a="http://schemas.openxmlformats.org/drawingml/2006/main">
            <a:r>
              <a:t>Chốt phân bố điểm, liên hệ với G2 và failure categories. Nhắc giới hạn: hai trường ở Bồ Đào Nha, không đại diện TDTU; chưa điều chỉnh đa biến; không chứng minh nhân quả; chỉ một mô phỏng MCAR. Gợi ý nghiên cứu hỗ trợ học sinh là một hướng cần kiểm chứng, chưa có effect size hay mức lợi ích dự kiến.</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30 giây.</a:t>
            </a:r>
          </a:p>
          <a:p xmlns:a="http://schemas.openxmlformats.org/drawingml/2006/main">
            <a:r>
              <a:t>Nêu dataset và tài liệu chính thức của các thư viện. Codebook, mã nguồn và manifest có trong gói nộp. Biểu đồ phân tích sinh từ notebook; logo giữ nguồn chuẩn của trường. Trích dẫn dữ liệu theo CC BY 4.0 và chuyển sang hỏi đáp.</a:t>
            </a:r>
          </a:p>
          <a:p xmlns:a="http://schemas.openxmlformats.org/drawingml/2006/main">
            <a:r>
              <a:t>Nguồn: URLs displayed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Theo giảng viên.</a:t>
            </a:r>
          </a:p>
          <a:p xmlns:a="http://schemas.openxmlformats.org/drawingml/2006/main">
            <a:r>
              <a:t>Mời giảng viên hỏi. Chuẩn bị giải thích vì sao 32 ô chỉ là 4,93%; mean imputation thay đổi độ phân tán; tương quan G2 không chứng minh nhân quả; normalization trong nhóm không tạo thang điểm tuyệt đối; stable top ten xử lý đồng hạng ra sao. Xem Viva_VI.md.</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Dự phòng.</a:t>
            </a:r>
          </a:p>
          <a:p xmlns:a="http://schemas.openxmlformats.org/drawingml/2006/main">
            <a:r>
              <a:t>Bảng trên slide chọn một số cột để đọc được. Tất cả 37 cột nằm trong notebook và CSV. Source index dùng zero-based. Đồng hạng giữ thứ tự dòng nguồn; bản ghi đồng điểm bị loại không kém hơn hay tốt hơn về G3.</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Dự phòng.</a:t>
            </a:r>
          </a:p>
          <a:p xmlns:a="http://schemas.openxmlformats.org/drawingml/2006/main">
            <a:r>
              <a:t>Bảng trên slide chọn một số cột để đọc được. Tất cả 37 cột nằm trong notebook và CSV. Source index dùng zero-based. Đồng hạng giữ thứ tự dòng nguồn; bản ghi đồng điểm bị loại không kém hơn hay tốt hơn về G3.</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Dự phòng.</a:t>
            </a:r>
          </a:p>
          <a:p xmlns:a="http://schemas.openxmlformats.org/drawingml/2006/main">
            <a:r>
              <a:t>Bảng độ nhạy hiển thị sample SD của absences, rho với G3 và số dòng thỏa bộ lọc. Dùng cùng mask cho mọi phương pháp. Denominator raw là 649, dropna là 617. Fixture nhóm hằng trả 0; kiểm ngưỡng band tại 0, 9, 10, 14, 15, 20. Giữ nguyên mã failures và ghi chú sự mơ hồ trong codebook, không sửa ngầm.</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fd0dbef8c5c425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4978c94fe10465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ceadc5edc614a0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28e779f055d4f1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321caedc0ec41b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c1a773208ec463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98AC5DF-C763-4CA9-9B12-536D1CE344D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3444B61-1C44-4AF3-A89E-905544A27BF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3ABC34D-1E9A-4ABA-BBD1-A4230A942BE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E4B554A-C82C-44FD-973F-767E2DC10E6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7578F69-F042-4649-9364-2D02ADE9A59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80E7D09-D6F8-4C85-B5DF-4E35DA746CD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BE89041-E598-4DA6-96DB-F14348E6B4B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B315EC6-A727-43B5-B488-234C2E7049B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CDDD27D-D665-4A77-A5A3-5BDF3AB2B78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2535B75-EDC5-4245-9F93-791584E84D6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aaed911e0d944b1" /><Relationship Type="http://schemas.openxmlformats.org/officeDocument/2006/relationships/slideLayout" Target="/ppt/slideLayouts/slideLayout1.xml" Id="R2e59db4d48e34247" /><Relationship Type="http://schemas.openxmlformats.org/officeDocument/2006/relationships/slideLayout" Target="/ppt/slideLayouts/slideLayout2.xml" Id="R059aa41364504d8b" /><Relationship Type="http://schemas.openxmlformats.org/officeDocument/2006/relationships/slideLayout" Target="/ppt/slideLayouts/slideLayout3.xml" Id="R75b7b35763264c6b" /><Relationship Type="http://schemas.openxmlformats.org/officeDocument/2006/relationships/slideLayout" Target="/ppt/slideLayouts/slideLayout4.xml" Id="Rbb5f8d3228f441f5" /><Relationship Type="http://schemas.openxmlformats.org/officeDocument/2006/relationships/slideLayout" Target="/ppt/slideLayouts/slideLayout5.xml" Id="R22c3a64ba613479e" /><Relationship Type="http://schemas.openxmlformats.org/officeDocument/2006/relationships/slideLayout" Target="/ppt/slideLayouts/slideLayout6.xml" Id="R2e7272295a7348b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e59db4d48e34247"/>
    <p:sldLayoutId xmlns:r="http://schemas.openxmlformats.org/officeDocument/2006/relationships" id="2147483650" r:id="R059aa41364504d8b"/>
    <p:sldLayoutId xmlns:r="http://schemas.openxmlformats.org/officeDocument/2006/relationships" id="2147483651" r:id="R75b7b35763264c6b"/>
    <p:sldLayoutId xmlns:r="http://schemas.openxmlformats.org/officeDocument/2006/relationships" id="2147483652" r:id="Rbb5f8d3228f441f5"/>
    <p:sldLayoutId xmlns:r="http://schemas.openxmlformats.org/officeDocument/2006/relationships" id="2147483653" r:id="R22c3a64ba613479e"/>
    <p:sldLayoutId xmlns:r="http://schemas.openxmlformats.org/officeDocument/2006/relationships" id="2147483654" r:id="R2e7272295a7348b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TDTU Academic Monochrome">
      <a:dk1>
        <a:srgbClr val="000000"/>
      </a:dk1>
      <a:lt1>
        <a:srgbClr val="FFFFFF"/>
      </a:lt1>
      <a:dk2>
        <a:srgbClr val="333333"/>
      </a:dk2>
      <a:lt2>
        <a:srgbClr val="EEEEEE"/>
      </a:lt2>
      <a:accent1>
        <a:srgbClr val="555555"/>
      </a:accent1>
      <a:accent2>
        <a:srgbClr val="999999"/>
      </a:accent2>
      <a:accent3>
        <a:srgbClr val="CCCCCC"/>
      </a:accent3>
      <a:accent4>
        <a:srgbClr val="222222"/>
      </a:accent4>
      <a:accent5>
        <a:srgbClr val="EEEEEE"/>
      </a:accent5>
      <a:accent6>
        <a:srgbClr val="777777"/>
      </a:accent6>
      <a:hlink>
        <a:srgbClr val="000000"/>
      </a:hlink>
      <a:folHlink>
        <a:srgbClr val="444444"/>
      </a:folHlink>
    </a:clrScheme>
    <a:fontScheme name="">
      <a:majorFont>
        <a:latin typeface="Arial"/>
        <a:ea typeface=""/>
        <a:cs typeface=""/>
      </a:majorFont>
      <a:minorFont>
        <a:latin typeface="Arial"/>
        <a:ea typeface=""/>
        <a:cs typeface=""/>
      </a:minorFont>
    </a:fontScheme>
    <a:fmtScheme name="TDTU Academic Monochro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502294c35fc46dd" /><Relationship Type="http://schemas.openxmlformats.org/officeDocument/2006/relationships/image" Target="/ppt/media/image.png" Id="Reec94c812a2a4d26" /><Relationship Type="http://schemas.openxmlformats.org/officeDocument/2006/relationships/notesSlide" Target="/ppt/notesSlides/notesSlide1.xml" Id="Rf1a8fd719a7d42d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5ceab595ede43f8" /><Relationship Type="http://schemas.openxmlformats.org/officeDocument/2006/relationships/image" Target="/ppt/media/image2.png" Id="Rccded93780c142e2" /><Relationship Type="http://schemas.openxmlformats.org/officeDocument/2006/relationships/notesSlide" Target="/ppt/notesSlides/notesSlide2.xml" Id="R2b5d137ac60a47c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473ceceb8c54625" /><Relationship Type="http://schemas.openxmlformats.org/officeDocument/2006/relationships/image" Target="/ppt/media/image3.png" Id="Raff40bfba7544909" /><Relationship Type="http://schemas.openxmlformats.org/officeDocument/2006/relationships/notesSlide" Target="/ppt/notesSlides/notesSlide3.xml" Id="R471da3c574f3487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c6faf1a17474394" /><Relationship Type="http://schemas.openxmlformats.org/officeDocument/2006/relationships/image" Target="/ppt/media/image4.png" Id="R36ef66c461734f41" /><Relationship Type="http://schemas.openxmlformats.org/officeDocument/2006/relationships/notesSlide" Target="/ppt/notesSlides/notesSlide4.xml" Id="R4af7296f789840f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eb71ca292104c18" /><Relationship Type="http://schemas.openxmlformats.org/officeDocument/2006/relationships/image" Target="/ppt/media/image5.png" Id="R6de4b1fabdce4ca4" /><Relationship Type="http://schemas.openxmlformats.org/officeDocument/2006/relationships/notesSlide" Target="/ppt/notesSlides/notesSlide5.xml" Id="R589107c580e24b2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69f0d24847e4386" /><Relationship Type="http://schemas.openxmlformats.org/officeDocument/2006/relationships/image" Target="/ppt/media/image6.png" Id="Rad5cade491474698" /><Relationship Type="http://schemas.openxmlformats.org/officeDocument/2006/relationships/notesSlide" Target="/ppt/notesSlides/notesSlide6.xml" Id="R69d1fe21d5a04ea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0c75205326e4e72" /><Relationship Type="http://schemas.openxmlformats.org/officeDocument/2006/relationships/image" Target="/ppt/media/image7.png" Id="R33cd7eb020554dda" /><Relationship Type="http://schemas.openxmlformats.org/officeDocument/2006/relationships/notesSlide" Target="/ppt/notesSlides/notesSlide7.xml" Id="Rfe6e0b1a1242456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5743d06185c481e" /><Relationship Type="http://schemas.openxmlformats.org/officeDocument/2006/relationships/image" Target="/ppt/media/image8.png" Id="R3537338835cf453e" /><Relationship Type="http://schemas.openxmlformats.org/officeDocument/2006/relationships/notesSlide" Target="/ppt/notesSlides/notesSlide8.xml" Id="Rcf38315988594fc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c94409bbe4d4169" /><Relationship Type="http://schemas.openxmlformats.org/officeDocument/2006/relationships/image" Target="/ppt/media/image9.png" Id="Rc197a40818664472" /><Relationship Type="http://schemas.openxmlformats.org/officeDocument/2006/relationships/notesSlide" Target="/ppt/notesSlides/notesSlide9.xml" Id="Ref7aa6213960449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e1f4530d4c24efb" /><Relationship Type="http://schemas.openxmlformats.org/officeDocument/2006/relationships/image" Target="/ppt/media/image10.png" Id="Rc6b1c418e4c84267" /><Relationship Type="http://schemas.openxmlformats.org/officeDocument/2006/relationships/notesSlide" Target="/ppt/notesSlides/notesSlide10.xml" Id="R0bdfe93388264db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ffa414892be4e80" /><Relationship Type="http://schemas.openxmlformats.org/officeDocument/2006/relationships/image" Target="/ppt/media/image11.png" Id="R20337b45ba02470b" /><Relationship Type="http://schemas.openxmlformats.org/officeDocument/2006/relationships/notesSlide" Target="/ppt/notesSlides/notesSlide11.xml" Id="R197c0d0aa5e5426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efecce352e5c43c2" /><Relationship Type="http://schemas.openxmlformats.org/officeDocument/2006/relationships/image" Target="/ppt/media/image12.png" Id="Raa46e4d6ab8b410d" /><Relationship Type="http://schemas.openxmlformats.org/officeDocument/2006/relationships/chart" Target="/ppt/slides/charts/chart1.xml" Id="R6db27d31ed794988" /><Relationship Type="http://schemas.openxmlformats.org/officeDocument/2006/relationships/notesSlide" Target="/ppt/notesSlides/notesSlide12.xml" Id="R46269c0b989348b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7ac06c47bad43cd" /><Relationship Type="http://schemas.openxmlformats.org/officeDocument/2006/relationships/image" Target="/ppt/media/image13.png" Id="Rc902bd68a4774fa7" /><Relationship Type="http://schemas.openxmlformats.org/officeDocument/2006/relationships/notesSlide" Target="/ppt/notesSlides/notesSlide13.xml" Id="R713f5ab7278f4f1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1df97b1974ef4bb8" /><Relationship Type="http://schemas.openxmlformats.org/officeDocument/2006/relationships/image" Target="/ppt/media/image14.png" Id="R7fbc18763e7647b3" /><Relationship Type="http://schemas.openxmlformats.org/officeDocument/2006/relationships/chart" Target="/ppt/slides/charts/chart2.xml" Id="R199842fd47434a4b" /><Relationship Type="http://schemas.openxmlformats.org/officeDocument/2006/relationships/notesSlide" Target="/ppt/notesSlides/notesSlide14.xml" Id="Re8a360ad87d2405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074eb548136e422a" /><Relationship Type="http://schemas.openxmlformats.org/officeDocument/2006/relationships/image" Target="/ppt/media/image15.png" Id="Rd22ce66791da4df4" /><Relationship Type="http://schemas.openxmlformats.org/officeDocument/2006/relationships/chart" Target="/ppt/slides/charts/chart3.xml" Id="Re89467c437c94b3e" /><Relationship Type="http://schemas.openxmlformats.org/officeDocument/2006/relationships/notesSlide" Target="/ppt/notesSlides/notesSlide15.xml" Id="R0fb197de866349e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68389438a48044e0" /><Relationship Type="http://schemas.openxmlformats.org/officeDocument/2006/relationships/image" Target="/ppt/media/image16.png" Id="R172b1241c4cf4ea2" /><Relationship Type="http://schemas.openxmlformats.org/officeDocument/2006/relationships/chart" Target="/ppt/slides/charts/chart4.xml" Id="R85b186cff8f141b8" /><Relationship Type="http://schemas.openxmlformats.org/officeDocument/2006/relationships/notesSlide" Target="/ppt/notesSlides/notesSlide16.xml" Id="R383248cc4277438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f0141651eb07483d" /><Relationship Type="http://schemas.openxmlformats.org/officeDocument/2006/relationships/image" Target="/ppt/media/image17.png" Id="Rb263576efb454f4b" /><Relationship Type="http://schemas.openxmlformats.org/officeDocument/2006/relationships/chart" Target="/ppt/slides/charts/chart5.xml" Id="Re079556a5be14759" /><Relationship Type="http://schemas.openxmlformats.org/officeDocument/2006/relationships/notesSlide" Target="/ppt/notesSlides/notesSlide17.xml" Id="R9e061bfa220c49f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ccb6d3c807b142a2" /><Relationship Type="http://schemas.openxmlformats.org/officeDocument/2006/relationships/image" Target="/ppt/media/image18.png" Id="R3b6b4ef391904ad2" /><Relationship Type="http://schemas.openxmlformats.org/officeDocument/2006/relationships/notesSlide" Target="/ppt/notesSlides/notesSlide18.xml" Id="Rb0e1f84cf73847c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0b32261f6cdf4d2c" /><Relationship Type="http://schemas.openxmlformats.org/officeDocument/2006/relationships/image" Target="/ppt/media/image19.png" Id="Reeea1fb47a1b4136" /><Relationship Type="http://schemas.openxmlformats.org/officeDocument/2006/relationships/notesSlide" Target="/ppt/notesSlides/notesSlide19.xml" Id="R5c90053e874642e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f9db5d990f8445fa" /><Relationship Type="http://schemas.openxmlformats.org/officeDocument/2006/relationships/image" Target="/ppt/media/image20.png" Id="R18095eb0dcbb465c" /><Relationship Type="http://schemas.openxmlformats.org/officeDocument/2006/relationships/notesSlide" Target="/ppt/notesSlides/notesSlide20.xml" Id="R2e8804183ca24df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027e9bae95a34f36" /><Relationship Type="http://schemas.openxmlformats.org/officeDocument/2006/relationships/image" Target="/ppt/media/image21.png" Id="R001e844e4984417e" /><Relationship Type="http://schemas.openxmlformats.org/officeDocument/2006/relationships/notesSlide" Target="/ppt/notesSlides/notesSlide21.xml" Id="R4579badfdfc549b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a4a21730d7684ae4" /><Relationship Type="http://schemas.openxmlformats.org/officeDocument/2006/relationships/image" Target="/ppt/media/image22.png" Id="Rc374421ea7a348e6" /><Relationship Type="http://schemas.openxmlformats.org/officeDocument/2006/relationships/notesSlide" Target="/ppt/notesSlides/notesSlide22.xml" Id="R2bd7d841618d4f9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e5c0c4aa4fdf40b1" /><Relationship Type="http://schemas.openxmlformats.org/officeDocument/2006/relationships/image" Target="/ppt/media/image23.png" Id="Rf1b4d09f4a7c4444" /><Relationship Type="http://schemas.openxmlformats.org/officeDocument/2006/relationships/notesSlide" Target="/ppt/notesSlides/notesSlide23.xml" Id="R9ce48ffe89744fd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490a2fd1a45e4956" /><Relationship Type="http://schemas.openxmlformats.org/officeDocument/2006/relationships/image" Target="/ppt/media/image24.png" Id="R48f43fdd78c84a1a" /><Relationship Type="http://schemas.openxmlformats.org/officeDocument/2006/relationships/notesSlide" Target="/ppt/notesSlides/notesSlide24.xml" Id="Re056cd1e84974a1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cd25bd7717254f4e" /><Relationship Type="http://schemas.openxmlformats.org/officeDocument/2006/relationships/image" Target="/ppt/media/image25.png" Id="Rae1ebc2e2b7e45a3" /><Relationship Type="http://schemas.openxmlformats.org/officeDocument/2006/relationships/notesSlide" Target="/ppt/notesSlides/notesSlide25.xml" Id="R62ad36abb093438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barChart>
        <c:barDir val="col"/>
        <c:varyColors val="0"/>
        <c:ser>
          <c:idx val="0"/>
          <c:order val="0"/>
          <c:tx>
            <c:v>Records</c:v>
          </c:tx>
          <c:spPr>
            <a:solidFill xmlns:a="http://schemas.openxmlformats.org/drawingml/2006/main">
              <a:srgbClr val="888888"/>
            </a:solidFill>
            <a:ln xmlns:a="http://schemas.openxmlformats.org/drawingml/2006/main" w="9525">
              <a:solidFill>
                <a:srgbClr val="000000"/>
              </a:solidFill>
              <a:prstDash val="solid"/>
            </a:ln>
          </c:spPr>
          <c:invertIfNegative val="0"/>
          <c:cat>
            <c:numRef>
              <c:f>'Chart Data'!$A$2:$A$22</c:f>
              <c:numCache>
                <c:formatCode>General</c:formatCode>
                <c:ptCount val="2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numCache>
            </c:numRef>
          </c:cat>
          <c:val>
            <c:numRef>
              <c:f>'Chart Data'!$B$2:$B$22</c:f>
              <c:numCache>
                <c:formatCode>General</c:formatCode>
                <c:ptCount val="21"/>
                <c:pt idx="0">
                  <c:v>15</c:v>
                </c:pt>
                <c:pt idx="1">
                  <c:v>1</c:v>
                </c:pt>
                <c:pt idx="2">
                  <c:v>0</c:v>
                </c:pt>
                <c:pt idx="3">
                  <c:v>0</c:v>
                </c:pt>
                <c:pt idx="4">
                  <c:v>0</c:v>
                </c:pt>
                <c:pt idx="5">
                  <c:v>1</c:v>
                </c:pt>
                <c:pt idx="6">
                  <c:v>3</c:v>
                </c:pt>
                <c:pt idx="7">
                  <c:v>10</c:v>
                </c:pt>
                <c:pt idx="8">
                  <c:v>35</c:v>
                </c:pt>
                <c:pt idx="9">
                  <c:v>35</c:v>
                </c:pt>
                <c:pt idx="10">
                  <c:v>97</c:v>
                </c:pt>
                <c:pt idx="11">
                  <c:v>104</c:v>
                </c:pt>
                <c:pt idx="12">
                  <c:v>72</c:v>
                </c:pt>
                <c:pt idx="13">
                  <c:v>82</c:v>
                </c:pt>
                <c:pt idx="14">
                  <c:v>63</c:v>
                </c:pt>
                <c:pt idx="15">
                  <c:v>49</c:v>
                </c:pt>
                <c:pt idx="16">
                  <c:v>36</c:v>
                </c:pt>
                <c:pt idx="17">
                  <c:v>29</c:v>
                </c:pt>
                <c:pt idx="18">
                  <c:v>15</c:v>
                </c:pt>
                <c:pt idx="19">
                  <c:v>2</c:v>
                </c:pt>
                <c:pt idx="20">
                  <c:v>0</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0"/>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G3 final grade (points)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Number of records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varyColors val="0"/>
        <c:ser>
          <c:idx val="0"/>
          <c:order val="0"/>
          <c:tx>
            <c:v>Mean G3</c:v>
          </c:tx>
          <c:spPr>
            <a:solidFill xmlns:a="http://schemas.openxmlformats.org/drawingml/2006/main">
              <a:srgbClr val="999999"/>
            </a:solidFill>
            <a:ln xmlns:a="http://schemas.openxmlformats.org/drawingml/2006/main" w="9525">
              <a:solidFill>
                <a:srgbClr val="000000"/>
              </a:solidFill>
              <a:prstDash val="solid"/>
            </a:ln>
          </c:spPr>
          <c:invertIfNegative val="0"/>
          <c:cat>
            <c:strRef>
              <c:f>'Chart Data'!$A$2:$A$5</c:f>
              <c:strCache>
                <c:ptCount val="4"/>
                <c:pt idx="0">
                  <c:v>&lt;2 h
n=212</c:v>
                </c:pt>
                <c:pt idx="1">
                  <c:v>2–5 h
n=305</c:v>
                </c:pt>
                <c:pt idx="2">
                  <c:v>5–10 h
n=97</c:v>
                </c:pt>
                <c:pt idx="3">
                  <c:v>&gt;10 h
n=35</c:v>
                </c:pt>
              </c:strCache>
            </c:strRef>
          </c:cat>
          <c:val>
            <c:numRef>
              <c:f>'Chart Data'!$B$2:$B$5</c:f>
              <c:numCache>
                <c:formatCode>General</c:formatCode>
                <c:ptCount val="4"/>
                <c:pt idx="0">
                  <c:v>10.8443396226</c:v>
                </c:pt>
                <c:pt idx="1">
                  <c:v>12.0918032787</c:v>
                </c:pt>
                <c:pt idx="2">
                  <c:v>13.2268041237</c:v>
                </c:pt>
                <c:pt idx="3">
                  <c:v>13.0571428571</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Weekly study-time category</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crossAx val="48672768"/>
      </c:catAx>
      <c:valAx>
        <c:axId val="48672768"/>
        <c:scaling>
          <c:orientation val="minMax"/>
          <c:max val="20"/>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Mean G3 (points)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crossAx val="48650112"/>
        <c:crossBetween val="between"/>
        <c:majorUnit val="5"/>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pieChart>
        <c:ser>
          <c:idx val="0"/>
          <c:order val="0"/>
          <c:tx>
            <c:v>Records</c:v>
          </c:tx>
          <c:dPt>
            <c:idx val="0"/>
            <c:spPr>
              <a:solidFill xmlns:a="http://schemas.openxmlformats.org/drawingml/2006/main">
                <a:srgbClr val="EEEEEE"/>
              </a:solidFill>
              <a:ln xmlns:a="http://schemas.openxmlformats.org/drawingml/2006/main" w="9525">
                <a:solidFill>
                  <a:srgbClr val="000000"/>
                </a:solidFill>
                <a:prstDash val="solid"/>
              </a:ln>
            </c:spPr>
          </c:dPt>
          <c:dPt>
            <c:idx val="1"/>
            <c:spPr>
              <a:solidFill xmlns:a="http://schemas.openxmlformats.org/drawingml/2006/main">
                <a:srgbClr val="BBBBBB"/>
              </a:solidFill>
              <a:ln xmlns:a="http://schemas.openxmlformats.org/drawingml/2006/main" w="9525">
                <a:solidFill>
                  <a:srgbClr val="000000"/>
                </a:solidFill>
                <a:prstDash val="solid"/>
              </a:ln>
            </c:spPr>
          </c:dPt>
          <c:dPt>
            <c:idx val="2"/>
            <c:spPr>
              <a:solidFill xmlns:a="http://schemas.openxmlformats.org/drawingml/2006/main">
                <a:srgbClr val="888888"/>
              </a:solidFill>
              <a:ln xmlns:a="http://schemas.openxmlformats.org/drawingml/2006/main" w="9525">
                <a:solidFill>
                  <a:srgbClr val="000000"/>
                </a:solidFill>
                <a:prstDash val="solid"/>
              </a:ln>
            </c:spPr>
          </c:dPt>
          <c:cat>
            <c:strRef>
              <c:f>'Chart Data'!$A$2:$A$4</c:f>
              <c:strCache>
                <c:ptCount val="3"/>
                <c:pt idx="0">
                  <c:v>0–9</c:v>
                </c:pt>
                <c:pt idx="1">
                  <c:v>10–14</c:v>
                </c:pt>
                <c:pt idx="2">
                  <c:v>15–20</c:v>
                </c:pt>
              </c:strCache>
            </c:strRef>
          </c:cat>
          <c:val>
            <c:numRef>
              <c:f>'Chart Data'!$B$2:$B$4</c:f>
              <c:numCache>
                <c:formatCode>General</c:formatCode>
                <c:ptCount val="3"/>
                <c:pt idx="0">
                  <c:v>100</c:v>
                </c:pt>
                <c:pt idx="1">
                  <c:v>418</c:v>
                </c:pt>
                <c:pt idx="2">
                  <c:v>131</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2025" b="1">
                  <a:solidFill>
                    <a:srgbClr val="000000"/>
                  </a:solidFill>
                  <a:latin typeface="Arial"/>
                  <a:ea typeface="Arial"/>
                  <a:cs typeface="Arial"/>
                </a:defRPr>
              </a:pPr>
            </a:p>
          </c:txPr>
          <c:dLblPos val="bestFit"/>
          <c:showLegendKey val="0"/>
          <c:showVal val="0"/>
          <c:showCatName val="0"/>
          <c:showSerName val="0"/>
          <c:showPercent val="1"/>
          <c:showBubbleSize val="0"/>
          <c:showLeaderLines val="0"/>
        </c:dLbls>
      </c:pieChart>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Observed records</c:v>
          </c:tx>
          <c:spPr>
            <a:solidFill xmlns:a="http://schemas.openxmlformats.org/drawingml/2006/main">
              <a:srgbClr val="777777"/>
            </a:solidFill>
            <a:ln xmlns:a="http://schemas.openxmlformats.org/drawingml/2006/main" w="0">
              <a:noFill/>
            </a:ln>
          </c:spPr>
          <c:marker>
            <c:symbol val="circle"/>
            <c:size val="4"/>
            <c:spPr>
              <a:solidFill xmlns:a="http://schemas.openxmlformats.org/drawingml/2006/main">
                <a:srgbClr val="777777">
                  <a:alpha val="30000"/>
                </a:srgbClr>
              </a:solidFill>
            </c:spPr>
          </c:marker>
          <c:xVal>
            <c:numRef>
              <c:f>'Chart Data'!$A$2:$A$650</c:f>
              <c:numCache>
                <c:formatCode>General</c:formatCode>
                <c:ptCount val="649"/>
                <c:pt idx="0">
                  <c:v>11</c:v>
                </c:pt>
                <c:pt idx="1">
                  <c:v>11</c:v>
                </c:pt>
                <c:pt idx="2">
                  <c:v>13</c:v>
                </c:pt>
                <c:pt idx="3">
                  <c:v>14</c:v>
                </c:pt>
                <c:pt idx="4">
                  <c:v>13</c:v>
                </c:pt>
                <c:pt idx="5">
                  <c:v>12</c:v>
                </c:pt>
                <c:pt idx="6">
                  <c:v>12</c:v>
                </c:pt>
                <c:pt idx="7">
                  <c:v>13</c:v>
                </c:pt>
                <c:pt idx="8">
                  <c:v>16</c:v>
                </c:pt>
                <c:pt idx="9">
                  <c:v>12</c:v>
                </c:pt>
                <c:pt idx="10">
                  <c:v>14</c:v>
                </c:pt>
                <c:pt idx="11">
                  <c:v>12</c:v>
                </c:pt>
                <c:pt idx="12">
                  <c:v>13</c:v>
                </c:pt>
                <c:pt idx="13">
                  <c:v>12</c:v>
                </c:pt>
                <c:pt idx="14">
                  <c:v>14</c:v>
                </c:pt>
                <c:pt idx="15">
                  <c:v>17</c:v>
                </c:pt>
                <c:pt idx="16">
                  <c:v>13</c:v>
                </c:pt>
                <c:pt idx="17">
                  <c:v>14</c:v>
                </c:pt>
                <c:pt idx="18">
                  <c:v>8</c:v>
                </c:pt>
                <c:pt idx="19">
                  <c:v>12</c:v>
                </c:pt>
                <c:pt idx="20">
                  <c:v>13</c:v>
                </c:pt>
                <c:pt idx="21">
                  <c:v>12</c:v>
                </c:pt>
                <c:pt idx="22">
                  <c:v>13</c:v>
                </c:pt>
                <c:pt idx="23">
                  <c:v>10</c:v>
                </c:pt>
                <c:pt idx="24">
                  <c:v>11</c:v>
                </c:pt>
                <c:pt idx="25">
                  <c:v>11</c:v>
                </c:pt>
                <c:pt idx="26">
                  <c:v>12</c:v>
                </c:pt>
                <c:pt idx="27">
                  <c:v>11</c:v>
                </c:pt>
                <c:pt idx="28">
                  <c:v>12</c:v>
                </c:pt>
                <c:pt idx="29">
                  <c:v>11</c:v>
                </c:pt>
                <c:pt idx="30">
                  <c:v>11</c:v>
                </c:pt>
                <c:pt idx="31">
                  <c:v>15</c:v>
                </c:pt>
                <c:pt idx="32">
                  <c:v>14</c:v>
                </c:pt>
                <c:pt idx="33">
                  <c:v>12</c:v>
                </c:pt>
                <c:pt idx="34">
                  <c:v>12</c:v>
                </c:pt>
                <c:pt idx="35">
                  <c:v>11</c:v>
                </c:pt>
                <c:pt idx="36">
                  <c:v>14</c:v>
                </c:pt>
                <c:pt idx="37">
                  <c:v>13</c:v>
                </c:pt>
                <c:pt idx="38">
                  <c:v>12</c:v>
                </c:pt>
                <c:pt idx="39">
                  <c:v>13</c:v>
                </c:pt>
                <c:pt idx="40">
                  <c:v>11</c:v>
                </c:pt>
                <c:pt idx="41">
                  <c:v>11</c:v>
                </c:pt>
                <c:pt idx="42">
                  <c:v>15</c:v>
                </c:pt>
                <c:pt idx="43">
                  <c:v>10</c:v>
                </c:pt>
                <c:pt idx="44">
                  <c:v>11</c:v>
                </c:pt>
                <c:pt idx="45">
                  <c:v>11</c:v>
                </c:pt>
                <c:pt idx="46">
                  <c:v>12</c:v>
                </c:pt>
                <c:pt idx="47">
                  <c:v>17</c:v>
                </c:pt>
                <c:pt idx="48">
                  <c:v>12</c:v>
                </c:pt>
                <c:pt idx="49">
                  <c:v>12</c:v>
                </c:pt>
                <c:pt idx="50">
                  <c:v>13</c:v>
                </c:pt>
                <c:pt idx="51">
                  <c:v>14</c:v>
                </c:pt>
                <c:pt idx="52">
                  <c:v>9</c:v>
                </c:pt>
                <c:pt idx="53">
                  <c:v>12</c:v>
                </c:pt>
                <c:pt idx="54">
                  <c:v>12</c:v>
                </c:pt>
                <c:pt idx="55">
                  <c:v>13</c:v>
                </c:pt>
                <c:pt idx="56">
                  <c:v>14</c:v>
                </c:pt>
                <c:pt idx="57">
                  <c:v>15</c:v>
                </c:pt>
                <c:pt idx="58">
                  <c:v>13</c:v>
                </c:pt>
                <c:pt idx="59">
                  <c:v>15</c:v>
                </c:pt>
                <c:pt idx="60">
                  <c:v>16</c:v>
                </c:pt>
                <c:pt idx="61">
                  <c:v>10</c:v>
                </c:pt>
                <c:pt idx="62">
                  <c:v>13</c:v>
                </c:pt>
                <c:pt idx="63">
                  <c:v>13</c:v>
                </c:pt>
                <c:pt idx="64">
                  <c:v>12</c:v>
                </c:pt>
                <c:pt idx="65">
                  <c:v>15</c:v>
                </c:pt>
                <c:pt idx="66">
                  <c:v>12</c:v>
                </c:pt>
                <c:pt idx="67">
                  <c:v>9</c:v>
                </c:pt>
                <c:pt idx="68">
                  <c:v>10</c:v>
                </c:pt>
                <c:pt idx="69">
                  <c:v>15</c:v>
                </c:pt>
                <c:pt idx="70">
                  <c:v>11</c:v>
                </c:pt>
                <c:pt idx="71">
                  <c:v>9</c:v>
                </c:pt>
                <c:pt idx="72">
                  <c:v>11</c:v>
                </c:pt>
                <c:pt idx="73">
                  <c:v>13</c:v>
                </c:pt>
                <c:pt idx="74">
                  <c:v>11</c:v>
                </c:pt>
                <c:pt idx="75">
                  <c:v>11</c:v>
                </c:pt>
                <c:pt idx="76">
                  <c:v>11</c:v>
                </c:pt>
                <c:pt idx="77">
                  <c:v>13</c:v>
                </c:pt>
                <c:pt idx="78">
                  <c:v>9</c:v>
                </c:pt>
                <c:pt idx="79">
                  <c:v>11</c:v>
                </c:pt>
                <c:pt idx="80">
                  <c:v>11</c:v>
                </c:pt>
                <c:pt idx="81">
                  <c:v>9</c:v>
                </c:pt>
                <c:pt idx="82">
                  <c:v>11</c:v>
                </c:pt>
                <c:pt idx="83">
                  <c:v>12</c:v>
                </c:pt>
                <c:pt idx="84">
                  <c:v>12</c:v>
                </c:pt>
                <c:pt idx="85">
                  <c:v>11</c:v>
                </c:pt>
                <c:pt idx="86">
                  <c:v>11</c:v>
                </c:pt>
                <c:pt idx="87">
                  <c:v>15</c:v>
                </c:pt>
                <c:pt idx="88">
                  <c:v>10</c:v>
                </c:pt>
                <c:pt idx="89">
                  <c:v>9</c:v>
                </c:pt>
                <c:pt idx="90">
                  <c:v>11</c:v>
                </c:pt>
                <c:pt idx="91">
                  <c:v>13</c:v>
                </c:pt>
                <c:pt idx="92">
                  <c:v>13</c:v>
                </c:pt>
                <c:pt idx="93">
                  <c:v>14</c:v>
                </c:pt>
                <c:pt idx="94">
                  <c:v>12</c:v>
                </c:pt>
                <c:pt idx="95">
                  <c:v>13</c:v>
                </c:pt>
                <c:pt idx="96">
                  <c:v>11</c:v>
                </c:pt>
                <c:pt idx="97">
                  <c:v>12</c:v>
                </c:pt>
                <c:pt idx="98">
                  <c:v>13</c:v>
                </c:pt>
                <c:pt idx="99">
                  <c:v>13</c:v>
                </c:pt>
                <c:pt idx="100">
                  <c:v>9</c:v>
                </c:pt>
                <c:pt idx="101">
                  <c:v>16</c:v>
                </c:pt>
                <c:pt idx="102">
                  <c:v>13</c:v>
                </c:pt>
                <c:pt idx="103">
                  <c:v>10</c:v>
                </c:pt>
                <c:pt idx="104">
                  <c:v>16</c:v>
                </c:pt>
                <c:pt idx="105">
                  <c:v>10</c:v>
                </c:pt>
                <c:pt idx="106">
                  <c:v>10</c:v>
                </c:pt>
                <c:pt idx="107">
                  <c:v>14</c:v>
                </c:pt>
                <c:pt idx="108">
                  <c:v>10</c:v>
                </c:pt>
                <c:pt idx="109">
                  <c:v>15</c:v>
                </c:pt>
                <c:pt idx="110">
                  <c:v>14</c:v>
                </c:pt>
                <c:pt idx="111">
                  <c:v>11</c:v>
                </c:pt>
                <c:pt idx="112">
                  <c:v>10</c:v>
                </c:pt>
                <c:pt idx="113">
                  <c:v>17</c:v>
                </c:pt>
                <c:pt idx="114">
                  <c:v>9</c:v>
                </c:pt>
                <c:pt idx="115">
                  <c:v>14</c:v>
                </c:pt>
                <c:pt idx="116">
                  <c:v>15</c:v>
                </c:pt>
                <c:pt idx="117">
                  <c:v>14</c:v>
                </c:pt>
                <c:pt idx="118">
                  <c:v>11</c:v>
                </c:pt>
                <c:pt idx="119">
                  <c:v>13</c:v>
                </c:pt>
                <c:pt idx="120">
                  <c:v>14</c:v>
                </c:pt>
                <c:pt idx="121">
                  <c:v>13</c:v>
                </c:pt>
                <c:pt idx="122">
                  <c:v>12</c:v>
                </c:pt>
                <c:pt idx="123">
                  <c:v>13</c:v>
                </c:pt>
                <c:pt idx="124">
                  <c:v>11</c:v>
                </c:pt>
                <c:pt idx="125">
                  <c:v>9</c:v>
                </c:pt>
                <c:pt idx="126">
                  <c:v>11</c:v>
                </c:pt>
                <c:pt idx="127">
                  <c:v>10</c:v>
                </c:pt>
                <c:pt idx="128">
                  <c:v>14</c:v>
                </c:pt>
                <c:pt idx="129">
                  <c:v>12</c:v>
                </c:pt>
                <c:pt idx="130">
                  <c:v>11</c:v>
                </c:pt>
                <c:pt idx="131">
                  <c:v>9</c:v>
                </c:pt>
                <c:pt idx="132">
                  <c:v>10</c:v>
                </c:pt>
                <c:pt idx="133">
                  <c:v>12</c:v>
                </c:pt>
                <c:pt idx="134">
                  <c:v>12</c:v>
                </c:pt>
                <c:pt idx="135">
                  <c:v>13</c:v>
                </c:pt>
                <c:pt idx="136">
                  <c:v>9</c:v>
                </c:pt>
                <c:pt idx="137">
                  <c:v>11</c:v>
                </c:pt>
                <c:pt idx="138">
                  <c:v>11</c:v>
                </c:pt>
                <c:pt idx="139">
                  <c:v>14</c:v>
                </c:pt>
                <c:pt idx="140">
                  <c:v>9</c:v>
                </c:pt>
                <c:pt idx="141">
                  <c:v>13</c:v>
                </c:pt>
                <c:pt idx="142">
                  <c:v>11</c:v>
                </c:pt>
                <c:pt idx="143">
                  <c:v>11</c:v>
                </c:pt>
                <c:pt idx="144">
                  <c:v>11</c:v>
                </c:pt>
                <c:pt idx="145">
                  <c:v>9</c:v>
                </c:pt>
                <c:pt idx="146">
                  <c:v>10</c:v>
                </c:pt>
                <c:pt idx="147">
                  <c:v>14</c:v>
                </c:pt>
                <c:pt idx="148">
                  <c:v>9</c:v>
                </c:pt>
                <c:pt idx="149">
                  <c:v>11</c:v>
                </c:pt>
                <c:pt idx="150">
                  <c:v>8</c:v>
                </c:pt>
                <c:pt idx="151">
                  <c:v>13</c:v>
                </c:pt>
                <c:pt idx="152">
                  <c:v>11</c:v>
                </c:pt>
                <c:pt idx="153">
                  <c:v>13</c:v>
                </c:pt>
                <c:pt idx="154">
                  <c:v>11</c:v>
                </c:pt>
                <c:pt idx="155">
                  <c:v>7</c:v>
                </c:pt>
                <c:pt idx="156">
                  <c:v>12</c:v>
                </c:pt>
                <c:pt idx="157">
                  <c:v>10</c:v>
                </c:pt>
                <c:pt idx="158">
                  <c:v>11</c:v>
                </c:pt>
                <c:pt idx="159">
                  <c:v>12</c:v>
                </c:pt>
                <c:pt idx="160">
                  <c:v>11</c:v>
                </c:pt>
                <c:pt idx="161">
                  <c:v>9</c:v>
                </c:pt>
                <c:pt idx="162">
                  <c:v>11</c:v>
                </c:pt>
                <c:pt idx="163">
                  <c:v>9</c:v>
                </c:pt>
                <c:pt idx="164">
                  <c:v>10</c:v>
                </c:pt>
                <c:pt idx="165">
                  <c:v>13</c:v>
                </c:pt>
                <c:pt idx="166">
                  <c:v>9</c:v>
                </c:pt>
                <c:pt idx="167">
                  <c:v>13</c:v>
                </c:pt>
                <c:pt idx="168">
                  <c:v>8</c:v>
                </c:pt>
                <c:pt idx="169">
                  <c:v>8</c:v>
                </c:pt>
                <c:pt idx="170">
                  <c:v>10</c:v>
                </c:pt>
                <c:pt idx="171">
                  <c:v>10</c:v>
                </c:pt>
                <c:pt idx="172">
                  <c:v>10</c:v>
                </c:pt>
                <c:pt idx="173">
                  <c:v>8</c:v>
                </c:pt>
                <c:pt idx="174">
                  <c:v>8</c:v>
                </c:pt>
                <c:pt idx="175">
                  <c:v>6</c:v>
                </c:pt>
                <c:pt idx="176">
                  <c:v>9</c:v>
                </c:pt>
                <c:pt idx="177">
                  <c:v>8</c:v>
                </c:pt>
                <c:pt idx="178">
                  <c:v>8</c:v>
                </c:pt>
                <c:pt idx="179">
                  <c:v>7</c:v>
                </c:pt>
                <c:pt idx="180">
                  <c:v>10</c:v>
                </c:pt>
                <c:pt idx="181">
                  <c:v>17</c:v>
                </c:pt>
                <c:pt idx="182">
                  <c:v>12</c:v>
                </c:pt>
                <c:pt idx="183">
                  <c:v>16</c:v>
                </c:pt>
                <c:pt idx="184">
                  <c:v>9</c:v>
                </c:pt>
                <c:pt idx="185">
                  <c:v>17</c:v>
                </c:pt>
                <c:pt idx="186">
                  <c:v>9</c:v>
                </c:pt>
                <c:pt idx="187">
                  <c:v>13</c:v>
                </c:pt>
                <c:pt idx="188">
                  <c:v>14</c:v>
                </c:pt>
                <c:pt idx="189">
                  <c:v>11</c:v>
                </c:pt>
                <c:pt idx="190">
                  <c:v>12</c:v>
                </c:pt>
                <c:pt idx="191">
                  <c:v>9</c:v>
                </c:pt>
                <c:pt idx="192">
                  <c:v>9</c:v>
                </c:pt>
                <c:pt idx="193">
                  <c:v>11</c:v>
                </c:pt>
                <c:pt idx="194">
                  <c:v>10</c:v>
                </c:pt>
                <c:pt idx="195">
                  <c:v>12</c:v>
                </c:pt>
                <c:pt idx="196">
                  <c:v>18</c:v>
                </c:pt>
                <c:pt idx="197">
                  <c:v>13</c:v>
                </c:pt>
                <c:pt idx="198">
                  <c:v>15</c:v>
                </c:pt>
                <c:pt idx="199">
                  <c:v>13</c:v>
                </c:pt>
                <c:pt idx="200">
                  <c:v>9</c:v>
                </c:pt>
                <c:pt idx="201">
                  <c:v>14</c:v>
                </c:pt>
                <c:pt idx="202">
                  <c:v>13</c:v>
                </c:pt>
                <c:pt idx="203">
                  <c:v>9</c:v>
                </c:pt>
                <c:pt idx="204">
                  <c:v>12</c:v>
                </c:pt>
                <c:pt idx="205">
                  <c:v>11</c:v>
                </c:pt>
                <c:pt idx="206">
                  <c:v>11</c:v>
                </c:pt>
                <c:pt idx="207">
                  <c:v>10</c:v>
                </c:pt>
                <c:pt idx="208">
                  <c:v>12</c:v>
                </c:pt>
                <c:pt idx="209">
                  <c:v>15</c:v>
                </c:pt>
                <c:pt idx="210">
                  <c:v>13</c:v>
                </c:pt>
                <c:pt idx="211">
                  <c:v>11</c:v>
                </c:pt>
                <c:pt idx="212">
                  <c:v>15</c:v>
                </c:pt>
                <c:pt idx="213">
                  <c:v>10</c:v>
                </c:pt>
                <c:pt idx="214">
                  <c:v>14</c:v>
                </c:pt>
                <c:pt idx="215">
                  <c:v>12</c:v>
                </c:pt>
                <c:pt idx="216">
                  <c:v>15</c:v>
                </c:pt>
                <c:pt idx="217">
                  <c:v>13</c:v>
                </c:pt>
                <c:pt idx="218">
                  <c:v>13</c:v>
                </c:pt>
                <c:pt idx="219">
                  <c:v>9</c:v>
                </c:pt>
                <c:pt idx="220">
                  <c:v>11</c:v>
                </c:pt>
                <c:pt idx="221">
                  <c:v>15</c:v>
                </c:pt>
                <c:pt idx="222">
                  <c:v>13</c:v>
                </c:pt>
                <c:pt idx="223">
                  <c:v>12</c:v>
                </c:pt>
                <c:pt idx="224">
                  <c:v>12</c:v>
                </c:pt>
                <c:pt idx="225">
                  <c:v>12</c:v>
                </c:pt>
                <c:pt idx="226">
                  <c:v>13</c:v>
                </c:pt>
                <c:pt idx="227">
                  <c:v>11</c:v>
                </c:pt>
                <c:pt idx="228">
                  <c:v>11</c:v>
                </c:pt>
                <c:pt idx="229">
                  <c:v>16</c:v>
                </c:pt>
                <c:pt idx="230">
                  <c:v>9</c:v>
                </c:pt>
                <c:pt idx="231">
                  <c:v>10</c:v>
                </c:pt>
                <c:pt idx="232">
                  <c:v>13</c:v>
                </c:pt>
                <c:pt idx="233">
                  <c:v>12</c:v>
                </c:pt>
                <c:pt idx="234">
                  <c:v>10</c:v>
                </c:pt>
                <c:pt idx="235">
                  <c:v>12</c:v>
                </c:pt>
                <c:pt idx="236">
                  <c:v>13</c:v>
                </c:pt>
                <c:pt idx="237">
                  <c:v>9</c:v>
                </c:pt>
                <c:pt idx="238">
                  <c:v>16</c:v>
                </c:pt>
                <c:pt idx="239">
                  <c:v>8</c:v>
                </c:pt>
                <c:pt idx="240">
                  <c:v>18</c:v>
                </c:pt>
                <c:pt idx="241">
                  <c:v>11</c:v>
                </c:pt>
                <c:pt idx="242">
                  <c:v>10</c:v>
                </c:pt>
                <c:pt idx="243">
                  <c:v>15</c:v>
                </c:pt>
                <c:pt idx="244">
                  <c:v>12</c:v>
                </c:pt>
                <c:pt idx="245">
                  <c:v>13</c:v>
                </c:pt>
                <c:pt idx="246">
                  <c:v>13</c:v>
                </c:pt>
                <c:pt idx="247">
                  <c:v>13</c:v>
                </c:pt>
                <c:pt idx="248">
                  <c:v>9</c:v>
                </c:pt>
                <c:pt idx="249">
                  <c:v>12</c:v>
                </c:pt>
                <c:pt idx="250">
                  <c:v>16</c:v>
                </c:pt>
                <c:pt idx="251">
                  <c:v>10</c:v>
                </c:pt>
                <c:pt idx="252">
                  <c:v>13</c:v>
                </c:pt>
                <c:pt idx="253">
                  <c:v>10</c:v>
                </c:pt>
                <c:pt idx="254">
                  <c:v>8</c:v>
                </c:pt>
                <c:pt idx="255">
                  <c:v>7</c:v>
                </c:pt>
                <c:pt idx="256">
                  <c:v>8</c:v>
                </c:pt>
                <c:pt idx="257">
                  <c:v>8</c:v>
                </c:pt>
                <c:pt idx="258">
                  <c:v>14</c:v>
                </c:pt>
                <c:pt idx="259">
                  <c:v>10</c:v>
                </c:pt>
                <c:pt idx="260">
                  <c:v>11</c:v>
                </c:pt>
                <c:pt idx="261">
                  <c:v>13</c:v>
                </c:pt>
                <c:pt idx="262">
                  <c:v>9</c:v>
                </c:pt>
                <c:pt idx="263">
                  <c:v>7</c:v>
                </c:pt>
                <c:pt idx="264">
                  <c:v>9</c:v>
                </c:pt>
                <c:pt idx="265">
                  <c:v>14</c:v>
                </c:pt>
                <c:pt idx="266">
                  <c:v>14</c:v>
                </c:pt>
                <c:pt idx="267">
                  <c:v>15</c:v>
                </c:pt>
                <c:pt idx="268">
                  <c:v>12</c:v>
                </c:pt>
                <c:pt idx="269">
                  <c:v>14</c:v>
                </c:pt>
                <c:pt idx="270">
                  <c:v>15</c:v>
                </c:pt>
                <c:pt idx="271">
                  <c:v>11</c:v>
                </c:pt>
                <c:pt idx="272">
                  <c:v>14</c:v>
                </c:pt>
                <c:pt idx="273">
                  <c:v>11</c:v>
                </c:pt>
                <c:pt idx="274">
                  <c:v>9</c:v>
                </c:pt>
                <c:pt idx="275">
                  <c:v>10</c:v>
                </c:pt>
                <c:pt idx="276">
                  <c:v>16</c:v>
                </c:pt>
                <c:pt idx="277">
                  <c:v>10</c:v>
                </c:pt>
                <c:pt idx="278">
                  <c:v>12</c:v>
                </c:pt>
                <c:pt idx="279">
                  <c:v>8</c:v>
                </c:pt>
                <c:pt idx="280">
                  <c:v>9</c:v>
                </c:pt>
                <c:pt idx="281">
                  <c:v>12</c:v>
                </c:pt>
                <c:pt idx="282">
                  <c:v>8</c:v>
                </c:pt>
                <c:pt idx="283">
                  <c:v>11</c:v>
                </c:pt>
                <c:pt idx="284">
                  <c:v>8</c:v>
                </c:pt>
                <c:pt idx="285">
                  <c:v>13</c:v>
                </c:pt>
                <c:pt idx="286">
                  <c:v>12</c:v>
                </c:pt>
                <c:pt idx="287">
                  <c:v>10</c:v>
                </c:pt>
                <c:pt idx="288">
                  <c:v>12</c:v>
                </c:pt>
                <c:pt idx="289">
                  <c:v>15</c:v>
                </c:pt>
                <c:pt idx="290">
                  <c:v>10</c:v>
                </c:pt>
                <c:pt idx="291">
                  <c:v>10</c:v>
                </c:pt>
                <c:pt idx="292">
                  <c:v>12</c:v>
                </c:pt>
                <c:pt idx="293">
                  <c:v>12</c:v>
                </c:pt>
                <c:pt idx="294">
                  <c:v>11</c:v>
                </c:pt>
                <c:pt idx="295">
                  <c:v>13</c:v>
                </c:pt>
                <c:pt idx="296">
                  <c:v>16</c:v>
                </c:pt>
                <c:pt idx="297">
                  <c:v>10</c:v>
                </c:pt>
                <c:pt idx="298">
                  <c:v>11</c:v>
                </c:pt>
                <c:pt idx="299">
                  <c:v>12</c:v>
                </c:pt>
                <c:pt idx="300">
                  <c:v>15</c:v>
                </c:pt>
                <c:pt idx="301">
                  <c:v>10</c:v>
                </c:pt>
                <c:pt idx="302">
                  <c:v>11</c:v>
                </c:pt>
                <c:pt idx="303">
                  <c:v>12</c:v>
                </c:pt>
                <c:pt idx="304">
                  <c:v>12</c:v>
                </c:pt>
                <c:pt idx="305">
                  <c:v>8</c:v>
                </c:pt>
                <c:pt idx="306">
                  <c:v>16</c:v>
                </c:pt>
                <c:pt idx="307">
                  <c:v>11</c:v>
                </c:pt>
                <c:pt idx="308">
                  <c:v>11</c:v>
                </c:pt>
                <c:pt idx="309">
                  <c:v>12</c:v>
                </c:pt>
                <c:pt idx="310">
                  <c:v>9</c:v>
                </c:pt>
                <c:pt idx="311">
                  <c:v>12</c:v>
                </c:pt>
                <c:pt idx="312">
                  <c:v>16</c:v>
                </c:pt>
                <c:pt idx="313">
                  <c:v>13</c:v>
                </c:pt>
                <c:pt idx="314">
                  <c:v>17</c:v>
                </c:pt>
                <c:pt idx="315">
                  <c:v>14</c:v>
                </c:pt>
                <c:pt idx="316">
                  <c:v>16</c:v>
                </c:pt>
                <c:pt idx="317">
                  <c:v>12</c:v>
                </c:pt>
                <c:pt idx="318">
                  <c:v>9</c:v>
                </c:pt>
                <c:pt idx="319">
                  <c:v>12</c:v>
                </c:pt>
                <c:pt idx="320">
                  <c:v>12</c:v>
                </c:pt>
                <c:pt idx="321">
                  <c:v>15</c:v>
                </c:pt>
                <c:pt idx="322">
                  <c:v>8</c:v>
                </c:pt>
                <c:pt idx="323">
                  <c:v>10</c:v>
                </c:pt>
                <c:pt idx="324">
                  <c:v>10</c:v>
                </c:pt>
                <c:pt idx="325">
                  <c:v>11</c:v>
                </c:pt>
                <c:pt idx="326">
                  <c:v>13</c:v>
                </c:pt>
                <c:pt idx="327">
                  <c:v>17</c:v>
                </c:pt>
                <c:pt idx="328">
                  <c:v>13</c:v>
                </c:pt>
                <c:pt idx="329">
                  <c:v>12</c:v>
                </c:pt>
                <c:pt idx="330">
                  <c:v>13</c:v>
                </c:pt>
                <c:pt idx="331">
                  <c:v>12</c:v>
                </c:pt>
                <c:pt idx="332">
                  <c:v>18</c:v>
                </c:pt>
                <c:pt idx="333">
                  <c:v>13</c:v>
                </c:pt>
                <c:pt idx="334">
                  <c:v>15</c:v>
                </c:pt>
                <c:pt idx="335">
                  <c:v>17</c:v>
                </c:pt>
                <c:pt idx="336">
                  <c:v>16</c:v>
                </c:pt>
                <c:pt idx="337">
                  <c:v>18</c:v>
                </c:pt>
                <c:pt idx="338">
                  <c:v>19</c:v>
                </c:pt>
                <c:pt idx="339">
                  <c:v>15</c:v>
                </c:pt>
                <c:pt idx="340">
                  <c:v>15</c:v>
                </c:pt>
                <c:pt idx="341">
                  <c:v>13</c:v>
                </c:pt>
                <c:pt idx="342">
                  <c:v>14</c:v>
                </c:pt>
                <c:pt idx="343">
                  <c:v>17</c:v>
                </c:pt>
                <c:pt idx="344">
                  <c:v>18</c:v>
                </c:pt>
                <c:pt idx="345">
                  <c:v>15</c:v>
                </c:pt>
                <c:pt idx="346">
                  <c:v>13</c:v>
                </c:pt>
                <c:pt idx="347">
                  <c:v>7</c:v>
                </c:pt>
                <c:pt idx="348">
                  <c:v>16</c:v>
                </c:pt>
                <c:pt idx="349">
                  <c:v>18</c:v>
                </c:pt>
                <c:pt idx="350">
                  <c:v>10</c:v>
                </c:pt>
                <c:pt idx="351">
                  <c:v>15</c:v>
                </c:pt>
                <c:pt idx="352">
                  <c:v>10</c:v>
                </c:pt>
                <c:pt idx="353">
                  <c:v>10</c:v>
                </c:pt>
                <c:pt idx="354">
                  <c:v>12</c:v>
                </c:pt>
                <c:pt idx="355">
                  <c:v>12</c:v>
                </c:pt>
                <c:pt idx="356">
                  <c:v>16</c:v>
                </c:pt>
                <c:pt idx="357">
                  <c:v>15</c:v>
                </c:pt>
                <c:pt idx="358">
                  <c:v>12</c:v>
                </c:pt>
                <c:pt idx="359">
                  <c:v>15</c:v>
                </c:pt>
                <c:pt idx="360">
                  <c:v>12</c:v>
                </c:pt>
                <c:pt idx="361">
                  <c:v>10</c:v>
                </c:pt>
                <c:pt idx="362">
                  <c:v>11</c:v>
                </c:pt>
                <c:pt idx="363">
                  <c:v>12</c:v>
                </c:pt>
                <c:pt idx="364">
                  <c:v>15</c:v>
                </c:pt>
                <c:pt idx="365">
                  <c:v>14</c:v>
                </c:pt>
                <c:pt idx="366">
                  <c:v>12</c:v>
                </c:pt>
                <c:pt idx="367">
                  <c:v>12</c:v>
                </c:pt>
                <c:pt idx="368">
                  <c:v>9</c:v>
                </c:pt>
                <c:pt idx="369">
                  <c:v>10</c:v>
                </c:pt>
                <c:pt idx="370">
                  <c:v>8</c:v>
                </c:pt>
                <c:pt idx="371">
                  <c:v>10</c:v>
                </c:pt>
                <c:pt idx="372">
                  <c:v>13</c:v>
                </c:pt>
                <c:pt idx="373">
                  <c:v>11</c:v>
                </c:pt>
                <c:pt idx="374">
                  <c:v>18</c:v>
                </c:pt>
                <c:pt idx="375">
                  <c:v>14</c:v>
                </c:pt>
                <c:pt idx="376">
                  <c:v>14</c:v>
                </c:pt>
                <c:pt idx="377">
                  <c:v>14</c:v>
                </c:pt>
                <c:pt idx="378">
                  <c:v>18</c:v>
                </c:pt>
                <c:pt idx="379">
                  <c:v>10</c:v>
                </c:pt>
                <c:pt idx="380">
                  <c:v>12</c:v>
                </c:pt>
                <c:pt idx="381">
                  <c:v>14</c:v>
                </c:pt>
                <c:pt idx="382">
                  <c:v>12</c:v>
                </c:pt>
                <c:pt idx="383">
                  <c:v>11</c:v>
                </c:pt>
                <c:pt idx="384">
                  <c:v>10</c:v>
                </c:pt>
                <c:pt idx="385">
                  <c:v>9</c:v>
                </c:pt>
                <c:pt idx="386">
                  <c:v>15</c:v>
                </c:pt>
                <c:pt idx="387">
                  <c:v>14</c:v>
                </c:pt>
                <c:pt idx="388">
                  <c:v>11</c:v>
                </c:pt>
                <c:pt idx="389">
                  <c:v>9</c:v>
                </c:pt>
                <c:pt idx="390">
                  <c:v>13</c:v>
                </c:pt>
                <c:pt idx="391">
                  <c:v>13</c:v>
                </c:pt>
                <c:pt idx="392">
                  <c:v>13</c:v>
                </c:pt>
                <c:pt idx="393">
                  <c:v>14</c:v>
                </c:pt>
                <c:pt idx="394">
                  <c:v>14</c:v>
                </c:pt>
                <c:pt idx="395">
                  <c:v>12</c:v>
                </c:pt>
                <c:pt idx="396">
                  <c:v>16</c:v>
                </c:pt>
                <c:pt idx="397">
                  <c:v>12</c:v>
                </c:pt>
                <c:pt idx="398">
                  <c:v>12</c:v>
                </c:pt>
                <c:pt idx="399">
                  <c:v>16</c:v>
                </c:pt>
                <c:pt idx="400">
                  <c:v>14</c:v>
                </c:pt>
                <c:pt idx="401">
                  <c:v>13</c:v>
                </c:pt>
                <c:pt idx="402">
                  <c:v>12</c:v>
                </c:pt>
                <c:pt idx="403">
                  <c:v>15</c:v>
                </c:pt>
                <c:pt idx="404">
                  <c:v>16</c:v>
                </c:pt>
                <c:pt idx="405">
                  <c:v>11</c:v>
                </c:pt>
                <c:pt idx="406">
                  <c:v>13</c:v>
                </c:pt>
                <c:pt idx="407">
                  <c:v>12</c:v>
                </c:pt>
                <c:pt idx="408">
                  <c:v>11</c:v>
                </c:pt>
                <c:pt idx="409">
                  <c:v>14</c:v>
                </c:pt>
                <c:pt idx="410">
                  <c:v>17</c:v>
                </c:pt>
                <c:pt idx="411">
                  <c:v>15</c:v>
                </c:pt>
                <c:pt idx="412">
                  <c:v>17</c:v>
                </c:pt>
                <c:pt idx="413">
                  <c:v>10</c:v>
                </c:pt>
                <c:pt idx="414">
                  <c:v>15</c:v>
                </c:pt>
                <c:pt idx="415">
                  <c:v>10</c:v>
                </c:pt>
                <c:pt idx="416">
                  <c:v>18</c:v>
                </c:pt>
                <c:pt idx="417">
                  <c:v>17</c:v>
                </c:pt>
                <c:pt idx="418">
                  <c:v>14</c:v>
                </c:pt>
                <c:pt idx="419">
                  <c:v>11</c:v>
                </c:pt>
                <c:pt idx="420">
                  <c:v>17</c:v>
                </c:pt>
                <c:pt idx="421">
                  <c:v>10</c:v>
                </c:pt>
                <c:pt idx="422">
                  <c:v>13</c:v>
                </c:pt>
                <c:pt idx="423">
                  <c:v>11</c:v>
                </c:pt>
                <c:pt idx="424">
                  <c:v>12</c:v>
                </c:pt>
                <c:pt idx="425">
                  <c:v>10</c:v>
                </c:pt>
                <c:pt idx="426">
                  <c:v>10</c:v>
                </c:pt>
                <c:pt idx="427">
                  <c:v>17</c:v>
                </c:pt>
                <c:pt idx="428">
                  <c:v>8</c:v>
                </c:pt>
                <c:pt idx="429">
                  <c:v>11</c:v>
                </c:pt>
                <c:pt idx="430">
                  <c:v>11</c:v>
                </c:pt>
                <c:pt idx="431">
                  <c:v>10</c:v>
                </c:pt>
                <c:pt idx="432">
                  <c:v>6</c:v>
                </c:pt>
                <c:pt idx="433">
                  <c:v>14</c:v>
                </c:pt>
                <c:pt idx="434">
                  <c:v>9</c:v>
                </c:pt>
                <c:pt idx="435">
                  <c:v>10</c:v>
                </c:pt>
                <c:pt idx="436">
                  <c:v>7</c:v>
                </c:pt>
                <c:pt idx="437">
                  <c:v>11</c:v>
                </c:pt>
                <c:pt idx="438">
                  <c:v>11</c:v>
                </c:pt>
                <c:pt idx="439">
                  <c:v>16</c:v>
                </c:pt>
                <c:pt idx="440">
                  <c:v>0</c:v>
                </c:pt>
                <c:pt idx="441">
                  <c:v>9</c:v>
                </c:pt>
                <c:pt idx="442">
                  <c:v>13</c:v>
                </c:pt>
                <c:pt idx="443">
                  <c:v>9</c:v>
                </c:pt>
                <c:pt idx="444">
                  <c:v>10</c:v>
                </c:pt>
                <c:pt idx="445">
                  <c:v>9</c:v>
                </c:pt>
                <c:pt idx="446">
                  <c:v>11</c:v>
                </c:pt>
                <c:pt idx="447">
                  <c:v>10</c:v>
                </c:pt>
                <c:pt idx="448">
                  <c:v>16</c:v>
                </c:pt>
                <c:pt idx="449">
                  <c:v>13</c:v>
                </c:pt>
                <c:pt idx="450">
                  <c:v>15</c:v>
                </c:pt>
                <c:pt idx="451">
                  <c:v>11</c:v>
                </c:pt>
                <c:pt idx="452">
                  <c:v>10</c:v>
                </c:pt>
                <c:pt idx="453">
                  <c:v>8</c:v>
                </c:pt>
                <c:pt idx="454">
                  <c:v>8</c:v>
                </c:pt>
                <c:pt idx="455">
                  <c:v>10</c:v>
                </c:pt>
                <c:pt idx="456">
                  <c:v>14</c:v>
                </c:pt>
                <c:pt idx="457">
                  <c:v>11</c:v>
                </c:pt>
                <c:pt idx="458">
                  <c:v>10</c:v>
                </c:pt>
                <c:pt idx="459">
                  <c:v>9</c:v>
                </c:pt>
                <c:pt idx="460">
                  <c:v>10</c:v>
                </c:pt>
                <c:pt idx="461">
                  <c:v>12</c:v>
                </c:pt>
                <c:pt idx="462">
                  <c:v>14</c:v>
                </c:pt>
                <c:pt idx="463">
                  <c:v>11</c:v>
                </c:pt>
                <c:pt idx="464">
                  <c:v>11</c:v>
                </c:pt>
                <c:pt idx="465">
                  <c:v>8</c:v>
                </c:pt>
                <c:pt idx="466">
                  <c:v>9</c:v>
                </c:pt>
                <c:pt idx="467">
                  <c:v>13</c:v>
                </c:pt>
                <c:pt idx="468">
                  <c:v>12</c:v>
                </c:pt>
                <c:pt idx="469">
                  <c:v>12</c:v>
                </c:pt>
                <c:pt idx="470">
                  <c:v>12</c:v>
                </c:pt>
                <c:pt idx="471">
                  <c:v>11</c:v>
                </c:pt>
                <c:pt idx="472">
                  <c:v>14</c:v>
                </c:pt>
                <c:pt idx="473">
                  <c:v>8</c:v>
                </c:pt>
                <c:pt idx="474">
                  <c:v>11</c:v>
                </c:pt>
                <c:pt idx="475">
                  <c:v>13</c:v>
                </c:pt>
                <c:pt idx="476">
                  <c:v>8</c:v>
                </c:pt>
                <c:pt idx="477">
                  <c:v>10</c:v>
                </c:pt>
                <c:pt idx="478">
                  <c:v>7</c:v>
                </c:pt>
                <c:pt idx="479">
                  <c:v>9</c:v>
                </c:pt>
                <c:pt idx="480">
                  <c:v>9</c:v>
                </c:pt>
                <c:pt idx="481">
                  <c:v>10</c:v>
                </c:pt>
                <c:pt idx="482">
                  <c:v>10</c:v>
                </c:pt>
                <c:pt idx="483">
                  <c:v>10</c:v>
                </c:pt>
                <c:pt idx="484">
                  <c:v>7</c:v>
                </c:pt>
                <c:pt idx="485">
                  <c:v>10</c:v>
                </c:pt>
                <c:pt idx="486">
                  <c:v>10</c:v>
                </c:pt>
                <c:pt idx="487">
                  <c:v>9</c:v>
                </c:pt>
                <c:pt idx="488">
                  <c:v>9</c:v>
                </c:pt>
                <c:pt idx="489">
                  <c:v>9</c:v>
                </c:pt>
                <c:pt idx="490">
                  <c:v>11</c:v>
                </c:pt>
                <c:pt idx="491">
                  <c:v>8</c:v>
                </c:pt>
                <c:pt idx="492">
                  <c:v>10</c:v>
                </c:pt>
                <c:pt idx="493">
                  <c:v>9</c:v>
                </c:pt>
                <c:pt idx="494">
                  <c:v>9</c:v>
                </c:pt>
                <c:pt idx="495">
                  <c:v>13</c:v>
                </c:pt>
                <c:pt idx="496">
                  <c:v>14</c:v>
                </c:pt>
                <c:pt idx="497">
                  <c:v>11</c:v>
                </c:pt>
                <c:pt idx="498">
                  <c:v>13</c:v>
                </c:pt>
                <c:pt idx="499">
                  <c:v>16</c:v>
                </c:pt>
                <c:pt idx="500">
                  <c:v>7</c:v>
                </c:pt>
                <c:pt idx="501">
                  <c:v>12</c:v>
                </c:pt>
                <c:pt idx="502">
                  <c:v>8</c:v>
                </c:pt>
                <c:pt idx="503">
                  <c:v>14</c:v>
                </c:pt>
                <c:pt idx="504">
                  <c:v>13</c:v>
                </c:pt>
                <c:pt idx="505">
                  <c:v>11</c:v>
                </c:pt>
                <c:pt idx="506">
                  <c:v>9</c:v>
                </c:pt>
                <c:pt idx="507">
                  <c:v>11</c:v>
                </c:pt>
                <c:pt idx="508">
                  <c:v>9</c:v>
                </c:pt>
                <c:pt idx="509">
                  <c:v>17</c:v>
                </c:pt>
                <c:pt idx="510">
                  <c:v>17</c:v>
                </c:pt>
                <c:pt idx="511">
                  <c:v>9</c:v>
                </c:pt>
                <c:pt idx="512">
                  <c:v>7</c:v>
                </c:pt>
                <c:pt idx="513">
                  <c:v>6</c:v>
                </c:pt>
                <c:pt idx="514">
                  <c:v>6</c:v>
                </c:pt>
                <c:pt idx="515">
                  <c:v>8</c:v>
                </c:pt>
                <c:pt idx="516">
                  <c:v>16</c:v>
                </c:pt>
                <c:pt idx="517">
                  <c:v>14</c:v>
                </c:pt>
                <c:pt idx="518">
                  <c:v>5</c:v>
                </c:pt>
                <c:pt idx="519">
                  <c:v>7</c:v>
                </c:pt>
                <c:pt idx="520">
                  <c:v>8</c:v>
                </c:pt>
                <c:pt idx="521">
                  <c:v>10</c:v>
                </c:pt>
                <c:pt idx="522">
                  <c:v>8</c:v>
                </c:pt>
                <c:pt idx="523">
                  <c:v>6</c:v>
                </c:pt>
                <c:pt idx="524">
                  <c:v>9</c:v>
                </c:pt>
                <c:pt idx="525">
                  <c:v>14</c:v>
                </c:pt>
                <c:pt idx="526">
                  <c:v>14</c:v>
                </c:pt>
                <c:pt idx="527">
                  <c:v>9</c:v>
                </c:pt>
                <c:pt idx="528">
                  <c:v>9</c:v>
                </c:pt>
                <c:pt idx="529">
                  <c:v>11</c:v>
                </c:pt>
                <c:pt idx="530">
                  <c:v>10</c:v>
                </c:pt>
                <c:pt idx="531">
                  <c:v>10</c:v>
                </c:pt>
                <c:pt idx="532">
                  <c:v>7</c:v>
                </c:pt>
                <c:pt idx="533">
                  <c:v>15</c:v>
                </c:pt>
                <c:pt idx="534">
                  <c:v>12</c:v>
                </c:pt>
                <c:pt idx="535">
                  <c:v>11</c:v>
                </c:pt>
                <c:pt idx="536">
                  <c:v>14</c:v>
                </c:pt>
                <c:pt idx="537">
                  <c:v>13</c:v>
                </c:pt>
                <c:pt idx="538">
                  <c:v>11</c:v>
                </c:pt>
                <c:pt idx="539">
                  <c:v>10</c:v>
                </c:pt>
                <c:pt idx="540">
                  <c:v>11</c:v>
                </c:pt>
                <c:pt idx="541">
                  <c:v>9</c:v>
                </c:pt>
                <c:pt idx="542">
                  <c:v>11</c:v>
                </c:pt>
                <c:pt idx="543">
                  <c:v>9</c:v>
                </c:pt>
                <c:pt idx="544">
                  <c:v>11</c:v>
                </c:pt>
                <c:pt idx="545">
                  <c:v>9</c:v>
                </c:pt>
                <c:pt idx="546">
                  <c:v>15</c:v>
                </c:pt>
                <c:pt idx="547">
                  <c:v>11</c:v>
                </c:pt>
                <c:pt idx="548">
                  <c:v>10</c:v>
                </c:pt>
                <c:pt idx="549">
                  <c:v>18</c:v>
                </c:pt>
                <c:pt idx="550">
                  <c:v>13</c:v>
                </c:pt>
                <c:pt idx="551">
                  <c:v>14</c:v>
                </c:pt>
                <c:pt idx="552">
                  <c:v>9</c:v>
                </c:pt>
                <c:pt idx="553">
                  <c:v>11</c:v>
                </c:pt>
                <c:pt idx="554">
                  <c:v>11</c:v>
                </c:pt>
                <c:pt idx="555">
                  <c:v>14</c:v>
                </c:pt>
                <c:pt idx="556">
                  <c:v>10</c:v>
                </c:pt>
                <c:pt idx="557">
                  <c:v>9</c:v>
                </c:pt>
                <c:pt idx="558">
                  <c:v>13</c:v>
                </c:pt>
                <c:pt idx="559">
                  <c:v>12</c:v>
                </c:pt>
                <c:pt idx="560">
                  <c:v>9</c:v>
                </c:pt>
                <c:pt idx="561">
                  <c:v>9</c:v>
                </c:pt>
                <c:pt idx="562">
                  <c:v>13</c:v>
                </c:pt>
                <c:pt idx="563">
                  <c:v>0</c:v>
                </c:pt>
                <c:pt idx="564">
                  <c:v>9</c:v>
                </c:pt>
                <c:pt idx="565">
                  <c:v>10</c:v>
                </c:pt>
                <c:pt idx="566">
                  <c:v>7</c:v>
                </c:pt>
                <c:pt idx="567">
                  <c:v>0</c:v>
                </c:pt>
                <c:pt idx="568">
                  <c:v>11</c:v>
                </c:pt>
                <c:pt idx="569">
                  <c:v>8</c:v>
                </c:pt>
                <c:pt idx="570">
                  <c:v>8</c:v>
                </c:pt>
                <c:pt idx="571">
                  <c:v>9</c:v>
                </c:pt>
                <c:pt idx="572">
                  <c:v>5</c:v>
                </c:pt>
                <c:pt idx="573">
                  <c:v>9</c:v>
                </c:pt>
                <c:pt idx="574">
                  <c:v>11</c:v>
                </c:pt>
                <c:pt idx="575">
                  <c:v>11</c:v>
                </c:pt>
                <c:pt idx="576">
                  <c:v>10</c:v>
                </c:pt>
                <c:pt idx="577">
                  <c:v>9</c:v>
                </c:pt>
                <c:pt idx="578">
                  <c:v>9</c:v>
                </c:pt>
                <c:pt idx="579">
                  <c:v>10</c:v>
                </c:pt>
                <c:pt idx="580">
                  <c:v>9</c:v>
                </c:pt>
                <c:pt idx="581">
                  <c:v>8</c:v>
                </c:pt>
                <c:pt idx="582">
                  <c:v>8</c:v>
                </c:pt>
                <c:pt idx="583">
                  <c:v>6</c:v>
                </c:pt>
                <c:pt idx="584">
                  <c:v>11</c:v>
                </c:pt>
                <c:pt idx="585">
                  <c:v>7</c:v>
                </c:pt>
                <c:pt idx="586">
                  <c:v>8</c:v>
                </c:pt>
                <c:pt idx="587">
                  <c:v>6</c:v>
                </c:pt>
                <c:pt idx="588">
                  <c:v>10</c:v>
                </c:pt>
                <c:pt idx="589">
                  <c:v>10</c:v>
                </c:pt>
                <c:pt idx="590">
                  <c:v>8</c:v>
                </c:pt>
                <c:pt idx="591">
                  <c:v>13</c:v>
                </c:pt>
                <c:pt idx="592">
                  <c:v>12</c:v>
                </c:pt>
                <c:pt idx="593">
                  <c:v>13</c:v>
                </c:pt>
                <c:pt idx="594">
                  <c:v>18</c:v>
                </c:pt>
                <c:pt idx="595">
                  <c:v>17</c:v>
                </c:pt>
                <c:pt idx="596">
                  <c:v>18</c:v>
                </c:pt>
                <c:pt idx="597">
                  <c:v>0</c:v>
                </c:pt>
                <c:pt idx="598">
                  <c:v>11</c:v>
                </c:pt>
                <c:pt idx="599">
                  <c:v>13</c:v>
                </c:pt>
                <c:pt idx="600">
                  <c:v>13</c:v>
                </c:pt>
                <c:pt idx="601">
                  <c:v>8</c:v>
                </c:pt>
                <c:pt idx="602">
                  <c:v>12</c:v>
                </c:pt>
                <c:pt idx="603">
                  <c:v>0</c:v>
                </c:pt>
                <c:pt idx="604">
                  <c:v>10</c:v>
                </c:pt>
                <c:pt idx="605">
                  <c:v>0</c:v>
                </c:pt>
                <c:pt idx="606">
                  <c:v>18</c:v>
                </c:pt>
                <c:pt idx="607">
                  <c:v>11</c:v>
                </c:pt>
                <c:pt idx="608">
                  <c:v>10</c:v>
                </c:pt>
                <c:pt idx="609">
                  <c:v>11</c:v>
                </c:pt>
                <c:pt idx="610">
                  <c:v>0</c:v>
                </c:pt>
                <c:pt idx="611">
                  <c:v>14</c:v>
                </c:pt>
                <c:pt idx="612">
                  <c:v>11</c:v>
                </c:pt>
                <c:pt idx="613">
                  <c:v>10</c:v>
                </c:pt>
                <c:pt idx="614">
                  <c:v>12</c:v>
                </c:pt>
                <c:pt idx="615">
                  <c:v>14</c:v>
                </c:pt>
                <c:pt idx="616">
                  <c:v>13</c:v>
                </c:pt>
                <c:pt idx="617">
                  <c:v>17</c:v>
                </c:pt>
                <c:pt idx="618">
                  <c:v>15</c:v>
                </c:pt>
                <c:pt idx="619">
                  <c:v>12</c:v>
                </c:pt>
                <c:pt idx="620">
                  <c:v>14</c:v>
                </c:pt>
                <c:pt idx="621">
                  <c:v>13</c:v>
                </c:pt>
                <c:pt idx="622">
                  <c:v>10</c:v>
                </c:pt>
                <c:pt idx="623">
                  <c:v>16</c:v>
                </c:pt>
                <c:pt idx="624">
                  <c:v>8</c:v>
                </c:pt>
                <c:pt idx="625">
                  <c:v>10</c:v>
                </c:pt>
                <c:pt idx="626">
                  <c:v>5</c:v>
                </c:pt>
                <c:pt idx="627">
                  <c:v>10</c:v>
                </c:pt>
                <c:pt idx="628">
                  <c:v>11</c:v>
                </c:pt>
                <c:pt idx="629">
                  <c:v>8</c:v>
                </c:pt>
                <c:pt idx="630">
                  <c:v>17</c:v>
                </c:pt>
                <c:pt idx="631">
                  <c:v>11</c:v>
                </c:pt>
                <c:pt idx="632">
                  <c:v>8</c:v>
                </c:pt>
                <c:pt idx="633">
                  <c:v>14</c:v>
                </c:pt>
                <c:pt idx="634">
                  <c:v>16</c:v>
                </c:pt>
                <c:pt idx="635">
                  <c:v>9</c:v>
                </c:pt>
                <c:pt idx="636">
                  <c:v>18</c:v>
                </c:pt>
                <c:pt idx="637">
                  <c:v>7</c:v>
                </c:pt>
                <c:pt idx="638">
                  <c:v>15</c:v>
                </c:pt>
                <c:pt idx="639">
                  <c:v>8</c:v>
                </c:pt>
                <c:pt idx="640">
                  <c:v>7</c:v>
                </c:pt>
                <c:pt idx="641">
                  <c:v>17</c:v>
                </c:pt>
                <c:pt idx="642">
                  <c:v>9</c:v>
                </c:pt>
                <c:pt idx="643">
                  <c:v>9</c:v>
                </c:pt>
                <c:pt idx="644">
                  <c:v>11</c:v>
                </c:pt>
                <c:pt idx="645">
                  <c:v>15</c:v>
                </c:pt>
                <c:pt idx="646">
                  <c:v>12</c:v>
                </c:pt>
                <c:pt idx="647">
                  <c:v>10</c:v>
                </c:pt>
                <c:pt idx="648">
                  <c:v>11</c:v>
                </c:pt>
              </c:numCache>
            </c:numRef>
          </c:xVal>
          <c:yVal>
            <c:numRef>
              <c:f>'Chart Data'!$B$2:$B$650</c:f>
              <c:numCache>
                <c:formatCode>General</c:formatCode>
                <c:ptCount val="649"/>
                <c:pt idx="0">
                  <c:v>11</c:v>
                </c:pt>
                <c:pt idx="1">
                  <c:v>11</c:v>
                </c:pt>
                <c:pt idx="2">
                  <c:v>12</c:v>
                </c:pt>
                <c:pt idx="3">
                  <c:v>14</c:v>
                </c:pt>
                <c:pt idx="4">
                  <c:v>13</c:v>
                </c:pt>
                <c:pt idx="5">
                  <c:v>13</c:v>
                </c:pt>
                <c:pt idx="6">
                  <c:v>13</c:v>
                </c:pt>
                <c:pt idx="7">
                  <c:v>13</c:v>
                </c:pt>
                <c:pt idx="8">
                  <c:v>17</c:v>
                </c:pt>
                <c:pt idx="9">
                  <c:v>13</c:v>
                </c:pt>
                <c:pt idx="10">
                  <c:v>14</c:v>
                </c:pt>
                <c:pt idx="11">
                  <c:v>13</c:v>
                </c:pt>
                <c:pt idx="12">
                  <c:v>12</c:v>
                </c:pt>
                <c:pt idx="13">
                  <c:v>13</c:v>
                </c:pt>
                <c:pt idx="14">
                  <c:v>15</c:v>
                </c:pt>
                <c:pt idx="15">
                  <c:v>17</c:v>
                </c:pt>
                <c:pt idx="16">
                  <c:v>14</c:v>
                </c:pt>
                <c:pt idx="17">
                  <c:v>14</c:v>
                </c:pt>
                <c:pt idx="18">
                  <c:v>7</c:v>
                </c:pt>
                <c:pt idx="19">
                  <c:v>12</c:v>
                </c:pt>
                <c:pt idx="20">
                  <c:v>14</c:v>
                </c:pt>
                <c:pt idx="21">
                  <c:v>12</c:v>
                </c:pt>
                <c:pt idx="22">
                  <c:v>14</c:v>
                </c:pt>
                <c:pt idx="23">
                  <c:v>10</c:v>
                </c:pt>
                <c:pt idx="24">
                  <c:v>10</c:v>
                </c:pt>
                <c:pt idx="25">
                  <c:v>12</c:v>
                </c:pt>
                <c:pt idx="26">
                  <c:v>12</c:v>
                </c:pt>
                <c:pt idx="27">
                  <c:v>11</c:v>
                </c:pt>
                <c:pt idx="28">
                  <c:v>13</c:v>
                </c:pt>
                <c:pt idx="29">
                  <c:v>12</c:v>
                </c:pt>
                <c:pt idx="30">
                  <c:v>11</c:v>
                </c:pt>
                <c:pt idx="31">
                  <c:v>15</c:v>
                </c:pt>
                <c:pt idx="32">
                  <c:v>15</c:v>
                </c:pt>
                <c:pt idx="33">
                  <c:v>12</c:v>
                </c:pt>
                <c:pt idx="34">
                  <c:v>12</c:v>
                </c:pt>
                <c:pt idx="35">
                  <c:v>11</c:v>
                </c:pt>
                <c:pt idx="36">
                  <c:v>14</c:v>
                </c:pt>
                <c:pt idx="37">
                  <c:v>13</c:v>
                </c:pt>
                <c:pt idx="38">
                  <c:v>12</c:v>
                </c:pt>
                <c:pt idx="39">
                  <c:v>12</c:v>
                </c:pt>
                <c:pt idx="40">
                  <c:v>10</c:v>
                </c:pt>
                <c:pt idx="41">
                  <c:v>11</c:v>
                </c:pt>
                <c:pt idx="42">
                  <c:v>15</c:v>
                </c:pt>
                <c:pt idx="43">
                  <c:v>10</c:v>
                </c:pt>
                <c:pt idx="44">
                  <c:v>11</c:v>
                </c:pt>
                <c:pt idx="45">
                  <c:v>11</c:v>
                </c:pt>
                <c:pt idx="46">
                  <c:v>13</c:v>
                </c:pt>
                <c:pt idx="47">
                  <c:v>17</c:v>
                </c:pt>
                <c:pt idx="48">
                  <c:v>13</c:v>
                </c:pt>
                <c:pt idx="49">
                  <c:v>12</c:v>
                </c:pt>
                <c:pt idx="50">
                  <c:v>13</c:v>
                </c:pt>
                <c:pt idx="51">
                  <c:v>16</c:v>
                </c:pt>
                <c:pt idx="52">
                  <c:v>9</c:v>
                </c:pt>
                <c:pt idx="53">
                  <c:v>12</c:v>
                </c:pt>
                <c:pt idx="54">
                  <c:v>13</c:v>
                </c:pt>
                <c:pt idx="55">
                  <c:v>12</c:v>
                </c:pt>
                <c:pt idx="56">
                  <c:v>15</c:v>
                </c:pt>
                <c:pt idx="57">
                  <c:v>16</c:v>
                </c:pt>
                <c:pt idx="58">
                  <c:v>14</c:v>
                </c:pt>
                <c:pt idx="59">
                  <c:v>16</c:v>
                </c:pt>
                <c:pt idx="60">
                  <c:v>16</c:v>
                </c:pt>
                <c:pt idx="61">
                  <c:v>16</c:v>
                </c:pt>
                <c:pt idx="62">
                  <c:v>10</c:v>
                </c:pt>
                <c:pt idx="63">
                  <c:v>13</c:v>
                </c:pt>
                <c:pt idx="64">
                  <c:v>12</c:v>
                </c:pt>
                <c:pt idx="65">
                  <c:v>16</c:v>
                </c:pt>
                <c:pt idx="66">
                  <c:v>12</c:v>
                </c:pt>
                <c:pt idx="67">
                  <c:v>10</c:v>
                </c:pt>
                <c:pt idx="68">
                  <c:v>11</c:v>
                </c:pt>
                <c:pt idx="69">
                  <c:v>15</c:v>
                </c:pt>
                <c:pt idx="70">
                  <c:v>11</c:v>
                </c:pt>
                <c:pt idx="71">
                  <c:v>10</c:v>
                </c:pt>
                <c:pt idx="72">
                  <c:v>11</c:v>
                </c:pt>
                <c:pt idx="73">
                  <c:v>14</c:v>
                </c:pt>
                <c:pt idx="74">
                  <c:v>11</c:v>
                </c:pt>
                <c:pt idx="75">
                  <c:v>11</c:v>
                </c:pt>
                <c:pt idx="76">
                  <c:v>11</c:v>
                </c:pt>
                <c:pt idx="77">
                  <c:v>13</c:v>
                </c:pt>
                <c:pt idx="78">
                  <c:v>10</c:v>
                </c:pt>
                <c:pt idx="79">
                  <c:v>11</c:v>
                </c:pt>
                <c:pt idx="80">
                  <c:v>12</c:v>
                </c:pt>
                <c:pt idx="81">
                  <c:v>9</c:v>
                </c:pt>
                <c:pt idx="82">
                  <c:v>11</c:v>
                </c:pt>
                <c:pt idx="83">
                  <c:v>13</c:v>
                </c:pt>
                <c:pt idx="84">
                  <c:v>12</c:v>
                </c:pt>
                <c:pt idx="85">
                  <c:v>12</c:v>
                </c:pt>
                <c:pt idx="86">
                  <c:v>11</c:v>
                </c:pt>
                <c:pt idx="87">
                  <c:v>15</c:v>
                </c:pt>
                <c:pt idx="88">
                  <c:v>11</c:v>
                </c:pt>
                <c:pt idx="89">
                  <c:v>10</c:v>
                </c:pt>
                <c:pt idx="90">
                  <c:v>11</c:v>
                </c:pt>
                <c:pt idx="91">
                  <c:v>13</c:v>
                </c:pt>
                <c:pt idx="92">
                  <c:v>12</c:v>
                </c:pt>
                <c:pt idx="93">
                  <c:v>14</c:v>
                </c:pt>
                <c:pt idx="94">
                  <c:v>12</c:v>
                </c:pt>
                <c:pt idx="95">
                  <c:v>13</c:v>
                </c:pt>
                <c:pt idx="96">
                  <c:v>11</c:v>
                </c:pt>
                <c:pt idx="97">
                  <c:v>12</c:v>
                </c:pt>
                <c:pt idx="98">
                  <c:v>13</c:v>
                </c:pt>
                <c:pt idx="99">
                  <c:v>13</c:v>
                </c:pt>
                <c:pt idx="100">
                  <c:v>8</c:v>
                </c:pt>
                <c:pt idx="101">
                  <c:v>16</c:v>
                </c:pt>
                <c:pt idx="102">
                  <c:v>12</c:v>
                </c:pt>
                <c:pt idx="103">
                  <c:v>10</c:v>
                </c:pt>
                <c:pt idx="104">
                  <c:v>16</c:v>
                </c:pt>
                <c:pt idx="105">
                  <c:v>10</c:v>
                </c:pt>
                <c:pt idx="106">
                  <c:v>10</c:v>
                </c:pt>
                <c:pt idx="107">
                  <c:v>14</c:v>
                </c:pt>
                <c:pt idx="108">
                  <c:v>11</c:v>
                </c:pt>
                <c:pt idx="109">
                  <c:v>14</c:v>
                </c:pt>
                <c:pt idx="110">
                  <c:v>14</c:v>
                </c:pt>
                <c:pt idx="111">
                  <c:v>11</c:v>
                </c:pt>
                <c:pt idx="112">
                  <c:v>10</c:v>
                </c:pt>
                <c:pt idx="113">
                  <c:v>18</c:v>
                </c:pt>
                <c:pt idx="114">
                  <c:v>10</c:v>
                </c:pt>
                <c:pt idx="115">
                  <c:v>14</c:v>
                </c:pt>
                <c:pt idx="116">
                  <c:v>16</c:v>
                </c:pt>
                <c:pt idx="117">
                  <c:v>15</c:v>
                </c:pt>
                <c:pt idx="118">
                  <c:v>11</c:v>
                </c:pt>
                <c:pt idx="119">
                  <c:v>14</c:v>
                </c:pt>
                <c:pt idx="120">
                  <c:v>14</c:v>
                </c:pt>
                <c:pt idx="121">
                  <c:v>13</c:v>
                </c:pt>
                <c:pt idx="122">
                  <c:v>13</c:v>
                </c:pt>
                <c:pt idx="123">
                  <c:v>13</c:v>
                </c:pt>
                <c:pt idx="124">
                  <c:v>11</c:v>
                </c:pt>
                <c:pt idx="125">
                  <c:v>9</c:v>
                </c:pt>
                <c:pt idx="126">
                  <c:v>11</c:v>
                </c:pt>
                <c:pt idx="127">
                  <c:v>11</c:v>
                </c:pt>
                <c:pt idx="128">
                  <c:v>15</c:v>
                </c:pt>
                <c:pt idx="129">
                  <c:v>13</c:v>
                </c:pt>
                <c:pt idx="130">
                  <c:v>12</c:v>
                </c:pt>
                <c:pt idx="131">
                  <c:v>8</c:v>
                </c:pt>
                <c:pt idx="132">
                  <c:v>11</c:v>
                </c:pt>
                <c:pt idx="133">
                  <c:v>13</c:v>
                </c:pt>
                <c:pt idx="134">
                  <c:v>12</c:v>
                </c:pt>
                <c:pt idx="135">
                  <c:v>14</c:v>
                </c:pt>
                <c:pt idx="136">
                  <c:v>11</c:v>
                </c:pt>
                <c:pt idx="137">
                  <c:v>11</c:v>
                </c:pt>
                <c:pt idx="138">
                  <c:v>11</c:v>
                </c:pt>
                <c:pt idx="139">
                  <c:v>15</c:v>
                </c:pt>
                <c:pt idx="140">
                  <c:v>10</c:v>
                </c:pt>
                <c:pt idx="141">
                  <c:v>13</c:v>
                </c:pt>
                <c:pt idx="142">
                  <c:v>12</c:v>
                </c:pt>
                <c:pt idx="143">
                  <c:v>11</c:v>
                </c:pt>
                <c:pt idx="144">
                  <c:v>11</c:v>
                </c:pt>
                <c:pt idx="145">
                  <c:v>10</c:v>
                </c:pt>
                <c:pt idx="146">
                  <c:v>10</c:v>
                </c:pt>
                <c:pt idx="147">
                  <c:v>14</c:v>
                </c:pt>
                <c:pt idx="148">
                  <c:v>9</c:v>
                </c:pt>
                <c:pt idx="149">
                  <c:v>11</c:v>
                </c:pt>
                <c:pt idx="150">
                  <c:v>9</c:v>
                </c:pt>
                <c:pt idx="151">
                  <c:v>13</c:v>
                </c:pt>
                <c:pt idx="152">
                  <c:v>11</c:v>
                </c:pt>
                <c:pt idx="153">
                  <c:v>13</c:v>
                </c:pt>
                <c:pt idx="154">
                  <c:v>11</c:v>
                </c:pt>
                <c:pt idx="155">
                  <c:v>6</c:v>
                </c:pt>
                <c:pt idx="156">
                  <c:v>12</c:v>
                </c:pt>
                <c:pt idx="157">
                  <c:v>10</c:v>
                </c:pt>
                <c:pt idx="158">
                  <c:v>11</c:v>
                </c:pt>
                <c:pt idx="159">
                  <c:v>13</c:v>
                </c:pt>
                <c:pt idx="160">
                  <c:v>11</c:v>
                </c:pt>
                <c:pt idx="161">
                  <c:v>8</c:v>
                </c:pt>
                <c:pt idx="162">
                  <c:v>11</c:v>
                </c:pt>
                <c:pt idx="163">
                  <c:v>0</c:v>
                </c:pt>
                <c:pt idx="164">
                  <c:v>10</c:v>
                </c:pt>
                <c:pt idx="165">
                  <c:v>13</c:v>
                </c:pt>
                <c:pt idx="166">
                  <c:v>11</c:v>
                </c:pt>
                <c:pt idx="167">
                  <c:v>13</c:v>
                </c:pt>
                <c:pt idx="168">
                  <c:v>8</c:v>
                </c:pt>
                <c:pt idx="169">
                  <c:v>10</c:v>
                </c:pt>
                <c:pt idx="170">
                  <c:v>11</c:v>
                </c:pt>
                <c:pt idx="171">
                  <c:v>11</c:v>
                </c:pt>
                <c:pt idx="172">
                  <c:v>1</c:v>
                </c:pt>
                <c:pt idx="173">
                  <c:v>10</c:v>
                </c:pt>
                <c:pt idx="174">
                  <c:v>9</c:v>
                </c:pt>
                <c:pt idx="175">
                  <c:v>8</c:v>
                </c:pt>
                <c:pt idx="176">
                  <c:v>10</c:v>
                </c:pt>
                <c:pt idx="177">
                  <c:v>8</c:v>
                </c:pt>
                <c:pt idx="178">
                  <c:v>8</c:v>
                </c:pt>
                <c:pt idx="179">
                  <c:v>8</c:v>
                </c:pt>
                <c:pt idx="180">
                  <c:v>11</c:v>
                </c:pt>
                <c:pt idx="181">
                  <c:v>18</c:v>
                </c:pt>
                <c:pt idx="182">
                  <c:v>13</c:v>
                </c:pt>
                <c:pt idx="183">
                  <c:v>17</c:v>
                </c:pt>
                <c:pt idx="184">
                  <c:v>10</c:v>
                </c:pt>
                <c:pt idx="185">
                  <c:v>18</c:v>
                </c:pt>
                <c:pt idx="186">
                  <c:v>10</c:v>
                </c:pt>
                <c:pt idx="187">
                  <c:v>13</c:v>
                </c:pt>
                <c:pt idx="188">
                  <c:v>15</c:v>
                </c:pt>
                <c:pt idx="189">
                  <c:v>11</c:v>
                </c:pt>
                <c:pt idx="190">
                  <c:v>14</c:v>
                </c:pt>
                <c:pt idx="191">
                  <c:v>10</c:v>
                </c:pt>
                <c:pt idx="192">
                  <c:v>11</c:v>
                </c:pt>
                <c:pt idx="193">
                  <c:v>13</c:v>
                </c:pt>
                <c:pt idx="194">
                  <c:v>11</c:v>
                </c:pt>
                <c:pt idx="195">
                  <c:v>13</c:v>
                </c:pt>
                <c:pt idx="196">
                  <c:v>17</c:v>
                </c:pt>
                <c:pt idx="197">
                  <c:v>14</c:v>
                </c:pt>
                <c:pt idx="198">
                  <c:v>16</c:v>
                </c:pt>
                <c:pt idx="199">
                  <c:v>14</c:v>
                </c:pt>
                <c:pt idx="200">
                  <c:v>11</c:v>
                </c:pt>
                <c:pt idx="201">
                  <c:v>16</c:v>
                </c:pt>
                <c:pt idx="202">
                  <c:v>14</c:v>
                </c:pt>
                <c:pt idx="203">
                  <c:v>10</c:v>
                </c:pt>
                <c:pt idx="204">
                  <c:v>13</c:v>
                </c:pt>
                <c:pt idx="205">
                  <c:v>12</c:v>
                </c:pt>
                <c:pt idx="206">
                  <c:v>12</c:v>
                </c:pt>
                <c:pt idx="207">
                  <c:v>10</c:v>
                </c:pt>
                <c:pt idx="208">
                  <c:v>12</c:v>
                </c:pt>
                <c:pt idx="209">
                  <c:v>16</c:v>
                </c:pt>
                <c:pt idx="210">
                  <c:v>14</c:v>
                </c:pt>
                <c:pt idx="211">
                  <c:v>12</c:v>
                </c:pt>
                <c:pt idx="212">
                  <c:v>16</c:v>
                </c:pt>
                <c:pt idx="213">
                  <c:v>11</c:v>
                </c:pt>
                <c:pt idx="214">
                  <c:v>15</c:v>
                </c:pt>
                <c:pt idx="215">
                  <c:v>12</c:v>
                </c:pt>
                <c:pt idx="216">
                  <c:v>15</c:v>
                </c:pt>
                <c:pt idx="217">
                  <c:v>13</c:v>
                </c:pt>
                <c:pt idx="218">
                  <c:v>13</c:v>
                </c:pt>
                <c:pt idx="219">
                  <c:v>8</c:v>
                </c:pt>
                <c:pt idx="220">
                  <c:v>12</c:v>
                </c:pt>
                <c:pt idx="221">
                  <c:v>15</c:v>
                </c:pt>
                <c:pt idx="222">
                  <c:v>13</c:v>
                </c:pt>
                <c:pt idx="223">
                  <c:v>12</c:v>
                </c:pt>
                <c:pt idx="224">
                  <c:v>12</c:v>
                </c:pt>
                <c:pt idx="225">
                  <c:v>12</c:v>
                </c:pt>
                <c:pt idx="226">
                  <c:v>13</c:v>
                </c:pt>
                <c:pt idx="227">
                  <c:v>11</c:v>
                </c:pt>
                <c:pt idx="228">
                  <c:v>11</c:v>
                </c:pt>
                <c:pt idx="229">
                  <c:v>15</c:v>
                </c:pt>
                <c:pt idx="230">
                  <c:v>10</c:v>
                </c:pt>
                <c:pt idx="231">
                  <c:v>10</c:v>
                </c:pt>
                <c:pt idx="232">
                  <c:v>13</c:v>
                </c:pt>
                <c:pt idx="233">
                  <c:v>13</c:v>
                </c:pt>
                <c:pt idx="234">
                  <c:v>11</c:v>
                </c:pt>
                <c:pt idx="235">
                  <c:v>12</c:v>
                </c:pt>
                <c:pt idx="236">
                  <c:v>14</c:v>
                </c:pt>
                <c:pt idx="237">
                  <c:v>10</c:v>
                </c:pt>
                <c:pt idx="238">
                  <c:v>16</c:v>
                </c:pt>
                <c:pt idx="239">
                  <c:v>8</c:v>
                </c:pt>
                <c:pt idx="240">
                  <c:v>17</c:v>
                </c:pt>
                <c:pt idx="241">
                  <c:v>11</c:v>
                </c:pt>
                <c:pt idx="242">
                  <c:v>11</c:v>
                </c:pt>
                <c:pt idx="243">
                  <c:v>16</c:v>
                </c:pt>
                <c:pt idx="244">
                  <c:v>12</c:v>
                </c:pt>
                <c:pt idx="245">
                  <c:v>13</c:v>
                </c:pt>
                <c:pt idx="246">
                  <c:v>13</c:v>
                </c:pt>
                <c:pt idx="247">
                  <c:v>14</c:v>
                </c:pt>
                <c:pt idx="248">
                  <c:v>9</c:v>
                </c:pt>
                <c:pt idx="249">
                  <c:v>12</c:v>
                </c:pt>
                <c:pt idx="250">
                  <c:v>16</c:v>
                </c:pt>
                <c:pt idx="251">
                  <c:v>10</c:v>
                </c:pt>
                <c:pt idx="252">
                  <c:v>13</c:v>
                </c:pt>
                <c:pt idx="253">
                  <c:v>10</c:v>
                </c:pt>
                <c:pt idx="254">
                  <c:v>10</c:v>
                </c:pt>
                <c:pt idx="255">
                  <c:v>7</c:v>
                </c:pt>
                <c:pt idx="256">
                  <c:v>8</c:v>
                </c:pt>
                <c:pt idx="257">
                  <c:v>9</c:v>
                </c:pt>
                <c:pt idx="258">
                  <c:v>15</c:v>
                </c:pt>
                <c:pt idx="259">
                  <c:v>10</c:v>
                </c:pt>
                <c:pt idx="260">
                  <c:v>11</c:v>
                </c:pt>
                <c:pt idx="261">
                  <c:v>13</c:v>
                </c:pt>
                <c:pt idx="262">
                  <c:v>8</c:v>
                </c:pt>
                <c:pt idx="263">
                  <c:v>8</c:v>
                </c:pt>
                <c:pt idx="264">
                  <c:v>10</c:v>
                </c:pt>
                <c:pt idx="265">
                  <c:v>15</c:v>
                </c:pt>
                <c:pt idx="266">
                  <c:v>14</c:v>
                </c:pt>
                <c:pt idx="267">
                  <c:v>15</c:v>
                </c:pt>
                <c:pt idx="268">
                  <c:v>12</c:v>
                </c:pt>
                <c:pt idx="269">
                  <c:v>15</c:v>
                </c:pt>
                <c:pt idx="270">
                  <c:v>15</c:v>
                </c:pt>
                <c:pt idx="271">
                  <c:v>12</c:v>
                </c:pt>
                <c:pt idx="272">
                  <c:v>15</c:v>
                </c:pt>
                <c:pt idx="273">
                  <c:v>11</c:v>
                </c:pt>
                <c:pt idx="274">
                  <c:v>10</c:v>
                </c:pt>
                <c:pt idx="275">
                  <c:v>11</c:v>
                </c:pt>
                <c:pt idx="276">
                  <c:v>16</c:v>
                </c:pt>
                <c:pt idx="277">
                  <c:v>11</c:v>
                </c:pt>
                <c:pt idx="278">
                  <c:v>13</c:v>
                </c:pt>
                <c:pt idx="279">
                  <c:v>5</c:v>
                </c:pt>
                <c:pt idx="280">
                  <c:v>10</c:v>
                </c:pt>
                <c:pt idx="281">
                  <c:v>11</c:v>
                </c:pt>
                <c:pt idx="282">
                  <c:v>7</c:v>
                </c:pt>
                <c:pt idx="283">
                  <c:v>10</c:v>
                </c:pt>
                <c:pt idx="284">
                  <c:v>6</c:v>
                </c:pt>
                <c:pt idx="285">
                  <c:v>12</c:v>
                </c:pt>
                <c:pt idx="286">
                  <c:v>13</c:v>
                </c:pt>
                <c:pt idx="287">
                  <c:v>10</c:v>
                </c:pt>
                <c:pt idx="288">
                  <c:v>13</c:v>
                </c:pt>
                <c:pt idx="289">
                  <c:v>17</c:v>
                </c:pt>
                <c:pt idx="290">
                  <c:v>11</c:v>
                </c:pt>
                <c:pt idx="291">
                  <c:v>11</c:v>
                </c:pt>
                <c:pt idx="292">
                  <c:v>14</c:v>
                </c:pt>
                <c:pt idx="293">
                  <c:v>14</c:v>
                </c:pt>
                <c:pt idx="294">
                  <c:v>13</c:v>
                </c:pt>
                <c:pt idx="295">
                  <c:v>14</c:v>
                </c:pt>
                <c:pt idx="296">
                  <c:v>16</c:v>
                </c:pt>
                <c:pt idx="297">
                  <c:v>10</c:v>
                </c:pt>
                <c:pt idx="298">
                  <c:v>12</c:v>
                </c:pt>
                <c:pt idx="299">
                  <c:v>12</c:v>
                </c:pt>
                <c:pt idx="300">
                  <c:v>15</c:v>
                </c:pt>
                <c:pt idx="301">
                  <c:v>11</c:v>
                </c:pt>
                <c:pt idx="302">
                  <c:v>12</c:v>
                </c:pt>
                <c:pt idx="303">
                  <c:v>13</c:v>
                </c:pt>
                <c:pt idx="304">
                  <c:v>13</c:v>
                </c:pt>
                <c:pt idx="305">
                  <c:v>9</c:v>
                </c:pt>
                <c:pt idx="306">
                  <c:v>16</c:v>
                </c:pt>
                <c:pt idx="307">
                  <c:v>14</c:v>
                </c:pt>
                <c:pt idx="308">
                  <c:v>12</c:v>
                </c:pt>
                <c:pt idx="309">
                  <c:v>14</c:v>
                </c:pt>
                <c:pt idx="310">
                  <c:v>10</c:v>
                </c:pt>
                <c:pt idx="311">
                  <c:v>12</c:v>
                </c:pt>
                <c:pt idx="312">
                  <c:v>16</c:v>
                </c:pt>
                <c:pt idx="313">
                  <c:v>13</c:v>
                </c:pt>
                <c:pt idx="314">
                  <c:v>18</c:v>
                </c:pt>
                <c:pt idx="315">
                  <c:v>15</c:v>
                </c:pt>
                <c:pt idx="316">
                  <c:v>16</c:v>
                </c:pt>
                <c:pt idx="317">
                  <c:v>12</c:v>
                </c:pt>
                <c:pt idx="318">
                  <c:v>10</c:v>
                </c:pt>
                <c:pt idx="319">
                  <c:v>12</c:v>
                </c:pt>
                <c:pt idx="320">
                  <c:v>13</c:v>
                </c:pt>
                <c:pt idx="321">
                  <c:v>15</c:v>
                </c:pt>
                <c:pt idx="322">
                  <c:v>10</c:v>
                </c:pt>
                <c:pt idx="323">
                  <c:v>10</c:v>
                </c:pt>
                <c:pt idx="324">
                  <c:v>11</c:v>
                </c:pt>
                <c:pt idx="325">
                  <c:v>10</c:v>
                </c:pt>
                <c:pt idx="326">
                  <c:v>13</c:v>
                </c:pt>
                <c:pt idx="327">
                  <c:v>18</c:v>
                </c:pt>
                <c:pt idx="328">
                  <c:v>13</c:v>
                </c:pt>
                <c:pt idx="329">
                  <c:v>14</c:v>
                </c:pt>
                <c:pt idx="330">
                  <c:v>14</c:v>
                </c:pt>
                <c:pt idx="331">
                  <c:v>12</c:v>
                </c:pt>
                <c:pt idx="332">
                  <c:v>18</c:v>
                </c:pt>
                <c:pt idx="333">
                  <c:v>14</c:v>
                </c:pt>
                <c:pt idx="334">
                  <c:v>15</c:v>
                </c:pt>
                <c:pt idx="335">
                  <c:v>17</c:v>
                </c:pt>
                <c:pt idx="336">
                  <c:v>16</c:v>
                </c:pt>
                <c:pt idx="337">
                  <c:v>18</c:v>
                </c:pt>
                <c:pt idx="338">
                  <c:v>19</c:v>
                </c:pt>
                <c:pt idx="339">
                  <c:v>15</c:v>
                </c:pt>
                <c:pt idx="340">
                  <c:v>15</c:v>
                </c:pt>
                <c:pt idx="341">
                  <c:v>13</c:v>
                </c:pt>
                <c:pt idx="342">
                  <c:v>14</c:v>
                </c:pt>
                <c:pt idx="343">
                  <c:v>17</c:v>
                </c:pt>
                <c:pt idx="344">
                  <c:v>17</c:v>
                </c:pt>
                <c:pt idx="345">
                  <c:v>15</c:v>
                </c:pt>
                <c:pt idx="346">
                  <c:v>13</c:v>
                </c:pt>
                <c:pt idx="347">
                  <c:v>8</c:v>
                </c:pt>
                <c:pt idx="348">
                  <c:v>16</c:v>
                </c:pt>
                <c:pt idx="349">
                  <c:v>18</c:v>
                </c:pt>
                <c:pt idx="350">
                  <c:v>11</c:v>
                </c:pt>
                <c:pt idx="351">
                  <c:v>15</c:v>
                </c:pt>
                <c:pt idx="352">
                  <c:v>11</c:v>
                </c:pt>
                <c:pt idx="353">
                  <c:v>11</c:v>
                </c:pt>
                <c:pt idx="354">
                  <c:v>15</c:v>
                </c:pt>
                <c:pt idx="355">
                  <c:v>14</c:v>
                </c:pt>
                <c:pt idx="356">
                  <c:v>17</c:v>
                </c:pt>
                <c:pt idx="357">
                  <c:v>17</c:v>
                </c:pt>
                <c:pt idx="358">
                  <c:v>15</c:v>
                </c:pt>
                <c:pt idx="359">
                  <c:v>17</c:v>
                </c:pt>
                <c:pt idx="360">
                  <c:v>14</c:v>
                </c:pt>
                <c:pt idx="361">
                  <c:v>10</c:v>
                </c:pt>
                <c:pt idx="362">
                  <c:v>13</c:v>
                </c:pt>
                <c:pt idx="363">
                  <c:v>14</c:v>
                </c:pt>
                <c:pt idx="364">
                  <c:v>17</c:v>
                </c:pt>
                <c:pt idx="365">
                  <c:v>17</c:v>
                </c:pt>
                <c:pt idx="366">
                  <c:v>13</c:v>
                </c:pt>
                <c:pt idx="367">
                  <c:v>14</c:v>
                </c:pt>
                <c:pt idx="368">
                  <c:v>11</c:v>
                </c:pt>
                <c:pt idx="369">
                  <c:v>11</c:v>
                </c:pt>
                <c:pt idx="370">
                  <c:v>9</c:v>
                </c:pt>
                <c:pt idx="371">
                  <c:v>10</c:v>
                </c:pt>
                <c:pt idx="372">
                  <c:v>13</c:v>
                </c:pt>
                <c:pt idx="373">
                  <c:v>10</c:v>
                </c:pt>
                <c:pt idx="374">
                  <c:v>17</c:v>
                </c:pt>
                <c:pt idx="375">
                  <c:v>15</c:v>
                </c:pt>
                <c:pt idx="376">
                  <c:v>14</c:v>
                </c:pt>
                <c:pt idx="377">
                  <c:v>13</c:v>
                </c:pt>
                <c:pt idx="378">
                  <c:v>17</c:v>
                </c:pt>
                <c:pt idx="379">
                  <c:v>10</c:v>
                </c:pt>
                <c:pt idx="380">
                  <c:v>13</c:v>
                </c:pt>
                <c:pt idx="381">
                  <c:v>15</c:v>
                </c:pt>
                <c:pt idx="382">
                  <c:v>11</c:v>
                </c:pt>
                <c:pt idx="383">
                  <c:v>12</c:v>
                </c:pt>
                <c:pt idx="384">
                  <c:v>10</c:v>
                </c:pt>
                <c:pt idx="385">
                  <c:v>10</c:v>
                </c:pt>
                <c:pt idx="386">
                  <c:v>15</c:v>
                </c:pt>
                <c:pt idx="387">
                  <c:v>15</c:v>
                </c:pt>
                <c:pt idx="388">
                  <c:v>12</c:v>
                </c:pt>
                <c:pt idx="389">
                  <c:v>12</c:v>
                </c:pt>
                <c:pt idx="390">
                  <c:v>14</c:v>
                </c:pt>
                <c:pt idx="391">
                  <c:v>14</c:v>
                </c:pt>
                <c:pt idx="392">
                  <c:v>15</c:v>
                </c:pt>
                <c:pt idx="393">
                  <c:v>15</c:v>
                </c:pt>
                <c:pt idx="394">
                  <c:v>16</c:v>
                </c:pt>
                <c:pt idx="395">
                  <c:v>13</c:v>
                </c:pt>
                <c:pt idx="396">
                  <c:v>17</c:v>
                </c:pt>
                <c:pt idx="397">
                  <c:v>14</c:v>
                </c:pt>
                <c:pt idx="398">
                  <c:v>14</c:v>
                </c:pt>
                <c:pt idx="399">
                  <c:v>17</c:v>
                </c:pt>
                <c:pt idx="400">
                  <c:v>17</c:v>
                </c:pt>
                <c:pt idx="401">
                  <c:v>14</c:v>
                </c:pt>
                <c:pt idx="402">
                  <c:v>13</c:v>
                </c:pt>
                <c:pt idx="403">
                  <c:v>15</c:v>
                </c:pt>
                <c:pt idx="404">
                  <c:v>16</c:v>
                </c:pt>
                <c:pt idx="405">
                  <c:v>11</c:v>
                </c:pt>
                <c:pt idx="406">
                  <c:v>13</c:v>
                </c:pt>
                <c:pt idx="407">
                  <c:v>12</c:v>
                </c:pt>
                <c:pt idx="408">
                  <c:v>12</c:v>
                </c:pt>
                <c:pt idx="409">
                  <c:v>15</c:v>
                </c:pt>
                <c:pt idx="410">
                  <c:v>17</c:v>
                </c:pt>
                <c:pt idx="411">
                  <c:v>15</c:v>
                </c:pt>
                <c:pt idx="412">
                  <c:v>17</c:v>
                </c:pt>
                <c:pt idx="413">
                  <c:v>10</c:v>
                </c:pt>
                <c:pt idx="414">
                  <c:v>15</c:v>
                </c:pt>
                <c:pt idx="415">
                  <c:v>11</c:v>
                </c:pt>
                <c:pt idx="416">
                  <c:v>18</c:v>
                </c:pt>
                <c:pt idx="417">
                  <c:v>17</c:v>
                </c:pt>
                <c:pt idx="418">
                  <c:v>14</c:v>
                </c:pt>
                <c:pt idx="419">
                  <c:v>11</c:v>
                </c:pt>
                <c:pt idx="420">
                  <c:v>17</c:v>
                </c:pt>
                <c:pt idx="421">
                  <c:v>10</c:v>
                </c:pt>
                <c:pt idx="422">
                  <c:v>13</c:v>
                </c:pt>
                <c:pt idx="423">
                  <c:v>11</c:v>
                </c:pt>
                <c:pt idx="424">
                  <c:v>12</c:v>
                </c:pt>
                <c:pt idx="425">
                  <c:v>10</c:v>
                </c:pt>
                <c:pt idx="426">
                  <c:v>11</c:v>
                </c:pt>
                <c:pt idx="427">
                  <c:v>17</c:v>
                </c:pt>
                <c:pt idx="428">
                  <c:v>9</c:v>
                </c:pt>
                <c:pt idx="429">
                  <c:v>11</c:v>
                </c:pt>
                <c:pt idx="430">
                  <c:v>11</c:v>
                </c:pt>
                <c:pt idx="431">
                  <c:v>10</c:v>
                </c:pt>
                <c:pt idx="432">
                  <c:v>7</c:v>
                </c:pt>
                <c:pt idx="433">
                  <c:v>14</c:v>
                </c:pt>
                <c:pt idx="434">
                  <c:v>11</c:v>
                </c:pt>
                <c:pt idx="435">
                  <c:v>10</c:v>
                </c:pt>
                <c:pt idx="436">
                  <c:v>8</c:v>
                </c:pt>
                <c:pt idx="437">
                  <c:v>12</c:v>
                </c:pt>
                <c:pt idx="438">
                  <c:v>12</c:v>
                </c:pt>
                <c:pt idx="439">
                  <c:v>16</c:v>
                </c:pt>
                <c:pt idx="440">
                  <c:v>0</c:v>
                </c:pt>
                <c:pt idx="441">
                  <c:v>9</c:v>
                </c:pt>
                <c:pt idx="442">
                  <c:v>14</c:v>
                </c:pt>
                <c:pt idx="443">
                  <c:v>8</c:v>
                </c:pt>
                <c:pt idx="444">
                  <c:v>11</c:v>
                </c:pt>
                <c:pt idx="445">
                  <c:v>9</c:v>
                </c:pt>
                <c:pt idx="446">
                  <c:v>11</c:v>
                </c:pt>
                <c:pt idx="447">
                  <c:v>9</c:v>
                </c:pt>
                <c:pt idx="448">
                  <c:v>17</c:v>
                </c:pt>
                <c:pt idx="449">
                  <c:v>13</c:v>
                </c:pt>
                <c:pt idx="450">
                  <c:v>15</c:v>
                </c:pt>
                <c:pt idx="451">
                  <c:v>11</c:v>
                </c:pt>
                <c:pt idx="452">
                  <c:v>11</c:v>
                </c:pt>
                <c:pt idx="453">
                  <c:v>8</c:v>
                </c:pt>
                <c:pt idx="454">
                  <c:v>8</c:v>
                </c:pt>
                <c:pt idx="455">
                  <c:v>9</c:v>
                </c:pt>
                <c:pt idx="456">
                  <c:v>15</c:v>
                </c:pt>
                <c:pt idx="457">
                  <c:v>11</c:v>
                </c:pt>
                <c:pt idx="458">
                  <c:v>13</c:v>
                </c:pt>
                <c:pt idx="459">
                  <c:v>10</c:v>
                </c:pt>
                <c:pt idx="460">
                  <c:v>11</c:v>
                </c:pt>
                <c:pt idx="461">
                  <c:v>14</c:v>
                </c:pt>
                <c:pt idx="462">
                  <c:v>14</c:v>
                </c:pt>
                <c:pt idx="463">
                  <c:v>12</c:v>
                </c:pt>
                <c:pt idx="464">
                  <c:v>11</c:v>
                </c:pt>
                <c:pt idx="465">
                  <c:v>8</c:v>
                </c:pt>
                <c:pt idx="466">
                  <c:v>11</c:v>
                </c:pt>
                <c:pt idx="467">
                  <c:v>14</c:v>
                </c:pt>
                <c:pt idx="468">
                  <c:v>13</c:v>
                </c:pt>
                <c:pt idx="469">
                  <c:v>13</c:v>
                </c:pt>
                <c:pt idx="470">
                  <c:v>12</c:v>
                </c:pt>
                <c:pt idx="471">
                  <c:v>12</c:v>
                </c:pt>
                <c:pt idx="472">
                  <c:v>16</c:v>
                </c:pt>
                <c:pt idx="473">
                  <c:v>10</c:v>
                </c:pt>
                <c:pt idx="474">
                  <c:v>11</c:v>
                </c:pt>
                <c:pt idx="475">
                  <c:v>14</c:v>
                </c:pt>
                <c:pt idx="476">
                  <c:v>8</c:v>
                </c:pt>
                <c:pt idx="477">
                  <c:v>11</c:v>
                </c:pt>
                <c:pt idx="478">
                  <c:v>8</c:v>
                </c:pt>
                <c:pt idx="479">
                  <c:v>10</c:v>
                </c:pt>
                <c:pt idx="480">
                  <c:v>10</c:v>
                </c:pt>
                <c:pt idx="481">
                  <c:v>11</c:v>
                </c:pt>
                <c:pt idx="482">
                  <c:v>9</c:v>
                </c:pt>
                <c:pt idx="483">
                  <c:v>11</c:v>
                </c:pt>
                <c:pt idx="484">
                  <c:v>8</c:v>
                </c:pt>
                <c:pt idx="485">
                  <c:v>11</c:v>
                </c:pt>
                <c:pt idx="486">
                  <c:v>10</c:v>
                </c:pt>
                <c:pt idx="487">
                  <c:v>10</c:v>
                </c:pt>
                <c:pt idx="488">
                  <c:v>9</c:v>
                </c:pt>
                <c:pt idx="489">
                  <c:v>10</c:v>
                </c:pt>
                <c:pt idx="490">
                  <c:v>10</c:v>
                </c:pt>
                <c:pt idx="491">
                  <c:v>9</c:v>
                </c:pt>
                <c:pt idx="492">
                  <c:v>10</c:v>
                </c:pt>
                <c:pt idx="493">
                  <c:v>10</c:v>
                </c:pt>
                <c:pt idx="494">
                  <c:v>9</c:v>
                </c:pt>
                <c:pt idx="495">
                  <c:v>13</c:v>
                </c:pt>
                <c:pt idx="496">
                  <c:v>14</c:v>
                </c:pt>
                <c:pt idx="497">
                  <c:v>10</c:v>
                </c:pt>
                <c:pt idx="498">
                  <c:v>14</c:v>
                </c:pt>
                <c:pt idx="499">
                  <c:v>16</c:v>
                </c:pt>
                <c:pt idx="500">
                  <c:v>7</c:v>
                </c:pt>
                <c:pt idx="501">
                  <c:v>13</c:v>
                </c:pt>
                <c:pt idx="502">
                  <c:v>9</c:v>
                </c:pt>
                <c:pt idx="503">
                  <c:v>14</c:v>
                </c:pt>
                <c:pt idx="504">
                  <c:v>13</c:v>
                </c:pt>
                <c:pt idx="505">
                  <c:v>11</c:v>
                </c:pt>
                <c:pt idx="506">
                  <c:v>10</c:v>
                </c:pt>
                <c:pt idx="507">
                  <c:v>10</c:v>
                </c:pt>
                <c:pt idx="508">
                  <c:v>9</c:v>
                </c:pt>
                <c:pt idx="509">
                  <c:v>18</c:v>
                </c:pt>
                <c:pt idx="510">
                  <c:v>17</c:v>
                </c:pt>
                <c:pt idx="511">
                  <c:v>10</c:v>
                </c:pt>
                <c:pt idx="512">
                  <c:v>7</c:v>
                </c:pt>
                <c:pt idx="513">
                  <c:v>8</c:v>
                </c:pt>
                <c:pt idx="514">
                  <c:v>7</c:v>
                </c:pt>
                <c:pt idx="515">
                  <c:v>10</c:v>
                </c:pt>
                <c:pt idx="516">
                  <c:v>16</c:v>
                </c:pt>
                <c:pt idx="517">
                  <c:v>15</c:v>
                </c:pt>
                <c:pt idx="518">
                  <c:v>8</c:v>
                </c:pt>
                <c:pt idx="519">
                  <c:v>0</c:v>
                </c:pt>
                <c:pt idx="520">
                  <c:v>8</c:v>
                </c:pt>
                <c:pt idx="521">
                  <c:v>10</c:v>
                </c:pt>
                <c:pt idx="522">
                  <c:v>8</c:v>
                </c:pt>
                <c:pt idx="523">
                  <c:v>6</c:v>
                </c:pt>
                <c:pt idx="524">
                  <c:v>8</c:v>
                </c:pt>
                <c:pt idx="525">
                  <c:v>16</c:v>
                </c:pt>
                <c:pt idx="526">
                  <c:v>14</c:v>
                </c:pt>
                <c:pt idx="527">
                  <c:v>10</c:v>
                </c:pt>
                <c:pt idx="528">
                  <c:v>9</c:v>
                </c:pt>
                <c:pt idx="529">
                  <c:v>11</c:v>
                </c:pt>
                <c:pt idx="530">
                  <c:v>9</c:v>
                </c:pt>
                <c:pt idx="531">
                  <c:v>10</c:v>
                </c:pt>
                <c:pt idx="532">
                  <c:v>8</c:v>
                </c:pt>
                <c:pt idx="533">
                  <c:v>16</c:v>
                </c:pt>
                <c:pt idx="534">
                  <c:v>12</c:v>
                </c:pt>
                <c:pt idx="535">
                  <c:v>10</c:v>
                </c:pt>
                <c:pt idx="536">
                  <c:v>14</c:v>
                </c:pt>
                <c:pt idx="537">
                  <c:v>12</c:v>
                </c:pt>
                <c:pt idx="538">
                  <c:v>11</c:v>
                </c:pt>
                <c:pt idx="539">
                  <c:v>10</c:v>
                </c:pt>
                <c:pt idx="540">
                  <c:v>11</c:v>
                </c:pt>
                <c:pt idx="541">
                  <c:v>11</c:v>
                </c:pt>
                <c:pt idx="542">
                  <c:v>12</c:v>
                </c:pt>
                <c:pt idx="543">
                  <c:v>8</c:v>
                </c:pt>
                <c:pt idx="544">
                  <c:v>12</c:v>
                </c:pt>
                <c:pt idx="545">
                  <c:v>8</c:v>
                </c:pt>
                <c:pt idx="546">
                  <c:v>16</c:v>
                </c:pt>
                <c:pt idx="547">
                  <c:v>11</c:v>
                </c:pt>
                <c:pt idx="548">
                  <c:v>11</c:v>
                </c:pt>
                <c:pt idx="549">
                  <c:v>18</c:v>
                </c:pt>
                <c:pt idx="550">
                  <c:v>13</c:v>
                </c:pt>
                <c:pt idx="551">
                  <c:v>13</c:v>
                </c:pt>
                <c:pt idx="552">
                  <c:v>10</c:v>
                </c:pt>
                <c:pt idx="553">
                  <c:v>12</c:v>
                </c:pt>
                <c:pt idx="554">
                  <c:v>10</c:v>
                </c:pt>
                <c:pt idx="555">
                  <c:v>13</c:v>
                </c:pt>
                <c:pt idx="556">
                  <c:v>11</c:v>
                </c:pt>
                <c:pt idx="557">
                  <c:v>10</c:v>
                </c:pt>
                <c:pt idx="558">
                  <c:v>10</c:v>
                </c:pt>
                <c:pt idx="559">
                  <c:v>13</c:v>
                </c:pt>
                <c:pt idx="560">
                  <c:v>10</c:v>
                </c:pt>
                <c:pt idx="561">
                  <c:v>10</c:v>
                </c:pt>
                <c:pt idx="562">
                  <c:v>12</c:v>
                </c:pt>
                <c:pt idx="563">
                  <c:v>0</c:v>
                </c:pt>
                <c:pt idx="564">
                  <c:v>10</c:v>
                </c:pt>
                <c:pt idx="565">
                  <c:v>9</c:v>
                </c:pt>
                <c:pt idx="566">
                  <c:v>9</c:v>
                </c:pt>
                <c:pt idx="567">
                  <c:v>0</c:v>
                </c:pt>
                <c:pt idx="568">
                  <c:v>9</c:v>
                </c:pt>
                <c:pt idx="569">
                  <c:v>8</c:v>
                </c:pt>
                <c:pt idx="570">
                  <c:v>8</c:v>
                </c:pt>
                <c:pt idx="571">
                  <c:v>9</c:v>
                </c:pt>
                <c:pt idx="572">
                  <c:v>7</c:v>
                </c:pt>
                <c:pt idx="573">
                  <c:v>10</c:v>
                </c:pt>
                <c:pt idx="574">
                  <c:v>10</c:v>
                </c:pt>
                <c:pt idx="575">
                  <c:v>10</c:v>
                </c:pt>
                <c:pt idx="576">
                  <c:v>11</c:v>
                </c:pt>
                <c:pt idx="577">
                  <c:v>11</c:v>
                </c:pt>
                <c:pt idx="578">
                  <c:v>10</c:v>
                </c:pt>
                <c:pt idx="579">
                  <c:v>9</c:v>
                </c:pt>
                <c:pt idx="580">
                  <c:v>10</c:v>
                </c:pt>
                <c:pt idx="581">
                  <c:v>8</c:v>
                </c:pt>
                <c:pt idx="582">
                  <c:v>7</c:v>
                </c:pt>
                <c:pt idx="583">
                  <c:v>0</c:v>
                </c:pt>
                <c:pt idx="584">
                  <c:v>11</c:v>
                </c:pt>
                <c:pt idx="585">
                  <c:v>8</c:v>
                </c:pt>
                <c:pt idx="586">
                  <c:v>0</c:v>
                </c:pt>
                <c:pt idx="587">
                  <c:v>8</c:v>
                </c:pt>
                <c:pt idx="588">
                  <c:v>9</c:v>
                </c:pt>
                <c:pt idx="589">
                  <c:v>10</c:v>
                </c:pt>
                <c:pt idx="590">
                  <c:v>7</c:v>
                </c:pt>
                <c:pt idx="591">
                  <c:v>14</c:v>
                </c:pt>
                <c:pt idx="592">
                  <c:v>13</c:v>
                </c:pt>
                <c:pt idx="593">
                  <c:v>14</c:v>
                </c:pt>
                <c:pt idx="594">
                  <c:v>18</c:v>
                </c:pt>
                <c:pt idx="595">
                  <c:v>17</c:v>
                </c:pt>
                <c:pt idx="596">
                  <c:v>18</c:v>
                </c:pt>
                <c:pt idx="597">
                  <c:v>0</c:v>
                </c:pt>
                <c:pt idx="598">
                  <c:v>11</c:v>
                </c:pt>
                <c:pt idx="599">
                  <c:v>14</c:v>
                </c:pt>
                <c:pt idx="600">
                  <c:v>14</c:v>
                </c:pt>
                <c:pt idx="601">
                  <c:v>10</c:v>
                </c:pt>
                <c:pt idx="602">
                  <c:v>13</c:v>
                </c:pt>
                <c:pt idx="603">
                  <c:v>0</c:v>
                </c:pt>
                <c:pt idx="604">
                  <c:v>10</c:v>
                </c:pt>
                <c:pt idx="605">
                  <c:v>0</c:v>
                </c:pt>
                <c:pt idx="606">
                  <c:v>18</c:v>
                </c:pt>
                <c:pt idx="607">
                  <c:v>12</c:v>
                </c:pt>
                <c:pt idx="608">
                  <c:v>11</c:v>
                </c:pt>
                <c:pt idx="609">
                  <c:v>12</c:v>
                </c:pt>
                <c:pt idx="610">
                  <c:v>0</c:v>
                </c:pt>
                <c:pt idx="611">
                  <c:v>15</c:v>
                </c:pt>
                <c:pt idx="612">
                  <c:v>11</c:v>
                </c:pt>
                <c:pt idx="613">
                  <c:v>10</c:v>
                </c:pt>
                <c:pt idx="614">
                  <c:v>12</c:v>
                </c:pt>
                <c:pt idx="615">
                  <c:v>15</c:v>
                </c:pt>
                <c:pt idx="616">
                  <c:v>14</c:v>
                </c:pt>
                <c:pt idx="617">
                  <c:v>18</c:v>
                </c:pt>
                <c:pt idx="618">
                  <c:v>15</c:v>
                </c:pt>
                <c:pt idx="619">
                  <c:v>13</c:v>
                </c:pt>
                <c:pt idx="620">
                  <c:v>15</c:v>
                </c:pt>
                <c:pt idx="621">
                  <c:v>13</c:v>
                </c:pt>
                <c:pt idx="622">
                  <c:v>9</c:v>
                </c:pt>
                <c:pt idx="623">
                  <c:v>16</c:v>
                </c:pt>
                <c:pt idx="624">
                  <c:v>9</c:v>
                </c:pt>
                <c:pt idx="625">
                  <c:v>10</c:v>
                </c:pt>
                <c:pt idx="626">
                  <c:v>0</c:v>
                </c:pt>
                <c:pt idx="627">
                  <c:v>10</c:v>
                </c:pt>
                <c:pt idx="628">
                  <c:v>12</c:v>
                </c:pt>
                <c:pt idx="629">
                  <c:v>9</c:v>
                </c:pt>
                <c:pt idx="630">
                  <c:v>17</c:v>
                </c:pt>
                <c:pt idx="631">
                  <c:v>12</c:v>
                </c:pt>
                <c:pt idx="632">
                  <c:v>9</c:v>
                </c:pt>
                <c:pt idx="633">
                  <c:v>14</c:v>
                </c:pt>
                <c:pt idx="634">
                  <c:v>16</c:v>
                </c:pt>
                <c:pt idx="635">
                  <c:v>9</c:v>
                </c:pt>
                <c:pt idx="636">
                  <c:v>19</c:v>
                </c:pt>
                <c:pt idx="637">
                  <c:v>0</c:v>
                </c:pt>
                <c:pt idx="638">
                  <c:v>16</c:v>
                </c:pt>
                <c:pt idx="639">
                  <c:v>0</c:v>
                </c:pt>
                <c:pt idx="640">
                  <c:v>0</c:v>
                </c:pt>
                <c:pt idx="641">
                  <c:v>15</c:v>
                </c:pt>
                <c:pt idx="642">
                  <c:v>11</c:v>
                </c:pt>
                <c:pt idx="643">
                  <c:v>10</c:v>
                </c:pt>
                <c:pt idx="644">
                  <c:v>10</c:v>
                </c:pt>
                <c:pt idx="645">
                  <c:v>16</c:v>
                </c:pt>
                <c:pt idx="646">
                  <c:v>9</c:v>
                </c:pt>
                <c:pt idx="647">
                  <c:v>10</c:v>
                </c:pt>
                <c:pt idx="648">
                  <c:v>11</c:v>
                </c:pt>
              </c:numCache>
            </c:numRef>
          </c:yVal>
        </c:ser>
        <c:ser>
          <c:idx val="1"/>
          <c:order val="1"/>
          <c:tx>
            <c:v>Descriptive fitted line</c:v>
          </c:tx>
          <c:spPr>
            <a:noFill xmlns:a="http://schemas.openxmlformats.org/drawingml/2006/main"/>
            <a:ln xmlns:a="http://schemas.openxmlformats.org/drawingml/2006/main" w="19050">
              <a:solidFill>
                <a:srgbClr val="000000"/>
              </a:solidFill>
              <a:prstDash val="solid"/>
            </a:ln>
          </c:spPr>
          <c:marker>
            <c:symbol val="none"/>
          </c:marker>
          <c:xVal>
            <c:numRef>
              <c:f>'Chart Data'!$C$2:$C$101</c:f>
              <c:numCache>
                <c:formatCode>General</c:formatCode>
                <c:ptCount val="100"/>
                <c:pt idx="0">
                  <c:v>0</c:v>
                </c:pt>
                <c:pt idx="1">
                  <c:v>0.191919191919</c:v>
                </c:pt>
                <c:pt idx="2">
                  <c:v>0.383838383838</c:v>
                </c:pt>
                <c:pt idx="3">
                  <c:v>0.575757575758</c:v>
                </c:pt>
                <c:pt idx="4">
                  <c:v>0.767676767677</c:v>
                </c:pt>
                <c:pt idx="5">
                  <c:v>0.959595959596</c:v>
                </c:pt>
                <c:pt idx="6">
                  <c:v>1.15151515152</c:v>
                </c:pt>
                <c:pt idx="7">
                  <c:v>1.34343434343</c:v>
                </c:pt>
                <c:pt idx="8">
                  <c:v>1.53535353535</c:v>
                </c:pt>
                <c:pt idx="9">
                  <c:v>1.72727272727</c:v>
                </c:pt>
                <c:pt idx="10">
                  <c:v>1.91919191919</c:v>
                </c:pt>
                <c:pt idx="11">
                  <c:v>2.11111111111</c:v>
                </c:pt>
                <c:pt idx="12">
                  <c:v>2.30303030303</c:v>
                </c:pt>
                <c:pt idx="13">
                  <c:v>2.49494949495</c:v>
                </c:pt>
                <c:pt idx="14">
                  <c:v>2.68686868687</c:v>
                </c:pt>
                <c:pt idx="15">
                  <c:v>2.87878787879</c:v>
                </c:pt>
                <c:pt idx="16">
                  <c:v>3.07070707071</c:v>
                </c:pt>
                <c:pt idx="17">
                  <c:v>3.26262626263</c:v>
                </c:pt>
                <c:pt idx="18">
                  <c:v>3.45454545455</c:v>
                </c:pt>
                <c:pt idx="19">
                  <c:v>3.64646464646</c:v>
                </c:pt>
                <c:pt idx="20">
                  <c:v>3.83838383838</c:v>
                </c:pt>
                <c:pt idx="21">
                  <c:v>4.0303030303</c:v>
                </c:pt>
                <c:pt idx="22">
                  <c:v>4.22222222222</c:v>
                </c:pt>
                <c:pt idx="23">
                  <c:v>4.41414141414</c:v>
                </c:pt>
                <c:pt idx="24">
                  <c:v>4.60606060606</c:v>
                </c:pt>
                <c:pt idx="25">
                  <c:v>4.79797979798</c:v>
                </c:pt>
                <c:pt idx="26">
                  <c:v>4.9898989899</c:v>
                </c:pt>
                <c:pt idx="27">
                  <c:v>5.18181818182</c:v>
                </c:pt>
                <c:pt idx="28">
                  <c:v>5.37373737374</c:v>
                </c:pt>
                <c:pt idx="29">
                  <c:v>5.56565656566</c:v>
                </c:pt>
                <c:pt idx="30">
                  <c:v>5.75757575758</c:v>
                </c:pt>
                <c:pt idx="31">
                  <c:v>5.94949494949</c:v>
                </c:pt>
                <c:pt idx="32">
                  <c:v>6.14141414141</c:v>
                </c:pt>
                <c:pt idx="33">
                  <c:v>6.33333333333</c:v>
                </c:pt>
                <c:pt idx="34">
                  <c:v>6.52525252525</c:v>
                </c:pt>
                <c:pt idx="35">
                  <c:v>6.71717171717</c:v>
                </c:pt>
                <c:pt idx="36">
                  <c:v>6.90909090909</c:v>
                </c:pt>
                <c:pt idx="37">
                  <c:v>7.10101010101</c:v>
                </c:pt>
                <c:pt idx="38">
                  <c:v>7.29292929293</c:v>
                </c:pt>
                <c:pt idx="39">
                  <c:v>7.48484848485</c:v>
                </c:pt>
                <c:pt idx="40">
                  <c:v>7.67676767677</c:v>
                </c:pt>
                <c:pt idx="41">
                  <c:v>7.86868686869</c:v>
                </c:pt>
                <c:pt idx="42">
                  <c:v>8.06060606061</c:v>
                </c:pt>
                <c:pt idx="43">
                  <c:v>8.25252525253</c:v>
                </c:pt>
                <c:pt idx="44">
                  <c:v>8.44444444444</c:v>
                </c:pt>
                <c:pt idx="45">
                  <c:v>8.63636363636</c:v>
                </c:pt>
                <c:pt idx="46">
                  <c:v>8.82828282828</c:v>
                </c:pt>
                <c:pt idx="47">
                  <c:v>9.0202020202</c:v>
                </c:pt>
                <c:pt idx="48">
                  <c:v>9.21212121212</c:v>
                </c:pt>
                <c:pt idx="49">
                  <c:v>9.40404040404</c:v>
                </c:pt>
                <c:pt idx="50">
                  <c:v>9.59595959596</c:v>
                </c:pt>
                <c:pt idx="51">
                  <c:v>9.78787878788</c:v>
                </c:pt>
                <c:pt idx="52">
                  <c:v>9.9797979798</c:v>
                </c:pt>
                <c:pt idx="53">
                  <c:v>10.1717171717</c:v>
                </c:pt>
                <c:pt idx="54">
                  <c:v>10.3636363636</c:v>
                </c:pt>
                <c:pt idx="55">
                  <c:v>10.5555555556</c:v>
                </c:pt>
                <c:pt idx="56">
                  <c:v>10.7474747475</c:v>
                </c:pt>
                <c:pt idx="57">
                  <c:v>10.9393939394</c:v>
                </c:pt>
                <c:pt idx="58">
                  <c:v>11.1313131313</c:v>
                </c:pt>
                <c:pt idx="59">
                  <c:v>11.3232323232</c:v>
                </c:pt>
                <c:pt idx="60">
                  <c:v>11.5151515152</c:v>
                </c:pt>
                <c:pt idx="61">
                  <c:v>11.7070707071</c:v>
                </c:pt>
                <c:pt idx="62">
                  <c:v>11.898989899</c:v>
                </c:pt>
                <c:pt idx="63">
                  <c:v>12.0909090909</c:v>
                </c:pt>
                <c:pt idx="64">
                  <c:v>12.2828282828</c:v>
                </c:pt>
                <c:pt idx="65">
                  <c:v>12.4747474747</c:v>
                </c:pt>
                <c:pt idx="66">
                  <c:v>12.6666666667</c:v>
                </c:pt>
                <c:pt idx="67">
                  <c:v>12.8585858586</c:v>
                </c:pt>
                <c:pt idx="68">
                  <c:v>13.0505050505</c:v>
                </c:pt>
                <c:pt idx="69">
                  <c:v>13.2424242424</c:v>
                </c:pt>
                <c:pt idx="70">
                  <c:v>13.4343434343</c:v>
                </c:pt>
                <c:pt idx="71">
                  <c:v>13.6262626263</c:v>
                </c:pt>
                <c:pt idx="72">
                  <c:v>13.8181818182</c:v>
                </c:pt>
                <c:pt idx="73">
                  <c:v>14.0101010101</c:v>
                </c:pt>
                <c:pt idx="74">
                  <c:v>14.202020202</c:v>
                </c:pt>
                <c:pt idx="75">
                  <c:v>14.3939393939</c:v>
                </c:pt>
                <c:pt idx="76">
                  <c:v>14.5858585859</c:v>
                </c:pt>
                <c:pt idx="77">
                  <c:v>14.7777777778</c:v>
                </c:pt>
                <c:pt idx="78">
                  <c:v>14.9696969697</c:v>
                </c:pt>
                <c:pt idx="79">
                  <c:v>15.1616161616</c:v>
                </c:pt>
                <c:pt idx="80">
                  <c:v>15.3535353535</c:v>
                </c:pt>
                <c:pt idx="81">
                  <c:v>15.5454545455</c:v>
                </c:pt>
                <c:pt idx="82">
                  <c:v>15.7373737374</c:v>
                </c:pt>
                <c:pt idx="83">
                  <c:v>15.9292929293</c:v>
                </c:pt>
                <c:pt idx="84">
                  <c:v>16.1212121212</c:v>
                </c:pt>
                <c:pt idx="85">
                  <c:v>16.3131313131</c:v>
                </c:pt>
                <c:pt idx="86">
                  <c:v>16.5050505051</c:v>
                </c:pt>
                <c:pt idx="87">
                  <c:v>16.696969697</c:v>
                </c:pt>
                <c:pt idx="88">
                  <c:v>16.8888888889</c:v>
                </c:pt>
                <c:pt idx="89">
                  <c:v>17.0808080808</c:v>
                </c:pt>
                <c:pt idx="90">
                  <c:v>17.2727272727</c:v>
                </c:pt>
                <c:pt idx="91">
                  <c:v>17.4646464646</c:v>
                </c:pt>
                <c:pt idx="92">
                  <c:v>17.6565656566</c:v>
                </c:pt>
                <c:pt idx="93">
                  <c:v>17.8484848485</c:v>
                </c:pt>
                <c:pt idx="94">
                  <c:v>18.0404040404</c:v>
                </c:pt>
                <c:pt idx="95">
                  <c:v>18.2323232323</c:v>
                </c:pt>
                <c:pt idx="96">
                  <c:v>18.4242424242</c:v>
                </c:pt>
                <c:pt idx="97">
                  <c:v>18.6161616162</c:v>
                </c:pt>
                <c:pt idx="98">
                  <c:v>18.8080808081</c:v>
                </c:pt>
                <c:pt idx="99">
                  <c:v>19</c:v>
                </c:pt>
              </c:numCache>
            </c:numRef>
          </c:xVal>
          <c:yVal>
            <c:numRef>
              <c:f>'Chart Data'!$D$2:$D$101</c:f>
              <c:numCache>
                <c:formatCode>General</c:formatCode>
                <c:ptCount val="100"/>
                <c:pt idx="0">
                  <c:v>0.121966126154</c:v>
                </c:pt>
                <c:pt idx="1">
                  <c:v>0.317433969722</c:v>
                </c:pt>
                <c:pt idx="2">
                  <c:v>0.512901813291</c:v>
                </c:pt>
                <c:pt idx="3">
                  <c:v>0.70836965686</c:v>
                </c:pt>
                <c:pt idx="4">
                  <c:v>0.903837500428</c:v>
                </c:pt>
                <c:pt idx="5">
                  <c:v>1.099305344</c:v>
                </c:pt>
                <c:pt idx="6">
                  <c:v>1.29477318757</c:v>
                </c:pt>
                <c:pt idx="7">
                  <c:v>1.49024103113</c:v>
                </c:pt>
                <c:pt idx="8">
                  <c:v>1.6857088747</c:v>
                </c:pt>
                <c:pt idx="9">
                  <c:v>1.88117671827</c:v>
                </c:pt>
                <c:pt idx="10">
                  <c:v>2.07664456184</c:v>
                </c:pt>
                <c:pt idx="11">
                  <c:v>2.27211240541</c:v>
                </c:pt>
                <c:pt idx="12">
                  <c:v>2.46758024898</c:v>
                </c:pt>
                <c:pt idx="13">
                  <c:v>2.66304809255</c:v>
                </c:pt>
                <c:pt idx="14">
                  <c:v>2.85851593612</c:v>
                </c:pt>
                <c:pt idx="15">
                  <c:v>3.05398377968</c:v>
                </c:pt>
                <c:pt idx="16">
                  <c:v>3.24945162325</c:v>
                </c:pt>
                <c:pt idx="17">
                  <c:v>3.44491946682</c:v>
                </c:pt>
                <c:pt idx="18">
                  <c:v>3.64038731039</c:v>
                </c:pt>
                <c:pt idx="19">
                  <c:v>3.83585515396</c:v>
                </c:pt>
                <c:pt idx="20">
                  <c:v>4.03132299753</c:v>
                </c:pt>
                <c:pt idx="21">
                  <c:v>4.2267908411</c:v>
                </c:pt>
                <c:pt idx="22">
                  <c:v>4.42225868467</c:v>
                </c:pt>
                <c:pt idx="23">
                  <c:v>4.61772652823</c:v>
                </c:pt>
                <c:pt idx="24">
                  <c:v>4.8131943718</c:v>
                </c:pt>
                <c:pt idx="25">
                  <c:v>5.00866221537</c:v>
                </c:pt>
                <c:pt idx="26">
                  <c:v>5.20413005894</c:v>
                </c:pt>
                <c:pt idx="27">
                  <c:v>5.39959790251</c:v>
                </c:pt>
                <c:pt idx="28">
                  <c:v>5.59506574608</c:v>
                </c:pt>
                <c:pt idx="29">
                  <c:v>5.79053358965</c:v>
                </c:pt>
                <c:pt idx="30">
                  <c:v>5.98600143322</c:v>
                </c:pt>
                <c:pt idx="31">
                  <c:v>6.18146927678</c:v>
                </c:pt>
                <c:pt idx="32">
                  <c:v>6.37693712035</c:v>
                </c:pt>
                <c:pt idx="33">
                  <c:v>6.57240496392</c:v>
                </c:pt>
                <c:pt idx="34">
                  <c:v>6.76787280749</c:v>
                </c:pt>
                <c:pt idx="35">
                  <c:v>6.96334065106</c:v>
                </c:pt>
                <c:pt idx="36">
                  <c:v>7.15880849463</c:v>
                </c:pt>
                <c:pt idx="37">
                  <c:v>7.3542763382</c:v>
                </c:pt>
                <c:pt idx="38">
                  <c:v>7.54974418177</c:v>
                </c:pt>
                <c:pt idx="39">
                  <c:v>7.74521202533</c:v>
                </c:pt>
                <c:pt idx="40">
                  <c:v>7.9406798689</c:v>
                </c:pt>
                <c:pt idx="41">
                  <c:v>8.13614771247</c:v>
                </c:pt>
                <c:pt idx="42">
                  <c:v>8.33161555604</c:v>
                </c:pt>
                <c:pt idx="43">
                  <c:v>8.52708339961</c:v>
                </c:pt>
                <c:pt idx="44">
                  <c:v>8.72255124318</c:v>
                </c:pt>
                <c:pt idx="45">
                  <c:v>8.91801908675</c:v>
                </c:pt>
                <c:pt idx="46">
                  <c:v>9.11348693032</c:v>
                </c:pt>
                <c:pt idx="47">
                  <c:v>9.30895477388</c:v>
                </c:pt>
                <c:pt idx="48">
                  <c:v>9.50442261745</c:v>
                </c:pt>
                <c:pt idx="49">
                  <c:v>9.69989046102</c:v>
                </c:pt>
                <c:pt idx="50">
                  <c:v>9.89535830459</c:v>
                </c:pt>
                <c:pt idx="51">
                  <c:v>10.0908261482</c:v>
                </c:pt>
                <c:pt idx="52">
                  <c:v>10.2862939917</c:v>
                </c:pt>
                <c:pt idx="53">
                  <c:v>10.4817618353</c:v>
                </c:pt>
                <c:pt idx="54">
                  <c:v>10.6772296789</c:v>
                </c:pt>
                <c:pt idx="55">
                  <c:v>10.8726975224</c:v>
                </c:pt>
                <c:pt idx="56">
                  <c:v>11.068165366</c:v>
                </c:pt>
                <c:pt idx="57">
                  <c:v>11.2636332096</c:v>
                </c:pt>
                <c:pt idx="58">
                  <c:v>11.4591010531</c:v>
                </c:pt>
                <c:pt idx="59">
                  <c:v>11.6545688967</c:v>
                </c:pt>
                <c:pt idx="60">
                  <c:v>11.8500367403</c:v>
                </c:pt>
                <c:pt idx="61">
                  <c:v>12.0455045838</c:v>
                </c:pt>
                <c:pt idx="62">
                  <c:v>12.2409724274</c:v>
                </c:pt>
                <c:pt idx="63">
                  <c:v>12.436440271</c:v>
                </c:pt>
                <c:pt idx="64">
                  <c:v>12.6319081146</c:v>
                </c:pt>
                <c:pt idx="65">
                  <c:v>12.8273759581</c:v>
                </c:pt>
                <c:pt idx="66">
                  <c:v>13.0228438017</c:v>
                </c:pt>
                <c:pt idx="67">
                  <c:v>13.2183116453</c:v>
                </c:pt>
                <c:pt idx="68">
                  <c:v>13.4137794888</c:v>
                </c:pt>
                <c:pt idx="69">
                  <c:v>13.6092473324</c:v>
                </c:pt>
                <c:pt idx="70">
                  <c:v>13.804715176</c:v>
                </c:pt>
                <c:pt idx="71">
                  <c:v>14.0001830195</c:v>
                </c:pt>
                <c:pt idx="72">
                  <c:v>14.1956508631</c:v>
                </c:pt>
                <c:pt idx="73">
                  <c:v>14.3911187067</c:v>
                </c:pt>
                <c:pt idx="74">
                  <c:v>14.5865865502</c:v>
                </c:pt>
                <c:pt idx="75">
                  <c:v>14.7820543938</c:v>
                </c:pt>
                <c:pt idx="76">
                  <c:v>14.9775222374</c:v>
                </c:pt>
                <c:pt idx="77">
                  <c:v>15.1729900809</c:v>
                </c:pt>
                <c:pt idx="78">
                  <c:v>15.3684579245</c:v>
                </c:pt>
                <c:pt idx="79">
                  <c:v>15.5639257681</c:v>
                </c:pt>
                <c:pt idx="80">
                  <c:v>15.7593936117</c:v>
                </c:pt>
                <c:pt idx="81">
                  <c:v>15.9548614552</c:v>
                </c:pt>
                <c:pt idx="82">
                  <c:v>16.1503292988</c:v>
                </c:pt>
                <c:pt idx="83">
                  <c:v>16.3457971424</c:v>
                </c:pt>
                <c:pt idx="84">
                  <c:v>16.5412649859</c:v>
                </c:pt>
                <c:pt idx="85">
                  <c:v>16.7367328295</c:v>
                </c:pt>
                <c:pt idx="86">
                  <c:v>16.9322006731</c:v>
                </c:pt>
                <c:pt idx="87">
                  <c:v>17.1276685166</c:v>
                </c:pt>
                <c:pt idx="88">
                  <c:v>17.3231363602</c:v>
                </c:pt>
                <c:pt idx="89">
                  <c:v>17.5186042038</c:v>
                </c:pt>
                <c:pt idx="90">
                  <c:v>17.7140720473</c:v>
                </c:pt>
                <c:pt idx="91">
                  <c:v>17.9095398909</c:v>
                </c:pt>
                <c:pt idx="92">
                  <c:v>18.1050077345</c:v>
                </c:pt>
                <c:pt idx="93">
                  <c:v>18.300475578</c:v>
                </c:pt>
                <c:pt idx="94">
                  <c:v>18.4959434216</c:v>
                </c:pt>
                <c:pt idx="95">
                  <c:v>18.6914112652</c:v>
                </c:pt>
                <c:pt idx="96">
                  <c:v>18.8868791088</c:v>
                </c:pt>
                <c:pt idx="97">
                  <c:v>19.0823469523</c:v>
                </c:pt>
                <c:pt idx="98">
                  <c:v>19.2778147959</c:v>
                </c:pt>
                <c:pt idx="99">
                  <c:v>19.4732826395</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0"/>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G3 (points)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crossAx val="48650112"/>
        <c:majorUnit val="5"/>
      </c:valAx>
      <c:valAx>
        <c:axId val="48650112"/>
        <c:scaling>
          <c:orientation val="minMax"/>
          <c:max val="2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G2 (points)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crossAx val="48672768"/>
        <c:majorUnit val="5"/>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varyColors val="0"/>
        <c:ser>
          <c:idx val="0"/>
          <c:order val="0"/>
          <c:tx>
            <c:v>Earlier-grade mean</c:v>
          </c:tx>
          <c:spPr>
            <a:solidFill xmlns:a="http://schemas.openxmlformats.org/drawingml/2006/main">
              <a:srgbClr val="DDDDDD"/>
            </a:solidFill>
            <a:ln xmlns:a="http://schemas.openxmlformats.org/drawingml/2006/main" w="9525">
              <a:solidFill>
                <a:srgbClr val="000000"/>
              </a:solidFill>
              <a:prstDash val="solid"/>
            </a:ln>
          </c:spPr>
          <c:invertIfNegative val="0"/>
          <c:cat>
            <c:numRef>
              <c:f>'Chart Data'!$A$2:$A$6</c:f>
              <c:numCache>
                <c:formatCode>General</c:formatCode>
                <c:ptCount val="5"/>
                <c:pt idx="0">
                  <c:v>1</c:v>
                </c:pt>
                <c:pt idx="1">
                  <c:v>2</c:v>
                </c:pt>
                <c:pt idx="2">
                  <c:v>3</c:v>
                </c:pt>
                <c:pt idx="3">
                  <c:v>4</c:v>
                </c:pt>
                <c:pt idx="4">
                  <c:v>5</c:v>
                </c:pt>
              </c:numCache>
            </c:numRef>
          </c:cat>
          <c:val>
            <c:numRef>
              <c:f>'Chart Data'!$B$2:$B$6</c:f>
              <c:numCache>
                <c:formatCode>General</c:formatCode>
                <c:ptCount val="5"/>
                <c:pt idx="0">
                  <c:v>5.5</c:v>
                </c:pt>
                <c:pt idx="1">
                  <c:v>10</c:v>
                </c:pt>
                <c:pt idx="2">
                  <c:v>12.5</c:v>
                </c:pt>
                <c:pt idx="3">
                  <c:v>14</c:v>
                </c:pt>
                <c:pt idx="4">
                  <c:v>12</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Source row number (one-based)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crossAx val="48672768"/>
      </c:catAx>
      <c:valAx>
        <c:axId val="48672768"/>
        <c:scaling>
          <c:orientation val="minMax"/>
          <c:max val="20"/>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Mean of G1 and G2 (points)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crossAx val="48650112"/>
        <c:crossBetween val="between"/>
        <c:majorUnit val="5"/>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EB50B204-6BAA-4C86-A46F-51D68BC00D1D}"/>
              </a:ext>
            </a:extLst>
          </p:cNvPr>
          <p:cNvPicPr>
            <a:picLocks xmlns:a="http://schemas.openxmlformats.org/drawingml/2006/main" noChangeAspect="1"/>
          </p:cNvPicPr>
          <p:nvPr/>
        </p:nvPicPr>
        <p:blipFill>
          <a:blip xmlns:r="http://schemas.openxmlformats.org/officeDocument/2006/relationships" xmlns:a="http://schemas.openxmlformats.org/drawingml/2006/main" r:embed="Reec94c812a2a4d26"/>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75ED768F-BA51-416A-8DAA-1E929D9AA6AD}"/>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Data Analysis and Visualization</a:t>
            </a:r>
          </a:p>
        </p:txBody>
      </p:sp>
      <p:sp>
        <p:nvSpPr>
          <p:cNvPr id="3" name="Thin monochrome rule">
            <a:extLst xmlns:a="http://schemas.openxmlformats.org/drawingml/2006/main">
              <a:ext uri="{FF2B5EF4-FFF2-40B4-BE49-F238E27FC236}">
                <a16:creationId xmlns:a16="http://schemas.microsoft.com/office/drawing/2014/main" id="{1CA4E98B-E906-419F-9881-F5A94AFDC6EB}"/>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1">
            <a:extLst xmlns:a="http://schemas.openxmlformats.org/drawingml/2006/main">
              <a:ext uri="{FF2B5EF4-FFF2-40B4-BE49-F238E27FC236}">
                <a16:creationId xmlns:a16="http://schemas.microsoft.com/office/drawing/2014/main" id="{C22D4624-B721-4BDC-90E9-1F4BF27B9A61}"/>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01</a:t>
            </a:r>
          </a:p>
        </p:txBody>
      </p:sp>
      <p:sp>
        <p:nvSpPr>
          <p:cNvPr id="5" name="Student Performance">
            <a:extLst xmlns:a="http://schemas.openxmlformats.org/drawingml/2006/main">
              <a:ext uri="{FF2B5EF4-FFF2-40B4-BE49-F238E27FC236}">
                <a16:creationId xmlns:a16="http://schemas.microsoft.com/office/drawing/2014/main" id="{DFC0E037-ABF1-4C58-B16D-8572D44FAB6E}"/>
              </a:ext>
            </a:extLst>
          </p:cNvPr>
          <p:cNvSpPr>
            <a:spLocks xmlns:a="http://schemas.openxmlformats.org/drawingml/2006/main" noGrp="1"/>
          </p:cNvSpPr>
          <p:nvPr/>
        </p:nvSpPr>
        <p:spPr>
          <a:xfrm xmlns:a="http://schemas.openxmlformats.org/drawingml/2006/main">
            <a:off x="762000" y="1714500"/>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1">
                <a:solidFill>
                  <a:srgbClr val="000000"/>
                </a:solidFill>
                <a:latin typeface="Arial"/>
                <a:ea typeface="Arial"/>
                <a:cs typeface="Arial"/>
              </a:defRPr>
            </a:defPPr>
          </a:lstStyle>
          <a:p xmlns:a="http://schemas.openxmlformats.org/drawingml/2006/main">
            <a:pPr algn="l">
              <a:defRPr sz="4800" b="1">
                <a:solidFill>
                  <a:srgbClr val="000000"/>
                </a:solidFill>
                <a:latin typeface="Arial"/>
                <a:ea typeface="Arial"/>
                <a:cs typeface="Arial"/>
              </a:defRPr>
            </a:pPr>
            <a:r>
              <a:rPr sz="4800" b="1">
                <a:solidFill>
                  <a:srgbClr val="000000"/>
                </a:solidFill>
                <a:latin typeface="Arial"/>
                <a:ea typeface="Arial"/>
                <a:cs typeface="Arial"/>
              </a:rPr>
              <a:t>Student Performance</a:t>
            </a:r>
          </a:p>
        </p:txBody>
      </p:sp>
      <p:sp>
        <p:nvSpPr>
          <p:cNvPr id="6" name="Preprocessing, Statistics and Visualization">
            <a:extLst xmlns:a="http://schemas.openxmlformats.org/drawingml/2006/main">
              <a:ext uri="{FF2B5EF4-FFF2-40B4-BE49-F238E27FC236}">
                <a16:creationId xmlns:a16="http://schemas.microsoft.com/office/drawing/2014/main" id="{EDD706B3-BA21-445A-AF98-3953378409F8}"/>
              </a:ext>
            </a:extLst>
          </p:cNvPr>
          <p:cNvSpPr>
            <a:spLocks xmlns:a="http://schemas.openxmlformats.org/drawingml/2006/main" noGrp="1"/>
          </p:cNvSpPr>
          <p:nvPr/>
        </p:nvSpPr>
        <p:spPr>
          <a:xfrm xmlns:a="http://schemas.openxmlformats.org/drawingml/2006/main">
            <a:off x="762000" y="27241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0">
                <a:solidFill>
                  <a:srgbClr val="000000"/>
                </a:solidFill>
                <a:latin typeface="Arial"/>
                <a:ea typeface="Arial"/>
                <a:cs typeface="Arial"/>
              </a:defRPr>
            </a:defPPr>
          </a:lstStyle>
          <a:p xmlns:a="http://schemas.openxmlformats.org/drawingml/2006/main">
            <a:pPr algn="l">
              <a:defRPr sz="2700" b="0">
                <a:solidFill>
                  <a:srgbClr val="000000"/>
                </a:solidFill>
                <a:latin typeface="Arial"/>
                <a:ea typeface="Arial"/>
                <a:cs typeface="Arial"/>
              </a:defRPr>
            </a:pPr>
            <a:r>
              <a:rPr sz="2700" b="0">
                <a:solidFill>
                  <a:srgbClr val="000000"/>
                </a:solidFill>
                <a:latin typeface="Arial"/>
                <a:ea typeface="Arial"/>
                <a:cs typeface="Arial"/>
              </a:rPr>
              <a:t>Preprocessing, Statistics and Visualization</a:t>
            </a:r>
          </a:p>
        </p:txBody>
      </p:sp>
      <p:sp>
        <p:nvSpPr>
          <p:cNvPr id="7" name="ENDTERM REPORT">
            <a:extLst xmlns:a="http://schemas.openxmlformats.org/drawingml/2006/main">
              <a:ext uri="{FF2B5EF4-FFF2-40B4-BE49-F238E27FC236}">
                <a16:creationId xmlns:a16="http://schemas.microsoft.com/office/drawing/2014/main" id="{9360B707-31F0-48E2-81FE-3C73F260F980}"/>
              </a:ext>
            </a:extLst>
          </p:cNvPr>
          <p:cNvSpPr>
            <a:spLocks xmlns:a="http://schemas.openxmlformats.org/drawingml/2006/main" noGrp="1"/>
          </p:cNvSpPr>
          <p:nvPr/>
        </p:nvSpPr>
        <p:spPr>
          <a:xfrm xmlns:a="http://schemas.openxmlformats.org/drawingml/2006/main">
            <a:off x="762000" y="3476625"/>
            <a:ext cx="666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ENDTERM REPORT</a:t>
            </a:r>
          </a:p>
        </p:txBody>
      </p:sp>
      <p:sp>
        <p:nvSpPr>
          <p:cNvPr id="8" name="NGO LAM TIEN  524H0195&#10;NGUYEN CONG THANH  524H0191&#10;NGUY">
            <a:extLst xmlns:a="http://schemas.openxmlformats.org/drawingml/2006/main">
              <a:ext uri="{FF2B5EF4-FFF2-40B4-BE49-F238E27FC236}">
                <a16:creationId xmlns:a16="http://schemas.microsoft.com/office/drawing/2014/main" id="{1DA0EF05-DC9B-44B5-8652-F35C3003003D}"/>
              </a:ext>
            </a:extLst>
          </p:cNvPr>
          <p:cNvSpPr>
            <a:spLocks xmlns:a="http://schemas.openxmlformats.org/drawingml/2006/main" noGrp="1"/>
          </p:cNvSpPr>
          <p:nvPr/>
        </p:nvSpPr>
        <p:spPr>
          <a:xfrm xmlns:a="http://schemas.openxmlformats.org/drawingml/2006/main">
            <a:off x="762000" y="4095750"/>
            <a:ext cx="6477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00000"/>
                </a:solidFill>
                <a:latin typeface="Arial"/>
                <a:ea typeface="Arial"/>
                <a:cs typeface="Arial"/>
              </a:defRPr>
            </a:defPPr>
          </a:lstStyle>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NGO LAM TIEN  524H0195</a:t>
            </a:r>
          </a:p>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NGUYEN CONG THANH  524H0191</a:t>
            </a:r>
          </a:p>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NGUYEN LE NHAT TAM  524H0186</a:t>
            </a:r>
          </a:p>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NGO BINH MINH  524H0169</a:t>
            </a:r>
          </a:p>
        </p:txBody>
      </p:sp>
      <p:sp>
        <p:nvSpPr>
          <p:cNvPr id="9" name="VibeCoding_Expert&#10;Advised by&#10;Ho Thi Linh, Ph.D.">
            <a:extLst xmlns:a="http://schemas.openxmlformats.org/drawingml/2006/main">
              <a:ext uri="{FF2B5EF4-FFF2-40B4-BE49-F238E27FC236}">
                <a16:creationId xmlns:a16="http://schemas.microsoft.com/office/drawing/2014/main" id="{A80E3C73-77BE-4B69-9A51-6F35D3A9152B}"/>
              </a:ext>
            </a:extLst>
          </p:cNvPr>
          <p:cNvSpPr>
            <a:spLocks xmlns:a="http://schemas.openxmlformats.org/drawingml/2006/main" noGrp="1"/>
          </p:cNvSpPr>
          <p:nvPr/>
        </p:nvSpPr>
        <p:spPr>
          <a:xfrm xmlns:a="http://schemas.openxmlformats.org/drawingml/2006/main">
            <a:off x="7810500" y="4238625"/>
            <a:ext cx="3619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VibeCoding_Expert</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Advised by</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Ho Thi Linh, Ph.D.</a:t>
            </a:r>
          </a:p>
        </p:txBody>
      </p:sp>
      <p:sp>
        <p:nvSpPr>
          <p:cNvPr id="10" name="20 October 2026">
            <a:extLst xmlns:a="http://schemas.openxmlformats.org/drawingml/2006/main">
              <a:ext uri="{FF2B5EF4-FFF2-40B4-BE49-F238E27FC236}">
                <a16:creationId xmlns:a16="http://schemas.microsoft.com/office/drawing/2014/main" id="{6968B39B-549B-431C-92FF-282317282261}"/>
              </a:ext>
            </a:extLst>
          </p:cNvPr>
          <p:cNvSpPr>
            <a:spLocks xmlns:a="http://schemas.openxmlformats.org/drawingml/2006/main" noGrp="1"/>
          </p:cNvSpPr>
          <p:nvPr/>
        </p:nvSpPr>
        <p:spPr>
          <a:xfrm xmlns:a="http://schemas.openxmlformats.org/drawingml/2006/main">
            <a:off x="762000" y="6172200"/>
            <a:ext cx="476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0">
                <a:solidFill>
                  <a:srgbClr val="000000"/>
                </a:solidFill>
                <a:latin typeface="Arial"/>
                <a:ea typeface="Arial"/>
                <a:cs typeface="Arial"/>
              </a:defRPr>
            </a:defPPr>
          </a:lstStyle>
          <a:p xmlns:a="http://schemas.openxmlformats.org/drawingml/2006/main">
            <a:pPr algn="l">
              <a:defRPr sz="1700" b="0">
                <a:solidFill>
                  <a:srgbClr val="000000"/>
                </a:solidFill>
                <a:latin typeface="Arial"/>
                <a:ea typeface="Arial"/>
                <a:cs typeface="Arial"/>
              </a:defRPr>
            </a:pPr>
            <a:r>
              <a:rPr sz="1700" b="0">
                <a:solidFill>
                  <a:srgbClr val="000000"/>
                </a:solidFill>
                <a:latin typeface="Arial"/>
                <a:ea typeface="Arial"/>
                <a:cs typeface="Arial"/>
              </a:rPr>
              <a:t>20 October 2026</a:t>
            </a:r>
          </a:p>
        </p:txBody>
      </p:sp>
    </p:spTree>
    <p:extLst>
      <p:ext uri="{BB962C8B-B14F-4D97-AF65-F5344CB8AC3E}">
        <p14:creationId xmlns:p14="http://schemas.microsoft.com/office/powerpoint/2010/main" val="33428008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D83FAC04-3B2B-47E7-B5A8-7759C2EEB50B}"/>
              </a:ext>
            </a:extLst>
          </p:cNvPr>
          <p:cNvPicPr>
            <a:picLocks xmlns:a="http://schemas.openxmlformats.org/drawingml/2006/main" noChangeAspect="1"/>
          </p:cNvPicPr>
          <p:nvPr/>
        </p:nvPicPr>
        <p:blipFill>
          <a:blip xmlns:r="http://schemas.openxmlformats.org/officeDocument/2006/relationships" xmlns:a="http://schemas.openxmlformats.org/drawingml/2006/main" r:embed="Rccded93780c142e2"/>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F08A7F60-F2B7-4EAB-A745-1A303F1F991C}"/>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Objectives and analytical questions</a:t>
            </a:r>
          </a:p>
        </p:txBody>
      </p:sp>
      <p:sp>
        <p:nvSpPr>
          <p:cNvPr id="3" name="Thin monochrome rule">
            <a:extLst xmlns:a="http://schemas.openxmlformats.org/drawingml/2006/main">
              <a:ext uri="{FF2B5EF4-FFF2-40B4-BE49-F238E27FC236}">
                <a16:creationId xmlns:a16="http://schemas.microsoft.com/office/drawing/2014/main" id="{8DBD0A7E-583B-4AE6-9F55-D016EA6CE1A1}"/>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2">
            <a:extLst xmlns:a="http://schemas.openxmlformats.org/drawingml/2006/main">
              <a:ext uri="{FF2B5EF4-FFF2-40B4-BE49-F238E27FC236}">
                <a16:creationId xmlns:a16="http://schemas.microsoft.com/office/drawing/2014/main" id="{652E5DA6-5943-41CB-A519-DE43EEFDE98A}"/>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02</a:t>
            </a:r>
          </a:p>
        </p:txBody>
      </p:sp>
      <p:sp>
        <p:nvSpPr>
          <p:cNvPr id="5" name="01">
            <a:extLst xmlns:a="http://schemas.openxmlformats.org/drawingml/2006/main">
              <a:ext uri="{FF2B5EF4-FFF2-40B4-BE49-F238E27FC236}">
                <a16:creationId xmlns:a16="http://schemas.microsoft.com/office/drawing/2014/main" id="{77F7F4DE-A0D4-4DCD-9590-B240E5B7423D}"/>
              </a:ext>
            </a:extLst>
          </p:cNvPr>
          <p:cNvSpPr>
            <a:spLocks xmlns:a="http://schemas.openxmlformats.org/drawingml/2006/main" noGrp="1"/>
          </p:cNvSpPr>
          <p:nvPr/>
        </p:nvSpPr>
        <p:spPr>
          <a:xfrm xmlns:a="http://schemas.openxmlformats.org/drawingml/2006/main">
            <a:off x="762000" y="16668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01</a:t>
            </a:r>
          </a:p>
        </p:txBody>
      </p:sp>
      <p:sp>
        <p:nvSpPr>
          <p:cNvPr id="6" name="How are final grades distributed?">
            <a:extLst xmlns:a="http://schemas.openxmlformats.org/drawingml/2006/main">
              <a:ext uri="{FF2B5EF4-FFF2-40B4-BE49-F238E27FC236}">
                <a16:creationId xmlns:a16="http://schemas.microsoft.com/office/drawing/2014/main" id="{EC7ADFE8-0E97-45CC-8B89-2F8C82FE4D2D}"/>
              </a:ext>
            </a:extLst>
          </p:cNvPr>
          <p:cNvSpPr>
            <a:spLocks xmlns:a="http://schemas.openxmlformats.org/drawingml/2006/main" noGrp="1"/>
          </p:cNvSpPr>
          <p:nvPr/>
        </p:nvSpPr>
        <p:spPr>
          <a:xfrm xmlns:a="http://schemas.openxmlformats.org/drawingml/2006/main">
            <a:off x="1571625" y="1666875"/>
            <a:ext cx="9858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How are final grades distributed?</a:t>
            </a:r>
          </a:p>
        </p:txBody>
      </p:sp>
      <p:sp>
        <p:nvSpPr>
          <p:cNvPr id="7" name="02">
            <a:extLst xmlns:a="http://schemas.openxmlformats.org/drawingml/2006/main">
              <a:ext uri="{FF2B5EF4-FFF2-40B4-BE49-F238E27FC236}">
                <a16:creationId xmlns:a16="http://schemas.microsoft.com/office/drawing/2014/main" id="{E47FC160-C895-4FF6-9305-77B7EECBCC6B}"/>
              </a:ext>
            </a:extLst>
          </p:cNvPr>
          <p:cNvSpPr>
            <a:spLocks xmlns:a="http://schemas.openxmlformats.org/drawingml/2006/main" noGrp="1"/>
          </p:cNvSpPr>
          <p:nvPr/>
        </p:nvSpPr>
        <p:spPr>
          <a:xfrm xmlns:a="http://schemas.openxmlformats.org/drawingml/2006/main">
            <a:off x="762000" y="27336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02</a:t>
            </a:r>
          </a:p>
        </p:txBody>
      </p:sp>
      <p:sp>
        <p:nvSpPr>
          <p:cNvPr id="8" name="What changes when missing values are imputed or removed">
            <a:extLst xmlns:a="http://schemas.openxmlformats.org/drawingml/2006/main">
              <a:ext uri="{FF2B5EF4-FFF2-40B4-BE49-F238E27FC236}">
                <a16:creationId xmlns:a16="http://schemas.microsoft.com/office/drawing/2014/main" id="{B80B31FD-2008-4B95-9825-BF9F2670E4A2}"/>
              </a:ext>
            </a:extLst>
          </p:cNvPr>
          <p:cNvSpPr>
            <a:spLocks xmlns:a="http://schemas.openxmlformats.org/drawingml/2006/main" noGrp="1"/>
          </p:cNvSpPr>
          <p:nvPr/>
        </p:nvSpPr>
        <p:spPr>
          <a:xfrm xmlns:a="http://schemas.openxmlformats.org/drawingml/2006/main">
            <a:off x="1571625" y="2733675"/>
            <a:ext cx="9858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What changes when missing values are imputed or removed?</a:t>
            </a:r>
          </a:p>
        </p:txBody>
      </p:sp>
      <p:sp>
        <p:nvSpPr>
          <p:cNvPr id="9" name="03">
            <a:extLst xmlns:a="http://schemas.openxmlformats.org/drawingml/2006/main">
              <a:ext uri="{FF2B5EF4-FFF2-40B4-BE49-F238E27FC236}">
                <a16:creationId xmlns:a16="http://schemas.microsoft.com/office/drawing/2014/main" id="{C40EC167-DD5E-4B42-B0AE-2A0A893171AF}"/>
              </a:ext>
            </a:extLst>
          </p:cNvPr>
          <p:cNvSpPr>
            <a:spLocks xmlns:a="http://schemas.openxmlformats.org/drawingml/2006/main" noGrp="1"/>
          </p:cNvSpPr>
          <p:nvPr/>
        </p:nvSpPr>
        <p:spPr>
          <a:xfrm xmlns:a="http://schemas.openxmlformats.org/drawingml/2006/main">
            <a:off x="762000" y="38004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03</a:t>
            </a:r>
          </a:p>
        </p:txBody>
      </p:sp>
      <p:sp>
        <p:nvSpPr>
          <p:cNvPr id="10" name="Which original factors have the strongest observed asso">
            <a:extLst xmlns:a="http://schemas.openxmlformats.org/drawingml/2006/main">
              <a:ext uri="{FF2B5EF4-FFF2-40B4-BE49-F238E27FC236}">
                <a16:creationId xmlns:a16="http://schemas.microsoft.com/office/drawing/2014/main" id="{4EAFBD80-AF07-4FFE-A118-FA09B06F3483}"/>
              </a:ext>
            </a:extLst>
          </p:cNvPr>
          <p:cNvSpPr>
            <a:spLocks xmlns:a="http://schemas.openxmlformats.org/drawingml/2006/main" noGrp="1"/>
          </p:cNvSpPr>
          <p:nvPr/>
        </p:nvSpPr>
        <p:spPr>
          <a:xfrm xmlns:a="http://schemas.openxmlformats.org/drawingml/2006/main">
            <a:off x="1571625" y="3800475"/>
            <a:ext cx="9858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Which original factors have the strongest observed association with G3?</a:t>
            </a:r>
          </a:p>
        </p:txBody>
      </p:sp>
      <p:sp>
        <p:nvSpPr>
          <p:cNvPr id="11" name="04">
            <a:extLst xmlns:a="http://schemas.openxmlformats.org/drawingml/2006/main">
              <a:ext uri="{FF2B5EF4-FFF2-40B4-BE49-F238E27FC236}">
                <a16:creationId xmlns:a16="http://schemas.microsoft.com/office/drawing/2014/main" id="{C6A942DD-2610-418A-8380-AC9DF9F7A9A1}"/>
              </a:ext>
            </a:extLst>
          </p:cNvPr>
          <p:cNvSpPr>
            <a:spLocks xmlns:a="http://schemas.openxmlformats.org/drawingml/2006/main" noGrp="1"/>
          </p:cNvSpPr>
          <p:nvPr/>
        </p:nvSpPr>
        <p:spPr>
          <a:xfrm xmlns:a="http://schemas.openxmlformats.org/drawingml/2006/main">
            <a:off x="762000" y="48672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04</a:t>
            </a:r>
          </a:p>
        </p:txBody>
      </p:sp>
      <p:sp>
        <p:nvSpPr>
          <p:cNvPr id="12" name="How do group comparisons and visualizations qualify the">
            <a:extLst xmlns:a="http://schemas.openxmlformats.org/drawingml/2006/main">
              <a:ext uri="{FF2B5EF4-FFF2-40B4-BE49-F238E27FC236}">
                <a16:creationId xmlns:a16="http://schemas.microsoft.com/office/drawing/2014/main" id="{037500E6-8379-42B8-9B88-D0FFB4B3F74D}"/>
              </a:ext>
            </a:extLst>
          </p:cNvPr>
          <p:cNvSpPr>
            <a:spLocks xmlns:a="http://schemas.openxmlformats.org/drawingml/2006/main" noGrp="1"/>
          </p:cNvSpPr>
          <p:nvPr/>
        </p:nvSpPr>
        <p:spPr>
          <a:xfrm xmlns:a="http://schemas.openxmlformats.org/drawingml/2006/main">
            <a:off x="1571625" y="4867275"/>
            <a:ext cx="9858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How do group comparisons and visualizations qualify the findings?</a:t>
            </a:r>
          </a:p>
        </p:txBody>
      </p:sp>
    </p:spTree>
    <p:extLst>
      <p:ext uri="{BB962C8B-B14F-4D97-AF65-F5344CB8AC3E}">
        <p14:creationId xmlns:p14="http://schemas.microsoft.com/office/powerpoint/2010/main" val="30804816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B40A5B27-0F94-4D18-9075-22C1CCE56F9E}"/>
              </a:ext>
            </a:extLst>
          </p:cNvPr>
          <p:cNvPicPr>
            <a:picLocks xmlns:a="http://schemas.openxmlformats.org/drawingml/2006/main" noChangeAspect="1"/>
          </p:cNvPicPr>
          <p:nvPr/>
        </p:nvPicPr>
        <p:blipFill>
          <a:blip xmlns:r="http://schemas.openxmlformats.org/officeDocument/2006/relationships" xmlns:a="http://schemas.openxmlformats.org/drawingml/2006/main" r:embed="Raff40bfba7544909"/>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6C62608F-A2CC-4072-8A16-B08857B83376}"/>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Dataset and provenance</a:t>
            </a:r>
          </a:p>
        </p:txBody>
      </p:sp>
      <p:sp>
        <p:nvSpPr>
          <p:cNvPr id="3" name="Thin monochrome rule">
            <a:extLst xmlns:a="http://schemas.openxmlformats.org/drawingml/2006/main">
              <a:ext uri="{FF2B5EF4-FFF2-40B4-BE49-F238E27FC236}">
                <a16:creationId xmlns:a16="http://schemas.microsoft.com/office/drawing/2014/main" id="{EF7334CF-1FA7-48C0-B8AC-3F4E56E1704A}"/>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3">
            <a:extLst xmlns:a="http://schemas.openxmlformats.org/drawingml/2006/main">
              <a:ext uri="{FF2B5EF4-FFF2-40B4-BE49-F238E27FC236}">
                <a16:creationId xmlns:a16="http://schemas.microsoft.com/office/drawing/2014/main" id="{8FBD4D4E-D38D-4401-88CE-E6A112479F91}"/>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03</a:t>
            </a:r>
          </a:p>
        </p:txBody>
      </p:sp>
      <p:graphicFrame>
        <p:nvGraphicFramePr>
          <p:cNvPr id="5" name="">
            <a:extLst xmlns:a="http://schemas.openxmlformats.org/drawingml/2006/main">
              <a:ext uri="{FF2B5EF4-FFF2-40B4-BE49-F238E27FC236}">
                <a16:creationId xmlns:a16="http://schemas.microsoft.com/office/drawing/2014/main" id="{CAE7CF89-932E-443F-8648-34B238474258}"/>
              </a:ext>
            </a:extLst>
          </p:cNvPr>
          <p:cNvGraphicFramePr/>
          <p:nvPr/>
        </p:nvGraphicFramePr>
        <p:xfrm>
          <a:off xmlns:a="http://schemas.openxmlformats.org/drawingml/2006/main" x="762000" y="1666875"/>
          <a:ext xmlns:a="http://schemas.openxmlformats.org/drawingml/2006/main" cx="10668000" cy="3714750"/>
        </p:xfrm>
        <a:graphic xmlns:a="http://schemas.openxmlformats.org/drawingml/2006/main">
          <a:graphicData uri="http://schemas.openxmlformats.org/drawingml/2006/table">
            <a:tbl>
              <a:tblPr firstRow="0" bandRow="0"/>
              <a:tblGrid>
                <a:gridCol w="3048000"/>
                <a:gridCol w="7620000"/>
              </a:tblGrid>
              <a:tr h="530679">
                <a:tc>
                  <a:txBody>
                    <a:bodyPr wrap="square" lIns="85725" tIns="85725" rIns="85725" bIns="85725">
                      <a:noAutofit/>
                    </a:bodyPr>
                    <a:lstStyle/>
                    <a:p>
                      <a:pPr algn="l"/>
                      <a:r>
                        <a:rPr sz="2100" b="1">
                          <a:solidFill>
                            <a:srgbClr val="000000"/>
                          </a:solidFill>
                          <a:latin typeface="Arial"/>
                          <a:ea typeface="Arial"/>
                          <a:cs typeface="Arial"/>
                        </a:rPr>
                        <a:t>Property</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100" b="1">
                          <a:solidFill>
                            <a:srgbClr val="000000"/>
                          </a:solidFill>
                          <a:latin typeface="Arial"/>
                          <a:ea typeface="Arial"/>
                          <a:cs typeface="Arial"/>
                        </a:rPr>
                        <a:t>Selected data</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530679">
                <a:tc>
                  <a:txBody>
                    <a:bodyPr wrap="square" lIns="85725" tIns="85725" rIns="85725" bIns="85725">
                      <a:noAutofit/>
                    </a:bodyPr>
                    <a:lstStyle/>
                    <a:p>
                      <a:pPr algn="l"/>
                      <a:r>
                        <a:rPr sz="2100" b="0">
                          <a:solidFill>
                            <a:srgbClr val="000000"/>
                          </a:solidFill>
                          <a:latin typeface="Arial"/>
                          <a:ea typeface="Arial"/>
                          <a:cs typeface="Arial"/>
                        </a:rPr>
                        <a:t>Subject</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Portuguese language</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30679">
                <a:tc>
                  <a:txBody>
                    <a:bodyPr wrap="square" lIns="85725" tIns="85725" rIns="85725" bIns="85725">
                      <a:noAutofit/>
                    </a:bodyPr>
                    <a:lstStyle/>
                    <a:p>
                      <a:pPr algn="l"/>
                      <a:r>
                        <a:rPr sz="2100" b="0">
                          <a:solidFill>
                            <a:srgbClr val="000000"/>
                          </a:solidFill>
                          <a:latin typeface="Arial"/>
                          <a:ea typeface="Arial"/>
                          <a:cs typeface="Arial"/>
                        </a:rPr>
                        <a:t>Records / columns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649 / 33</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30679">
                <a:tc>
                  <a:txBody>
                    <a:bodyPr wrap="square" lIns="85725" tIns="85725" rIns="85725" bIns="85725">
                      <a:noAutofit/>
                    </a:bodyPr>
                    <a:lstStyle/>
                    <a:p>
                      <a:pPr algn="l"/>
                      <a:r>
                        <a:rPr sz="2100" b="0">
                          <a:solidFill>
                            <a:srgbClr val="000000"/>
                          </a:solidFill>
                          <a:latin typeface="Arial"/>
                          <a:ea typeface="Arial"/>
                          <a:cs typeface="Arial"/>
                        </a:rPr>
                        <a:t>Schools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GP: 423 · MS: 226</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30679">
                <a:tc>
                  <a:txBody>
                    <a:bodyPr wrap="square" lIns="85725" tIns="85725" rIns="85725" bIns="85725">
                      <a:noAutofit/>
                    </a:bodyPr>
                    <a:lstStyle/>
                    <a:p>
                      <a:pPr algn="l"/>
                      <a:r>
                        <a:rPr sz="2100" b="0">
                          <a:solidFill>
                            <a:srgbClr val="000000"/>
                          </a:solidFill>
                          <a:latin typeface="Arial"/>
                          <a:ea typeface="Arial"/>
                          <a:cs typeface="Arial"/>
                        </a:rPr>
                        <a:t>Original missing cells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30679">
                <a:tc>
                  <a:txBody>
                    <a:bodyPr wrap="square" lIns="85725" tIns="85725" rIns="85725" bIns="85725">
                      <a:noAutofit/>
                    </a:bodyPr>
                    <a:lstStyle/>
                    <a:p>
                      <a:pPr algn="l"/>
                      <a:r>
                        <a:rPr sz="2100" b="0">
                          <a:solidFill>
                            <a:srgbClr val="000000"/>
                          </a:solidFill>
                          <a:latin typeface="Arial"/>
                          <a:ea typeface="Arial"/>
                          <a:cs typeface="Arial"/>
                        </a:rPr>
                        <a:t>Outcome</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G3, final grade on a 0–20 scale</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30679">
                <a:tc>
                  <a:txBody>
                    <a:bodyPr wrap="square" lIns="85725" tIns="85725" rIns="85725" bIns="85725">
                      <a:noAutofit/>
                    </a:bodyPr>
                    <a:lstStyle/>
                    <a:p>
                      <a:pPr algn="l"/>
                      <a:r>
                        <a:rPr sz="2100" b="0">
                          <a:solidFill>
                            <a:srgbClr val="000000"/>
                          </a:solidFill>
                          <a:latin typeface="Arial"/>
                          <a:ea typeface="Arial"/>
                          <a:cs typeface="Arial"/>
                        </a:rPr>
                        <a:t>Licence</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CC BY 4.0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Two Portuguese schools; findings do not directly repres">
            <a:extLst xmlns:a="http://schemas.openxmlformats.org/drawingml/2006/main">
              <a:ext uri="{FF2B5EF4-FFF2-40B4-BE49-F238E27FC236}">
                <a16:creationId xmlns:a16="http://schemas.microsoft.com/office/drawing/2014/main" id="{B22642F7-7FD5-46C3-BC53-8C23950D36B4}"/>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Two Portuguese schools; findings do not directly represent TDTU students.</a:t>
            </a:r>
          </a:p>
        </p:txBody>
      </p:sp>
    </p:spTree>
    <p:extLst>
      <p:ext uri="{BB962C8B-B14F-4D97-AF65-F5344CB8AC3E}">
        <p14:creationId xmlns:p14="http://schemas.microsoft.com/office/powerpoint/2010/main" val="174498760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07E2B162-34FF-4DFD-9AFA-9E7E0767E4A8}"/>
              </a:ext>
            </a:extLst>
          </p:cNvPr>
          <p:cNvPicPr>
            <a:picLocks xmlns:a="http://schemas.openxmlformats.org/drawingml/2006/main" noChangeAspect="1"/>
          </p:cNvPicPr>
          <p:nvPr/>
        </p:nvPicPr>
        <p:blipFill>
          <a:blip xmlns:r="http://schemas.openxmlformats.org/officeDocument/2006/relationships" xmlns:a="http://schemas.openxmlformats.org/drawingml/2006/main" r:embed="R36ef66c461734f41"/>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A1242B39-6BEE-425F-B39F-769B3DB35E09}"/>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Inspect before transforming</a:t>
            </a:r>
          </a:p>
        </p:txBody>
      </p:sp>
      <p:sp>
        <p:nvSpPr>
          <p:cNvPr id="3" name="Thin monochrome rule">
            <a:extLst xmlns:a="http://schemas.openxmlformats.org/drawingml/2006/main">
              <a:ext uri="{FF2B5EF4-FFF2-40B4-BE49-F238E27FC236}">
                <a16:creationId xmlns:a16="http://schemas.microsoft.com/office/drawing/2014/main" id="{A4AD5DD7-353F-42CB-81B6-F1EF8C622E3A}"/>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4">
            <a:extLst xmlns:a="http://schemas.openxmlformats.org/drawingml/2006/main">
              <a:ext uri="{FF2B5EF4-FFF2-40B4-BE49-F238E27FC236}">
                <a16:creationId xmlns:a16="http://schemas.microsoft.com/office/drawing/2014/main" id="{B1B277D9-1570-4AEA-AAB6-DB9D4AC06B2B}"/>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04</a:t>
            </a:r>
          </a:p>
        </p:txBody>
      </p:sp>
      <p:sp>
        <p:nvSpPr>
          <p:cNvPr id="5" name="raw = pd.read_csv(path, sep=';')&#10;raw.head(5)&#10;raw.tail(5">
            <a:extLst xmlns:a="http://schemas.openxmlformats.org/drawingml/2006/main">
              <a:ext uri="{FF2B5EF4-FFF2-40B4-BE49-F238E27FC236}">
                <a16:creationId xmlns:a16="http://schemas.microsoft.com/office/drawing/2014/main" id="{80FDE6D4-297F-4081-A091-083804DABEC3}"/>
              </a:ext>
            </a:extLst>
          </p:cNvPr>
          <p:cNvSpPr>
            <a:spLocks xmlns:a="http://schemas.openxmlformats.org/drawingml/2006/main" noGrp="1"/>
          </p:cNvSpPr>
          <p:nvPr/>
        </p:nvSpPr>
        <p:spPr>
          <a:xfrm xmlns:a="http://schemas.openxmlformats.org/drawingml/2006/main">
            <a:off x="762000" y="1809750"/>
            <a:ext cx="72390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DejaVu Sans Mono"/>
                <a:ea typeface="DejaVu Sans Mono"/>
                <a:cs typeface="DejaVu Sans Mono"/>
              </a:defRPr>
            </a:defPPr>
          </a:lstStyle>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raw = pd.read_csv(path, sep=';')</a:t>
            </a:r>
          </a:p>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raw.head(5)</a:t>
            </a:r>
          </a:p>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raw.tail(5)</a:t>
            </a:r>
          </a:p>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raw.shape</a:t>
            </a:r>
          </a:p>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raw.dtypes</a:t>
            </a:r>
          </a:p>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raw.info()</a:t>
            </a:r>
          </a:p>
        </p:txBody>
      </p:sp>
      <p:sp>
        <p:nvSpPr>
          <p:cNvPr id="6" name="649 × 33">
            <a:extLst xmlns:a="http://schemas.openxmlformats.org/drawingml/2006/main">
              <a:ext uri="{FF2B5EF4-FFF2-40B4-BE49-F238E27FC236}">
                <a16:creationId xmlns:a16="http://schemas.microsoft.com/office/drawing/2014/main" id="{8BEFEDB8-178A-41AF-B576-A63C2AC24931}"/>
              </a:ext>
            </a:extLst>
          </p:cNvPr>
          <p:cNvSpPr>
            <a:spLocks xmlns:a="http://schemas.openxmlformats.org/drawingml/2006/main" noGrp="1"/>
          </p:cNvSpPr>
          <p:nvPr/>
        </p:nvSpPr>
        <p:spPr>
          <a:xfrm xmlns:a="http://schemas.openxmlformats.org/drawingml/2006/main">
            <a:off x="8953500" y="2047875"/>
            <a:ext cx="2762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500" b="1">
                <a:solidFill>
                  <a:srgbClr val="000000"/>
                </a:solidFill>
                <a:latin typeface="Arial"/>
                <a:ea typeface="Arial"/>
                <a:cs typeface="Arial"/>
              </a:defRPr>
            </a:defPPr>
          </a:lstStyle>
          <a:p xmlns:a="http://schemas.openxmlformats.org/drawingml/2006/main">
            <a:pPr algn="l">
              <a:defRPr sz="3500" b="1">
                <a:solidFill>
                  <a:srgbClr val="000000"/>
                </a:solidFill>
                <a:latin typeface="Arial"/>
                <a:ea typeface="Arial"/>
                <a:cs typeface="Arial"/>
              </a:defRPr>
            </a:pPr>
            <a:r>
              <a:rPr sz="3500" b="1">
                <a:solidFill>
                  <a:srgbClr val="000000"/>
                </a:solidFill>
                <a:latin typeface="Arial"/>
                <a:ea typeface="Arial"/>
                <a:cs typeface="Arial"/>
              </a:rPr>
              <a:t>649 × 33</a:t>
            </a:r>
          </a:p>
        </p:txBody>
      </p:sp>
      <p:sp>
        <p:nvSpPr>
          <p:cNvPr id="7" name="Numeric, ordinal and categorical fields&#10;&#10;Preserve raw d">
            <a:extLst xmlns:a="http://schemas.openxmlformats.org/drawingml/2006/main">
              <a:ext uri="{FF2B5EF4-FFF2-40B4-BE49-F238E27FC236}">
                <a16:creationId xmlns:a16="http://schemas.microsoft.com/office/drawing/2014/main" id="{50A05417-CC8A-41A2-B4D4-DE10876BACB0}"/>
              </a:ext>
            </a:extLst>
          </p:cNvPr>
          <p:cNvSpPr>
            <a:spLocks xmlns:a="http://schemas.openxmlformats.org/drawingml/2006/main" noGrp="1"/>
          </p:cNvSpPr>
          <p:nvPr/>
        </p:nvSpPr>
        <p:spPr>
          <a:xfrm xmlns:a="http://schemas.openxmlformats.org/drawingml/2006/main">
            <a:off x="8953500" y="314325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00" b="0">
                <a:solidFill>
                  <a:srgbClr val="000000"/>
                </a:solidFill>
                <a:latin typeface="Arial"/>
                <a:ea typeface="Arial"/>
                <a:cs typeface="Arial"/>
              </a:defRPr>
            </a:defPPr>
          </a:lstStyle>
          <a:p xmlns:a="http://schemas.openxmlformats.org/drawingml/2006/main">
            <a:pPr algn="l">
              <a:defRPr sz="2200" b="0">
                <a:solidFill>
                  <a:srgbClr val="000000"/>
                </a:solidFill>
                <a:latin typeface="Arial"/>
                <a:ea typeface="Arial"/>
                <a:cs typeface="Arial"/>
              </a:defRPr>
            </a:pPr>
            <a:r>
              <a:rPr sz="2200" b="0">
                <a:solidFill>
                  <a:srgbClr val="000000"/>
                </a:solidFill>
                <a:latin typeface="Arial"/>
                <a:ea typeface="Arial"/>
                <a:cs typeface="Arial"/>
              </a:rPr>
              <a:t>Numeric, ordinal and categorical fields</a:t>
            </a:r>
          </a:p>
          <a:p xmlns:a="http://schemas.openxmlformats.org/drawingml/2006/main">
            <a:r>
              <a:t/>
            </a:r>
          </a:p>
          <a:p xmlns:a="http://schemas.openxmlformats.org/drawingml/2006/main">
            <a:pPr algn="l">
              <a:defRPr sz="2200" b="0">
                <a:solidFill>
                  <a:srgbClr val="000000"/>
                </a:solidFill>
                <a:latin typeface="Arial"/>
                <a:ea typeface="Arial"/>
                <a:cs typeface="Arial"/>
              </a:defRPr>
            </a:pPr>
            <a:r>
              <a:rPr sz="2200" b="0">
                <a:solidFill>
                  <a:srgbClr val="000000"/>
                </a:solidFill>
                <a:latin typeface="Arial"/>
                <a:ea typeface="Arial"/>
                <a:cs typeface="Arial"/>
              </a:rPr>
              <a:t>Preserve raw data</a:t>
            </a:r>
          </a:p>
        </p:txBody>
      </p:sp>
      <p:sp>
        <p:nvSpPr>
          <p:cNvPr id="8" name="Recorded zero grades remain observations; they are not ">
            <a:extLst xmlns:a="http://schemas.openxmlformats.org/drawingml/2006/main">
              <a:ext uri="{FF2B5EF4-FFF2-40B4-BE49-F238E27FC236}">
                <a16:creationId xmlns:a16="http://schemas.microsoft.com/office/drawing/2014/main" id="{EF3E3F7D-28AE-4AC0-AB66-290F95E3A3D7}"/>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Recorded zero grades remain observations; they are not reclassified as missing.</a:t>
            </a:r>
          </a:p>
        </p:txBody>
      </p:sp>
    </p:spTree>
    <p:extLst>
      <p:ext uri="{BB962C8B-B14F-4D97-AF65-F5344CB8AC3E}">
        <p14:creationId xmlns:p14="http://schemas.microsoft.com/office/powerpoint/2010/main" val="90437801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3843965E-071F-4481-9064-EB6D2B9341FA}"/>
              </a:ext>
            </a:extLst>
          </p:cNvPr>
          <p:cNvPicPr>
            <a:picLocks xmlns:a="http://schemas.openxmlformats.org/drawingml/2006/main" noChangeAspect="1"/>
          </p:cNvPicPr>
          <p:nvPr/>
        </p:nvPicPr>
        <p:blipFill>
          <a:blip xmlns:r="http://schemas.openxmlformats.org/officeDocument/2006/relationships" xmlns:a="http://schemas.openxmlformats.org/drawingml/2006/main" r:embed="R6de4b1fabdce4ca4"/>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ECD5362F-2B9F-4271-8DB9-660FE0EAC6E3}"/>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A controlled missingness experiment</a:t>
            </a:r>
          </a:p>
        </p:txBody>
      </p:sp>
      <p:sp>
        <p:nvSpPr>
          <p:cNvPr id="3" name="Thin monochrome rule">
            <a:extLst xmlns:a="http://schemas.openxmlformats.org/drawingml/2006/main">
              <a:ext uri="{FF2B5EF4-FFF2-40B4-BE49-F238E27FC236}">
                <a16:creationId xmlns:a16="http://schemas.microsoft.com/office/drawing/2014/main" id="{C5BA3B0F-B423-44D9-A252-10CA108C1736}"/>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5">
            <a:extLst xmlns:a="http://schemas.openxmlformats.org/drawingml/2006/main">
              <a:ext uri="{FF2B5EF4-FFF2-40B4-BE49-F238E27FC236}">
                <a16:creationId xmlns:a16="http://schemas.microsoft.com/office/drawing/2014/main" id="{520C8D32-9765-45AD-9847-6A0F9E2BE434}"/>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05</a:t>
            </a:r>
          </a:p>
        </p:txBody>
      </p:sp>
      <p:sp>
        <p:nvSpPr>
          <p:cNvPr id="5" name="649">
            <a:extLst xmlns:a="http://schemas.openxmlformats.org/drawingml/2006/main">
              <a:ext uri="{FF2B5EF4-FFF2-40B4-BE49-F238E27FC236}">
                <a16:creationId xmlns:a16="http://schemas.microsoft.com/office/drawing/2014/main" id="{6496FDDD-EF6E-4EA5-84B6-F7C932B8879C}"/>
              </a:ext>
            </a:extLst>
          </p:cNvPr>
          <p:cNvSpPr>
            <a:spLocks xmlns:a="http://schemas.openxmlformats.org/drawingml/2006/main" noGrp="1"/>
          </p:cNvSpPr>
          <p:nvPr/>
        </p:nvSpPr>
        <p:spPr>
          <a:xfrm xmlns:a="http://schemas.openxmlformats.org/drawingml/2006/main">
            <a:off x="762000" y="1809750"/>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400" b="1">
                <a:solidFill>
                  <a:srgbClr val="000000"/>
                </a:solidFill>
                <a:latin typeface="Arial"/>
                <a:ea typeface="Arial"/>
                <a:cs typeface="Arial"/>
              </a:defRPr>
            </a:defPPr>
          </a:lstStyle>
          <a:p xmlns:a="http://schemas.openxmlformats.org/drawingml/2006/main">
            <a:pPr algn="l">
              <a:defRPr sz="5400" b="1">
                <a:solidFill>
                  <a:srgbClr val="000000"/>
                </a:solidFill>
                <a:latin typeface="Arial"/>
                <a:ea typeface="Arial"/>
                <a:cs typeface="Arial"/>
              </a:defRPr>
            </a:pPr>
            <a:r>
              <a:rPr sz="5400" b="1">
                <a:solidFill>
                  <a:srgbClr val="000000"/>
                </a:solidFill>
                <a:latin typeface="Arial"/>
                <a:ea typeface="Arial"/>
                <a:cs typeface="Arial"/>
              </a:rPr>
              <a:t>649</a:t>
            </a:r>
          </a:p>
        </p:txBody>
      </p:sp>
      <p:sp>
        <p:nvSpPr>
          <p:cNvPr id="6" name="complete original records">
            <a:extLst xmlns:a="http://schemas.openxmlformats.org/drawingml/2006/main">
              <a:ext uri="{FF2B5EF4-FFF2-40B4-BE49-F238E27FC236}">
                <a16:creationId xmlns:a16="http://schemas.microsoft.com/office/drawing/2014/main" id="{545935AC-4FE4-4077-807D-AF8659F6D77B}"/>
              </a:ext>
            </a:extLst>
          </p:cNvPr>
          <p:cNvSpPr>
            <a:spLocks xmlns:a="http://schemas.openxmlformats.org/drawingml/2006/main" noGrp="1"/>
          </p:cNvSpPr>
          <p:nvPr/>
        </p:nvSpPr>
        <p:spPr>
          <a:xfrm xmlns:a="http://schemas.openxmlformats.org/drawingml/2006/main">
            <a:off x="762000" y="2857500"/>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complete original records</a:t>
            </a:r>
          </a:p>
        </p:txBody>
      </p:sp>
      <p:sp>
        <p:nvSpPr>
          <p:cNvPr id="7" name="Thin monochrome rule">
            <a:extLst xmlns:a="http://schemas.openxmlformats.org/drawingml/2006/main">
              <a:ext uri="{FF2B5EF4-FFF2-40B4-BE49-F238E27FC236}">
                <a16:creationId xmlns:a16="http://schemas.microsoft.com/office/drawing/2014/main" id="{1DAC31C7-B0A3-460E-9A34-CF27C7DF5B46}"/>
              </a:ext>
            </a:extLst>
          </p:cNvPr>
          <p:cNvSpPr>
            <a:spLocks xmlns:a="http://schemas.openxmlformats.org/drawingml/2006/main" noGrp="1"/>
          </p:cNvSpPr>
          <p:nvPr/>
        </p:nvSpPr>
        <p:spPr>
          <a:xfrm xmlns:a="http://schemas.openxmlformats.org/drawingml/2006/main">
            <a:off x="4191000" y="1809750"/>
            <a:ext cx="14288" cy="3238500"/>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8" name="32">
            <a:extLst xmlns:a="http://schemas.openxmlformats.org/drawingml/2006/main">
              <a:ext uri="{FF2B5EF4-FFF2-40B4-BE49-F238E27FC236}">
                <a16:creationId xmlns:a16="http://schemas.microsoft.com/office/drawing/2014/main" id="{007FD32C-7834-4CA7-A52B-6B34DA6AA7DF}"/>
              </a:ext>
            </a:extLst>
          </p:cNvPr>
          <p:cNvSpPr>
            <a:spLocks xmlns:a="http://schemas.openxmlformats.org/drawingml/2006/main" noGrp="1"/>
          </p:cNvSpPr>
          <p:nvPr/>
        </p:nvSpPr>
        <p:spPr>
          <a:xfrm xmlns:a="http://schemas.openxmlformats.org/drawingml/2006/main">
            <a:off x="4667250" y="1809750"/>
            <a:ext cx="304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400" b="1">
                <a:solidFill>
                  <a:srgbClr val="000000"/>
                </a:solidFill>
                <a:latin typeface="Arial"/>
                <a:ea typeface="Arial"/>
                <a:cs typeface="Arial"/>
              </a:defRPr>
            </a:defPPr>
          </a:lstStyle>
          <a:p xmlns:a="http://schemas.openxmlformats.org/drawingml/2006/main">
            <a:pPr algn="l">
              <a:defRPr sz="5400" b="1">
                <a:solidFill>
                  <a:srgbClr val="000000"/>
                </a:solidFill>
                <a:latin typeface="Arial"/>
                <a:ea typeface="Arial"/>
                <a:cs typeface="Arial"/>
              </a:defRPr>
            </a:pPr>
            <a:r>
              <a:rPr sz="5400" b="1">
                <a:solidFill>
                  <a:srgbClr val="000000"/>
                </a:solidFill>
                <a:latin typeface="Arial"/>
                <a:ea typeface="Arial"/>
                <a:cs typeface="Arial"/>
              </a:rPr>
              <a:t>32</a:t>
            </a:r>
          </a:p>
        </p:txBody>
      </p:sp>
      <p:sp>
        <p:nvSpPr>
          <p:cNvPr id="9" name="masked absences values&#10;4.93% of records&#10;Seed 42">
            <a:extLst xmlns:a="http://schemas.openxmlformats.org/drawingml/2006/main">
              <a:ext uri="{FF2B5EF4-FFF2-40B4-BE49-F238E27FC236}">
                <a16:creationId xmlns:a16="http://schemas.microsoft.com/office/drawing/2014/main" id="{F33EA1C6-C95B-4271-B4A0-C359F19BB0D2}"/>
              </a:ext>
            </a:extLst>
          </p:cNvPr>
          <p:cNvSpPr>
            <a:spLocks xmlns:a="http://schemas.openxmlformats.org/drawingml/2006/main" noGrp="1"/>
          </p:cNvSpPr>
          <p:nvPr/>
        </p:nvSpPr>
        <p:spPr>
          <a:xfrm xmlns:a="http://schemas.openxmlformats.org/drawingml/2006/main">
            <a:off x="4667250" y="2857500"/>
            <a:ext cx="3048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masked absences values</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4.93% of records</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Seed 42</a:t>
            </a:r>
          </a:p>
        </p:txBody>
      </p:sp>
      <p:sp>
        <p:nvSpPr>
          <p:cNvPr id="10" name="Thin monochrome rule">
            <a:extLst xmlns:a="http://schemas.openxmlformats.org/drawingml/2006/main">
              <a:ext uri="{FF2B5EF4-FFF2-40B4-BE49-F238E27FC236}">
                <a16:creationId xmlns:a16="http://schemas.microsoft.com/office/drawing/2014/main" id="{4A1A25FC-FD0A-4233-9991-31F40BD88D5D}"/>
              </a:ext>
            </a:extLst>
          </p:cNvPr>
          <p:cNvSpPr>
            <a:spLocks xmlns:a="http://schemas.openxmlformats.org/drawingml/2006/main" noGrp="1"/>
          </p:cNvSpPr>
          <p:nvPr/>
        </p:nvSpPr>
        <p:spPr>
          <a:xfrm xmlns:a="http://schemas.openxmlformats.org/drawingml/2006/main">
            <a:off x="8191500" y="1809750"/>
            <a:ext cx="14288" cy="3238500"/>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11" name="Two treatments">
            <a:extLst xmlns:a="http://schemas.openxmlformats.org/drawingml/2006/main">
              <a:ext uri="{FF2B5EF4-FFF2-40B4-BE49-F238E27FC236}">
                <a16:creationId xmlns:a16="http://schemas.microsoft.com/office/drawing/2014/main" id="{1EFB23ED-9E9A-4F24-8159-65CAB4D2A33B}"/>
              </a:ext>
            </a:extLst>
          </p:cNvPr>
          <p:cNvSpPr>
            <a:spLocks xmlns:a="http://schemas.openxmlformats.org/drawingml/2006/main" noGrp="1"/>
          </p:cNvSpPr>
          <p:nvPr/>
        </p:nvSpPr>
        <p:spPr>
          <a:xfrm xmlns:a="http://schemas.openxmlformats.org/drawingml/2006/main">
            <a:off x="8667750" y="1857375"/>
            <a:ext cx="304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000000"/>
                </a:solidFill>
                <a:latin typeface="Arial"/>
                <a:ea typeface="Arial"/>
                <a:cs typeface="Arial"/>
              </a:defRPr>
            </a:defPPr>
          </a:lstStyle>
          <a:p xmlns:a="http://schemas.openxmlformats.org/drawingml/2006/main">
            <a:pPr algn="l">
              <a:defRPr sz="3000" b="1">
                <a:solidFill>
                  <a:srgbClr val="000000"/>
                </a:solidFill>
                <a:latin typeface="Arial"/>
                <a:ea typeface="Arial"/>
                <a:cs typeface="Arial"/>
              </a:defRPr>
            </a:pPr>
            <a:r>
              <a:rPr sz="3000" b="1">
                <a:solidFill>
                  <a:srgbClr val="000000"/>
                </a:solidFill>
                <a:latin typeface="Arial"/>
                <a:ea typeface="Arial"/>
                <a:cs typeface="Arial"/>
              </a:rPr>
              <a:t>Two treatments</a:t>
            </a:r>
          </a:p>
        </p:txBody>
      </p:sp>
      <p:sp>
        <p:nvSpPr>
          <p:cNvPr id="12" name="Mean imputation&#10;&#10;Drop missing rows">
            <a:extLst xmlns:a="http://schemas.openxmlformats.org/drawingml/2006/main">
              <a:ext uri="{FF2B5EF4-FFF2-40B4-BE49-F238E27FC236}">
                <a16:creationId xmlns:a16="http://schemas.microsoft.com/office/drawing/2014/main" id="{4E4D51B3-4060-4561-A024-F23A050A4286}"/>
              </a:ext>
            </a:extLst>
          </p:cNvPr>
          <p:cNvSpPr>
            <a:spLocks xmlns:a="http://schemas.openxmlformats.org/drawingml/2006/main" noGrp="1"/>
          </p:cNvSpPr>
          <p:nvPr/>
        </p:nvSpPr>
        <p:spPr>
          <a:xfrm xmlns:a="http://schemas.openxmlformats.org/drawingml/2006/main">
            <a:off x="8667750" y="3000375"/>
            <a:ext cx="3048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Mean imputation</a:t>
            </a:r>
          </a:p>
          <a:p xmlns:a="http://schemas.openxmlformats.org/drawingml/2006/main">
            <a:r>
              <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Drop missing rows</a:t>
            </a:r>
          </a:p>
        </p:txBody>
      </p:sp>
      <p:sp>
        <p:nvSpPr>
          <p:cNvPr id="13" name="The missingness exercise is separate from the primary a">
            <a:extLst xmlns:a="http://schemas.openxmlformats.org/drawingml/2006/main">
              <a:ext uri="{FF2B5EF4-FFF2-40B4-BE49-F238E27FC236}">
                <a16:creationId xmlns:a16="http://schemas.microsoft.com/office/drawing/2014/main" id="{01CFA1A8-2B12-4513-8586-348F5A32A4B2}"/>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missingness exercise is separate from the primary analysis of original measurements.</a:t>
            </a:r>
          </a:p>
        </p:txBody>
      </p:sp>
    </p:spTree>
    <p:extLst>
      <p:ext uri="{BB962C8B-B14F-4D97-AF65-F5344CB8AC3E}">
        <p14:creationId xmlns:p14="http://schemas.microsoft.com/office/powerpoint/2010/main" val="174926065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1E9A6CB2-8559-4F16-95F9-2D8DC6D8DF51}"/>
              </a:ext>
            </a:extLst>
          </p:cNvPr>
          <p:cNvPicPr>
            <a:picLocks xmlns:a="http://schemas.openxmlformats.org/drawingml/2006/main" noChangeAspect="1"/>
          </p:cNvPicPr>
          <p:nvPr/>
        </p:nvPicPr>
        <p:blipFill>
          <a:blip xmlns:r="http://schemas.openxmlformats.org/officeDocument/2006/relationships" xmlns:a="http://schemas.openxmlformats.org/drawingml/2006/main" r:embed="Rad5cade491474698"/>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B7F9CD56-BE40-4244-A3B0-316E96E3D6BB}"/>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Imputation and deletion change the data</a:t>
            </a:r>
          </a:p>
        </p:txBody>
      </p:sp>
      <p:sp>
        <p:nvSpPr>
          <p:cNvPr id="3" name="Thin monochrome rule">
            <a:extLst xmlns:a="http://schemas.openxmlformats.org/drawingml/2006/main">
              <a:ext uri="{FF2B5EF4-FFF2-40B4-BE49-F238E27FC236}">
                <a16:creationId xmlns:a16="http://schemas.microsoft.com/office/drawing/2014/main" id="{21858388-AD9C-4EE8-80DD-3F08A19BDC25}"/>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6">
            <a:extLst xmlns:a="http://schemas.openxmlformats.org/drawingml/2006/main">
              <a:ext uri="{FF2B5EF4-FFF2-40B4-BE49-F238E27FC236}">
                <a16:creationId xmlns:a16="http://schemas.microsoft.com/office/drawing/2014/main" id="{421E3399-BB1B-4BF5-AE68-6FA5B57D82DB}"/>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06</a:t>
            </a:r>
          </a:p>
        </p:txBody>
      </p:sp>
      <p:graphicFrame>
        <p:nvGraphicFramePr>
          <p:cNvPr id="5" name="">
            <a:extLst xmlns:a="http://schemas.openxmlformats.org/drawingml/2006/main">
              <a:ext uri="{FF2B5EF4-FFF2-40B4-BE49-F238E27FC236}">
                <a16:creationId xmlns:a16="http://schemas.microsoft.com/office/drawing/2014/main" id="{9975277F-64F5-41CC-9F1D-6D41F3CEBE1A}"/>
              </a:ext>
            </a:extLst>
          </p:cNvPr>
          <p:cNvGraphicFramePr/>
          <p:nvPr/>
        </p:nvGraphicFramePr>
        <p:xfrm>
          <a:off xmlns:a="http://schemas.openxmlformats.org/drawingml/2006/main" x="666750" y="1809750"/>
          <a:ext xmlns:a="http://schemas.openxmlformats.org/drawingml/2006/main" cx="10858500" cy="2952750"/>
        </p:xfrm>
        <a:graphic xmlns:a="http://schemas.openxmlformats.org/drawingml/2006/main">
          <a:graphicData uri="http://schemas.openxmlformats.org/drawingml/2006/table">
            <a:tbl>
              <a:tblPr firstRow="0" bandRow="0"/>
              <a:tblGrid>
                <a:gridCol w="3619500"/>
                <a:gridCol w="1316182"/>
                <a:gridCol w="1480705"/>
                <a:gridCol w="2303318"/>
                <a:gridCol w="2138795"/>
              </a:tblGrid>
              <a:tr h="590550">
                <a:tc>
                  <a:txBody>
                    <a:bodyPr wrap="square" lIns="85725" tIns="85725" rIns="85725" bIns="85725">
                      <a:noAutofit/>
                    </a:bodyPr>
                    <a:lstStyle/>
                    <a:p>
                      <a:pPr algn="l"/>
                      <a:r>
                        <a:rPr sz="2000" b="1">
                          <a:solidFill>
                            <a:srgbClr val="000000"/>
                          </a:solidFill>
                          <a:latin typeface="Arial"/>
                          <a:ea typeface="Arial"/>
                          <a:cs typeface="Arial"/>
                        </a:rPr>
                        <a:t>Variant</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000" b="1">
                          <a:solidFill>
                            <a:srgbClr val="000000"/>
                          </a:solidFill>
                          <a:latin typeface="Arial"/>
                          <a:ea typeface="Arial"/>
                          <a:cs typeface="Arial"/>
                        </a:rPr>
                        <a:t>Rows</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000" b="1">
                          <a:solidFill>
                            <a:srgbClr val="000000"/>
                          </a:solidFill>
                          <a:latin typeface="Arial"/>
                          <a:ea typeface="Arial"/>
                          <a:cs typeface="Arial"/>
                        </a:rPr>
                        <a:t>Missing</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000" b="1">
                          <a:solidFill>
                            <a:srgbClr val="000000"/>
                          </a:solidFill>
                          <a:latin typeface="Arial"/>
                          <a:ea typeface="Arial"/>
                          <a:cs typeface="Arial"/>
                        </a:rPr>
                        <a:t>Mean absences</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000" b="1">
                          <a:solidFill>
                            <a:srgbClr val="000000"/>
                          </a:solidFill>
                          <a:latin typeface="Arial"/>
                          <a:ea typeface="Arial"/>
                          <a:cs typeface="Arial"/>
                        </a:rPr>
                        <a:t>Sample SD</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590550">
                <a:tc>
                  <a:txBody>
                    <a:bodyPr wrap="square" lIns="85725" tIns="85725" rIns="85725" bIns="85725">
                      <a:noAutofit/>
                    </a:bodyPr>
                    <a:lstStyle/>
                    <a:p>
                      <a:pPr algn="l"/>
                      <a:r>
                        <a:rPr sz="2000" b="0">
                          <a:solidFill>
                            <a:srgbClr val="000000"/>
                          </a:solidFill>
                          <a:latin typeface="Arial"/>
                          <a:ea typeface="Arial"/>
                          <a:cs typeface="Arial"/>
                        </a:rPr>
                        <a:t>Original</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649</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3.6595</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4.6408</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90550">
                <a:tc>
                  <a:txBody>
                    <a:bodyPr wrap="square" lIns="85725" tIns="85725" rIns="85725" bIns="85725">
                      <a:noAutofit/>
                    </a:bodyPr>
                    <a:lstStyle/>
                    <a:p>
                      <a:pPr algn="l"/>
                      <a:r>
                        <a:rPr sz="2000" b="0">
                          <a:solidFill>
                            <a:srgbClr val="000000"/>
                          </a:solidFill>
                          <a:latin typeface="Arial"/>
                          <a:ea typeface="Arial"/>
                          <a:cs typeface="Arial"/>
                        </a:rPr>
                        <a:t>Simulated missing</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649</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32</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3.6240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4.6092</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90550">
                <a:tc>
                  <a:txBody>
                    <a:bodyPr wrap="square" lIns="85725" tIns="85725" rIns="85725" bIns="85725">
                      <a:noAutofit/>
                    </a:bodyPr>
                    <a:lstStyle/>
                    <a:p>
                      <a:pPr algn="l"/>
                      <a:r>
                        <a:rPr sz="2000" b="0">
                          <a:solidFill>
                            <a:srgbClr val="000000"/>
                          </a:solidFill>
                          <a:latin typeface="Arial"/>
                          <a:ea typeface="Arial"/>
                          <a:cs typeface="Arial"/>
                        </a:rPr>
                        <a:t>Mean imputation</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649</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3.6240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4.4940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90550">
                <a:tc>
                  <a:txBody>
                    <a:bodyPr wrap="square" lIns="85725" tIns="85725" rIns="85725" bIns="85725">
                      <a:noAutofit/>
                    </a:bodyPr>
                    <a:lstStyle/>
                    <a:p>
                      <a:pPr algn="l"/>
                      <a:r>
                        <a:rPr sz="2000" b="0">
                          <a:solidFill>
                            <a:srgbClr val="000000"/>
                          </a:solidFill>
                          <a:latin typeface="Arial"/>
                          <a:ea typeface="Arial"/>
                          <a:cs typeface="Arial"/>
                        </a:rPr>
                        <a:t>Drop missing</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617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3.6240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4.6092</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Imputation preserves rows and concentrates replacement ">
            <a:extLst xmlns:a="http://schemas.openxmlformats.org/drawingml/2006/main">
              <a:ext uri="{FF2B5EF4-FFF2-40B4-BE49-F238E27FC236}">
                <a16:creationId xmlns:a16="http://schemas.microsoft.com/office/drawing/2014/main" id="{157822AA-7082-4A94-98D0-A796A6416983}"/>
              </a:ext>
            </a:extLst>
          </p:cNvPr>
          <p:cNvSpPr>
            <a:spLocks xmlns:a="http://schemas.openxmlformats.org/drawingml/2006/main" noGrp="1"/>
          </p:cNvSpPr>
          <p:nvPr/>
        </p:nvSpPr>
        <p:spPr>
          <a:xfrm xmlns:a="http://schemas.openxmlformats.org/drawingml/2006/main">
            <a:off x="762000" y="5143500"/>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Imputation preserves rows and concentrates replacement values at the mean.</a:t>
            </a:r>
          </a:p>
        </p:txBody>
      </p:sp>
      <p:sp>
        <p:nvSpPr>
          <p:cNvPr id="7" name="A single seeded simulation does not establish a univers">
            <a:extLst xmlns:a="http://schemas.openxmlformats.org/drawingml/2006/main">
              <a:ext uri="{FF2B5EF4-FFF2-40B4-BE49-F238E27FC236}">
                <a16:creationId xmlns:a16="http://schemas.microsoft.com/office/drawing/2014/main" id="{EFE3A342-6D0D-40D8-817D-16676817E7E5}"/>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A single seeded simulation does not establish a universally best treatment.</a:t>
            </a:r>
          </a:p>
        </p:txBody>
      </p:sp>
    </p:spTree>
    <p:extLst>
      <p:ext uri="{BB962C8B-B14F-4D97-AF65-F5344CB8AC3E}">
        <p14:creationId xmlns:p14="http://schemas.microsoft.com/office/powerpoint/2010/main" val="30235203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9552FDB9-8982-4C19-AF85-E37A702805F8}"/>
              </a:ext>
            </a:extLst>
          </p:cNvPr>
          <p:cNvPicPr>
            <a:picLocks xmlns:a="http://schemas.openxmlformats.org/drawingml/2006/main" noChangeAspect="1"/>
          </p:cNvPicPr>
          <p:nvPr/>
        </p:nvPicPr>
        <p:blipFill>
          <a:blip xmlns:r="http://schemas.openxmlformats.org/officeDocument/2006/relationships" xmlns:a="http://schemas.openxmlformats.org/drawingml/2006/main" r:embed="R33cd7eb020554dda"/>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77EAD624-CEB3-4F7C-A121-3EC9610D2D81}"/>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Python structures and regex</a:t>
            </a:r>
          </a:p>
        </p:txBody>
      </p:sp>
      <p:sp>
        <p:nvSpPr>
          <p:cNvPr id="3" name="Thin monochrome rule">
            <a:extLst xmlns:a="http://schemas.openxmlformats.org/drawingml/2006/main">
              <a:ext uri="{FF2B5EF4-FFF2-40B4-BE49-F238E27FC236}">
                <a16:creationId xmlns:a16="http://schemas.microsoft.com/office/drawing/2014/main" id="{BCCD452B-DCEC-478A-B2C5-AAC7338AA7F7}"/>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7">
            <a:extLst xmlns:a="http://schemas.openxmlformats.org/drawingml/2006/main">
              <a:ext uri="{FF2B5EF4-FFF2-40B4-BE49-F238E27FC236}">
                <a16:creationId xmlns:a16="http://schemas.microsoft.com/office/drawing/2014/main" id="{88AE4F29-D7D9-4DBA-9C03-CD75B0CE748B}"/>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07</a:t>
            </a:r>
          </a:p>
        </p:txBody>
      </p:sp>
      <p:sp>
        <p:nvSpPr>
          <p:cNvPr id="5" name="grades = raw['G3'].tolist()&#10;selected = [g for g in grad">
            <a:extLst xmlns:a="http://schemas.openxmlformats.org/drawingml/2006/main">
              <a:ext uri="{FF2B5EF4-FFF2-40B4-BE49-F238E27FC236}">
                <a16:creationId xmlns:a16="http://schemas.microsoft.com/office/drawing/2014/main" id="{FD0AA2CF-89FD-46E7-B54A-243A224679AD}"/>
              </a:ext>
            </a:extLst>
          </p:cNvPr>
          <p:cNvSpPr>
            <a:spLocks xmlns:a="http://schemas.openxmlformats.org/drawingml/2006/main" noGrp="1"/>
          </p:cNvSpPr>
          <p:nvPr/>
        </p:nvSpPr>
        <p:spPr>
          <a:xfrm xmlns:a="http://schemas.openxmlformats.org/drawingml/2006/main">
            <a:off x="762000" y="1809750"/>
            <a:ext cx="106680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DejaVu Sans Mono"/>
                <a:ea typeface="DejaVu Sans Mono"/>
                <a:cs typeface="DejaVu Sans Mono"/>
              </a:defRPr>
            </a:defPPr>
          </a:lstStyle>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grades = raw['G3'].tolist()</a:t>
            </a:r>
          </a:p>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selected = [g for g in grades if g &gt;= 10]</a:t>
            </a:r>
          </a:p>
          <a:p xmlns:a="http://schemas.openxmlformats.org/drawingml/2006/main">
            <a:r>
              <a:t/>
            </a:r>
          </a:p>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grade_cols = [c for c in raw.columns</a:t>
            </a:r>
          </a:p>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              if re.fullmatch(r'G[123]', c)]</a:t>
            </a:r>
          </a:p>
        </p:txBody>
      </p:sp>
      <p:sp>
        <p:nvSpPr>
          <p:cNvPr id="6" name="Filtered list: 549 grades">
            <a:extLst xmlns:a="http://schemas.openxmlformats.org/drawingml/2006/main">
              <a:ext uri="{FF2B5EF4-FFF2-40B4-BE49-F238E27FC236}">
                <a16:creationId xmlns:a16="http://schemas.microsoft.com/office/drawing/2014/main" id="{526208DF-E02A-430B-A583-D8ACBC446569}"/>
              </a:ext>
            </a:extLst>
          </p:cNvPr>
          <p:cNvSpPr>
            <a:spLocks xmlns:a="http://schemas.openxmlformats.org/drawingml/2006/main" noGrp="1"/>
          </p:cNvSpPr>
          <p:nvPr/>
        </p:nvSpPr>
        <p:spPr>
          <a:xfrm xmlns:a="http://schemas.openxmlformats.org/drawingml/2006/main">
            <a:off x="762000" y="46672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00" b="1">
                <a:solidFill>
                  <a:srgbClr val="000000"/>
                </a:solidFill>
                <a:latin typeface="Arial"/>
                <a:ea typeface="Arial"/>
                <a:cs typeface="Arial"/>
              </a:defRPr>
            </a:defPPr>
          </a:lstStyle>
          <a:p xmlns:a="http://schemas.openxmlformats.org/drawingml/2006/main">
            <a:pPr algn="l">
              <a:defRPr sz="2900" b="1">
                <a:solidFill>
                  <a:srgbClr val="000000"/>
                </a:solidFill>
                <a:latin typeface="Arial"/>
                <a:ea typeface="Arial"/>
                <a:cs typeface="Arial"/>
              </a:defRPr>
            </a:pPr>
            <a:r>
              <a:rPr sz="2900" b="1">
                <a:solidFill>
                  <a:srgbClr val="000000"/>
                </a:solidFill>
                <a:latin typeface="Arial"/>
                <a:ea typeface="Arial"/>
                <a:cs typeface="Arial"/>
              </a:rPr>
              <a:t>Filtered list: 549 grades</a:t>
            </a:r>
          </a:p>
        </p:txBody>
      </p:sp>
      <p:sp>
        <p:nvSpPr>
          <p:cNvPr id="7" name="Full matching validates actual schema names without inv">
            <a:extLst xmlns:a="http://schemas.openxmlformats.org/drawingml/2006/main">
              <a:ext uri="{FF2B5EF4-FFF2-40B4-BE49-F238E27FC236}">
                <a16:creationId xmlns:a16="http://schemas.microsoft.com/office/drawing/2014/main" id="{D13E756D-A8DF-4D44-911B-F6D4932B2B41}"/>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Full matching validates actual schema names without inventing personal identifiers.</a:t>
            </a:r>
          </a:p>
        </p:txBody>
      </p:sp>
    </p:spTree>
    <p:extLst>
      <p:ext uri="{BB962C8B-B14F-4D97-AF65-F5344CB8AC3E}">
        <p14:creationId xmlns:p14="http://schemas.microsoft.com/office/powerpoint/2010/main" val="87848693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1B48A017-E7EC-4EA6-A473-E0076630B846}"/>
              </a:ext>
            </a:extLst>
          </p:cNvPr>
          <p:cNvPicPr>
            <a:picLocks xmlns:a="http://schemas.openxmlformats.org/drawingml/2006/main" noChangeAspect="1"/>
          </p:cNvPicPr>
          <p:nvPr/>
        </p:nvPicPr>
        <p:blipFill>
          <a:blip xmlns:r="http://schemas.openxmlformats.org/officeDocument/2006/relationships" xmlns:a="http://schemas.openxmlformats.org/drawingml/2006/main" r:embed="R3537338835cf453e"/>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F93748BE-4C39-404D-BD5A-F7334FE09DA6}"/>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Indexing and a two-condition filter</a:t>
            </a:r>
          </a:p>
        </p:txBody>
      </p:sp>
      <p:sp>
        <p:nvSpPr>
          <p:cNvPr id="3" name="Thin monochrome rule">
            <a:extLst xmlns:a="http://schemas.openxmlformats.org/drawingml/2006/main">
              <a:ext uri="{FF2B5EF4-FFF2-40B4-BE49-F238E27FC236}">
                <a16:creationId xmlns:a16="http://schemas.microsoft.com/office/drawing/2014/main" id="{9EF312A1-455C-45B2-A257-1B0285D7000C}"/>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8">
            <a:extLst xmlns:a="http://schemas.openxmlformats.org/drawingml/2006/main">
              <a:ext uri="{FF2B5EF4-FFF2-40B4-BE49-F238E27FC236}">
                <a16:creationId xmlns:a16="http://schemas.microsoft.com/office/drawing/2014/main" id="{0E24CA17-4578-441C-851D-535D0DA5C66E}"/>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08</a:t>
            </a:r>
          </a:p>
        </p:txBody>
      </p:sp>
      <p:sp>
        <p:nvSpPr>
          <p:cNvPr id="5" name="df.loc[:9]&#10;df.iloc[:, selected_positions]&#10;&#10;df.loc[(df.s">
            <a:extLst xmlns:a="http://schemas.openxmlformats.org/drawingml/2006/main">
              <a:ext uri="{FF2B5EF4-FFF2-40B4-BE49-F238E27FC236}">
                <a16:creationId xmlns:a16="http://schemas.microsoft.com/office/drawing/2014/main" id="{5DDFF2D8-4028-4EDC-8AF4-1D7DB2B0F622}"/>
              </a:ext>
            </a:extLst>
          </p:cNvPr>
          <p:cNvSpPr>
            <a:spLocks xmlns:a="http://schemas.openxmlformats.org/drawingml/2006/main" noGrp="1"/>
          </p:cNvSpPr>
          <p:nvPr/>
        </p:nvSpPr>
        <p:spPr>
          <a:xfrm xmlns:a="http://schemas.openxmlformats.org/drawingml/2006/main">
            <a:off x="762000" y="1809750"/>
            <a:ext cx="75723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DejaVu Sans Mono"/>
                <a:ea typeface="DejaVu Sans Mono"/>
                <a:cs typeface="DejaVu Sans Mono"/>
              </a:defRPr>
            </a:defPPr>
          </a:lstStyle>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df.loc[:9]</a:t>
            </a:r>
          </a:p>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df.iloc[:, selected_positions]</a:t>
            </a:r>
          </a:p>
          <a:p xmlns:a="http://schemas.openxmlformats.org/drawingml/2006/main">
            <a:r>
              <a:t/>
            </a:r>
          </a:p>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df.loc[(df.studytime &gt;= 2) &amp;</a:t>
            </a:r>
          </a:p>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       (df.absences &lt;= 5)]</a:t>
            </a:r>
          </a:p>
        </p:txBody>
      </p:sp>
      <p:sp>
        <p:nvSpPr>
          <p:cNvPr id="6" name="334">
            <a:extLst xmlns:a="http://schemas.openxmlformats.org/drawingml/2006/main">
              <a:ext uri="{FF2B5EF4-FFF2-40B4-BE49-F238E27FC236}">
                <a16:creationId xmlns:a16="http://schemas.microsoft.com/office/drawing/2014/main" id="{FA94736D-64E5-41EC-B6F1-5504DFA3137D}"/>
              </a:ext>
            </a:extLst>
          </p:cNvPr>
          <p:cNvSpPr>
            <a:spLocks xmlns:a="http://schemas.openxmlformats.org/drawingml/2006/main" noGrp="1"/>
          </p:cNvSpPr>
          <p:nvPr/>
        </p:nvSpPr>
        <p:spPr>
          <a:xfrm xmlns:a="http://schemas.openxmlformats.org/drawingml/2006/main">
            <a:off x="8953500" y="2047875"/>
            <a:ext cx="266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1">
                <a:solidFill>
                  <a:srgbClr val="000000"/>
                </a:solidFill>
                <a:latin typeface="Arial"/>
                <a:ea typeface="Arial"/>
                <a:cs typeface="Arial"/>
              </a:defRPr>
            </a:defPPr>
          </a:lstStyle>
          <a:p xmlns:a="http://schemas.openxmlformats.org/drawingml/2006/main">
            <a:pPr algn="l">
              <a:defRPr sz="4800" b="1">
                <a:solidFill>
                  <a:srgbClr val="000000"/>
                </a:solidFill>
                <a:latin typeface="Arial"/>
                <a:ea typeface="Arial"/>
                <a:cs typeface="Arial"/>
              </a:defRPr>
            </a:pPr>
            <a:r>
              <a:rPr sz="4800" b="1">
                <a:solidFill>
                  <a:srgbClr val="000000"/>
                </a:solidFill>
                <a:latin typeface="Arial"/>
                <a:ea typeface="Arial"/>
                <a:cs typeface="Arial"/>
              </a:rPr>
              <a:t>334</a:t>
            </a:r>
          </a:p>
        </p:txBody>
      </p:sp>
      <p:sp>
        <p:nvSpPr>
          <p:cNvPr id="7" name="51.46% of records&#10;&#10;Both conditions hold">
            <a:extLst xmlns:a="http://schemas.openxmlformats.org/drawingml/2006/main">
              <a:ext uri="{FF2B5EF4-FFF2-40B4-BE49-F238E27FC236}">
                <a16:creationId xmlns:a16="http://schemas.microsoft.com/office/drawing/2014/main" id="{A35DB4A0-7AB5-4376-9E87-031CC06B9F90}"/>
              </a:ext>
            </a:extLst>
          </p:cNvPr>
          <p:cNvSpPr>
            <a:spLocks xmlns:a="http://schemas.openxmlformats.org/drawingml/2006/main" noGrp="1"/>
          </p:cNvSpPr>
          <p:nvPr/>
        </p:nvSpPr>
        <p:spPr>
          <a:xfrm xmlns:a="http://schemas.openxmlformats.org/drawingml/2006/main">
            <a:off x="8953500" y="3143250"/>
            <a:ext cx="26670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51.46% of records</a:t>
            </a:r>
          </a:p>
          <a:p xmlns:a="http://schemas.openxmlformats.org/drawingml/2006/main">
            <a:r>
              <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Both conditions hold</a:t>
            </a:r>
          </a:p>
        </p:txBody>
      </p:sp>
      <p:sp>
        <p:nvSpPr>
          <p:cNvPr id="8" name="The study-time variable is an ordered interval code, no">
            <a:extLst xmlns:a="http://schemas.openxmlformats.org/drawingml/2006/main">
              <a:ext uri="{FF2B5EF4-FFF2-40B4-BE49-F238E27FC236}">
                <a16:creationId xmlns:a16="http://schemas.microsoft.com/office/drawing/2014/main" id="{56B64671-7748-4934-9F16-4796CC37D8B0}"/>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study-time variable is an ordered interval code, not a continuous hour count.</a:t>
            </a:r>
          </a:p>
        </p:txBody>
      </p:sp>
    </p:spTree>
    <p:extLst>
      <p:ext uri="{BB962C8B-B14F-4D97-AF65-F5344CB8AC3E}">
        <p14:creationId xmlns:p14="http://schemas.microsoft.com/office/powerpoint/2010/main" val="120185977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BD3628A2-6FE3-4B04-988F-BAAB8FE04092}"/>
              </a:ext>
            </a:extLst>
          </p:cNvPr>
          <p:cNvPicPr>
            <a:picLocks xmlns:a="http://schemas.openxmlformats.org/drawingml/2006/main" noChangeAspect="1"/>
          </p:cNvPicPr>
          <p:nvPr/>
        </p:nvPicPr>
        <p:blipFill>
          <a:blip xmlns:r="http://schemas.openxmlformats.org/officeDocument/2006/relationships" xmlns:a="http://schemas.openxmlformats.org/drawingml/2006/main" r:embed="Rc197a40818664472"/>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9DF32458-75E2-48A1-9F3C-A7146F973888}"/>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Three engineered features</a:t>
            </a:r>
          </a:p>
        </p:txBody>
      </p:sp>
      <p:sp>
        <p:nvSpPr>
          <p:cNvPr id="3" name="Thin monochrome rule">
            <a:extLst xmlns:a="http://schemas.openxmlformats.org/drawingml/2006/main">
              <a:ext uri="{FF2B5EF4-FFF2-40B4-BE49-F238E27FC236}">
                <a16:creationId xmlns:a16="http://schemas.microsoft.com/office/drawing/2014/main" id="{38118DB2-92D8-4F8B-B40B-46CCE3691A0C}"/>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9">
            <a:extLst xmlns:a="http://schemas.openxmlformats.org/drawingml/2006/main">
              <a:ext uri="{FF2B5EF4-FFF2-40B4-BE49-F238E27FC236}">
                <a16:creationId xmlns:a16="http://schemas.microsoft.com/office/drawing/2014/main" id="{D21F5AF0-8B6E-4258-8EB7-8B0A26AB8AB6}"/>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09</a:t>
            </a:r>
          </a:p>
        </p:txBody>
      </p:sp>
      <p:graphicFrame>
        <p:nvGraphicFramePr>
          <p:cNvPr id="5" name="">
            <a:extLst xmlns:a="http://schemas.openxmlformats.org/drawingml/2006/main">
              <a:ext uri="{FF2B5EF4-FFF2-40B4-BE49-F238E27FC236}">
                <a16:creationId xmlns:a16="http://schemas.microsoft.com/office/drawing/2014/main" id="{50E135A1-B383-4665-899A-5F54EF9E0F14}"/>
              </a:ext>
            </a:extLst>
          </p:cNvPr>
          <p:cNvGraphicFramePr/>
          <p:nvPr/>
        </p:nvGraphicFramePr>
        <p:xfrm>
          <a:off xmlns:a="http://schemas.openxmlformats.org/drawingml/2006/main" x="666750" y="1857375"/>
          <a:ext xmlns:a="http://schemas.openxmlformats.org/drawingml/2006/main" cx="10858500" cy="2667000"/>
        </p:xfrm>
        <a:graphic xmlns:a="http://schemas.openxmlformats.org/drawingml/2006/main">
          <a:graphicData uri="http://schemas.openxmlformats.org/drawingml/2006/table">
            <a:tbl>
              <a:tblPr firstRow="0" bandRow="0"/>
              <a:tblGrid>
                <a:gridCol w="3701761"/>
                <a:gridCol w="3454977"/>
                <a:gridCol w="3701761"/>
              </a:tblGrid>
              <a:tr h="666750">
                <a:tc>
                  <a:txBody>
                    <a:bodyPr wrap="square" lIns="85725" tIns="85725" rIns="85725" bIns="85725">
                      <a:noAutofit/>
                    </a:bodyPr>
                    <a:lstStyle/>
                    <a:p>
                      <a:pPr algn="l"/>
                      <a:r>
                        <a:rPr sz="2000" b="1">
                          <a:solidFill>
                            <a:srgbClr val="000000"/>
                          </a:solidFill>
                          <a:latin typeface="Arial"/>
                          <a:ea typeface="Arial"/>
                          <a:cs typeface="Arial"/>
                        </a:rPr>
                        <a:t>Feature</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000" b="1">
                          <a:solidFill>
                            <a:srgbClr val="000000"/>
                          </a:solidFill>
                          <a:latin typeface="Arial"/>
                          <a:ea typeface="Arial"/>
                          <a:cs typeface="Arial"/>
                        </a:rPr>
                        <a:t>Definition</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000" b="1">
                          <a:solidFill>
                            <a:srgbClr val="000000"/>
                          </a:solidFill>
                          <a:latin typeface="Arial"/>
                          <a:ea typeface="Arial"/>
                          <a:cs typeface="Arial"/>
                        </a:rPr>
                        <a:t>Purpose</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666750">
                <a:tc>
                  <a:txBody>
                    <a:bodyPr wrap="square" lIns="85725" tIns="85725" rIns="85725" bIns="85725">
                      <a:noAutofit/>
                    </a:bodyPr>
                    <a:lstStyle/>
                    <a:p>
                      <a:pPr algn="l"/>
                      <a:r>
                        <a:rPr sz="2000" b="0">
                          <a:solidFill>
                            <a:srgbClr val="000000"/>
                          </a:solidFill>
                          <a:latin typeface="Arial"/>
                          <a:ea typeface="Arial"/>
                          <a:cs typeface="Arial"/>
                        </a:rPr>
                        <a:t>prior_grade_mean</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(G1 + G2) / 2</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Earlier-grade summary</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666750">
                <a:tc>
                  <a:txBody>
                    <a:bodyPr wrap="square" lIns="85725" tIns="85725" rIns="85725" bIns="85725">
                      <a:noAutofit/>
                    </a:bodyPr>
                    <a:lstStyle/>
                    <a:p>
                      <a:pPr algn="l"/>
                      <a:r>
                        <a:rPr sz="2000" b="0">
                          <a:solidFill>
                            <a:srgbClr val="000000"/>
                          </a:solidFill>
                          <a:latin typeface="Arial"/>
                          <a:ea typeface="Arial"/>
                          <a:cs typeface="Arial"/>
                        </a:rPr>
                        <a:t>grade_progress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G2 − G1</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Assessment difference</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666750">
                <a:tc>
                  <a:txBody>
                    <a:bodyPr wrap="square" lIns="85725" tIns="85725" rIns="85725" bIns="85725">
                      <a:noAutofit/>
                    </a:bodyPr>
                    <a:lstStyle/>
                    <a:p>
                      <a:pPr algn="l"/>
                      <a:r>
                        <a:rPr sz="2000" b="0">
                          <a:solidFill>
                            <a:srgbClr val="000000"/>
                          </a:solidFill>
                          <a:latin typeface="Arial"/>
                          <a:ea typeface="Arial"/>
                          <a:cs typeface="Arial"/>
                        </a:rPr>
                        <a:t>performance_band</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0–9; 10–14; 15–20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Outcome description</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DataFrame.insert() places prior_grade_mean immediately ">
            <a:extLst xmlns:a="http://schemas.openxmlformats.org/drawingml/2006/main">
              <a:ext uri="{FF2B5EF4-FFF2-40B4-BE49-F238E27FC236}">
                <a16:creationId xmlns:a16="http://schemas.microsoft.com/office/drawing/2014/main" id="{CE29C359-375E-4A4F-B3EB-7E4B842F69D4}"/>
              </a:ext>
            </a:extLst>
          </p:cNvPr>
          <p:cNvSpPr>
            <a:spLocks xmlns:a="http://schemas.openxmlformats.org/drawingml/2006/main" noGrp="1"/>
          </p:cNvSpPr>
          <p:nvPr/>
        </p:nvSpPr>
        <p:spPr>
          <a:xfrm xmlns:a="http://schemas.openxmlformats.org/drawingml/2006/main">
            <a:off x="762000" y="5000625"/>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DataFrame.insert() places prior_grade_mean immediately before G3.</a:t>
            </a:r>
          </a:p>
        </p:txBody>
      </p:sp>
      <p:sp>
        <p:nvSpPr>
          <p:cNvPr id="7" name="All derived features are excluded from the original-fac">
            <a:extLst xmlns:a="http://schemas.openxmlformats.org/drawingml/2006/main">
              <a:ext uri="{FF2B5EF4-FFF2-40B4-BE49-F238E27FC236}">
                <a16:creationId xmlns:a16="http://schemas.microsoft.com/office/drawing/2014/main" id="{E8E1404A-7E69-4968-942B-B0731F882FD1}"/>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All derived features are excluded from the original-factor association ranking.</a:t>
            </a:r>
          </a:p>
        </p:txBody>
      </p:sp>
    </p:spTree>
    <p:extLst>
      <p:ext uri="{BB962C8B-B14F-4D97-AF65-F5344CB8AC3E}">
        <p14:creationId xmlns:p14="http://schemas.microsoft.com/office/powerpoint/2010/main" val="30727238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79B71F3D-442C-4183-A7E6-112D00BEA5FE}"/>
              </a:ext>
            </a:extLst>
          </p:cNvPr>
          <p:cNvPicPr>
            <a:picLocks xmlns:a="http://schemas.openxmlformats.org/drawingml/2006/main" noChangeAspect="1"/>
          </p:cNvPicPr>
          <p:nvPr/>
        </p:nvPicPr>
        <p:blipFill>
          <a:blip xmlns:r="http://schemas.openxmlformats.org/officeDocument/2006/relationships" xmlns:a="http://schemas.openxmlformats.org/drawingml/2006/main" r:embed="Rc6b1c418e4c84267"/>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CBAD4418-0BC6-4EC4-95D5-AC7858C6B3D7}"/>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Grouped statistics and transformation</a:t>
            </a:r>
          </a:p>
        </p:txBody>
      </p:sp>
      <p:sp>
        <p:nvSpPr>
          <p:cNvPr id="3" name="Thin monochrome rule">
            <a:extLst xmlns:a="http://schemas.openxmlformats.org/drawingml/2006/main">
              <a:ext uri="{FF2B5EF4-FFF2-40B4-BE49-F238E27FC236}">
                <a16:creationId xmlns:a16="http://schemas.microsoft.com/office/drawing/2014/main" id="{8F7F258E-523D-446E-B8BD-6A16E622A812}"/>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0">
            <a:extLst xmlns:a="http://schemas.openxmlformats.org/drawingml/2006/main">
              <a:ext uri="{FF2B5EF4-FFF2-40B4-BE49-F238E27FC236}">
                <a16:creationId xmlns:a16="http://schemas.microsoft.com/office/drawing/2014/main" id="{99A2CE2F-3FF2-4716-9D19-6431771F523D}"/>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10</a:t>
            </a:r>
          </a:p>
        </p:txBody>
      </p:sp>
      <p:graphicFrame>
        <p:nvGraphicFramePr>
          <p:cNvPr id="5" name="">
            <a:extLst xmlns:a="http://schemas.openxmlformats.org/drawingml/2006/main">
              <a:ext uri="{FF2B5EF4-FFF2-40B4-BE49-F238E27FC236}">
                <a16:creationId xmlns:a16="http://schemas.microsoft.com/office/drawing/2014/main" id="{01352C2F-D748-40FC-9056-49E8029786F8}"/>
              </a:ext>
            </a:extLst>
          </p:cNvPr>
          <p:cNvGraphicFramePr/>
          <p:nvPr/>
        </p:nvGraphicFramePr>
        <p:xfrm>
          <a:off xmlns:a="http://schemas.openxmlformats.org/drawingml/2006/main" x="666750" y="1762125"/>
          <a:ext xmlns:a="http://schemas.openxmlformats.org/drawingml/2006/main" cx="10858500" cy="2000250"/>
        </p:xfrm>
        <a:graphic xmlns:a="http://schemas.openxmlformats.org/drawingml/2006/main">
          <a:graphicData uri="http://schemas.openxmlformats.org/drawingml/2006/table">
            <a:tbl>
              <a:tblPr firstRow="0" bandRow="0"/>
              <a:tblGrid>
                <a:gridCol w="1751371"/>
                <a:gridCol w="1751371"/>
                <a:gridCol w="2451919"/>
                <a:gridCol w="2451919"/>
                <a:gridCol w="2451919"/>
              </a:tblGrid>
              <a:tr h="666750">
                <a:tc>
                  <a:txBody>
                    <a:bodyPr wrap="square" lIns="85725" tIns="85725" rIns="85725" bIns="85725">
                      <a:noAutofit/>
                    </a:bodyPr>
                    <a:lstStyle/>
                    <a:p>
                      <a:pPr algn="l"/>
                      <a:r>
                        <a:rPr sz="2300" b="1">
                          <a:solidFill>
                            <a:srgbClr val="000000"/>
                          </a:solidFill>
                          <a:latin typeface="Arial"/>
                          <a:ea typeface="Arial"/>
                          <a:cs typeface="Arial"/>
                        </a:rPr>
                        <a:t>School</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300" b="1">
                          <a:solidFill>
                            <a:srgbClr val="000000"/>
                          </a:solidFill>
                          <a:latin typeface="Arial"/>
                          <a:ea typeface="Arial"/>
                          <a:cs typeface="Arial"/>
                        </a:rPr>
                        <a:t>n</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300" b="1">
                          <a:solidFill>
                            <a:srgbClr val="000000"/>
                          </a:solidFill>
                          <a:latin typeface="Arial"/>
                          <a:ea typeface="Arial"/>
                          <a:cs typeface="Arial"/>
                        </a:rPr>
                        <a:t>G3 mean</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300" b="1">
                          <a:solidFill>
                            <a:srgbClr val="000000"/>
                          </a:solidFill>
                          <a:latin typeface="Arial"/>
                          <a:ea typeface="Arial"/>
                          <a:cs typeface="Arial"/>
                        </a:rPr>
                        <a:t>G3 median</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300" b="1">
                          <a:solidFill>
                            <a:srgbClr val="000000"/>
                          </a:solidFill>
                          <a:latin typeface="Arial"/>
                          <a:ea typeface="Arial"/>
                          <a:cs typeface="Arial"/>
                        </a:rPr>
                        <a:t>G3 SD</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666750">
                <a:tc>
                  <a:txBody>
                    <a:bodyPr wrap="square" lIns="85725" tIns="85725" rIns="85725" bIns="85725">
                      <a:noAutofit/>
                    </a:bodyPr>
                    <a:lstStyle/>
                    <a:p>
                      <a:pPr algn="l"/>
                      <a:r>
                        <a:rPr sz="2300" b="0">
                          <a:solidFill>
                            <a:srgbClr val="000000"/>
                          </a:solidFill>
                          <a:latin typeface="Arial"/>
                          <a:ea typeface="Arial"/>
                          <a:cs typeface="Arial"/>
                        </a:rPr>
                        <a:t>GP</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423</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12.577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13</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2.626</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666750">
                <a:tc>
                  <a:txBody>
                    <a:bodyPr wrap="square" lIns="85725" tIns="85725" rIns="85725" bIns="85725">
                      <a:noAutofit/>
                    </a:bodyPr>
                    <a:lstStyle/>
                    <a:p>
                      <a:pPr algn="l"/>
                      <a:r>
                        <a:rPr sz="2300" b="0">
                          <a:solidFill>
                            <a:srgbClr val="000000"/>
                          </a:solidFill>
                          <a:latin typeface="Arial"/>
                          <a:ea typeface="Arial"/>
                          <a:cs typeface="Arial"/>
                        </a:rPr>
                        <a:t>MS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226</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10.650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11</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3.834</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Within-school score">
            <a:extLst xmlns:a="http://schemas.openxmlformats.org/drawingml/2006/main">
              <a:ext uri="{FF2B5EF4-FFF2-40B4-BE49-F238E27FC236}">
                <a16:creationId xmlns:a16="http://schemas.microsoft.com/office/drawing/2014/main" id="{7FD527E7-CFD6-4BA0-97B6-9A47A4960E57}"/>
              </a:ext>
            </a:extLst>
          </p:cNvPr>
          <p:cNvSpPr>
            <a:spLocks xmlns:a="http://schemas.openxmlformats.org/drawingml/2006/main" noGrp="1"/>
          </p:cNvSpPr>
          <p:nvPr/>
        </p:nvSpPr>
        <p:spPr>
          <a:xfrm xmlns:a="http://schemas.openxmlformats.org/drawingml/2006/main">
            <a:off x="762000" y="41910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Within-school score</a:t>
            </a:r>
          </a:p>
        </p:txBody>
      </p:sp>
      <p:sp>
        <p:nvSpPr>
          <p:cNvPr id="7" name="(G3 − school minimum) / (school maximum − school minimu">
            <a:extLst xmlns:a="http://schemas.openxmlformats.org/drawingml/2006/main">
              <a:ext uri="{FF2B5EF4-FFF2-40B4-BE49-F238E27FC236}">
                <a16:creationId xmlns:a16="http://schemas.microsoft.com/office/drawing/2014/main" id="{357C715A-6879-4D27-BE98-AF6C971AA11D}"/>
              </a:ext>
            </a:extLst>
          </p:cNvPr>
          <p:cNvSpPr>
            <a:spLocks xmlns:a="http://schemas.openxmlformats.org/drawingml/2006/main" noGrp="1"/>
          </p:cNvSpPr>
          <p:nvPr/>
        </p:nvSpPr>
        <p:spPr>
          <a:xfrm xmlns:a="http://schemas.openxmlformats.org/drawingml/2006/main">
            <a:off x="762000" y="481012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00" b="0">
                <a:solidFill>
                  <a:srgbClr val="000000"/>
                </a:solidFill>
                <a:latin typeface="Arial"/>
                <a:ea typeface="Arial"/>
                <a:cs typeface="Arial"/>
              </a:defRPr>
            </a:defPPr>
          </a:lstStyle>
          <a:p xmlns:a="http://schemas.openxmlformats.org/drawingml/2006/main">
            <a:pPr algn="l">
              <a:defRPr sz="2200" b="0">
                <a:solidFill>
                  <a:srgbClr val="000000"/>
                </a:solidFill>
                <a:latin typeface="Arial"/>
                <a:ea typeface="Arial"/>
                <a:cs typeface="Arial"/>
              </a:defRPr>
            </a:pPr>
            <a:r>
              <a:rPr sz="2200" b="0">
                <a:solidFill>
                  <a:srgbClr val="000000"/>
                </a:solidFill>
                <a:latin typeface="Arial"/>
                <a:ea typeface="Arial"/>
                <a:cs typeface="Arial"/>
              </a:rPr>
              <a:t>(G3 − school minimum) / (school maximum − school minimum)</a:t>
            </a:r>
          </a:p>
        </p:txBody>
      </p:sp>
      <p:sp>
        <p:nvSpPr>
          <p:cNvPr id="8" name="Constant groups receive 0; the scale describes relative">
            <a:extLst xmlns:a="http://schemas.openxmlformats.org/drawingml/2006/main">
              <a:ext uri="{FF2B5EF4-FFF2-40B4-BE49-F238E27FC236}">
                <a16:creationId xmlns:a16="http://schemas.microsoft.com/office/drawing/2014/main" id="{870B9935-3A02-4D48-984A-8C8A3D0142DC}"/>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Constant groups receive 0; the scale describes relative position within each school.</a:t>
            </a:r>
          </a:p>
        </p:txBody>
      </p:sp>
    </p:spTree>
    <p:extLst>
      <p:ext uri="{BB962C8B-B14F-4D97-AF65-F5344CB8AC3E}">
        <p14:creationId xmlns:p14="http://schemas.microsoft.com/office/powerpoint/2010/main" val="182725182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D286702D-4E0B-4CDE-B1EA-AC5322097B2B}"/>
              </a:ext>
            </a:extLst>
          </p:cNvPr>
          <p:cNvPicPr>
            <a:picLocks xmlns:a="http://schemas.openxmlformats.org/drawingml/2006/main" noChangeAspect="1"/>
          </p:cNvPicPr>
          <p:nvPr/>
        </p:nvPicPr>
        <p:blipFill>
          <a:blip xmlns:r="http://schemas.openxmlformats.org/officeDocument/2006/relationships" xmlns:a="http://schemas.openxmlformats.org/drawingml/2006/main" r:embed="R20337b45ba02470b"/>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DB3E195F-D735-4454-AD16-D4BF2C2EAD81}"/>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Association ranking: two distinct families</a:t>
            </a:r>
          </a:p>
        </p:txBody>
      </p:sp>
      <p:sp>
        <p:nvSpPr>
          <p:cNvPr id="3" name="Thin monochrome rule">
            <a:extLst xmlns:a="http://schemas.openxmlformats.org/drawingml/2006/main">
              <a:ext uri="{FF2B5EF4-FFF2-40B4-BE49-F238E27FC236}">
                <a16:creationId xmlns:a16="http://schemas.microsoft.com/office/drawing/2014/main" id="{50E7499D-2CD1-4742-BD16-D6F8E41545E4}"/>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1">
            <a:extLst xmlns:a="http://schemas.openxmlformats.org/drawingml/2006/main">
              <a:ext uri="{FF2B5EF4-FFF2-40B4-BE49-F238E27FC236}">
                <a16:creationId xmlns:a16="http://schemas.microsoft.com/office/drawing/2014/main" id="{6F9F4D76-C5D1-4CA7-B4BA-D62766FB3CBF}"/>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11</a:t>
            </a:r>
          </a:p>
        </p:txBody>
      </p:sp>
      <p:sp>
        <p:nvSpPr>
          <p:cNvPr id="5" name="Prior grade: G2, Spearman ρ = 0.9445">
            <a:extLst xmlns:a="http://schemas.openxmlformats.org/drawingml/2006/main">
              <a:ext uri="{FF2B5EF4-FFF2-40B4-BE49-F238E27FC236}">
                <a16:creationId xmlns:a16="http://schemas.microsoft.com/office/drawing/2014/main" id="{430ABF79-17E1-49C4-BF35-223ED9A7D398}"/>
              </a:ext>
            </a:extLst>
          </p:cNvPr>
          <p:cNvSpPr>
            <a:spLocks xmlns:a="http://schemas.openxmlformats.org/drawingml/2006/main" noGrp="1"/>
          </p:cNvSpPr>
          <p:nvPr/>
        </p:nvSpPr>
        <p:spPr>
          <a:xfrm xmlns:a="http://schemas.openxmlformats.org/drawingml/2006/main">
            <a:off x="762000" y="16192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Prior grade: G2, Spearman ρ = 0.9445</a:t>
            </a:r>
          </a:p>
        </p:txBody>
      </p:sp>
      <p:graphicFrame>
        <p:nvGraphicFramePr>
          <p:cNvPr id="6" name="">
            <a:extLst xmlns:a="http://schemas.openxmlformats.org/drawingml/2006/main">
              <a:ext uri="{FF2B5EF4-FFF2-40B4-BE49-F238E27FC236}">
                <a16:creationId xmlns:a16="http://schemas.microsoft.com/office/drawing/2014/main" id="{75460576-5AA2-46AA-8D38-68CD7512C265}"/>
              </a:ext>
            </a:extLst>
          </p:cNvPr>
          <p:cNvGraphicFramePr/>
          <p:nvPr/>
        </p:nvGraphicFramePr>
        <p:xfrm>
          <a:off xmlns:a="http://schemas.openxmlformats.org/drawingml/2006/main" x="762000" y="2381250"/>
          <a:ext xmlns:a="http://schemas.openxmlformats.org/drawingml/2006/main" cx="10668000" cy="2857500"/>
        </p:xfrm>
        <a:graphic xmlns:a="http://schemas.openxmlformats.org/drawingml/2006/main">
          <a:graphicData uri="http://schemas.openxmlformats.org/drawingml/2006/table">
            <a:tbl>
              <a:tblPr firstRow="0" bandRow="0"/>
              <a:tblGrid>
                <a:gridCol w="6096000"/>
                <a:gridCol w="2540000"/>
                <a:gridCol w="2032000"/>
              </a:tblGrid>
              <a:tr h="476250">
                <a:tc>
                  <a:txBody>
                    <a:bodyPr wrap="square" lIns="85725" tIns="85725" rIns="85725" bIns="85725">
                      <a:noAutofit/>
                    </a:bodyPr>
                    <a:lstStyle/>
                    <a:p>
                      <a:pPr algn="l"/>
                      <a:r>
                        <a:rPr sz="2100" b="1">
                          <a:solidFill>
                            <a:srgbClr val="000000"/>
                          </a:solidFill>
                          <a:latin typeface="Arial"/>
                          <a:ea typeface="Arial"/>
                          <a:cs typeface="Arial"/>
                        </a:rPr>
                        <a:t>Contextual numerical/ordinal factor</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100" b="1">
                          <a:solidFill>
                            <a:srgbClr val="000000"/>
                          </a:solidFill>
                          <a:latin typeface="Arial"/>
                          <a:ea typeface="Arial"/>
                          <a:cs typeface="Arial"/>
                        </a:rPr>
                        <a:t>Spearman ρ</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100" b="1">
                          <a:solidFill>
                            <a:srgbClr val="000000"/>
                          </a:solidFill>
                          <a:latin typeface="Arial"/>
                          <a:ea typeface="Arial"/>
                          <a:cs typeface="Arial"/>
                        </a:rPr>
                        <a:t>n</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476250">
                <a:tc>
                  <a:txBody>
                    <a:bodyPr wrap="square" lIns="85725" tIns="85725" rIns="85725" bIns="85725">
                      <a:noAutofit/>
                    </a:bodyPr>
                    <a:lstStyle/>
                    <a:p>
                      <a:pPr algn="l"/>
                      <a:r>
                        <a:rPr sz="2100" b="0">
                          <a:solidFill>
                            <a:srgbClr val="000000"/>
                          </a:solidFill>
                          <a:latin typeface="Arial"/>
                          <a:ea typeface="Arial"/>
                          <a:cs typeface="Arial"/>
                        </a:rPr>
                        <a:t>failures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-0.4484</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649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476250">
                <a:tc>
                  <a:txBody>
                    <a:bodyPr wrap="square" lIns="85725" tIns="85725" rIns="85725" bIns="85725">
                      <a:noAutofit/>
                    </a:bodyPr>
                    <a:lstStyle/>
                    <a:p>
                      <a:pPr algn="l"/>
                      <a:r>
                        <a:rPr sz="2100" b="0">
                          <a:solidFill>
                            <a:srgbClr val="000000"/>
                          </a:solidFill>
                          <a:latin typeface="Arial"/>
                          <a:ea typeface="Arial"/>
                          <a:cs typeface="Arial"/>
                        </a:rPr>
                        <a:t>Medu</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0.2839</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649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476250">
                <a:tc>
                  <a:txBody>
                    <a:bodyPr wrap="square" lIns="85725" tIns="85725" rIns="85725" bIns="85725">
                      <a:noAutofit/>
                    </a:bodyPr>
                    <a:lstStyle/>
                    <a:p>
                      <a:pPr algn="l"/>
                      <a:r>
                        <a:rPr sz="2100" b="0">
                          <a:solidFill>
                            <a:srgbClr val="000000"/>
                          </a:solidFill>
                          <a:latin typeface="Arial"/>
                          <a:ea typeface="Arial"/>
                          <a:cs typeface="Arial"/>
                        </a:rPr>
                        <a:t>studytime</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0.2747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649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476250">
                <a:tc>
                  <a:txBody>
                    <a:bodyPr wrap="square" lIns="85725" tIns="85725" rIns="85725" bIns="85725">
                      <a:noAutofit/>
                    </a:bodyPr>
                    <a:lstStyle/>
                    <a:p>
                      <a:pPr algn="l"/>
                      <a:r>
                        <a:rPr sz="2100" b="0">
                          <a:solidFill>
                            <a:srgbClr val="000000"/>
                          </a:solidFill>
                          <a:latin typeface="Arial"/>
                          <a:ea typeface="Arial"/>
                          <a:cs typeface="Arial"/>
                        </a:rPr>
                        <a:t>Fedu</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0.2346</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649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476250">
                <a:tc>
                  <a:txBody>
                    <a:bodyPr wrap="square" lIns="85725" tIns="85725" rIns="85725" bIns="85725">
                      <a:noAutofit/>
                    </a:bodyPr>
                    <a:lstStyle/>
                    <a:p>
                      <a:pPr algn="l"/>
                      <a:r>
                        <a:rPr sz="2100" b="0">
                          <a:solidFill>
                            <a:srgbClr val="000000"/>
                          </a:solidFill>
                          <a:latin typeface="Arial"/>
                          <a:ea typeface="Arial"/>
                          <a:cs typeface="Arial"/>
                        </a:rPr>
                        <a:t>Dalc</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-0.2084</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649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7" name="The ranking is unadjusted association among examined or">
            <a:extLst xmlns:a="http://schemas.openxmlformats.org/drawingml/2006/main">
              <a:ext uri="{FF2B5EF4-FFF2-40B4-BE49-F238E27FC236}">
                <a16:creationId xmlns:a16="http://schemas.microsoft.com/office/drawing/2014/main" id="{C947FB62-3F88-4F58-83F1-B5CB5232532E}"/>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ranking is unadjusted association among examined original numerical/ordinal factors.</a:t>
            </a:r>
          </a:p>
        </p:txBody>
      </p:sp>
    </p:spTree>
    <p:extLst>
      <p:ext uri="{BB962C8B-B14F-4D97-AF65-F5344CB8AC3E}">
        <p14:creationId xmlns:p14="http://schemas.microsoft.com/office/powerpoint/2010/main" val="118180926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28BB953D-8779-412A-A02A-63F7BEDAD017}"/>
              </a:ext>
            </a:extLst>
          </p:cNvPr>
          <p:cNvPicPr>
            <a:picLocks xmlns:a="http://schemas.openxmlformats.org/drawingml/2006/main" noChangeAspect="1"/>
          </p:cNvPicPr>
          <p:nvPr/>
        </p:nvPicPr>
        <p:blipFill>
          <a:blip xmlns:r="http://schemas.openxmlformats.org/officeDocument/2006/relationships" xmlns:a="http://schemas.openxmlformats.org/drawingml/2006/main" r:embed="Raa46e4d6ab8b410d"/>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2364723C-78A5-4E88-B079-ED511F3A5EAF}"/>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Final-grade distribution</a:t>
            </a:r>
          </a:p>
        </p:txBody>
      </p:sp>
      <p:sp>
        <p:nvSpPr>
          <p:cNvPr id="3" name="Thin monochrome rule">
            <a:extLst xmlns:a="http://schemas.openxmlformats.org/drawingml/2006/main">
              <a:ext uri="{FF2B5EF4-FFF2-40B4-BE49-F238E27FC236}">
                <a16:creationId xmlns:a16="http://schemas.microsoft.com/office/drawing/2014/main" id="{4A2EF109-D043-4AF7-92F9-2D09FB9E7ADE}"/>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2">
            <a:extLst xmlns:a="http://schemas.openxmlformats.org/drawingml/2006/main">
              <a:ext uri="{FF2B5EF4-FFF2-40B4-BE49-F238E27FC236}">
                <a16:creationId xmlns:a16="http://schemas.microsoft.com/office/drawing/2014/main" id="{B1EA97F8-C51A-403C-87C5-78E3DF482815}"/>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12</a:t>
            </a:r>
          </a:p>
        </p:txBody>
      </p:sp>
      <p:graphicFrame>
        <p:nvGraphicFramePr>
          <p:cNvPr id="5" name="Chart">
            <a:extLst xmlns:a="http://schemas.openxmlformats.org/drawingml/2006/main">
              <a:ext uri="{FF2B5EF4-FFF2-40B4-BE49-F238E27FC236}">
                <a16:creationId xmlns:a16="http://schemas.microsoft.com/office/drawing/2014/main" id="{EFBEB8D9-B3DB-4026-801B-04B04BFBC367}"/>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6db27d31ed794988"/>
          </a:graphicData>
        </a:graphic>
      </p:graphicFrame>
      <p:sp>
        <p:nvSpPr>
          <p:cNvPr id="6" name="Mean 11.91">
            <a:extLst xmlns:a="http://schemas.openxmlformats.org/drawingml/2006/main">
              <a:ext uri="{FF2B5EF4-FFF2-40B4-BE49-F238E27FC236}">
                <a16:creationId xmlns:a16="http://schemas.microsoft.com/office/drawing/2014/main" id="{3FC9EA3D-244E-4571-AC50-413DD3998146}"/>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Mean 11.91</a:t>
            </a:r>
          </a:p>
        </p:txBody>
      </p:sp>
      <p:sp>
        <p:nvSpPr>
          <p:cNvPr id="7" name="Median 12&#10;Sample SD 3.23&#10;&#10;n = 649">
            <a:extLst xmlns:a="http://schemas.openxmlformats.org/drawingml/2006/main">
              <a:ext uri="{FF2B5EF4-FFF2-40B4-BE49-F238E27FC236}">
                <a16:creationId xmlns:a16="http://schemas.microsoft.com/office/drawing/2014/main" id="{65808D8B-D9F9-4BE2-BC5C-81715E36567B}"/>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Median 12</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Sample SD 3.23</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n = 649</a:t>
            </a:r>
          </a:p>
        </p:txBody>
      </p:sp>
      <p:sp>
        <p:nvSpPr>
          <p:cNvPr id="8" name="One-point-wide bins retain the integer-score distributi">
            <a:extLst xmlns:a="http://schemas.openxmlformats.org/drawingml/2006/main">
              <a:ext uri="{FF2B5EF4-FFF2-40B4-BE49-F238E27FC236}">
                <a16:creationId xmlns:a16="http://schemas.microsoft.com/office/drawing/2014/main" id="{A0F52235-9FB9-4078-89BC-685A4A7C5D66}"/>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One-point-wide bins retain the integer-score distribution.</a:t>
            </a:r>
          </a:p>
        </p:txBody>
      </p:sp>
    </p:spTree>
    <p:extLst>
      <p:ext uri="{BB962C8B-B14F-4D97-AF65-F5344CB8AC3E}">
        <p14:creationId xmlns:p14="http://schemas.microsoft.com/office/powerpoint/2010/main" val="197014393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7" name="">
            <a:extLst xmlns:a="http://schemas.openxmlformats.org/drawingml/2006/main">
              <a:ext uri="{FF2B5EF4-FFF2-40B4-BE49-F238E27FC236}">
                <a16:creationId xmlns:a16="http://schemas.microsoft.com/office/drawing/2014/main" id="{CA813EF2-99EB-4975-9447-0686B9C72986}"/>
              </a:ext>
            </a:extLst>
          </p:cNvPr>
          <p:cNvPicPr>
            <a:picLocks xmlns:a="http://schemas.openxmlformats.org/drawingml/2006/main" noChangeAspect="1"/>
          </p:cNvPicPr>
          <p:nvPr/>
        </p:nvPicPr>
        <p:blipFill>
          <a:blip xmlns:r="http://schemas.openxmlformats.org/officeDocument/2006/relationships" xmlns:a="http://schemas.openxmlformats.org/drawingml/2006/main" r:embed="Rc902bd68a4774fa7"/>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0854160C-B00B-4F12-AEC2-91E106B72942}"/>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Final grades by school</a:t>
            </a:r>
          </a:p>
        </p:txBody>
      </p:sp>
      <p:sp>
        <p:nvSpPr>
          <p:cNvPr id="3" name="Thin monochrome rule">
            <a:extLst xmlns:a="http://schemas.openxmlformats.org/drawingml/2006/main">
              <a:ext uri="{FF2B5EF4-FFF2-40B4-BE49-F238E27FC236}">
                <a16:creationId xmlns:a16="http://schemas.microsoft.com/office/drawing/2014/main" id="{74130CA9-D751-4447-9594-F16B551E845B}"/>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3">
            <a:extLst xmlns:a="http://schemas.openxmlformats.org/drawingml/2006/main">
              <a:ext uri="{FF2B5EF4-FFF2-40B4-BE49-F238E27FC236}">
                <a16:creationId xmlns:a16="http://schemas.microsoft.com/office/drawing/2014/main" id="{07B1F26B-0C86-495F-9DA1-F771151CFE73}"/>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13</a:t>
            </a:r>
          </a:p>
        </p:txBody>
      </p:sp>
      <p:sp>
        <p:nvSpPr>
          <p:cNvPr id="5" name="Thin monochrome rule">
            <a:extLst xmlns:a="http://schemas.openxmlformats.org/drawingml/2006/main">
              <a:ext uri="{FF2B5EF4-FFF2-40B4-BE49-F238E27FC236}">
                <a16:creationId xmlns:a16="http://schemas.microsoft.com/office/drawing/2014/main" id="{39A2F04B-154B-49F0-B64E-C97378124FFF}"/>
              </a:ext>
            </a:extLst>
          </p:cNvPr>
          <p:cNvSpPr>
            <a:spLocks xmlns:a="http://schemas.openxmlformats.org/drawingml/2006/main" noGrp="1"/>
          </p:cNvSpPr>
          <p:nvPr/>
        </p:nvSpPr>
        <p:spPr>
          <a:xfrm xmlns:a="http://schemas.openxmlformats.org/drawingml/2006/main">
            <a:off x="1333500" y="5191125"/>
            <a:ext cx="6286500" cy="6668"/>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6" name="0">
            <a:extLst xmlns:a="http://schemas.openxmlformats.org/drawingml/2006/main">
              <a:ext uri="{FF2B5EF4-FFF2-40B4-BE49-F238E27FC236}">
                <a16:creationId xmlns:a16="http://schemas.microsoft.com/office/drawing/2014/main" id="{BC20E864-1324-45A6-B795-E017E3CFA40E}"/>
              </a:ext>
            </a:extLst>
          </p:cNvPr>
          <p:cNvSpPr>
            <a:spLocks xmlns:a="http://schemas.openxmlformats.org/drawingml/2006/main" noGrp="1"/>
          </p:cNvSpPr>
          <p:nvPr/>
        </p:nvSpPr>
        <p:spPr>
          <a:xfrm xmlns:a="http://schemas.openxmlformats.org/drawingml/2006/main">
            <a:off x="762000" y="504825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000000"/>
                </a:solidFill>
                <a:latin typeface="Arial"/>
                <a:ea typeface="Arial"/>
                <a:cs typeface="Arial"/>
              </a:defRPr>
            </a:defPPr>
          </a:lstStyle>
          <a:p xmlns:a="http://schemas.openxmlformats.org/drawingml/2006/main">
            <a:pPr algn="r">
              <a:defRPr sz="1800" b="0">
                <a:solidFill>
                  <a:srgbClr val="000000"/>
                </a:solidFill>
                <a:latin typeface="Arial"/>
                <a:ea typeface="Arial"/>
                <a:cs typeface="Arial"/>
              </a:defRPr>
            </a:pPr>
            <a:r>
              <a:rPr sz="1800" b="0">
                <a:solidFill>
                  <a:srgbClr val="000000"/>
                </a:solidFill>
                <a:latin typeface="Arial"/>
                <a:ea typeface="Arial"/>
                <a:cs typeface="Arial"/>
              </a:rPr>
              <a:t>0</a:t>
            </a:r>
          </a:p>
        </p:txBody>
      </p:sp>
      <p:sp>
        <p:nvSpPr>
          <p:cNvPr id="7" name="Thin monochrome rule">
            <a:extLst xmlns:a="http://schemas.openxmlformats.org/drawingml/2006/main">
              <a:ext uri="{FF2B5EF4-FFF2-40B4-BE49-F238E27FC236}">
                <a16:creationId xmlns:a16="http://schemas.microsoft.com/office/drawing/2014/main" id="{DB3C868A-7F3C-4530-BF82-657241A77CCA}"/>
              </a:ext>
            </a:extLst>
          </p:cNvPr>
          <p:cNvSpPr>
            <a:spLocks xmlns:a="http://schemas.openxmlformats.org/drawingml/2006/main" noGrp="1"/>
          </p:cNvSpPr>
          <p:nvPr/>
        </p:nvSpPr>
        <p:spPr>
          <a:xfrm xmlns:a="http://schemas.openxmlformats.org/drawingml/2006/main">
            <a:off x="1333500" y="4357688"/>
            <a:ext cx="6286500" cy="6668"/>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8" name="5">
            <a:extLst xmlns:a="http://schemas.openxmlformats.org/drawingml/2006/main">
              <a:ext uri="{FF2B5EF4-FFF2-40B4-BE49-F238E27FC236}">
                <a16:creationId xmlns:a16="http://schemas.microsoft.com/office/drawing/2014/main" id="{3281D398-83DD-4927-86EC-0A9A484C0479}"/>
              </a:ext>
            </a:extLst>
          </p:cNvPr>
          <p:cNvSpPr>
            <a:spLocks xmlns:a="http://schemas.openxmlformats.org/drawingml/2006/main" noGrp="1"/>
          </p:cNvSpPr>
          <p:nvPr/>
        </p:nvSpPr>
        <p:spPr>
          <a:xfrm xmlns:a="http://schemas.openxmlformats.org/drawingml/2006/main">
            <a:off x="762000" y="4214813"/>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000000"/>
                </a:solidFill>
                <a:latin typeface="Arial"/>
                <a:ea typeface="Arial"/>
                <a:cs typeface="Arial"/>
              </a:defRPr>
            </a:defPPr>
          </a:lstStyle>
          <a:p xmlns:a="http://schemas.openxmlformats.org/drawingml/2006/main">
            <a:pPr algn="r">
              <a:defRPr sz="1800" b="0">
                <a:solidFill>
                  <a:srgbClr val="000000"/>
                </a:solidFill>
                <a:latin typeface="Arial"/>
                <a:ea typeface="Arial"/>
                <a:cs typeface="Arial"/>
              </a:defRPr>
            </a:pPr>
            <a:r>
              <a:rPr sz="1800" b="0">
                <a:solidFill>
                  <a:srgbClr val="000000"/>
                </a:solidFill>
                <a:latin typeface="Arial"/>
                <a:ea typeface="Arial"/>
                <a:cs typeface="Arial"/>
              </a:rPr>
              <a:t>5</a:t>
            </a:r>
          </a:p>
        </p:txBody>
      </p:sp>
      <p:sp>
        <p:nvSpPr>
          <p:cNvPr id="9" name="Thin monochrome rule">
            <a:extLst xmlns:a="http://schemas.openxmlformats.org/drawingml/2006/main">
              <a:ext uri="{FF2B5EF4-FFF2-40B4-BE49-F238E27FC236}">
                <a16:creationId xmlns:a16="http://schemas.microsoft.com/office/drawing/2014/main" id="{E2DD2AAD-4064-412A-B250-5AC4E41DEDF1}"/>
              </a:ext>
            </a:extLst>
          </p:cNvPr>
          <p:cNvSpPr>
            <a:spLocks xmlns:a="http://schemas.openxmlformats.org/drawingml/2006/main" noGrp="1"/>
          </p:cNvSpPr>
          <p:nvPr/>
        </p:nvSpPr>
        <p:spPr>
          <a:xfrm xmlns:a="http://schemas.openxmlformats.org/drawingml/2006/main">
            <a:off x="1333500" y="3524250"/>
            <a:ext cx="6286500" cy="6668"/>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10" name="10">
            <a:extLst xmlns:a="http://schemas.openxmlformats.org/drawingml/2006/main">
              <a:ext uri="{FF2B5EF4-FFF2-40B4-BE49-F238E27FC236}">
                <a16:creationId xmlns:a16="http://schemas.microsoft.com/office/drawing/2014/main" id="{8C5CE62A-7E92-4BF3-AA36-E0127DFC875E}"/>
              </a:ext>
            </a:extLst>
          </p:cNvPr>
          <p:cNvSpPr>
            <a:spLocks xmlns:a="http://schemas.openxmlformats.org/drawingml/2006/main" noGrp="1"/>
          </p:cNvSpPr>
          <p:nvPr/>
        </p:nvSpPr>
        <p:spPr>
          <a:xfrm xmlns:a="http://schemas.openxmlformats.org/drawingml/2006/main">
            <a:off x="762000" y="338137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000000"/>
                </a:solidFill>
                <a:latin typeface="Arial"/>
                <a:ea typeface="Arial"/>
                <a:cs typeface="Arial"/>
              </a:defRPr>
            </a:defPPr>
          </a:lstStyle>
          <a:p xmlns:a="http://schemas.openxmlformats.org/drawingml/2006/main">
            <a:pPr algn="r">
              <a:defRPr sz="1800" b="0">
                <a:solidFill>
                  <a:srgbClr val="000000"/>
                </a:solidFill>
                <a:latin typeface="Arial"/>
                <a:ea typeface="Arial"/>
                <a:cs typeface="Arial"/>
              </a:defRPr>
            </a:pPr>
            <a:r>
              <a:rPr sz="1800" b="0">
                <a:solidFill>
                  <a:srgbClr val="000000"/>
                </a:solidFill>
                <a:latin typeface="Arial"/>
                <a:ea typeface="Arial"/>
                <a:cs typeface="Arial"/>
              </a:rPr>
              <a:t>10</a:t>
            </a:r>
          </a:p>
        </p:txBody>
      </p:sp>
      <p:sp>
        <p:nvSpPr>
          <p:cNvPr id="11" name="Thin monochrome rule">
            <a:extLst xmlns:a="http://schemas.openxmlformats.org/drawingml/2006/main">
              <a:ext uri="{FF2B5EF4-FFF2-40B4-BE49-F238E27FC236}">
                <a16:creationId xmlns:a16="http://schemas.microsoft.com/office/drawing/2014/main" id="{38D2FCC0-D616-4A24-AFCE-011AF52A1400}"/>
              </a:ext>
            </a:extLst>
          </p:cNvPr>
          <p:cNvSpPr>
            <a:spLocks xmlns:a="http://schemas.openxmlformats.org/drawingml/2006/main" noGrp="1"/>
          </p:cNvSpPr>
          <p:nvPr/>
        </p:nvSpPr>
        <p:spPr>
          <a:xfrm xmlns:a="http://schemas.openxmlformats.org/drawingml/2006/main">
            <a:off x="1333500" y="2690813"/>
            <a:ext cx="6286500" cy="6668"/>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12" name="15">
            <a:extLst xmlns:a="http://schemas.openxmlformats.org/drawingml/2006/main">
              <a:ext uri="{FF2B5EF4-FFF2-40B4-BE49-F238E27FC236}">
                <a16:creationId xmlns:a16="http://schemas.microsoft.com/office/drawing/2014/main" id="{A24B362F-2C50-42AC-836B-B52A8A9456C2}"/>
              </a:ext>
            </a:extLst>
          </p:cNvPr>
          <p:cNvSpPr>
            <a:spLocks xmlns:a="http://schemas.openxmlformats.org/drawingml/2006/main" noGrp="1"/>
          </p:cNvSpPr>
          <p:nvPr/>
        </p:nvSpPr>
        <p:spPr>
          <a:xfrm xmlns:a="http://schemas.openxmlformats.org/drawingml/2006/main">
            <a:off x="762000" y="2547938"/>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000000"/>
                </a:solidFill>
                <a:latin typeface="Arial"/>
                <a:ea typeface="Arial"/>
                <a:cs typeface="Arial"/>
              </a:defRPr>
            </a:defPPr>
          </a:lstStyle>
          <a:p xmlns:a="http://schemas.openxmlformats.org/drawingml/2006/main">
            <a:pPr algn="r">
              <a:defRPr sz="1800" b="0">
                <a:solidFill>
                  <a:srgbClr val="000000"/>
                </a:solidFill>
                <a:latin typeface="Arial"/>
                <a:ea typeface="Arial"/>
                <a:cs typeface="Arial"/>
              </a:defRPr>
            </a:pPr>
            <a:r>
              <a:rPr sz="1800" b="0">
                <a:solidFill>
                  <a:srgbClr val="000000"/>
                </a:solidFill>
                <a:latin typeface="Arial"/>
                <a:ea typeface="Arial"/>
                <a:cs typeface="Arial"/>
              </a:rPr>
              <a:t>15</a:t>
            </a:r>
          </a:p>
        </p:txBody>
      </p:sp>
      <p:sp>
        <p:nvSpPr>
          <p:cNvPr id="13" name="Thin monochrome rule">
            <a:extLst xmlns:a="http://schemas.openxmlformats.org/drawingml/2006/main">
              <a:ext uri="{FF2B5EF4-FFF2-40B4-BE49-F238E27FC236}">
                <a16:creationId xmlns:a16="http://schemas.microsoft.com/office/drawing/2014/main" id="{ABEC5D12-E74C-4E29-8C36-3E4C5729F9F4}"/>
              </a:ext>
            </a:extLst>
          </p:cNvPr>
          <p:cNvSpPr>
            <a:spLocks xmlns:a="http://schemas.openxmlformats.org/drawingml/2006/main" noGrp="1"/>
          </p:cNvSpPr>
          <p:nvPr/>
        </p:nvSpPr>
        <p:spPr>
          <a:xfrm xmlns:a="http://schemas.openxmlformats.org/drawingml/2006/main">
            <a:off x="1333500" y="1857375"/>
            <a:ext cx="6286500" cy="6668"/>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14" name="20">
            <a:extLst xmlns:a="http://schemas.openxmlformats.org/drawingml/2006/main">
              <a:ext uri="{FF2B5EF4-FFF2-40B4-BE49-F238E27FC236}">
                <a16:creationId xmlns:a16="http://schemas.microsoft.com/office/drawing/2014/main" id="{2387E9CA-D394-4FBF-B742-CF594B2DB3DD}"/>
              </a:ext>
            </a:extLst>
          </p:cNvPr>
          <p:cNvSpPr>
            <a:spLocks xmlns:a="http://schemas.openxmlformats.org/drawingml/2006/main" noGrp="1"/>
          </p:cNvSpPr>
          <p:nvPr/>
        </p:nvSpPr>
        <p:spPr>
          <a:xfrm xmlns:a="http://schemas.openxmlformats.org/drawingml/2006/main">
            <a:off x="762000" y="17145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000000"/>
                </a:solidFill>
                <a:latin typeface="Arial"/>
                <a:ea typeface="Arial"/>
                <a:cs typeface="Arial"/>
              </a:defRPr>
            </a:defPPr>
          </a:lstStyle>
          <a:p xmlns:a="http://schemas.openxmlformats.org/drawingml/2006/main">
            <a:pPr algn="r">
              <a:defRPr sz="1800" b="0">
                <a:solidFill>
                  <a:srgbClr val="000000"/>
                </a:solidFill>
                <a:latin typeface="Arial"/>
                <a:ea typeface="Arial"/>
                <a:cs typeface="Arial"/>
              </a:defRPr>
            </a:pPr>
            <a:r>
              <a:rPr sz="1800" b="0">
                <a:solidFill>
                  <a:srgbClr val="000000"/>
                </a:solidFill>
                <a:latin typeface="Arial"/>
                <a:ea typeface="Arial"/>
                <a:cs typeface="Arial"/>
              </a:rPr>
              <a:t>20</a:t>
            </a:r>
          </a:p>
        </p:txBody>
      </p:sp>
      <p:sp>
        <p:nvSpPr>
          <p:cNvPr id="15" name="G3 (points)">
            <a:extLst xmlns:a="http://schemas.openxmlformats.org/drawingml/2006/main">
              <a:ext uri="{FF2B5EF4-FFF2-40B4-BE49-F238E27FC236}">
                <a16:creationId xmlns:a16="http://schemas.microsoft.com/office/drawing/2014/main" id="{6D4D35A7-B751-4F69-9BBF-3F31A3BB1B73}"/>
              </a:ext>
            </a:extLst>
          </p:cNvPr>
          <p:cNvSpPr>
            <a:spLocks xmlns:a="http://schemas.openxmlformats.org/drawingml/2006/main" noGrp="1"/>
          </p:cNvSpPr>
          <p:nvPr/>
        </p:nvSpPr>
        <p:spPr>
          <a:xfrm xmlns:a="http://schemas.openxmlformats.org/drawingml/2006/main">
            <a:off x="762000" y="147637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G3 (points)</a:t>
            </a:r>
          </a:p>
        </p:txBody>
      </p:sp>
      <p:sp>
        <p:nvSpPr>
          <p:cNvPr id="16" name="Thin monochrome rule">
            <a:extLst xmlns:a="http://schemas.openxmlformats.org/drawingml/2006/main">
              <a:ext uri="{FF2B5EF4-FFF2-40B4-BE49-F238E27FC236}">
                <a16:creationId xmlns:a16="http://schemas.microsoft.com/office/drawing/2014/main" id="{44F4C4BC-E752-421E-BA62-63DC44D87136}"/>
              </a:ext>
            </a:extLst>
          </p:cNvPr>
          <p:cNvSpPr>
            <a:spLocks xmlns:a="http://schemas.openxmlformats.org/drawingml/2006/main" noGrp="1"/>
          </p:cNvSpPr>
          <p:nvPr/>
        </p:nvSpPr>
        <p:spPr>
          <a:xfrm xmlns:a="http://schemas.openxmlformats.org/drawingml/2006/main">
            <a:off x="3238500" y="2190750"/>
            <a:ext cx="14288" cy="1833563"/>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17" name="Thin monochrome rule">
            <a:extLst xmlns:a="http://schemas.openxmlformats.org/drawingml/2006/main">
              <a:ext uri="{FF2B5EF4-FFF2-40B4-BE49-F238E27FC236}">
                <a16:creationId xmlns:a16="http://schemas.microsoft.com/office/drawing/2014/main" id="{17A93435-2027-462F-A3B0-4C7A9746DF5E}"/>
              </a:ext>
            </a:extLst>
          </p:cNvPr>
          <p:cNvSpPr>
            <a:spLocks xmlns:a="http://schemas.openxmlformats.org/drawingml/2006/main" noGrp="1"/>
          </p:cNvSpPr>
          <p:nvPr/>
        </p:nvSpPr>
        <p:spPr>
          <a:xfrm xmlns:a="http://schemas.openxmlformats.org/drawingml/2006/main">
            <a:off x="2905125" y="2190750"/>
            <a:ext cx="66675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18" name="Thin monochrome rule">
            <a:extLst xmlns:a="http://schemas.openxmlformats.org/drawingml/2006/main">
              <a:ext uri="{FF2B5EF4-FFF2-40B4-BE49-F238E27FC236}">
                <a16:creationId xmlns:a16="http://schemas.microsoft.com/office/drawing/2014/main" id="{E0DCB6A0-53F9-4462-9B0B-DC7DDA993662}"/>
              </a:ext>
            </a:extLst>
          </p:cNvPr>
          <p:cNvSpPr>
            <a:spLocks xmlns:a="http://schemas.openxmlformats.org/drawingml/2006/main" noGrp="1"/>
          </p:cNvSpPr>
          <p:nvPr/>
        </p:nvSpPr>
        <p:spPr>
          <a:xfrm xmlns:a="http://schemas.openxmlformats.org/drawingml/2006/main">
            <a:off x="2905125" y="4024313"/>
            <a:ext cx="66675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19" name="GP Q1–Q3, exported Seaborn statistics">
            <a:extLst xmlns:a="http://schemas.openxmlformats.org/drawingml/2006/main">
              <a:ext uri="{FF2B5EF4-FFF2-40B4-BE49-F238E27FC236}">
                <a16:creationId xmlns:a16="http://schemas.microsoft.com/office/drawing/2014/main" id="{9281F1E8-191A-488A-9FB6-DCDB7396C16E}"/>
              </a:ext>
            </a:extLst>
          </p:cNvPr>
          <p:cNvSpPr>
            <a:spLocks xmlns:a="http://schemas.openxmlformats.org/drawingml/2006/main" noGrp="1"/>
          </p:cNvSpPr>
          <p:nvPr/>
        </p:nvSpPr>
        <p:spPr>
          <a:xfrm xmlns:a="http://schemas.openxmlformats.org/drawingml/2006/main">
            <a:off x="2619375" y="2857500"/>
            <a:ext cx="1238250" cy="500063"/>
          </a:xfrm>
          <a:prstGeom xmlns:a="http://schemas.openxmlformats.org/drawingml/2006/main" prst="rect">
            <a:avLst/>
          </a:prstGeom>
          <a:solidFill xmlns:a="http://schemas.openxmlformats.org/drawingml/2006/main">
            <a:srgbClr val="CCCCCC"/>
          </a:solidFill>
          <a:ln xmlns:a="http://schemas.openxmlformats.org/drawingml/2006/main" w="9525">
            <a:solidFill>
              <a:srgbClr val="000000"/>
            </a:solidFill>
            <a:prstDash val="solid"/>
          </a:ln>
        </p:spPr>
      </p:sp>
      <p:sp>
        <p:nvSpPr>
          <p:cNvPr id="20" name="Thin monochrome rule">
            <a:extLst xmlns:a="http://schemas.openxmlformats.org/drawingml/2006/main">
              <a:ext uri="{FF2B5EF4-FFF2-40B4-BE49-F238E27FC236}">
                <a16:creationId xmlns:a16="http://schemas.microsoft.com/office/drawing/2014/main" id="{81B408F0-CB6E-4401-A0CF-12E6A9AEEE5F}"/>
              </a:ext>
            </a:extLst>
          </p:cNvPr>
          <p:cNvSpPr>
            <a:spLocks xmlns:a="http://schemas.openxmlformats.org/drawingml/2006/main" noGrp="1"/>
          </p:cNvSpPr>
          <p:nvPr/>
        </p:nvSpPr>
        <p:spPr>
          <a:xfrm xmlns:a="http://schemas.openxmlformats.org/drawingml/2006/main">
            <a:off x="2619375" y="3024188"/>
            <a:ext cx="1238250" cy="23813"/>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21" name="GP outlier 6">
            <a:extLst xmlns:a="http://schemas.openxmlformats.org/drawingml/2006/main">
              <a:ext uri="{FF2B5EF4-FFF2-40B4-BE49-F238E27FC236}">
                <a16:creationId xmlns:a16="http://schemas.microsoft.com/office/drawing/2014/main" id="{2303FAB1-B9C1-46EC-BA14-03D8BDB8B004}"/>
              </a:ext>
            </a:extLst>
          </p:cNvPr>
          <p:cNvSpPr>
            <a:spLocks xmlns:a="http://schemas.openxmlformats.org/drawingml/2006/main" noGrp="1"/>
          </p:cNvSpPr>
          <p:nvPr/>
        </p:nvSpPr>
        <p:spPr>
          <a:xfrm xmlns:a="http://schemas.openxmlformats.org/drawingml/2006/main">
            <a:off x="3200400" y="4152900"/>
            <a:ext cx="76200" cy="76200"/>
          </a:xfrm>
          <a:prstGeom xmlns:a="http://schemas.openxmlformats.org/drawingml/2006/main" prst="ellipse">
            <a:avLst/>
          </a:prstGeom>
          <a:solidFill xmlns:a="http://schemas.openxmlformats.org/drawingml/2006/main">
            <a:srgbClr val="FFFFFF"/>
          </a:solidFill>
          <a:ln xmlns:a="http://schemas.openxmlformats.org/drawingml/2006/main" w="9525">
            <a:solidFill>
              <a:srgbClr val="000000"/>
            </a:solidFill>
            <a:prstDash val="solid"/>
          </a:ln>
        </p:spPr>
      </p:sp>
      <p:sp>
        <p:nvSpPr>
          <p:cNvPr id="22" name="GP outlier 0">
            <a:extLst xmlns:a="http://schemas.openxmlformats.org/drawingml/2006/main">
              <a:ext uri="{FF2B5EF4-FFF2-40B4-BE49-F238E27FC236}">
                <a16:creationId xmlns:a16="http://schemas.microsoft.com/office/drawing/2014/main" id="{B04EFB2A-5778-4767-B191-75703D3B4F6F}"/>
              </a:ext>
            </a:extLst>
          </p:cNvPr>
          <p:cNvSpPr>
            <a:spLocks xmlns:a="http://schemas.openxmlformats.org/drawingml/2006/main" noGrp="1"/>
          </p:cNvSpPr>
          <p:nvPr/>
        </p:nvSpPr>
        <p:spPr>
          <a:xfrm xmlns:a="http://schemas.openxmlformats.org/drawingml/2006/main">
            <a:off x="3200400" y="5153025"/>
            <a:ext cx="76200" cy="76200"/>
          </a:xfrm>
          <a:prstGeom xmlns:a="http://schemas.openxmlformats.org/drawingml/2006/main" prst="ellipse">
            <a:avLst/>
          </a:prstGeom>
          <a:solidFill xmlns:a="http://schemas.openxmlformats.org/drawingml/2006/main">
            <a:srgbClr val="FFFFFF"/>
          </a:solidFill>
          <a:ln xmlns:a="http://schemas.openxmlformats.org/drawingml/2006/main" w="9525">
            <a:solidFill>
              <a:srgbClr val="000000"/>
            </a:solidFill>
            <a:prstDash val="solid"/>
          </a:ln>
        </p:spPr>
      </p:sp>
      <p:sp>
        <p:nvSpPr>
          <p:cNvPr id="23" name="GP outlier 1">
            <a:extLst xmlns:a="http://schemas.openxmlformats.org/drawingml/2006/main">
              <a:ext uri="{FF2B5EF4-FFF2-40B4-BE49-F238E27FC236}">
                <a16:creationId xmlns:a16="http://schemas.microsoft.com/office/drawing/2014/main" id="{B4B2F06D-D29C-44AE-BA82-2FFEEFAA01C7}"/>
              </a:ext>
            </a:extLst>
          </p:cNvPr>
          <p:cNvSpPr>
            <a:spLocks xmlns:a="http://schemas.openxmlformats.org/drawingml/2006/main" noGrp="1"/>
          </p:cNvSpPr>
          <p:nvPr/>
        </p:nvSpPr>
        <p:spPr>
          <a:xfrm xmlns:a="http://schemas.openxmlformats.org/drawingml/2006/main">
            <a:off x="3200400" y="4986338"/>
            <a:ext cx="76200" cy="76200"/>
          </a:xfrm>
          <a:prstGeom xmlns:a="http://schemas.openxmlformats.org/drawingml/2006/main" prst="ellipse">
            <a:avLst/>
          </a:prstGeom>
          <a:solidFill xmlns:a="http://schemas.openxmlformats.org/drawingml/2006/main">
            <a:srgbClr val="FFFFFF"/>
          </a:solidFill>
          <a:ln xmlns:a="http://schemas.openxmlformats.org/drawingml/2006/main" w="9525">
            <a:solidFill>
              <a:srgbClr val="000000"/>
            </a:solidFill>
            <a:prstDash val="solid"/>
          </a:ln>
        </p:spPr>
      </p:sp>
      <p:sp>
        <p:nvSpPr>
          <p:cNvPr id="24" name="GP outlier 5">
            <a:extLst xmlns:a="http://schemas.openxmlformats.org/drawingml/2006/main">
              <a:ext uri="{FF2B5EF4-FFF2-40B4-BE49-F238E27FC236}">
                <a16:creationId xmlns:a16="http://schemas.microsoft.com/office/drawing/2014/main" id="{FDEBDEDA-B8D2-4351-A4E1-6E0A814E72B0}"/>
              </a:ext>
            </a:extLst>
          </p:cNvPr>
          <p:cNvSpPr>
            <a:spLocks xmlns:a="http://schemas.openxmlformats.org/drawingml/2006/main" noGrp="1"/>
          </p:cNvSpPr>
          <p:nvPr/>
        </p:nvSpPr>
        <p:spPr>
          <a:xfrm xmlns:a="http://schemas.openxmlformats.org/drawingml/2006/main">
            <a:off x="3200400" y="4319588"/>
            <a:ext cx="76200" cy="76200"/>
          </a:xfrm>
          <a:prstGeom xmlns:a="http://schemas.openxmlformats.org/drawingml/2006/main" prst="ellipse">
            <a:avLst/>
          </a:prstGeom>
          <a:solidFill xmlns:a="http://schemas.openxmlformats.org/drawingml/2006/main">
            <a:srgbClr val="FFFFFF"/>
          </a:solidFill>
          <a:ln xmlns:a="http://schemas.openxmlformats.org/drawingml/2006/main" w="9525">
            <a:solidFill>
              <a:srgbClr val="000000"/>
            </a:solidFill>
            <a:prstDash val="solid"/>
          </a:ln>
        </p:spPr>
      </p:sp>
      <p:sp>
        <p:nvSpPr>
          <p:cNvPr id="25" name="GP outlier 19">
            <a:extLst xmlns:a="http://schemas.openxmlformats.org/drawingml/2006/main">
              <a:ext uri="{FF2B5EF4-FFF2-40B4-BE49-F238E27FC236}">
                <a16:creationId xmlns:a16="http://schemas.microsoft.com/office/drawing/2014/main" id="{B97124B6-E390-4814-91CA-04787EEC5F07}"/>
              </a:ext>
            </a:extLst>
          </p:cNvPr>
          <p:cNvSpPr>
            <a:spLocks xmlns:a="http://schemas.openxmlformats.org/drawingml/2006/main" noGrp="1"/>
          </p:cNvSpPr>
          <p:nvPr/>
        </p:nvSpPr>
        <p:spPr>
          <a:xfrm xmlns:a="http://schemas.openxmlformats.org/drawingml/2006/main">
            <a:off x="3200400" y="1985963"/>
            <a:ext cx="76200" cy="76200"/>
          </a:xfrm>
          <a:prstGeom xmlns:a="http://schemas.openxmlformats.org/drawingml/2006/main" prst="ellipse">
            <a:avLst/>
          </a:prstGeom>
          <a:solidFill xmlns:a="http://schemas.openxmlformats.org/drawingml/2006/main">
            <a:srgbClr val="FFFFFF"/>
          </a:solidFill>
          <a:ln xmlns:a="http://schemas.openxmlformats.org/drawingml/2006/main" w="9525">
            <a:solidFill>
              <a:srgbClr val="000000"/>
            </a:solidFill>
            <a:prstDash val="solid"/>
          </a:ln>
        </p:spPr>
      </p:sp>
      <p:sp>
        <p:nvSpPr>
          <p:cNvPr id="26" name="GP (n=423)">
            <a:extLst xmlns:a="http://schemas.openxmlformats.org/drawingml/2006/main">
              <a:ext uri="{FF2B5EF4-FFF2-40B4-BE49-F238E27FC236}">
                <a16:creationId xmlns:a16="http://schemas.microsoft.com/office/drawing/2014/main" id="{4B45BB96-48EA-4798-A5D9-E3DFC49E7758}"/>
              </a:ext>
            </a:extLst>
          </p:cNvPr>
          <p:cNvSpPr>
            <a:spLocks xmlns:a="http://schemas.openxmlformats.org/drawingml/2006/main" noGrp="1"/>
          </p:cNvSpPr>
          <p:nvPr/>
        </p:nvSpPr>
        <p:spPr>
          <a:xfrm xmlns:a="http://schemas.openxmlformats.org/drawingml/2006/main">
            <a:off x="2143125" y="5476875"/>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000" b="0">
                <a:solidFill>
                  <a:srgbClr val="000000"/>
                </a:solidFill>
                <a:latin typeface="Arial"/>
                <a:ea typeface="Arial"/>
                <a:cs typeface="Arial"/>
              </a:defRPr>
            </a:defPPr>
          </a:lstStyle>
          <a:p xmlns:a="http://schemas.openxmlformats.org/drawingml/2006/main">
            <a:pPr algn="ctr">
              <a:defRPr sz="2000" b="0">
                <a:solidFill>
                  <a:srgbClr val="000000"/>
                </a:solidFill>
                <a:latin typeface="Arial"/>
                <a:ea typeface="Arial"/>
                <a:cs typeface="Arial"/>
              </a:defRPr>
            </a:pPr>
            <a:r>
              <a:rPr sz="2000" b="0">
                <a:solidFill>
                  <a:srgbClr val="000000"/>
                </a:solidFill>
                <a:latin typeface="Arial"/>
                <a:ea typeface="Arial"/>
                <a:cs typeface="Arial"/>
              </a:rPr>
              <a:t>GP (n=423)</a:t>
            </a:r>
          </a:p>
        </p:txBody>
      </p:sp>
      <p:sp>
        <p:nvSpPr>
          <p:cNvPr id="27" name="Thin monochrome rule">
            <a:extLst xmlns:a="http://schemas.openxmlformats.org/drawingml/2006/main">
              <a:ext uri="{FF2B5EF4-FFF2-40B4-BE49-F238E27FC236}">
                <a16:creationId xmlns:a16="http://schemas.microsoft.com/office/drawing/2014/main" id="{A3B94D2F-59FB-443B-A358-BF2183D6B4A7}"/>
              </a:ext>
            </a:extLst>
          </p:cNvPr>
          <p:cNvSpPr>
            <a:spLocks xmlns:a="http://schemas.openxmlformats.org/drawingml/2006/main" noGrp="1"/>
          </p:cNvSpPr>
          <p:nvPr/>
        </p:nvSpPr>
        <p:spPr>
          <a:xfrm xmlns:a="http://schemas.openxmlformats.org/drawingml/2006/main">
            <a:off x="6096000" y="2024063"/>
            <a:ext cx="14288" cy="2166938"/>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28" name="Thin monochrome rule">
            <a:extLst xmlns:a="http://schemas.openxmlformats.org/drawingml/2006/main">
              <a:ext uri="{FF2B5EF4-FFF2-40B4-BE49-F238E27FC236}">
                <a16:creationId xmlns:a16="http://schemas.microsoft.com/office/drawing/2014/main" id="{6E6E010C-A6BB-4121-9C7F-8C0D92FA7DFB}"/>
              </a:ext>
            </a:extLst>
          </p:cNvPr>
          <p:cNvSpPr>
            <a:spLocks xmlns:a="http://schemas.openxmlformats.org/drawingml/2006/main" noGrp="1"/>
          </p:cNvSpPr>
          <p:nvPr/>
        </p:nvSpPr>
        <p:spPr>
          <a:xfrm xmlns:a="http://schemas.openxmlformats.org/drawingml/2006/main">
            <a:off x="5762625" y="2024063"/>
            <a:ext cx="66675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29" name="Thin monochrome rule">
            <a:extLst xmlns:a="http://schemas.openxmlformats.org/drawingml/2006/main">
              <a:ext uri="{FF2B5EF4-FFF2-40B4-BE49-F238E27FC236}">
                <a16:creationId xmlns:a16="http://schemas.microsoft.com/office/drawing/2014/main" id="{81394185-AF49-4A75-B947-0EFC03509164}"/>
              </a:ext>
            </a:extLst>
          </p:cNvPr>
          <p:cNvSpPr>
            <a:spLocks xmlns:a="http://schemas.openxmlformats.org/drawingml/2006/main" noGrp="1"/>
          </p:cNvSpPr>
          <p:nvPr/>
        </p:nvSpPr>
        <p:spPr>
          <a:xfrm xmlns:a="http://schemas.openxmlformats.org/drawingml/2006/main">
            <a:off x="5762625" y="4191000"/>
            <a:ext cx="66675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30" name="MS Q1–Q3, exported Seaborn statistics">
            <a:extLst xmlns:a="http://schemas.openxmlformats.org/drawingml/2006/main">
              <a:ext uri="{FF2B5EF4-FFF2-40B4-BE49-F238E27FC236}">
                <a16:creationId xmlns:a16="http://schemas.microsoft.com/office/drawing/2014/main" id="{07BBA055-6895-4295-BD36-7572D8FA59CB}"/>
              </a:ext>
            </a:extLst>
          </p:cNvPr>
          <p:cNvSpPr>
            <a:spLocks xmlns:a="http://schemas.openxmlformats.org/drawingml/2006/main" noGrp="1"/>
          </p:cNvSpPr>
          <p:nvPr/>
        </p:nvSpPr>
        <p:spPr>
          <a:xfrm xmlns:a="http://schemas.openxmlformats.org/drawingml/2006/main">
            <a:off x="5476875" y="3024188"/>
            <a:ext cx="1238250" cy="666750"/>
          </a:xfrm>
          <a:prstGeom xmlns:a="http://schemas.openxmlformats.org/drawingml/2006/main" prst="rect">
            <a:avLst/>
          </a:prstGeom>
          <a:solidFill xmlns:a="http://schemas.openxmlformats.org/drawingml/2006/main">
            <a:srgbClr val="CCCCCC"/>
          </a:solidFill>
          <a:ln xmlns:a="http://schemas.openxmlformats.org/drawingml/2006/main" w="9525">
            <a:solidFill>
              <a:srgbClr val="000000"/>
            </a:solidFill>
            <a:prstDash val="solid"/>
          </a:ln>
        </p:spPr>
      </p:sp>
      <p:sp>
        <p:nvSpPr>
          <p:cNvPr id="31" name="Thin monochrome rule">
            <a:extLst xmlns:a="http://schemas.openxmlformats.org/drawingml/2006/main">
              <a:ext uri="{FF2B5EF4-FFF2-40B4-BE49-F238E27FC236}">
                <a16:creationId xmlns:a16="http://schemas.microsoft.com/office/drawing/2014/main" id="{3B065CA4-6BAD-45E7-BBB6-B429ADCECFAB}"/>
              </a:ext>
            </a:extLst>
          </p:cNvPr>
          <p:cNvSpPr>
            <a:spLocks xmlns:a="http://schemas.openxmlformats.org/drawingml/2006/main" noGrp="1"/>
          </p:cNvSpPr>
          <p:nvPr/>
        </p:nvSpPr>
        <p:spPr>
          <a:xfrm xmlns:a="http://schemas.openxmlformats.org/drawingml/2006/main">
            <a:off x="5476875" y="3357563"/>
            <a:ext cx="1238250" cy="23813"/>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32" name="MS outlier 0">
            <a:extLst xmlns:a="http://schemas.openxmlformats.org/drawingml/2006/main">
              <a:ext uri="{FF2B5EF4-FFF2-40B4-BE49-F238E27FC236}">
                <a16:creationId xmlns:a16="http://schemas.microsoft.com/office/drawing/2014/main" id="{52461130-2DC6-408E-8C56-D011091C36FC}"/>
              </a:ext>
            </a:extLst>
          </p:cNvPr>
          <p:cNvSpPr>
            <a:spLocks xmlns:a="http://schemas.openxmlformats.org/drawingml/2006/main" noGrp="1"/>
          </p:cNvSpPr>
          <p:nvPr/>
        </p:nvSpPr>
        <p:spPr>
          <a:xfrm xmlns:a="http://schemas.openxmlformats.org/drawingml/2006/main">
            <a:off x="6057900" y="5153025"/>
            <a:ext cx="76200" cy="76200"/>
          </a:xfrm>
          <a:prstGeom xmlns:a="http://schemas.openxmlformats.org/drawingml/2006/main" prst="ellipse">
            <a:avLst/>
          </a:prstGeom>
          <a:solidFill xmlns:a="http://schemas.openxmlformats.org/drawingml/2006/main">
            <a:srgbClr val="FFFFFF"/>
          </a:solidFill>
          <a:ln xmlns:a="http://schemas.openxmlformats.org/drawingml/2006/main" w="9525">
            <a:solidFill>
              <a:srgbClr val="000000"/>
            </a:solidFill>
            <a:prstDash val="solid"/>
          </a:ln>
        </p:spPr>
      </p:sp>
      <p:sp>
        <p:nvSpPr>
          <p:cNvPr id="33" name="MS (n=226)">
            <a:extLst xmlns:a="http://schemas.openxmlformats.org/drawingml/2006/main">
              <a:ext uri="{FF2B5EF4-FFF2-40B4-BE49-F238E27FC236}">
                <a16:creationId xmlns:a16="http://schemas.microsoft.com/office/drawing/2014/main" id="{318290F9-F500-4FB4-A8F0-0B6804061F27}"/>
              </a:ext>
            </a:extLst>
          </p:cNvPr>
          <p:cNvSpPr>
            <a:spLocks xmlns:a="http://schemas.openxmlformats.org/drawingml/2006/main" noGrp="1"/>
          </p:cNvSpPr>
          <p:nvPr/>
        </p:nvSpPr>
        <p:spPr>
          <a:xfrm xmlns:a="http://schemas.openxmlformats.org/drawingml/2006/main">
            <a:off x="5000625" y="5476875"/>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000" b="0">
                <a:solidFill>
                  <a:srgbClr val="000000"/>
                </a:solidFill>
                <a:latin typeface="Arial"/>
                <a:ea typeface="Arial"/>
                <a:cs typeface="Arial"/>
              </a:defRPr>
            </a:defPPr>
          </a:lstStyle>
          <a:p xmlns:a="http://schemas.openxmlformats.org/drawingml/2006/main">
            <a:pPr algn="ctr">
              <a:defRPr sz="2000" b="0">
                <a:solidFill>
                  <a:srgbClr val="000000"/>
                </a:solidFill>
                <a:latin typeface="Arial"/>
                <a:ea typeface="Arial"/>
                <a:cs typeface="Arial"/>
              </a:defRPr>
            </a:pPr>
            <a:r>
              <a:rPr sz="2000" b="0">
                <a:solidFill>
                  <a:srgbClr val="000000"/>
                </a:solidFill>
                <a:latin typeface="Arial"/>
                <a:ea typeface="Arial"/>
                <a:cs typeface="Arial"/>
              </a:rPr>
              <a:t>MS (n=226)</a:t>
            </a:r>
          </a:p>
        </p:txBody>
      </p:sp>
      <p:sp>
        <p:nvSpPr>
          <p:cNvPr id="34" name="Medians: 13 / 11">
            <a:extLst xmlns:a="http://schemas.openxmlformats.org/drawingml/2006/main">
              <a:ext uri="{FF2B5EF4-FFF2-40B4-BE49-F238E27FC236}">
                <a16:creationId xmlns:a16="http://schemas.microsoft.com/office/drawing/2014/main" id="{C3C24D88-20C5-4936-A91E-FAAEC4171BA0}"/>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Medians: 13 / 11</a:t>
            </a:r>
          </a:p>
        </p:txBody>
      </p:sp>
      <p:sp>
        <p:nvSpPr>
          <p:cNvPr id="35" name="GP has a higher observed centre.&#10;&#10;MS has greater disper">
            <a:extLst xmlns:a="http://schemas.openxmlformats.org/drawingml/2006/main">
              <a:ext uri="{FF2B5EF4-FFF2-40B4-BE49-F238E27FC236}">
                <a16:creationId xmlns:a16="http://schemas.microsoft.com/office/drawing/2014/main" id="{C73FE4BA-69B7-400C-8DEE-E941BFBAEC2B}"/>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GP has a higher observed centre.</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MS has greater dispersion.</a:t>
            </a:r>
          </a:p>
        </p:txBody>
      </p:sp>
      <p:sp>
        <p:nvSpPr>
          <p:cNvPr id="36" name="Descriptive group differences do not identify a causal ">
            <a:extLst xmlns:a="http://schemas.openxmlformats.org/drawingml/2006/main">
              <a:ext uri="{FF2B5EF4-FFF2-40B4-BE49-F238E27FC236}">
                <a16:creationId xmlns:a16="http://schemas.microsoft.com/office/drawing/2014/main" id="{D3C5257D-D893-4013-8C7D-473276AFC781}"/>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Descriptive group differences do not identify a causal school effect.</a:t>
            </a:r>
          </a:p>
        </p:txBody>
      </p:sp>
    </p:spTree>
    <p:extLst>
      <p:ext uri="{BB962C8B-B14F-4D97-AF65-F5344CB8AC3E}">
        <p14:creationId xmlns:p14="http://schemas.microsoft.com/office/powerpoint/2010/main" val="25337970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C7D9DECE-724F-4BD6-927B-6A1386C6B22B}"/>
              </a:ext>
            </a:extLst>
          </p:cNvPr>
          <p:cNvPicPr>
            <a:picLocks xmlns:a="http://schemas.openxmlformats.org/drawingml/2006/main" noChangeAspect="1"/>
          </p:cNvPicPr>
          <p:nvPr/>
        </p:nvPicPr>
        <p:blipFill>
          <a:blip xmlns:r="http://schemas.openxmlformats.org/officeDocument/2006/relationships" xmlns:a="http://schemas.openxmlformats.org/drawingml/2006/main" r:embed="R7fbc18763e7647b3"/>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D6D980F9-3D94-43B6-B561-7144053A9EE4}"/>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Final grade by study-time category</a:t>
            </a:r>
          </a:p>
        </p:txBody>
      </p:sp>
      <p:sp>
        <p:nvSpPr>
          <p:cNvPr id="3" name="Thin monochrome rule">
            <a:extLst xmlns:a="http://schemas.openxmlformats.org/drawingml/2006/main">
              <a:ext uri="{FF2B5EF4-FFF2-40B4-BE49-F238E27FC236}">
                <a16:creationId xmlns:a16="http://schemas.microsoft.com/office/drawing/2014/main" id="{36D6B86E-0393-4E7D-AD49-1F6416C355C6}"/>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4">
            <a:extLst xmlns:a="http://schemas.openxmlformats.org/drawingml/2006/main">
              <a:ext uri="{FF2B5EF4-FFF2-40B4-BE49-F238E27FC236}">
                <a16:creationId xmlns:a16="http://schemas.microsoft.com/office/drawing/2014/main" id="{35E87F5B-57D8-48F6-B481-057ED664B179}"/>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14</a:t>
            </a:r>
          </a:p>
        </p:txBody>
      </p:sp>
      <p:graphicFrame>
        <p:nvGraphicFramePr>
          <p:cNvPr id="5" name="Chart">
            <a:extLst xmlns:a="http://schemas.openxmlformats.org/drawingml/2006/main">
              <a:ext uri="{FF2B5EF4-FFF2-40B4-BE49-F238E27FC236}">
                <a16:creationId xmlns:a16="http://schemas.microsoft.com/office/drawing/2014/main" id="{A162F6DB-6D56-4324-9E90-CF9FA8854394}"/>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199842fd47434a4b"/>
          </a:graphicData>
        </a:graphic>
      </p:graphicFrame>
      <p:sp>
        <p:nvSpPr>
          <p:cNvPr id="6" name="Unequal groups">
            <a:extLst xmlns:a="http://schemas.openxmlformats.org/drawingml/2006/main">
              <a:ext uri="{FF2B5EF4-FFF2-40B4-BE49-F238E27FC236}">
                <a16:creationId xmlns:a16="http://schemas.microsoft.com/office/drawing/2014/main" id="{F7ACABA7-7E0F-489C-978D-DFD86C329D7C}"/>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Unequal groups</a:t>
            </a:r>
          </a:p>
        </p:txBody>
      </p:sp>
      <p:sp>
        <p:nvSpPr>
          <p:cNvPr id="7" name="Category codes represent intervals.&#10;&#10;Counts accompany m">
            <a:extLst xmlns:a="http://schemas.openxmlformats.org/drawingml/2006/main">
              <a:ext uri="{FF2B5EF4-FFF2-40B4-BE49-F238E27FC236}">
                <a16:creationId xmlns:a16="http://schemas.microsoft.com/office/drawing/2014/main" id="{15344970-0255-4B61-B6E2-2C2330CFD9A5}"/>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Category codes represent intervals.</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Counts accompany means.</a:t>
            </a:r>
          </a:p>
        </p:txBody>
      </p:sp>
      <p:sp>
        <p:nvSpPr>
          <p:cNvPr id="8" name="The positive association remains observational and pote">
            <a:extLst xmlns:a="http://schemas.openxmlformats.org/drawingml/2006/main">
              <a:ext uri="{FF2B5EF4-FFF2-40B4-BE49-F238E27FC236}">
                <a16:creationId xmlns:a16="http://schemas.microsoft.com/office/drawing/2014/main" id="{FE4D47DB-89B8-4392-A1A1-A5492EBC248D}"/>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positive association remains observational and potentially confounded.</a:t>
            </a:r>
          </a:p>
        </p:txBody>
      </p:sp>
    </p:spTree>
    <p:extLst>
      <p:ext uri="{BB962C8B-B14F-4D97-AF65-F5344CB8AC3E}">
        <p14:creationId xmlns:p14="http://schemas.microsoft.com/office/powerpoint/2010/main" val="167734533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3512757F-3948-40ED-992F-F73BED1321F4}"/>
              </a:ext>
            </a:extLst>
          </p:cNvPr>
          <p:cNvPicPr>
            <a:picLocks xmlns:a="http://schemas.openxmlformats.org/drawingml/2006/main" noChangeAspect="1"/>
          </p:cNvPicPr>
          <p:nvPr/>
        </p:nvPicPr>
        <p:blipFill>
          <a:blip xmlns:r="http://schemas.openxmlformats.org/officeDocument/2006/relationships" xmlns:a="http://schemas.openxmlformats.org/drawingml/2006/main" r:embed="Rd22ce66791da4df4"/>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A8C6903D-C8C0-4C7C-A435-325A260E1B26}"/>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Performance-band proportions</a:t>
            </a:r>
          </a:p>
        </p:txBody>
      </p:sp>
      <p:sp>
        <p:nvSpPr>
          <p:cNvPr id="3" name="Thin monochrome rule">
            <a:extLst xmlns:a="http://schemas.openxmlformats.org/drawingml/2006/main">
              <a:ext uri="{FF2B5EF4-FFF2-40B4-BE49-F238E27FC236}">
                <a16:creationId xmlns:a16="http://schemas.microsoft.com/office/drawing/2014/main" id="{5F99B662-4C01-4228-9ABD-717C6CC026E9}"/>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5">
            <a:extLst xmlns:a="http://schemas.openxmlformats.org/drawingml/2006/main">
              <a:ext uri="{FF2B5EF4-FFF2-40B4-BE49-F238E27FC236}">
                <a16:creationId xmlns:a16="http://schemas.microsoft.com/office/drawing/2014/main" id="{CC7B1817-EF5D-468E-BA22-F3DDE49C8DA6}"/>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15</a:t>
            </a:r>
          </a:p>
        </p:txBody>
      </p:sp>
      <p:graphicFrame>
        <p:nvGraphicFramePr>
          <p:cNvPr id="5" name="Chart">
            <a:extLst xmlns:a="http://schemas.openxmlformats.org/drawingml/2006/main">
              <a:ext uri="{FF2B5EF4-FFF2-40B4-BE49-F238E27FC236}">
                <a16:creationId xmlns:a16="http://schemas.microsoft.com/office/drawing/2014/main" id="{18B7795F-BB92-45DD-8051-B3D4BBF490C0}"/>
              </a:ext>
            </a:extLst>
          </p:cNvPr>
          <p:cNvGraphicFramePr/>
          <p:nvPr/>
        </p:nvGraphicFramePr>
        <p:xfrm>
          <a:off xmlns:a="http://schemas.openxmlformats.org/drawingml/2006/main" x="762000" y="1666875"/>
          <a:ext xmlns:a="http://schemas.openxmlformats.org/drawingml/2006/main" cx="7524750" cy="4286250"/>
        </p:xfrm>
        <a:graphic xmlns:a="http://schemas.openxmlformats.org/drawingml/2006/main">
          <a:graphicData uri="http://schemas.openxmlformats.org/drawingml/2006/chart">
            <c:chart xmlns:r="http://schemas.openxmlformats.org/officeDocument/2006/relationships" xmlns:c="http://schemas.openxmlformats.org/drawingml/2006/chart" r:id="Re89467c437c94b3e"/>
          </a:graphicData>
        </a:graphic>
      </p:graphicFrame>
      <p:sp>
        <p:nvSpPr>
          <p:cNvPr id="6" name="Largest band: 10–14">
            <a:extLst xmlns:a="http://schemas.openxmlformats.org/drawingml/2006/main">
              <a:ext uri="{FF2B5EF4-FFF2-40B4-BE49-F238E27FC236}">
                <a16:creationId xmlns:a16="http://schemas.microsoft.com/office/drawing/2014/main" id="{08657E7E-9A0C-41A5-BE26-33CBA9711251}"/>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Largest band: 10–14</a:t>
            </a:r>
          </a:p>
        </p:txBody>
      </p:sp>
      <p:sp>
        <p:nvSpPr>
          <p:cNvPr id="7" name="0–9: 100&#10;15.41%&#10;&#10;10–14: 418&#10;64.41%&#10;&#10;15–20: 131&#10;20.18%">
            <a:extLst xmlns:a="http://schemas.openxmlformats.org/drawingml/2006/main">
              <a:ext uri="{FF2B5EF4-FFF2-40B4-BE49-F238E27FC236}">
                <a16:creationId xmlns:a16="http://schemas.microsoft.com/office/drawing/2014/main" id="{0EF2CD0A-3EB7-4541-96DB-F71EDE4C3CA4}"/>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0–9: 100</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15.41%</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10–14: 418</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64.41%</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15–20: 131</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20.18%</a:t>
            </a:r>
          </a:p>
        </p:txBody>
      </p:sp>
      <p:sp>
        <p:nvSpPr>
          <p:cNvPr id="8" name="The bands are analyst-defined descriptions, not an offi">
            <a:extLst xmlns:a="http://schemas.openxmlformats.org/drawingml/2006/main">
              <a:ext uri="{FF2B5EF4-FFF2-40B4-BE49-F238E27FC236}">
                <a16:creationId xmlns:a16="http://schemas.microsoft.com/office/drawing/2014/main" id="{F41DE1A2-E08E-4980-9DC5-2538BEDEE685}"/>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bands are analyst-defined descriptions, not an official grading classification.</a:t>
            </a:r>
          </a:p>
        </p:txBody>
      </p:sp>
    </p:spTree>
    <p:extLst>
      <p:ext uri="{BB962C8B-B14F-4D97-AF65-F5344CB8AC3E}">
        <p14:creationId xmlns:p14="http://schemas.microsoft.com/office/powerpoint/2010/main" val="142506711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1C91558C-9E7C-4833-A4A5-A9D63CB09E0C}"/>
              </a:ext>
            </a:extLst>
          </p:cNvPr>
          <p:cNvPicPr>
            <a:picLocks xmlns:a="http://schemas.openxmlformats.org/drawingml/2006/main" noChangeAspect="1"/>
          </p:cNvPicPr>
          <p:nvPr/>
        </p:nvPicPr>
        <p:blipFill>
          <a:blip xmlns:r="http://schemas.openxmlformats.org/officeDocument/2006/relationships" xmlns:a="http://schemas.openxmlformats.org/drawingml/2006/main" r:embed="R172b1241c4cf4ea2"/>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0CEA1F2A-7C23-437D-8803-6285B6C0E7BD}"/>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Earlier and final grades</a:t>
            </a:r>
          </a:p>
        </p:txBody>
      </p:sp>
      <p:sp>
        <p:nvSpPr>
          <p:cNvPr id="3" name="Thin monochrome rule">
            <a:extLst xmlns:a="http://schemas.openxmlformats.org/drawingml/2006/main">
              <a:ext uri="{FF2B5EF4-FFF2-40B4-BE49-F238E27FC236}">
                <a16:creationId xmlns:a16="http://schemas.microsoft.com/office/drawing/2014/main" id="{875DA88B-349B-4D7D-845E-F3EC393DEDE2}"/>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6">
            <a:extLst xmlns:a="http://schemas.openxmlformats.org/drawingml/2006/main">
              <a:ext uri="{FF2B5EF4-FFF2-40B4-BE49-F238E27FC236}">
                <a16:creationId xmlns:a16="http://schemas.microsoft.com/office/drawing/2014/main" id="{9EE8DF27-253D-4232-A237-AE48B2499D44}"/>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16</a:t>
            </a:r>
          </a:p>
        </p:txBody>
      </p:sp>
      <p:graphicFrame>
        <p:nvGraphicFramePr>
          <p:cNvPr id="5" name="Chart">
            <a:extLst xmlns:a="http://schemas.openxmlformats.org/drawingml/2006/main">
              <a:ext uri="{FF2B5EF4-FFF2-40B4-BE49-F238E27FC236}">
                <a16:creationId xmlns:a16="http://schemas.microsoft.com/office/drawing/2014/main" id="{B84CEA91-B43D-417E-AA3B-442B8656B450}"/>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85b186cff8f141b8"/>
          </a:graphicData>
        </a:graphic>
      </p:graphicFrame>
      <p:sp>
        <p:nvSpPr>
          <p:cNvPr id="6" name="ρ = 0.9445">
            <a:extLst xmlns:a="http://schemas.openxmlformats.org/drawingml/2006/main">
              <a:ext uri="{FF2B5EF4-FFF2-40B4-BE49-F238E27FC236}">
                <a16:creationId xmlns:a16="http://schemas.microsoft.com/office/drawing/2014/main" id="{6B0758B4-D940-4E31-A6EF-FA54AF162480}"/>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ρ = 0.9445</a:t>
            </a:r>
          </a:p>
        </p:txBody>
      </p:sp>
      <p:sp>
        <p:nvSpPr>
          <p:cNvPr id="7" name="Pearson r = 0.9185&#10;&#10;Related assessments at different pe">
            <a:extLst xmlns:a="http://schemas.openxmlformats.org/drawingml/2006/main">
              <a:ext uri="{FF2B5EF4-FFF2-40B4-BE49-F238E27FC236}">
                <a16:creationId xmlns:a16="http://schemas.microsoft.com/office/drawing/2014/main" id="{CB3EFC2F-7DB4-42BA-8321-A9516AA0ECB1}"/>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Pearson r = 0.9185</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Related assessments at different periods</a:t>
            </a:r>
          </a:p>
        </p:txBody>
      </p:sp>
      <p:sp>
        <p:nvSpPr>
          <p:cNvPr id="8" name="The fitted line describes the observations; it is not a">
            <a:extLst xmlns:a="http://schemas.openxmlformats.org/drawingml/2006/main">
              <a:ext uri="{FF2B5EF4-FFF2-40B4-BE49-F238E27FC236}">
                <a16:creationId xmlns:a16="http://schemas.microsoft.com/office/drawing/2014/main" id="{AAC7A99A-8ED5-44A9-A06D-0CF1A976CDFD}"/>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fitted line describes the observations; it is not a validated forecasting model.</a:t>
            </a:r>
          </a:p>
        </p:txBody>
      </p:sp>
    </p:spTree>
    <p:extLst>
      <p:ext uri="{BB962C8B-B14F-4D97-AF65-F5344CB8AC3E}">
        <p14:creationId xmlns:p14="http://schemas.microsoft.com/office/powerpoint/2010/main" val="128398033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D423CE37-1506-4B73-8F42-39259962D908}"/>
              </a:ext>
            </a:extLst>
          </p:cNvPr>
          <p:cNvPicPr>
            <a:picLocks xmlns:a="http://schemas.openxmlformats.org/drawingml/2006/main" noChangeAspect="1"/>
          </p:cNvPicPr>
          <p:nvPr/>
        </p:nvPicPr>
        <p:blipFill>
          <a:blip xmlns:r="http://schemas.openxmlformats.org/officeDocument/2006/relationships" xmlns:a="http://schemas.openxmlformats.org/drawingml/2006/main" r:embed="Rb263576efb454f4b"/>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B4B47BB1-4270-4D02-9024-111FDD4EABDF}"/>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Matplotlib core from Python structures</a:t>
            </a:r>
          </a:p>
        </p:txBody>
      </p:sp>
      <p:sp>
        <p:nvSpPr>
          <p:cNvPr id="3" name="Thin monochrome rule">
            <a:extLst xmlns:a="http://schemas.openxmlformats.org/drawingml/2006/main">
              <a:ext uri="{FF2B5EF4-FFF2-40B4-BE49-F238E27FC236}">
                <a16:creationId xmlns:a16="http://schemas.microsoft.com/office/drawing/2014/main" id="{990543A1-EBE9-487F-AE11-E0F74157C32C}"/>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7">
            <a:extLst xmlns:a="http://schemas.openxmlformats.org/drawingml/2006/main">
              <a:ext uri="{FF2B5EF4-FFF2-40B4-BE49-F238E27FC236}">
                <a16:creationId xmlns:a16="http://schemas.microsoft.com/office/drawing/2014/main" id="{FC3E784A-2919-4110-8401-62F56D10049D}"/>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17</a:t>
            </a:r>
          </a:p>
        </p:txBody>
      </p:sp>
      <p:graphicFrame>
        <p:nvGraphicFramePr>
          <p:cNvPr id="5" name="Chart">
            <a:extLst xmlns:a="http://schemas.openxmlformats.org/drawingml/2006/main">
              <a:ext uri="{FF2B5EF4-FFF2-40B4-BE49-F238E27FC236}">
                <a16:creationId xmlns:a16="http://schemas.microsoft.com/office/drawing/2014/main" id="{127079ED-0ACD-430A-B31C-CF5A0476C4A8}"/>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e079556a5be14759"/>
          </a:graphicData>
        </a:graphic>
      </p:graphicFrame>
      <p:sp>
        <p:nvSpPr>
          <p:cNvPr id="6" name="List + dictionary">
            <a:extLst xmlns:a="http://schemas.openxmlformats.org/drawingml/2006/main">
              <a:ext uri="{FF2B5EF4-FFF2-40B4-BE49-F238E27FC236}">
                <a16:creationId xmlns:a16="http://schemas.microsoft.com/office/drawing/2014/main" id="{438876E0-F513-46DB-B716-6A1C8AF1CB2C}"/>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List + dictionary</a:t>
            </a:r>
          </a:p>
        </p:txBody>
      </p:sp>
      <p:sp>
        <p:nvSpPr>
          <p:cNvPr id="7" name="Only Matplotlib plots the notebook demonstration.&#10;&#10;Five">
            <a:extLst xmlns:a="http://schemas.openxmlformats.org/drawingml/2006/main">
              <a:ext uri="{FF2B5EF4-FFF2-40B4-BE49-F238E27FC236}">
                <a16:creationId xmlns:a16="http://schemas.microsoft.com/office/drawing/2014/main" id="{5536BE69-9DF3-439C-8D43-99EC33442768}"/>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Only Matplotlib plots the notebook demonstration.</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Five records illustrate mechanics.</a:t>
            </a:r>
          </a:p>
        </p:txBody>
      </p:sp>
      <p:sp>
        <p:nvSpPr>
          <p:cNvPr id="8" name="This small example is not a random sample or a populati">
            <a:extLst xmlns:a="http://schemas.openxmlformats.org/drawingml/2006/main">
              <a:ext uri="{FF2B5EF4-FFF2-40B4-BE49-F238E27FC236}">
                <a16:creationId xmlns:a16="http://schemas.microsoft.com/office/drawing/2014/main" id="{009BC836-FC4C-4AE7-987B-1F7C15AB93E5}"/>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This small example is not a random sample or a population trend.</a:t>
            </a:r>
          </a:p>
        </p:txBody>
      </p:sp>
    </p:spTree>
    <p:extLst>
      <p:ext uri="{BB962C8B-B14F-4D97-AF65-F5344CB8AC3E}">
        <p14:creationId xmlns:p14="http://schemas.microsoft.com/office/powerpoint/2010/main" val="6010692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8EEE9D9D-9763-495D-B9E8-F8AC0C24D0A4}"/>
              </a:ext>
            </a:extLst>
          </p:cNvPr>
          <p:cNvPicPr>
            <a:picLocks xmlns:a="http://schemas.openxmlformats.org/drawingml/2006/main" noChangeAspect="1"/>
          </p:cNvPicPr>
          <p:nvPr/>
        </p:nvPicPr>
        <p:blipFill>
          <a:blip xmlns:r="http://schemas.openxmlformats.org/officeDocument/2006/relationships" xmlns:a="http://schemas.openxmlformats.org/drawingml/2006/main" r:embed="R3b6b4ef391904ad2"/>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ED24DC43-30FF-4979-A201-B46F1FDE270C}"/>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Comprehensive report and extreme records</a:t>
            </a:r>
          </a:p>
        </p:txBody>
      </p:sp>
      <p:sp>
        <p:nvSpPr>
          <p:cNvPr id="3" name="Thin monochrome rule">
            <a:extLst xmlns:a="http://schemas.openxmlformats.org/drawingml/2006/main">
              <a:ext uri="{FF2B5EF4-FFF2-40B4-BE49-F238E27FC236}">
                <a16:creationId xmlns:a16="http://schemas.microsoft.com/office/drawing/2014/main" id="{5439DDA5-2424-47FD-97C9-21D2D91A6122}"/>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8">
            <a:extLst xmlns:a="http://schemas.openxmlformats.org/drawingml/2006/main">
              <a:ext uri="{FF2B5EF4-FFF2-40B4-BE49-F238E27FC236}">
                <a16:creationId xmlns:a16="http://schemas.microsoft.com/office/drawing/2014/main" id="{55D31492-A624-4EEA-B9D6-962EE1F211BC}"/>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18</a:t>
            </a:r>
          </a:p>
        </p:txBody>
      </p:sp>
      <p:graphicFrame>
        <p:nvGraphicFramePr>
          <p:cNvPr id="5" name="">
            <a:extLst xmlns:a="http://schemas.openxmlformats.org/drawingml/2006/main">
              <a:ext uri="{FF2B5EF4-FFF2-40B4-BE49-F238E27FC236}">
                <a16:creationId xmlns:a16="http://schemas.microsoft.com/office/drawing/2014/main" id="{84D5A69A-24EE-4499-8BB1-6428EA83FA57}"/>
              </a:ext>
            </a:extLst>
          </p:cNvPr>
          <p:cNvGraphicFramePr/>
          <p:nvPr/>
        </p:nvGraphicFramePr>
        <p:xfrm>
          <a:off xmlns:a="http://schemas.openxmlformats.org/drawingml/2006/main" x="666750" y="1809750"/>
          <a:ext xmlns:a="http://schemas.openxmlformats.org/drawingml/2006/main" cx="10858500" cy="3143250"/>
        </p:xfrm>
        <a:graphic xmlns:a="http://schemas.openxmlformats.org/drawingml/2006/main">
          <a:graphicData uri="http://schemas.openxmlformats.org/drawingml/2006/table">
            <a:tbl>
              <a:tblPr firstRow="0" bandRow="0"/>
              <a:tblGrid>
                <a:gridCol w="4485033"/>
                <a:gridCol w="2360543"/>
                <a:gridCol w="4012924"/>
              </a:tblGrid>
              <a:tr h="523875">
                <a:tc>
                  <a:txBody>
                    <a:bodyPr wrap="square" lIns="85725" tIns="85725" rIns="85725" bIns="85725">
                      <a:noAutofit/>
                    </a:bodyPr>
                    <a:lstStyle/>
                    <a:p>
                      <a:pPr algn="l"/>
                      <a:r>
                        <a:rPr sz="2100" b="1">
                          <a:solidFill>
                            <a:srgbClr val="000000"/>
                          </a:solidFill>
                          <a:latin typeface="Arial"/>
                          <a:ea typeface="Arial"/>
                          <a:cs typeface="Arial"/>
                        </a:rPr>
                        <a:t>Summary item</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100" b="1">
                          <a:solidFill>
                            <a:srgbClr val="000000"/>
                          </a:solidFill>
                          <a:latin typeface="Arial"/>
                          <a:ea typeface="Arial"/>
                          <a:cs typeface="Arial"/>
                        </a:rPr>
                        <a:t>Count</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100" b="1">
                          <a:solidFill>
                            <a:srgbClr val="000000"/>
                          </a:solidFill>
                          <a:latin typeface="Arial"/>
                          <a:ea typeface="Arial"/>
                          <a:cs typeface="Arial"/>
                        </a:rPr>
                        <a:t>Share</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523875">
                <a:tc>
                  <a:txBody>
                    <a:bodyPr wrap="square" lIns="85725" tIns="85725" rIns="85725" bIns="85725">
                      <a:noAutofit/>
                    </a:bodyPr>
                    <a:lstStyle/>
                    <a:p>
                      <a:pPr algn="l"/>
                      <a:r>
                        <a:rPr sz="2100" b="0">
                          <a:solidFill>
                            <a:srgbClr val="000000"/>
                          </a:solidFill>
                          <a:latin typeface="Arial"/>
                          <a:ea typeface="Arial"/>
                          <a:cs typeface="Arial"/>
                        </a:rPr>
                        <a:t>Analysis records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649</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100%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23875">
                <a:tc>
                  <a:txBody>
                    <a:bodyPr wrap="square" lIns="85725" tIns="85725" rIns="85725" bIns="85725">
                      <a:noAutofit/>
                    </a:bodyPr>
                    <a:lstStyle/>
                    <a:p>
                      <a:pPr algn="l"/>
                      <a:r>
                        <a:rPr sz="2100" b="0">
                          <a:solidFill>
                            <a:srgbClr val="000000"/>
                          </a:solidFill>
                          <a:latin typeface="Arial"/>
                          <a:ea typeface="Arial"/>
                          <a:cs typeface="Arial"/>
                        </a:rPr>
                        <a:t>Analysis columns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37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33 original + 4 derived</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23875">
                <a:tc>
                  <a:txBody>
                    <a:bodyPr wrap="square" lIns="85725" tIns="85725" rIns="85725" bIns="85725">
                      <a:noAutofit/>
                    </a:bodyPr>
                    <a:lstStyle/>
                    <a:p>
                      <a:pPr algn="l"/>
                      <a:r>
                        <a:rPr sz="2100" b="0">
                          <a:solidFill>
                            <a:srgbClr val="000000"/>
                          </a:solidFill>
                          <a:latin typeface="Arial"/>
                          <a:ea typeface="Arial"/>
                          <a:cs typeface="Arial"/>
                        </a:rPr>
                        <a:t>G3 band 0–9</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100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15.41%</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23875">
                <a:tc>
                  <a:txBody>
                    <a:bodyPr wrap="square" lIns="85725" tIns="85725" rIns="85725" bIns="85725">
                      <a:noAutofit/>
                    </a:bodyPr>
                    <a:lstStyle/>
                    <a:p>
                      <a:pPr algn="l"/>
                      <a:r>
                        <a:rPr sz="2100" b="0">
                          <a:solidFill>
                            <a:srgbClr val="000000"/>
                          </a:solidFill>
                          <a:latin typeface="Arial"/>
                          <a:ea typeface="Arial"/>
                          <a:cs typeface="Arial"/>
                        </a:rPr>
                        <a:t>G3 band 10–14</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418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64.41%</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23875">
                <a:tc>
                  <a:txBody>
                    <a:bodyPr wrap="square" lIns="85725" tIns="85725" rIns="85725" bIns="85725">
                      <a:noAutofit/>
                    </a:bodyPr>
                    <a:lstStyle/>
                    <a:p>
                      <a:pPr algn="l"/>
                      <a:r>
                        <a:rPr sz="2100" b="0">
                          <a:solidFill>
                            <a:srgbClr val="000000"/>
                          </a:solidFill>
                          <a:latin typeface="Arial"/>
                          <a:ea typeface="Arial"/>
                          <a:cs typeface="Arial"/>
                        </a:rPr>
                        <a:t>G3 band 15–20</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131</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20.18%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Top/bottom: exactly ten rows; original source order res">
            <a:extLst xmlns:a="http://schemas.openxmlformats.org/drawingml/2006/main">
              <a:ext uri="{FF2B5EF4-FFF2-40B4-BE49-F238E27FC236}">
                <a16:creationId xmlns:a16="http://schemas.microsoft.com/office/drawing/2014/main" id="{0116DA53-8ECC-4557-95C2-DDC06A22836B}"/>
              </a:ext>
            </a:extLst>
          </p:cNvPr>
          <p:cNvSpPr>
            <a:spLocks xmlns:a="http://schemas.openxmlformats.org/drawingml/2006/main" noGrp="1"/>
          </p:cNvSpPr>
          <p:nvPr/>
        </p:nvSpPr>
        <p:spPr>
          <a:xfrm xmlns:a="http://schemas.openxmlformats.org/drawingml/2006/main">
            <a:off x="762000" y="52863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Top/bottom: exactly ten rows; original source order resolves ties.</a:t>
            </a:r>
          </a:p>
        </p:txBody>
      </p:sp>
      <p:sp>
        <p:nvSpPr>
          <p:cNvPr id="7" name="Complete rows and all columns are preserved in the note">
            <a:extLst xmlns:a="http://schemas.openxmlformats.org/drawingml/2006/main">
              <a:ext uri="{FF2B5EF4-FFF2-40B4-BE49-F238E27FC236}">
                <a16:creationId xmlns:a16="http://schemas.microsoft.com/office/drawing/2014/main" id="{023A3994-C817-41CB-B829-376C92DFFB39}"/>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Complete rows and all columns are preserved in the notebook and CSV exports.</a:t>
            </a:r>
          </a:p>
        </p:txBody>
      </p:sp>
    </p:spTree>
    <p:extLst>
      <p:ext uri="{BB962C8B-B14F-4D97-AF65-F5344CB8AC3E}">
        <p14:creationId xmlns:p14="http://schemas.microsoft.com/office/powerpoint/2010/main" val="96877924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A1A6C2BA-41F8-4877-805D-B3A22EA293A5}"/>
              </a:ext>
            </a:extLst>
          </p:cNvPr>
          <p:cNvPicPr>
            <a:picLocks xmlns:a="http://schemas.openxmlformats.org/drawingml/2006/main" noChangeAspect="1"/>
          </p:cNvPicPr>
          <p:nvPr/>
        </p:nvPicPr>
        <p:blipFill>
          <a:blip xmlns:r="http://schemas.openxmlformats.org/officeDocument/2006/relationships" xmlns:a="http://schemas.openxmlformats.org/drawingml/2006/main" r:embed="Reeea1fb47a1b4136"/>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D8F03396-E851-4D9F-BF60-A6AC0C0E4675}"/>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Code demonstration</a:t>
            </a:r>
          </a:p>
        </p:txBody>
      </p:sp>
      <p:sp>
        <p:nvSpPr>
          <p:cNvPr id="3" name="Thin monochrome rule">
            <a:extLst xmlns:a="http://schemas.openxmlformats.org/drawingml/2006/main">
              <a:ext uri="{FF2B5EF4-FFF2-40B4-BE49-F238E27FC236}">
                <a16:creationId xmlns:a16="http://schemas.microsoft.com/office/drawing/2014/main" id="{D2F2E01A-22AB-40F0-9677-29C89EAAF529}"/>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9">
            <a:extLst xmlns:a="http://schemas.openxmlformats.org/drawingml/2006/main">
              <a:ext uri="{FF2B5EF4-FFF2-40B4-BE49-F238E27FC236}">
                <a16:creationId xmlns:a16="http://schemas.microsoft.com/office/drawing/2014/main" id="{028CEB91-D706-4A27-A7FA-10E718AC6EDF}"/>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19</a:t>
            </a:r>
          </a:p>
        </p:txBody>
      </p:sp>
      <p:sp>
        <p:nvSpPr>
          <p:cNvPr id="5" name="01">
            <a:extLst xmlns:a="http://schemas.openxmlformats.org/drawingml/2006/main">
              <a:ext uri="{FF2B5EF4-FFF2-40B4-BE49-F238E27FC236}">
                <a16:creationId xmlns:a16="http://schemas.microsoft.com/office/drawing/2014/main" id="{01844643-4FD7-4A77-9972-ED093A5B36A8}"/>
              </a:ext>
            </a:extLst>
          </p:cNvPr>
          <p:cNvSpPr>
            <a:spLocks xmlns:a="http://schemas.openxmlformats.org/drawingml/2006/main" noGrp="1"/>
          </p:cNvSpPr>
          <p:nvPr/>
        </p:nvSpPr>
        <p:spPr>
          <a:xfrm xmlns:a="http://schemas.openxmlformats.org/drawingml/2006/main">
            <a:off x="762000" y="17145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01</a:t>
            </a:r>
          </a:p>
        </p:txBody>
      </p:sp>
      <p:sp>
        <p:nvSpPr>
          <p:cNvPr id="6" name="Show the same 32-cell mask and both treatment branches.">
            <a:extLst xmlns:a="http://schemas.openxmlformats.org/drawingml/2006/main">
              <a:ext uri="{FF2B5EF4-FFF2-40B4-BE49-F238E27FC236}">
                <a16:creationId xmlns:a16="http://schemas.microsoft.com/office/drawing/2014/main" id="{0E683159-BBF5-40FC-BD38-3471985E4F35}"/>
              </a:ext>
            </a:extLst>
          </p:cNvPr>
          <p:cNvSpPr>
            <a:spLocks xmlns:a="http://schemas.openxmlformats.org/drawingml/2006/main" noGrp="1"/>
          </p:cNvSpPr>
          <p:nvPr/>
        </p:nvSpPr>
        <p:spPr>
          <a:xfrm xmlns:a="http://schemas.openxmlformats.org/drawingml/2006/main">
            <a:off x="1571625" y="1714500"/>
            <a:ext cx="98583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Show the same 32-cell mask and both treatment branches.</a:t>
            </a:r>
          </a:p>
        </p:txBody>
      </p:sp>
      <p:sp>
        <p:nvSpPr>
          <p:cNvPr id="7" name="02">
            <a:extLst xmlns:a="http://schemas.openxmlformats.org/drawingml/2006/main">
              <a:ext uri="{FF2B5EF4-FFF2-40B4-BE49-F238E27FC236}">
                <a16:creationId xmlns:a16="http://schemas.microsoft.com/office/drawing/2014/main" id="{B3185B11-7591-46A6-BC0E-C916227DA7D5}"/>
              </a:ext>
            </a:extLst>
          </p:cNvPr>
          <p:cNvSpPr>
            <a:spLocks xmlns:a="http://schemas.openxmlformats.org/drawingml/2006/main" noGrp="1"/>
          </p:cNvSpPr>
          <p:nvPr/>
        </p:nvSpPr>
        <p:spPr>
          <a:xfrm xmlns:a="http://schemas.openxmlformats.org/drawingml/2006/main">
            <a:off x="762000" y="27432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02</a:t>
            </a:r>
          </a:p>
        </p:txBody>
      </p:sp>
      <p:sp>
        <p:nvSpPr>
          <p:cNvPr id="8" name="Inspect insert(), grouped statistics and transform().">
            <a:extLst xmlns:a="http://schemas.openxmlformats.org/drawingml/2006/main">
              <a:ext uri="{FF2B5EF4-FFF2-40B4-BE49-F238E27FC236}">
                <a16:creationId xmlns:a16="http://schemas.microsoft.com/office/drawing/2014/main" id="{34CFE67F-39E0-47E0-8436-4028FD718A91}"/>
              </a:ext>
            </a:extLst>
          </p:cNvPr>
          <p:cNvSpPr>
            <a:spLocks xmlns:a="http://schemas.openxmlformats.org/drawingml/2006/main" noGrp="1"/>
          </p:cNvSpPr>
          <p:nvPr/>
        </p:nvSpPr>
        <p:spPr>
          <a:xfrm xmlns:a="http://schemas.openxmlformats.org/drawingml/2006/main">
            <a:off x="1571625" y="2743200"/>
            <a:ext cx="98583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Inspect insert(), grouped statistics and transform().</a:t>
            </a:r>
          </a:p>
        </p:txBody>
      </p:sp>
      <p:sp>
        <p:nvSpPr>
          <p:cNvPr id="9" name="03">
            <a:extLst xmlns:a="http://schemas.openxmlformats.org/drawingml/2006/main">
              <a:ext uri="{FF2B5EF4-FFF2-40B4-BE49-F238E27FC236}">
                <a16:creationId xmlns:a16="http://schemas.microsoft.com/office/drawing/2014/main" id="{3CB04249-6E56-4ED6-8DFB-91C04F217FAC}"/>
              </a:ext>
            </a:extLst>
          </p:cNvPr>
          <p:cNvSpPr>
            <a:spLocks xmlns:a="http://schemas.openxmlformats.org/drawingml/2006/main" noGrp="1"/>
          </p:cNvSpPr>
          <p:nvPr/>
        </p:nvSpPr>
        <p:spPr>
          <a:xfrm xmlns:a="http://schemas.openxmlformats.org/drawingml/2006/main">
            <a:off x="762000" y="37719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03</a:t>
            </a:r>
          </a:p>
        </p:txBody>
      </p:sp>
      <p:sp>
        <p:nvSpPr>
          <p:cNvPr id="10" name="Call comprehensive_report(df) and inspect complete top/">
            <a:extLst xmlns:a="http://schemas.openxmlformats.org/drawingml/2006/main">
              <a:ext uri="{FF2B5EF4-FFF2-40B4-BE49-F238E27FC236}">
                <a16:creationId xmlns:a16="http://schemas.microsoft.com/office/drawing/2014/main" id="{7B0F85CE-4ED0-4B51-A2B6-AAE0D312BC64}"/>
              </a:ext>
            </a:extLst>
          </p:cNvPr>
          <p:cNvSpPr>
            <a:spLocks xmlns:a="http://schemas.openxmlformats.org/drawingml/2006/main" noGrp="1"/>
          </p:cNvSpPr>
          <p:nvPr/>
        </p:nvSpPr>
        <p:spPr>
          <a:xfrm xmlns:a="http://schemas.openxmlformats.org/drawingml/2006/main">
            <a:off x="1571625" y="3771900"/>
            <a:ext cx="98583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Call comprehensive_report(df) and inspect complete top/bottom rows.</a:t>
            </a:r>
          </a:p>
        </p:txBody>
      </p:sp>
      <p:sp>
        <p:nvSpPr>
          <p:cNvPr id="11" name="04">
            <a:extLst xmlns:a="http://schemas.openxmlformats.org/drawingml/2006/main">
              <a:ext uri="{FF2B5EF4-FFF2-40B4-BE49-F238E27FC236}">
                <a16:creationId xmlns:a16="http://schemas.microsoft.com/office/drawing/2014/main" id="{B3DCFAEF-E9A2-4562-8B4F-6D185758CB16}"/>
              </a:ext>
            </a:extLst>
          </p:cNvPr>
          <p:cNvSpPr>
            <a:spLocks xmlns:a="http://schemas.openxmlformats.org/drawingml/2006/main" noGrp="1"/>
          </p:cNvSpPr>
          <p:nvPr/>
        </p:nvSpPr>
        <p:spPr>
          <a:xfrm xmlns:a="http://schemas.openxmlformats.org/drawingml/2006/main">
            <a:off x="762000" y="48006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04</a:t>
            </a:r>
          </a:p>
        </p:txBody>
      </p:sp>
      <p:sp>
        <p:nvSpPr>
          <p:cNvPr id="12" name="Use the executed notebook if live execution fails.">
            <a:extLst xmlns:a="http://schemas.openxmlformats.org/drawingml/2006/main">
              <a:ext uri="{FF2B5EF4-FFF2-40B4-BE49-F238E27FC236}">
                <a16:creationId xmlns:a16="http://schemas.microsoft.com/office/drawing/2014/main" id="{B76B7ED5-317F-4524-A530-F5AF2F8A8918}"/>
              </a:ext>
            </a:extLst>
          </p:cNvPr>
          <p:cNvSpPr>
            <a:spLocks xmlns:a="http://schemas.openxmlformats.org/drawingml/2006/main" noGrp="1"/>
          </p:cNvSpPr>
          <p:nvPr/>
        </p:nvSpPr>
        <p:spPr>
          <a:xfrm xmlns:a="http://schemas.openxmlformats.org/drawingml/2006/main">
            <a:off x="1571625" y="4800600"/>
            <a:ext cx="98583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Use the executed notebook if live execution fails.</a:t>
            </a:r>
          </a:p>
        </p:txBody>
      </p:sp>
    </p:spTree>
    <p:extLst>
      <p:ext uri="{BB962C8B-B14F-4D97-AF65-F5344CB8AC3E}">
        <p14:creationId xmlns:p14="http://schemas.microsoft.com/office/powerpoint/2010/main" val="333221715"/>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E326FF66-1F78-48C6-87F1-A7BAF6682552}"/>
              </a:ext>
            </a:extLst>
          </p:cNvPr>
          <p:cNvPicPr>
            <a:picLocks xmlns:a="http://schemas.openxmlformats.org/drawingml/2006/main" noChangeAspect="1"/>
          </p:cNvPicPr>
          <p:nvPr/>
        </p:nvPicPr>
        <p:blipFill>
          <a:blip xmlns:r="http://schemas.openxmlformats.org/officeDocument/2006/relationships" xmlns:a="http://schemas.openxmlformats.org/drawingml/2006/main" r:embed="R18095eb0dcbb465c"/>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21D40737-47BA-4C2C-933D-B81684ADCD6E}"/>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Conclusions and limitations</a:t>
            </a:r>
          </a:p>
        </p:txBody>
      </p:sp>
      <p:sp>
        <p:nvSpPr>
          <p:cNvPr id="3" name="Thin monochrome rule">
            <a:extLst xmlns:a="http://schemas.openxmlformats.org/drawingml/2006/main">
              <a:ext uri="{FF2B5EF4-FFF2-40B4-BE49-F238E27FC236}">
                <a16:creationId xmlns:a16="http://schemas.microsoft.com/office/drawing/2014/main" id="{F5C72DD9-55A2-4148-B432-DC6C74BD779D}"/>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20">
            <a:extLst xmlns:a="http://schemas.openxmlformats.org/drawingml/2006/main">
              <a:ext uri="{FF2B5EF4-FFF2-40B4-BE49-F238E27FC236}">
                <a16:creationId xmlns:a16="http://schemas.microsoft.com/office/drawing/2014/main" id="{AA4F2AE5-E4EB-4313-A8EF-CB238BAC1B17}"/>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20</a:t>
            </a:r>
          </a:p>
        </p:txBody>
      </p:sp>
      <p:sp>
        <p:nvSpPr>
          <p:cNvPr id="5" name="Observed findings">
            <a:extLst xmlns:a="http://schemas.openxmlformats.org/drawingml/2006/main">
              <a:ext uri="{FF2B5EF4-FFF2-40B4-BE49-F238E27FC236}">
                <a16:creationId xmlns:a16="http://schemas.microsoft.com/office/drawing/2014/main" id="{0168BC3C-78EC-4967-965C-208A112BCF71}"/>
              </a:ext>
            </a:extLst>
          </p:cNvPr>
          <p:cNvSpPr>
            <a:spLocks xmlns:a="http://schemas.openxmlformats.org/drawingml/2006/main" noGrp="1"/>
          </p:cNvSpPr>
          <p:nvPr/>
        </p:nvSpPr>
        <p:spPr>
          <a:xfrm xmlns:a="http://schemas.openxmlformats.org/drawingml/2006/main">
            <a:off x="762000" y="1714500"/>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00" b="1">
                <a:solidFill>
                  <a:srgbClr val="000000"/>
                </a:solidFill>
                <a:latin typeface="Arial"/>
                <a:ea typeface="Arial"/>
                <a:cs typeface="Arial"/>
              </a:defRPr>
            </a:defPPr>
          </a:lstStyle>
          <a:p xmlns:a="http://schemas.openxmlformats.org/drawingml/2006/main">
            <a:pPr algn="l">
              <a:defRPr sz="2800" b="1">
                <a:solidFill>
                  <a:srgbClr val="000000"/>
                </a:solidFill>
                <a:latin typeface="Arial"/>
                <a:ea typeface="Arial"/>
                <a:cs typeface="Arial"/>
              </a:defRPr>
            </a:pPr>
            <a:r>
              <a:rPr sz="2800" b="1">
                <a:solidFill>
                  <a:srgbClr val="000000"/>
                </a:solidFill>
                <a:latin typeface="Arial"/>
                <a:ea typeface="Arial"/>
                <a:cs typeface="Arial"/>
              </a:rPr>
              <a:t>Observed findings</a:t>
            </a:r>
          </a:p>
        </p:txBody>
      </p:sp>
      <p:sp>
        <p:nvSpPr>
          <p:cNvPr id="6" name="Final grade mean: 11.91&#10;&#10;G2 association: ρ = 0.9445&#10;&#10;St">
            <a:extLst xmlns:a="http://schemas.openxmlformats.org/drawingml/2006/main">
              <a:ext uri="{FF2B5EF4-FFF2-40B4-BE49-F238E27FC236}">
                <a16:creationId xmlns:a16="http://schemas.microsoft.com/office/drawing/2014/main" id="{C814E3C8-B8A3-451C-8561-751DBF54C729}"/>
              </a:ext>
            </a:extLst>
          </p:cNvPr>
          <p:cNvSpPr>
            <a:spLocks xmlns:a="http://schemas.openxmlformats.org/drawingml/2006/main" noGrp="1"/>
          </p:cNvSpPr>
          <p:nvPr/>
        </p:nvSpPr>
        <p:spPr>
          <a:xfrm xmlns:a="http://schemas.openxmlformats.org/drawingml/2006/main">
            <a:off x="762000" y="2428875"/>
            <a:ext cx="5048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Final grade mean: 11.91</a:t>
            </a:r>
          </a:p>
          <a:p xmlns:a="http://schemas.openxmlformats.org/drawingml/2006/main">
            <a:r>
              <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G2 association: ρ = 0.9445</a:t>
            </a:r>
          </a:p>
          <a:p xmlns:a="http://schemas.openxmlformats.org/drawingml/2006/main">
            <a:r>
              <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Strongest examined contextual rank association: failures</a:t>
            </a:r>
          </a:p>
        </p:txBody>
      </p:sp>
      <p:sp>
        <p:nvSpPr>
          <p:cNvPr id="7" name="Thin monochrome rule">
            <a:extLst xmlns:a="http://schemas.openxmlformats.org/drawingml/2006/main">
              <a:ext uri="{FF2B5EF4-FFF2-40B4-BE49-F238E27FC236}">
                <a16:creationId xmlns:a16="http://schemas.microsoft.com/office/drawing/2014/main" id="{DD3ABBB8-37AB-4FF4-8855-C652683A75DA}"/>
              </a:ext>
            </a:extLst>
          </p:cNvPr>
          <p:cNvSpPr>
            <a:spLocks xmlns:a="http://schemas.openxmlformats.org/drawingml/2006/main" noGrp="1"/>
          </p:cNvSpPr>
          <p:nvPr/>
        </p:nvSpPr>
        <p:spPr>
          <a:xfrm xmlns:a="http://schemas.openxmlformats.org/drawingml/2006/main">
            <a:off x="6191250" y="1762125"/>
            <a:ext cx="14288" cy="376237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8" name="Interpretation limits">
            <a:extLst xmlns:a="http://schemas.openxmlformats.org/drawingml/2006/main">
              <a:ext uri="{FF2B5EF4-FFF2-40B4-BE49-F238E27FC236}">
                <a16:creationId xmlns:a16="http://schemas.microsoft.com/office/drawing/2014/main" id="{2EEEEC01-F9F6-4848-A589-727097F9B682}"/>
              </a:ext>
            </a:extLst>
          </p:cNvPr>
          <p:cNvSpPr>
            <a:spLocks xmlns:a="http://schemas.openxmlformats.org/drawingml/2006/main" noGrp="1"/>
          </p:cNvSpPr>
          <p:nvPr/>
        </p:nvSpPr>
        <p:spPr>
          <a:xfrm xmlns:a="http://schemas.openxmlformats.org/drawingml/2006/main">
            <a:off x="6762750" y="171450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00" b="1">
                <a:solidFill>
                  <a:srgbClr val="000000"/>
                </a:solidFill>
                <a:latin typeface="Arial"/>
                <a:ea typeface="Arial"/>
                <a:cs typeface="Arial"/>
              </a:defRPr>
            </a:defPPr>
          </a:lstStyle>
          <a:p xmlns:a="http://schemas.openxmlformats.org/drawingml/2006/main">
            <a:pPr algn="l">
              <a:defRPr sz="2800" b="1">
                <a:solidFill>
                  <a:srgbClr val="000000"/>
                </a:solidFill>
                <a:latin typeface="Arial"/>
                <a:ea typeface="Arial"/>
                <a:cs typeface="Arial"/>
              </a:defRPr>
            </a:pPr>
            <a:r>
              <a:rPr sz="2800" b="1">
                <a:solidFill>
                  <a:srgbClr val="000000"/>
                </a:solidFill>
                <a:latin typeface="Arial"/>
                <a:ea typeface="Arial"/>
                <a:cs typeface="Arial"/>
              </a:rPr>
              <a:t>Interpretation limits</a:t>
            </a:r>
          </a:p>
        </p:txBody>
      </p:sp>
      <p:sp>
        <p:nvSpPr>
          <p:cNvPr id="9" name="Two schools and one subject&#10;&#10;Ordinal coding and unequal">
            <a:extLst xmlns:a="http://schemas.openxmlformats.org/drawingml/2006/main">
              <a:ext uri="{FF2B5EF4-FFF2-40B4-BE49-F238E27FC236}">
                <a16:creationId xmlns:a16="http://schemas.microsoft.com/office/drawing/2014/main" id="{BA8A71AF-620B-4CC9-A78D-7F28F4019DA5}"/>
              </a:ext>
            </a:extLst>
          </p:cNvPr>
          <p:cNvSpPr>
            <a:spLocks xmlns:a="http://schemas.openxmlformats.org/drawingml/2006/main" noGrp="1"/>
          </p:cNvSpPr>
          <p:nvPr/>
        </p:nvSpPr>
        <p:spPr>
          <a:xfrm xmlns:a="http://schemas.openxmlformats.org/drawingml/2006/main">
            <a:off x="6762750" y="2428875"/>
            <a:ext cx="47625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Two schools and one subject</a:t>
            </a:r>
          </a:p>
          <a:p xmlns:a="http://schemas.openxmlformats.org/drawingml/2006/main">
            <a:r>
              <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Ordinal coding and unequal groups</a:t>
            </a:r>
          </a:p>
          <a:p xmlns:a="http://schemas.openxmlformats.org/drawingml/2006/main">
            <a:r>
              <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Unadjusted observational associations</a:t>
            </a:r>
          </a:p>
          <a:p xmlns:a="http://schemas.openxmlformats.org/drawingml/2006/main">
            <a:r>
              <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One MCAR simulation</a:t>
            </a:r>
          </a:p>
        </p:txBody>
      </p:sp>
    </p:spTree>
    <p:extLst>
      <p:ext uri="{BB962C8B-B14F-4D97-AF65-F5344CB8AC3E}">
        <p14:creationId xmlns:p14="http://schemas.microsoft.com/office/powerpoint/2010/main" val="98346335"/>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DBC0DAF7-AAB9-4EBF-A456-8B4C54B2FEAD}"/>
              </a:ext>
            </a:extLst>
          </p:cNvPr>
          <p:cNvPicPr>
            <a:picLocks xmlns:a="http://schemas.openxmlformats.org/drawingml/2006/main" noChangeAspect="1"/>
          </p:cNvPicPr>
          <p:nvPr/>
        </p:nvPicPr>
        <p:blipFill>
          <a:blip xmlns:r="http://schemas.openxmlformats.org/officeDocument/2006/relationships" xmlns:a="http://schemas.openxmlformats.org/drawingml/2006/main" r:embed="R001e844e4984417e"/>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BD138938-8E25-4DB1-BEBE-3DBF4C8509FE}"/>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References</a:t>
            </a:r>
          </a:p>
        </p:txBody>
      </p:sp>
      <p:sp>
        <p:nvSpPr>
          <p:cNvPr id="3" name="Thin monochrome rule">
            <a:extLst xmlns:a="http://schemas.openxmlformats.org/drawingml/2006/main">
              <a:ext uri="{FF2B5EF4-FFF2-40B4-BE49-F238E27FC236}">
                <a16:creationId xmlns:a16="http://schemas.microsoft.com/office/drawing/2014/main" id="{330B9BD1-EBB9-4588-A64F-5D029D61FDB2}"/>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21">
            <a:extLst xmlns:a="http://schemas.openxmlformats.org/drawingml/2006/main">
              <a:ext uri="{FF2B5EF4-FFF2-40B4-BE49-F238E27FC236}">
                <a16:creationId xmlns:a16="http://schemas.microsoft.com/office/drawing/2014/main" id="{648DBA21-04FB-4807-8DAB-F3BAB8CE1515}"/>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21</a:t>
            </a:r>
          </a:p>
        </p:txBody>
      </p:sp>
      <p:sp>
        <p:nvSpPr>
          <p:cNvPr id="5" name="Cortez (2008). Student Performance. UCI Machine Learnin">
            <a:extLst xmlns:a="http://schemas.openxmlformats.org/drawingml/2006/main">
              <a:ext uri="{FF2B5EF4-FFF2-40B4-BE49-F238E27FC236}">
                <a16:creationId xmlns:a16="http://schemas.microsoft.com/office/drawing/2014/main" id="{40D3DA64-CDC9-4665-A1F9-6214B9DA06C4}"/>
              </a:ext>
            </a:extLst>
          </p:cNvPr>
          <p:cNvSpPr>
            <a:spLocks xmlns:a="http://schemas.openxmlformats.org/drawingml/2006/main" noGrp="1"/>
          </p:cNvSpPr>
          <p:nvPr/>
        </p:nvSpPr>
        <p:spPr>
          <a:xfrm xmlns:a="http://schemas.openxmlformats.org/drawingml/2006/main">
            <a:off x="762000" y="1809750"/>
            <a:ext cx="10668000" cy="395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Arial"/>
                <a:ea typeface="Arial"/>
                <a:cs typeface="Arial"/>
              </a:defRPr>
            </a:defPPr>
          </a:lstStyle>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Cortez (2008). Student Performance. UCI Machine Learning Repository.</a:t>
            </a:r>
          </a:p>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https://doi.org/10.24432/C5TG7T</a:t>
            </a:r>
          </a:p>
          <a:p xmlns:a="http://schemas.openxmlformats.org/drawingml/2006/main">
            <a:r>
              <a:t/>
            </a:r>
          </a:p>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Pandas documentation  https://pandas.pydata.org/docs/</a:t>
            </a:r>
          </a:p>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Seaborn API  https://seaborn.pydata.org/api.html</a:t>
            </a:r>
          </a:p>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Matplotlib documentation  https://matplotlib.org/stable/</a:t>
            </a:r>
          </a:p>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NumPy documentation  https://numpy.org/doc/</a:t>
            </a:r>
          </a:p>
        </p:txBody>
      </p:sp>
      <p:sp>
        <p:nvSpPr>
          <p:cNvPr id="6" name="The dataset is reused under CC BY 4.0 with attribution.">
            <a:extLst xmlns:a="http://schemas.openxmlformats.org/drawingml/2006/main">
              <a:ext uri="{FF2B5EF4-FFF2-40B4-BE49-F238E27FC236}">
                <a16:creationId xmlns:a16="http://schemas.microsoft.com/office/drawing/2014/main" id="{1CEFE576-3E1E-410B-8DF7-1DDFD4315AF8}"/>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dataset is reused under CC BY 4.0 with attribution.</a:t>
            </a:r>
          </a:p>
        </p:txBody>
      </p:sp>
    </p:spTree>
    <p:extLst>
      <p:ext uri="{BB962C8B-B14F-4D97-AF65-F5344CB8AC3E}">
        <p14:creationId xmlns:p14="http://schemas.microsoft.com/office/powerpoint/2010/main" val="363279111"/>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E1542072-F7BC-44A3-96F5-0B15B6793493}"/>
              </a:ext>
            </a:extLst>
          </p:cNvPr>
          <p:cNvPicPr>
            <a:picLocks xmlns:a="http://schemas.openxmlformats.org/drawingml/2006/main" noChangeAspect="1"/>
          </p:cNvPicPr>
          <p:nvPr/>
        </p:nvPicPr>
        <p:blipFill>
          <a:blip xmlns:r="http://schemas.openxmlformats.org/officeDocument/2006/relationships" xmlns:a="http://schemas.openxmlformats.org/drawingml/2006/main" r:embed="Rc374421ea7a348e6"/>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4B15CC04-20C8-4B93-AFB3-4F09AEE5AF64}"/>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Questions and discussion</a:t>
            </a:r>
          </a:p>
        </p:txBody>
      </p:sp>
      <p:sp>
        <p:nvSpPr>
          <p:cNvPr id="3" name="Thin monochrome rule">
            <a:extLst xmlns:a="http://schemas.openxmlformats.org/drawingml/2006/main">
              <a:ext uri="{FF2B5EF4-FFF2-40B4-BE49-F238E27FC236}">
                <a16:creationId xmlns:a16="http://schemas.microsoft.com/office/drawing/2014/main" id="{EC391531-E7A6-499D-919A-FD731C058617}"/>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22">
            <a:extLst xmlns:a="http://schemas.openxmlformats.org/drawingml/2006/main">
              <a:ext uri="{FF2B5EF4-FFF2-40B4-BE49-F238E27FC236}">
                <a16:creationId xmlns:a16="http://schemas.microsoft.com/office/drawing/2014/main" id="{570A3D5A-6E12-4D1C-999A-F012D62AFFDC}"/>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22</a:t>
            </a:r>
          </a:p>
        </p:txBody>
      </p:sp>
      <p:sp>
        <p:nvSpPr>
          <p:cNvPr id="5" name="Questions">
            <a:extLst xmlns:a="http://schemas.openxmlformats.org/drawingml/2006/main">
              <a:ext uri="{FF2B5EF4-FFF2-40B4-BE49-F238E27FC236}">
                <a16:creationId xmlns:a16="http://schemas.microsoft.com/office/drawing/2014/main" id="{3AAD5C0F-5EAA-4323-9BAA-D695862F634E}"/>
              </a:ext>
            </a:extLst>
          </p:cNvPr>
          <p:cNvSpPr>
            <a:spLocks xmlns:a="http://schemas.openxmlformats.org/drawingml/2006/main" noGrp="1"/>
          </p:cNvSpPr>
          <p:nvPr/>
        </p:nvSpPr>
        <p:spPr>
          <a:xfrm xmlns:a="http://schemas.openxmlformats.org/drawingml/2006/main">
            <a:off x="762000" y="200025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400" b="1">
                <a:solidFill>
                  <a:srgbClr val="000000"/>
                </a:solidFill>
                <a:latin typeface="Arial"/>
                <a:ea typeface="Arial"/>
                <a:cs typeface="Arial"/>
              </a:defRPr>
            </a:defPPr>
          </a:lstStyle>
          <a:p xmlns:a="http://schemas.openxmlformats.org/drawingml/2006/main">
            <a:pPr algn="l">
              <a:defRPr sz="4400" b="1">
                <a:solidFill>
                  <a:srgbClr val="000000"/>
                </a:solidFill>
                <a:latin typeface="Arial"/>
                <a:ea typeface="Arial"/>
                <a:cs typeface="Arial"/>
              </a:defRPr>
            </a:pPr>
            <a:r>
              <a:rPr sz="4400" b="1">
                <a:solidFill>
                  <a:srgbClr val="000000"/>
                </a:solidFill>
                <a:latin typeface="Arial"/>
                <a:ea typeface="Arial"/>
                <a:cs typeface="Arial"/>
              </a:rPr>
              <a:t>Questions</a:t>
            </a:r>
          </a:p>
        </p:txBody>
      </p:sp>
      <p:sp>
        <p:nvSpPr>
          <p:cNvPr id="6" name="Missing data, association, group comparison and reprodu">
            <a:extLst xmlns:a="http://schemas.openxmlformats.org/drawingml/2006/main">
              <a:ext uri="{FF2B5EF4-FFF2-40B4-BE49-F238E27FC236}">
                <a16:creationId xmlns:a16="http://schemas.microsoft.com/office/drawing/2014/main" id="{30E12424-B157-430C-924E-2BA96A0E5EA1}"/>
              </a:ext>
            </a:extLst>
          </p:cNvPr>
          <p:cNvSpPr>
            <a:spLocks xmlns:a="http://schemas.openxmlformats.org/drawingml/2006/main" noGrp="1"/>
          </p:cNvSpPr>
          <p:nvPr/>
        </p:nvSpPr>
        <p:spPr>
          <a:xfrm xmlns:a="http://schemas.openxmlformats.org/drawingml/2006/main">
            <a:off x="762000" y="3286125"/>
            <a:ext cx="10668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00" b="0">
                <a:solidFill>
                  <a:srgbClr val="000000"/>
                </a:solidFill>
                <a:latin typeface="Arial"/>
                <a:ea typeface="Arial"/>
                <a:cs typeface="Arial"/>
              </a:defRPr>
            </a:defPPr>
          </a:lstStyle>
          <a:p xmlns:a="http://schemas.openxmlformats.org/drawingml/2006/main">
            <a:pPr algn="l">
              <a:defRPr sz="2800" b="0">
                <a:solidFill>
                  <a:srgbClr val="000000"/>
                </a:solidFill>
                <a:latin typeface="Arial"/>
                <a:ea typeface="Arial"/>
                <a:cs typeface="Arial"/>
              </a:defRPr>
            </a:pPr>
            <a:r>
              <a:rPr sz="2800" b="0">
                <a:solidFill>
                  <a:srgbClr val="000000"/>
                </a:solidFill>
                <a:latin typeface="Arial"/>
                <a:ea typeface="Arial"/>
                <a:cs typeface="Arial"/>
              </a:rPr>
              <a:t>Missing data, association, group comparison and reproducibility</a:t>
            </a:r>
          </a:p>
        </p:txBody>
      </p:sp>
    </p:spTree>
    <p:extLst>
      <p:ext uri="{BB962C8B-B14F-4D97-AF65-F5344CB8AC3E}">
        <p14:creationId xmlns:p14="http://schemas.microsoft.com/office/powerpoint/2010/main" val="1840564474"/>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F574324D-04FA-44AC-9791-8BCC5EFAB194}"/>
              </a:ext>
            </a:extLst>
          </p:cNvPr>
          <p:cNvPicPr>
            <a:picLocks xmlns:a="http://schemas.openxmlformats.org/drawingml/2006/main" noChangeAspect="1"/>
          </p:cNvPicPr>
          <p:nvPr/>
        </p:nvPicPr>
        <p:blipFill>
          <a:blip xmlns:r="http://schemas.openxmlformats.org/officeDocument/2006/relationships" xmlns:a="http://schemas.openxmlformats.org/drawingml/2006/main" r:embed="Rf1b4d09f4a7c4444"/>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294B059D-C2CF-4C28-9B67-A0CBFA55D477}"/>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Appendix: highest ten records</a:t>
            </a:r>
          </a:p>
        </p:txBody>
      </p:sp>
      <p:sp>
        <p:nvSpPr>
          <p:cNvPr id="3" name="Thin monochrome rule">
            <a:extLst xmlns:a="http://schemas.openxmlformats.org/drawingml/2006/main">
              <a:ext uri="{FF2B5EF4-FFF2-40B4-BE49-F238E27FC236}">
                <a16:creationId xmlns:a16="http://schemas.microsoft.com/office/drawing/2014/main" id="{5A3F898E-6EC7-4445-8730-6B6FCD27C14D}"/>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23">
            <a:extLst xmlns:a="http://schemas.openxmlformats.org/drawingml/2006/main">
              <a:ext uri="{FF2B5EF4-FFF2-40B4-BE49-F238E27FC236}">
                <a16:creationId xmlns:a16="http://schemas.microsoft.com/office/drawing/2014/main" id="{797EE2C5-D0B0-46B3-AF76-0EC1C9BAE09F}"/>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23</a:t>
            </a:r>
          </a:p>
        </p:txBody>
      </p:sp>
      <p:graphicFrame>
        <p:nvGraphicFramePr>
          <p:cNvPr id="5" name="">
            <a:extLst xmlns:a="http://schemas.openxmlformats.org/drawingml/2006/main">
              <a:ext uri="{FF2B5EF4-FFF2-40B4-BE49-F238E27FC236}">
                <a16:creationId xmlns:a16="http://schemas.microsoft.com/office/drawing/2014/main" id="{ECC473BF-BDF8-465F-9AD9-951D9F8BD1A5}"/>
              </a:ext>
            </a:extLst>
          </p:cNvPr>
          <p:cNvGraphicFramePr/>
          <p:nvPr/>
        </p:nvGraphicFramePr>
        <p:xfrm>
          <a:off xmlns:a="http://schemas.openxmlformats.org/drawingml/2006/main" x="762000" y="1666875"/>
          <a:ext xmlns:a="http://schemas.openxmlformats.org/drawingml/2006/main" cx="10668000" cy="4191000"/>
        </p:xfrm>
        <a:graphic xmlns:a="http://schemas.openxmlformats.org/drawingml/2006/main">
          <a:graphicData uri="http://schemas.openxmlformats.org/drawingml/2006/table">
            <a:tbl>
              <a:tblPr firstRow="0" bandRow="0"/>
              <a:tblGrid>
                <a:gridCol w="2625969"/>
                <a:gridCol w="1641231"/>
                <a:gridCol w="1312985"/>
                <a:gridCol w="1312985"/>
                <a:gridCol w="1312985"/>
                <a:gridCol w="2461846"/>
              </a:tblGrid>
              <a:tr h="381000">
                <a:tc>
                  <a:txBody>
                    <a:bodyPr wrap="square" lIns="38100" tIns="38100" rIns="38100" bIns="38100">
                      <a:noAutofit/>
                    </a:bodyPr>
                    <a:lstStyle/>
                    <a:p>
                      <a:pPr algn="l"/>
                      <a:r>
                        <a:rPr sz="1800" b="1">
                          <a:solidFill>
                            <a:srgbClr val="000000"/>
                          </a:solidFill>
                          <a:latin typeface="Arial"/>
                          <a:ea typeface="Arial"/>
                          <a:cs typeface="Arial"/>
                        </a:rPr>
                        <a:t>Source index</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38100" tIns="38100" rIns="38100" bIns="38100">
                      <a:noAutofit/>
                    </a:bodyPr>
                    <a:lstStyle/>
                    <a:p>
                      <a:pPr algn="ctr"/>
                      <a:r>
                        <a:rPr sz="1800" b="1">
                          <a:solidFill>
                            <a:srgbClr val="000000"/>
                          </a:solidFill>
                          <a:latin typeface="Arial"/>
                          <a:ea typeface="Arial"/>
                          <a:cs typeface="Arial"/>
                        </a:rPr>
                        <a:t>School</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38100" tIns="38100" rIns="38100" bIns="38100">
                      <a:noAutofit/>
                    </a:bodyPr>
                    <a:lstStyle/>
                    <a:p>
                      <a:pPr algn="ctr"/>
                      <a:r>
                        <a:rPr sz="1800" b="1">
                          <a:solidFill>
                            <a:srgbClr val="000000"/>
                          </a:solidFill>
                          <a:latin typeface="Arial"/>
                          <a:ea typeface="Arial"/>
                          <a:cs typeface="Arial"/>
                        </a:rPr>
                        <a:t>G1</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38100" tIns="38100" rIns="38100" bIns="38100">
                      <a:noAutofit/>
                    </a:bodyPr>
                    <a:lstStyle/>
                    <a:p>
                      <a:pPr algn="ctr"/>
                      <a:r>
                        <a:rPr sz="1800" b="1">
                          <a:solidFill>
                            <a:srgbClr val="000000"/>
                          </a:solidFill>
                          <a:latin typeface="Arial"/>
                          <a:ea typeface="Arial"/>
                          <a:cs typeface="Arial"/>
                        </a:rPr>
                        <a:t>G2</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38100" tIns="38100" rIns="38100" bIns="38100">
                      <a:noAutofit/>
                    </a:bodyPr>
                    <a:lstStyle/>
                    <a:p>
                      <a:pPr algn="ctr"/>
                      <a:r>
                        <a:rPr sz="1800" b="1">
                          <a:solidFill>
                            <a:srgbClr val="000000"/>
                          </a:solidFill>
                          <a:latin typeface="Arial"/>
                          <a:ea typeface="Arial"/>
                          <a:cs typeface="Arial"/>
                        </a:rPr>
                        <a:t>G3</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38100" tIns="38100" rIns="38100" bIns="38100">
                      <a:noAutofit/>
                    </a:bodyPr>
                    <a:lstStyle/>
                    <a:p>
                      <a:pPr algn="ctr"/>
                      <a:r>
                        <a:rPr sz="1800" b="1">
                          <a:solidFill>
                            <a:srgbClr val="000000"/>
                          </a:solidFill>
                          <a:latin typeface="Arial"/>
                          <a:ea typeface="Arial"/>
                          <a:cs typeface="Arial"/>
                        </a:rPr>
                        <a:t>Band</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381000">
                <a:tc>
                  <a:txBody>
                    <a:bodyPr wrap="square" lIns="38100" tIns="38100" rIns="38100" bIns="38100">
                      <a:noAutofit/>
                    </a:bodyPr>
                    <a:lstStyle/>
                    <a:p>
                      <a:pPr algn="l"/>
                      <a:r>
                        <a:rPr sz="1800" b="0">
                          <a:solidFill>
                            <a:srgbClr val="000000"/>
                          </a:solidFill>
                          <a:latin typeface="Arial"/>
                          <a:ea typeface="Arial"/>
                          <a:cs typeface="Arial"/>
                        </a:rPr>
                        <a:t>338</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GP</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19</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19</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15–20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381000">
                <a:tc>
                  <a:txBody>
                    <a:bodyPr wrap="square" lIns="38100" tIns="38100" rIns="38100" bIns="38100">
                      <a:noAutofit/>
                    </a:bodyPr>
                    <a:lstStyle/>
                    <a:p>
                      <a:pPr algn="l"/>
                      <a:r>
                        <a:rPr sz="1800" b="0">
                          <a:solidFill>
                            <a:srgbClr val="000000"/>
                          </a:solidFill>
                          <a:latin typeface="Arial"/>
                          <a:ea typeface="Arial"/>
                          <a:cs typeface="Arial"/>
                        </a:rPr>
                        <a:t>636</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MS</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17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19</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15–20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381000">
                <a:tc>
                  <a:txBody>
                    <a:bodyPr wrap="square" lIns="38100" tIns="38100" rIns="38100" bIns="38100">
                      <a:noAutofit/>
                    </a:bodyPr>
                    <a:lstStyle/>
                    <a:p>
                      <a:pPr algn="l"/>
                      <a:r>
                        <a:rPr sz="1800" b="0">
                          <a:solidFill>
                            <a:srgbClr val="000000"/>
                          </a:solidFill>
                          <a:latin typeface="Arial"/>
                          <a:ea typeface="Arial"/>
                          <a:cs typeface="Arial"/>
                        </a:rPr>
                        <a:t>113</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GP</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17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15–20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381000">
                <a:tc>
                  <a:txBody>
                    <a:bodyPr wrap="square" lIns="38100" tIns="38100" rIns="38100" bIns="38100">
                      <a:noAutofit/>
                    </a:bodyPr>
                    <a:lstStyle/>
                    <a:p>
                      <a:pPr algn="l"/>
                      <a:r>
                        <a:rPr sz="1800" b="0">
                          <a:solidFill>
                            <a:srgbClr val="000000"/>
                          </a:solidFill>
                          <a:latin typeface="Arial"/>
                          <a:ea typeface="Arial"/>
                          <a:cs typeface="Arial"/>
                        </a:rPr>
                        <a:t>181</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GP</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17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17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15–20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381000">
                <a:tc>
                  <a:txBody>
                    <a:bodyPr wrap="square" lIns="38100" tIns="38100" rIns="38100" bIns="38100">
                      <a:noAutofit/>
                    </a:bodyPr>
                    <a:lstStyle/>
                    <a:p>
                      <a:pPr algn="l"/>
                      <a:r>
                        <a:rPr sz="1800" b="0">
                          <a:solidFill>
                            <a:srgbClr val="000000"/>
                          </a:solidFill>
                          <a:latin typeface="Arial"/>
                          <a:ea typeface="Arial"/>
                          <a:cs typeface="Arial"/>
                        </a:rPr>
                        <a:t>185</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GP</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16</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17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15–20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381000">
                <a:tc>
                  <a:txBody>
                    <a:bodyPr wrap="square" lIns="38100" tIns="38100" rIns="38100" bIns="38100">
                      <a:noAutofit/>
                    </a:bodyPr>
                    <a:lstStyle/>
                    <a:p>
                      <a:pPr algn="l"/>
                      <a:r>
                        <a:rPr sz="1800" b="0">
                          <a:solidFill>
                            <a:srgbClr val="000000"/>
                          </a:solidFill>
                          <a:latin typeface="Arial"/>
                          <a:ea typeface="Arial"/>
                          <a:cs typeface="Arial"/>
                        </a:rPr>
                        <a:t>314</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GP</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16</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17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15–20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381000">
                <a:tc>
                  <a:txBody>
                    <a:bodyPr wrap="square" lIns="38100" tIns="38100" rIns="38100" bIns="38100">
                      <a:noAutofit/>
                    </a:bodyPr>
                    <a:lstStyle/>
                    <a:p>
                      <a:pPr algn="l"/>
                      <a:r>
                        <a:rPr sz="1800" b="0">
                          <a:solidFill>
                            <a:srgbClr val="000000"/>
                          </a:solidFill>
                          <a:latin typeface="Arial"/>
                          <a:ea typeface="Arial"/>
                          <a:cs typeface="Arial"/>
                        </a:rPr>
                        <a:t>327</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GP</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17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17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15–20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381000">
                <a:tc>
                  <a:txBody>
                    <a:bodyPr wrap="square" lIns="38100" tIns="38100" rIns="38100" bIns="38100">
                      <a:noAutofit/>
                    </a:bodyPr>
                    <a:lstStyle/>
                    <a:p>
                      <a:pPr algn="l"/>
                      <a:r>
                        <a:rPr sz="1800" b="0">
                          <a:solidFill>
                            <a:srgbClr val="000000"/>
                          </a:solidFill>
                          <a:latin typeface="Arial"/>
                          <a:ea typeface="Arial"/>
                          <a:cs typeface="Arial"/>
                        </a:rPr>
                        <a:t>332</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GP</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15–20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381000">
                <a:tc>
                  <a:txBody>
                    <a:bodyPr wrap="square" lIns="38100" tIns="38100" rIns="38100" bIns="38100">
                      <a:noAutofit/>
                    </a:bodyPr>
                    <a:lstStyle/>
                    <a:p>
                      <a:pPr algn="l"/>
                      <a:r>
                        <a:rPr sz="1800" b="0">
                          <a:solidFill>
                            <a:srgbClr val="000000"/>
                          </a:solidFill>
                          <a:latin typeface="Arial"/>
                          <a:ea typeface="Arial"/>
                          <a:cs typeface="Arial"/>
                        </a:rPr>
                        <a:t>337</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GP</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17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15–20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381000">
                <a:tc>
                  <a:txBody>
                    <a:bodyPr wrap="square" lIns="38100" tIns="38100" rIns="38100" bIns="38100">
                      <a:noAutofit/>
                    </a:bodyPr>
                    <a:lstStyle/>
                    <a:p>
                      <a:pPr algn="l"/>
                      <a:r>
                        <a:rPr sz="1800" b="0">
                          <a:solidFill>
                            <a:srgbClr val="000000"/>
                          </a:solidFill>
                          <a:latin typeface="Arial"/>
                          <a:ea typeface="Arial"/>
                          <a:cs typeface="Arial"/>
                        </a:rPr>
                        <a:t>349</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GP</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15–20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Selected columns shown; the full 37-column rows are in ">
            <a:extLst xmlns:a="http://schemas.openxmlformats.org/drawingml/2006/main">
              <a:ext uri="{FF2B5EF4-FFF2-40B4-BE49-F238E27FC236}">
                <a16:creationId xmlns:a16="http://schemas.microsoft.com/office/drawing/2014/main" id="{EC8E1876-7D0E-4209-819E-26DFFA707BE3}"/>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Selected columns shown; the full 37-column rows are in the notebook and CSV.</a:t>
            </a:r>
          </a:p>
        </p:txBody>
      </p:sp>
    </p:spTree>
    <p:extLst>
      <p:ext uri="{BB962C8B-B14F-4D97-AF65-F5344CB8AC3E}">
        <p14:creationId xmlns:p14="http://schemas.microsoft.com/office/powerpoint/2010/main" val="60072439"/>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0750E255-CCBD-4F5D-84A8-E4BA05FCA350}"/>
              </a:ext>
            </a:extLst>
          </p:cNvPr>
          <p:cNvPicPr>
            <a:picLocks xmlns:a="http://schemas.openxmlformats.org/drawingml/2006/main" noChangeAspect="1"/>
          </p:cNvPicPr>
          <p:nvPr/>
        </p:nvPicPr>
        <p:blipFill>
          <a:blip xmlns:r="http://schemas.openxmlformats.org/officeDocument/2006/relationships" xmlns:a="http://schemas.openxmlformats.org/drawingml/2006/main" r:embed="R48f43fdd78c84a1a"/>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B28EB34E-56AA-44E2-BEEB-E72755288B39}"/>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Appendix: lowest ten records</a:t>
            </a:r>
          </a:p>
        </p:txBody>
      </p:sp>
      <p:sp>
        <p:nvSpPr>
          <p:cNvPr id="3" name="Thin monochrome rule">
            <a:extLst xmlns:a="http://schemas.openxmlformats.org/drawingml/2006/main">
              <a:ext uri="{FF2B5EF4-FFF2-40B4-BE49-F238E27FC236}">
                <a16:creationId xmlns:a16="http://schemas.microsoft.com/office/drawing/2014/main" id="{F028E3D3-B8C3-4478-B426-39CD87ED6666}"/>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24">
            <a:extLst xmlns:a="http://schemas.openxmlformats.org/drawingml/2006/main">
              <a:ext uri="{FF2B5EF4-FFF2-40B4-BE49-F238E27FC236}">
                <a16:creationId xmlns:a16="http://schemas.microsoft.com/office/drawing/2014/main" id="{04CA3BEE-665B-4FF7-8391-212103C5DCDE}"/>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24</a:t>
            </a:r>
          </a:p>
        </p:txBody>
      </p:sp>
      <p:graphicFrame>
        <p:nvGraphicFramePr>
          <p:cNvPr id="5" name="">
            <a:extLst xmlns:a="http://schemas.openxmlformats.org/drawingml/2006/main">
              <a:ext uri="{FF2B5EF4-FFF2-40B4-BE49-F238E27FC236}">
                <a16:creationId xmlns:a16="http://schemas.microsoft.com/office/drawing/2014/main" id="{5F9D7971-2B13-4CD0-ACB8-3AF4562F7536}"/>
              </a:ext>
            </a:extLst>
          </p:cNvPr>
          <p:cNvGraphicFramePr/>
          <p:nvPr/>
        </p:nvGraphicFramePr>
        <p:xfrm>
          <a:off xmlns:a="http://schemas.openxmlformats.org/drawingml/2006/main" x="762000" y="1666875"/>
          <a:ext xmlns:a="http://schemas.openxmlformats.org/drawingml/2006/main" cx="10668000" cy="4191000"/>
        </p:xfrm>
        <a:graphic xmlns:a="http://schemas.openxmlformats.org/drawingml/2006/main">
          <a:graphicData uri="http://schemas.openxmlformats.org/drawingml/2006/table">
            <a:tbl>
              <a:tblPr firstRow="0" bandRow="0"/>
              <a:tblGrid>
                <a:gridCol w="2625969"/>
                <a:gridCol w="1641231"/>
                <a:gridCol w="1312985"/>
                <a:gridCol w="1312985"/>
                <a:gridCol w="1312985"/>
                <a:gridCol w="2461846"/>
              </a:tblGrid>
              <a:tr h="381000">
                <a:tc>
                  <a:txBody>
                    <a:bodyPr wrap="square" lIns="38100" tIns="38100" rIns="38100" bIns="38100">
                      <a:noAutofit/>
                    </a:bodyPr>
                    <a:lstStyle/>
                    <a:p>
                      <a:pPr algn="l"/>
                      <a:r>
                        <a:rPr sz="1800" b="1">
                          <a:solidFill>
                            <a:srgbClr val="000000"/>
                          </a:solidFill>
                          <a:latin typeface="Arial"/>
                          <a:ea typeface="Arial"/>
                          <a:cs typeface="Arial"/>
                        </a:rPr>
                        <a:t>Source index</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38100" tIns="38100" rIns="38100" bIns="38100">
                      <a:noAutofit/>
                    </a:bodyPr>
                    <a:lstStyle/>
                    <a:p>
                      <a:pPr algn="ctr"/>
                      <a:r>
                        <a:rPr sz="1800" b="1">
                          <a:solidFill>
                            <a:srgbClr val="000000"/>
                          </a:solidFill>
                          <a:latin typeface="Arial"/>
                          <a:ea typeface="Arial"/>
                          <a:cs typeface="Arial"/>
                        </a:rPr>
                        <a:t>School</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38100" tIns="38100" rIns="38100" bIns="38100">
                      <a:noAutofit/>
                    </a:bodyPr>
                    <a:lstStyle/>
                    <a:p>
                      <a:pPr algn="ctr"/>
                      <a:r>
                        <a:rPr sz="1800" b="1">
                          <a:solidFill>
                            <a:srgbClr val="000000"/>
                          </a:solidFill>
                          <a:latin typeface="Arial"/>
                          <a:ea typeface="Arial"/>
                          <a:cs typeface="Arial"/>
                        </a:rPr>
                        <a:t>G1</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38100" tIns="38100" rIns="38100" bIns="38100">
                      <a:noAutofit/>
                    </a:bodyPr>
                    <a:lstStyle/>
                    <a:p>
                      <a:pPr algn="ctr"/>
                      <a:r>
                        <a:rPr sz="1800" b="1">
                          <a:solidFill>
                            <a:srgbClr val="000000"/>
                          </a:solidFill>
                          <a:latin typeface="Arial"/>
                          <a:ea typeface="Arial"/>
                          <a:cs typeface="Arial"/>
                        </a:rPr>
                        <a:t>G2</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38100" tIns="38100" rIns="38100" bIns="38100">
                      <a:noAutofit/>
                    </a:bodyPr>
                    <a:lstStyle/>
                    <a:p>
                      <a:pPr algn="ctr"/>
                      <a:r>
                        <a:rPr sz="1800" b="1">
                          <a:solidFill>
                            <a:srgbClr val="000000"/>
                          </a:solidFill>
                          <a:latin typeface="Arial"/>
                          <a:ea typeface="Arial"/>
                          <a:cs typeface="Arial"/>
                        </a:rPr>
                        <a:t>G3</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38100" tIns="38100" rIns="38100" bIns="38100">
                      <a:noAutofit/>
                    </a:bodyPr>
                    <a:lstStyle/>
                    <a:p>
                      <a:pPr algn="ctr"/>
                      <a:r>
                        <a:rPr sz="1800" b="1">
                          <a:solidFill>
                            <a:srgbClr val="000000"/>
                          </a:solidFill>
                          <a:latin typeface="Arial"/>
                          <a:ea typeface="Arial"/>
                          <a:cs typeface="Arial"/>
                        </a:rPr>
                        <a:t>Band</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381000">
                <a:tc>
                  <a:txBody>
                    <a:bodyPr wrap="square" lIns="38100" tIns="38100" rIns="38100" bIns="38100">
                      <a:noAutofit/>
                    </a:bodyPr>
                    <a:lstStyle/>
                    <a:p>
                      <a:pPr algn="l"/>
                      <a:r>
                        <a:rPr sz="1800" b="0">
                          <a:solidFill>
                            <a:srgbClr val="000000"/>
                          </a:solidFill>
                          <a:latin typeface="Arial"/>
                          <a:ea typeface="Arial"/>
                          <a:cs typeface="Arial"/>
                        </a:rPr>
                        <a:t>163</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GP</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11</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9</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0–9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381000">
                <a:tc>
                  <a:txBody>
                    <a:bodyPr wrap="square" lIns="38100" tIns="38100" rIns="38100" bIns="38100">
                      <a:noAutofit/>
                    </a:bodyPr>
                    <a:lstStyle/>
                    <a:p>
                      <a:pPr algn="l"/>
                      <a:r>
                        <a:rPr sz="1800" b="0">
                          <a:solidFill>
                            <a:srgbClr val="000000"/>
                          </a:solidFill>
                          <a:latin typeface="Arial"/>
                          <a:ea typeface="Arial"/>
                          <a:cs typeface="Arial"/>
                        </a:rPr>
                        <a:t>440</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MS</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0–9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381000">
                <a:tc>
                  <a:txBody>
                    <a:bodyPr wrap="square" lIns="38100" tIns="38100" rIns="38100" bIns="38100">
                      <a:noAutofit/>
                    </a:bodyPr>
                    <a:lstStyle/>
                    <a:p>
                      <a:pPr algn="l"/>
                      <a:r>
                        <a:rPr sz="1800" b="0">
                          <a:solidFill>
                            <a:srgbClr val="000000"/>
                          </a:solidFill>
                          <a:latin typeface="Arial"/>
                          <a:ea typeface="Arial"/>
                          <a:cs typeface="Arial"/>
                        </a:rPr>
                        <a:t>519</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MS</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0–9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381000">
                <a:tc>
                  <a:txBody>
                    <a:bodyPr wrap="square" lIns="38100" tIns="38100" rIns="38100" bIns="38100">
                      <a:noAutofit/>
                    </a:bodyPr>
                    <a:lstStyle/>
                    <a:p>
                      <a:pPr algn="l"/>
                      <a:r>
                        <a:rPr sz="1800" b="0">
                          <a:solidFill>
                            <a:srgbClr val="000000"/>
                          </a:solidFill>
                          <a:latin typeface="Arial"/>
                          <a:ea typeface="Arial"/>
                          <a:cs typeface="Arial"/>
                        </a:rPr>
                        <a:t>563</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MS</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0–9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381000">
                <a:tc>
                  <a:txBody>
                    <a:bodyPr wrap="square" lIns="38100" tIns="38100" rIns="38100" bIns="38100">
                      <a:noAutofit/>
                    </a:bodyPr>
                    <a:lstStyle/>
                    <a:p>
                      <a:pPr algn="l"/>
                      <a:r>
                        <a:rPr sz="1800" b="0">
                          <a:solidFill>
                            <a:srgbClr val="000000"/>
                          </a:solidFill>
                          <a:latin typeface="Arial"/>
                          <a:ea typeface="Arial"/>
                          <a:cs typeface="Arial"/>
                        </a:rPr>
                        <a:t>567</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MS</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4</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0–9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381000">
                <a:tc>
                  <a:txBody>
                    <a:bodyPr wrap="square" lIns="38100" tIns="38100" rIns="38100" bIns="38100">
                      <a:noAutofit/>
                    </a:bodyPr>
                    <a:lstStyle/>
                    <a:p>
                      <a:pPr algn="l"/>
                      <a:r>
                        <a:rPr sz="1800" b="0">
                          <a:solidFill>
                            <a:srgbClr val="000000"/>
                          </a:solidFill>
                          <a:latin typeface="Arial"/>
                          <a:ea typeface="Arial"/>
                          <a:cs typeface="Arial"/>
                        </a:rPr>
                        <a:t>583</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MS</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6</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0–9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381000">
                <a:tc>
                  <a:txBody>
                    <a:bodyPr wrap="square" lIns="38100" tIns="38100" rIns="38100" bIns="38100">
                      <a:noAutofit/>
                    </a:bodyPr>
                    <a:lstStyle/>
                    <a:p>
                      <a:pPr algn="l"/>
                      <a:r>
                        <a:rPr sz="1800" b="0">
                          <a:solidFill>
                            <a:srgbClr val="000000"/>
                          </a:solidFill>
                          <a:latin typeface="Arial"/>
                          <a:ea typeface="Arial"/>
                          <a:cs typeface="Arial"/>
                        </a:rPr>
                        <a:t>586</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MS</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0–9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381000">
                <a:tc>
                  <a:txBody>
                    <a:bodyPr wrap="square" lIns="38100" tIns="38100" rIns="38100" bIns="38100">
                      <a:noAutofit/>
                    </a:bodyPr>
                    <a:lstStyle/>
                    <a:p>
                      <a:pPr algn="l"/>
                      <a:r>
                        <a:rPr sz="1800" b="0">
                          <a:solidFill>
                            <a:srgbClr val="000000"/>
                          </a:solidFill>
                          <a:latin typeface="Arial"/>
                          <a:ea typeface="Arial"/>
                          <a:cs typeface="Arial"/>
                        </a:rPr>
                        <a:t>597</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MS</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9</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0–9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381000">
                <a:tc>
                  <a:txBody>
                    <a:bodyPr wrap="square" lIns="38100" tIns="38100" rIns="38100" bIns="38100">
                      <a:noAutofit/>
                    </a:bodyPr>
                    <a:lstStyle/>
                    <a:p>
                      <a:pPr algn="l"/>
                      <a:r>
                        <a:rPr sz="1800" b="0">
                          <a:solidFill>
                            <a:srgbClr val="000000"/>
                          </a:solidFill>
                          <a:latin typeface="Arial"/>
                          <a:ea typeface="Arial"/>
                          <a:cs typeface="Arial"/>
                        </a:rPr>
                        <a:t>603</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MS</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5</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0–9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381000">
                <a:tc>
                  <a:txBody>
                    <a:bodyPr wrap="square" lIns="38100" tIns="38100" rIns="38100" bIns="38100">
                      <a:noAutofit/>
                    </a:bodyPr>
                    <a:lstStyle/>
                    <a:p>
                      <a:pPr algn="l"/>
                      <a:r>
                        <a:rPr sz="1800" b="0">
                          <a:solidFill>
                            <a:srgbClr val="000000"/>
                          </a:solidFill>
                          <a:latin typeface="Arial"/>
                          <a:ea typeface="Arial"/>
                          <a:cs typeface="Arial"/>
                        </a:rPr>
                        <a:t>605</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MS</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5</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0–9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Selected columns shown; the full 37-column rows are in ">
            <a:extLst xmlns:a="http://schemas.openxmlformats.org/drawingml/2006/main">
              <a:ext uri="{FF2B5EF4-FFF2-40B4-BE49-F238E27FC236}">
                <a16:creationId xmlns:a16="http://schemas.microsoft.com/office/drawing/2014/main" id="{37F8E2CA-80EC-46BA-A3CB-9A9429FA7DD4}"/>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Selected columns shown; the full 37-column rows are in the notebook and CSV.</a:t>
            </a:r>
          </a:p>
        </p:txBody>
      </p:sp>
    </p:spTree>
    <p:extLst>
      <p:ext uri="{BB962C8B-B14F-4D97-AF65-F5344CB8AC3E}">
        <p14:creationId xmlns:p14="http://schemas.microsoft.com/office/powerpoint/2010/main" val="890789302"/>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BA1B6CFD-2BC2-490E-85C4-44DD5AEF41A3}"/>
              </a:ext>
            </a:extLst>
          </p:cNvPr>
          <p:cNvPicPr>
            <a:picLocks xmlns:a="http://schemas.openxmlformats.org/drawingml/2006/main" noChangeAspect="1"/>
          </p:cNvPicPr>
          <p:nvPr/>
        </p:nvPicPr>
        <p:blipFill>
          <a:blip xmlns:r="http://schemas.openxmlformats.org/officeDocument/2006/relationships" xmlns:a="http://schemas.openxmlformats.org/drawingml/2006/main" r:embed="Rae1ebc2e2b7e45a3"/>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1A66D52B-197C-4057-86BD-1A64541F2C16}"/>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Appendix: sensitivity and method checks</a:t>
            </a:r>
          </a:p>
        </p:txBody>
      </p:sp>
      <p:sp>
        <p:nvSpPr>
          <p:cNvPr id="3" name="Thin monochrome rule">
            <a:extLst xmlns:a="http://schemas.openxmlformats.org/drawingml/2006/main">
              <a:ext uri="{FF2B5EF4-FFF2-40B4-BE49-F238E27FC236}">
                <a16:creationId xmlns:a16="http://schemas.microsoft.com/office/drawing/2014/main" id="{514C58D8-A776-442F-BA2B-E2374F53D9F9}"/>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25">
            <a:extLst xmlns:a="http://schemas.openxmlformats.org/drawingml/2006/main">
              <a:ext uri="{FF2B5EF4-FFF2-40B4-BE49-F238E27FC236}">
                <a16:creationId xmlns:a16="http://schemas.microsoft.com/office/drawing/2014/main" id="{1F673ABC-5208-4DD1-8278-12B48851B4F0}"/>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25</a:t>
            </a:r>
          </a:p>
        </p:txBody>
      </p:sp>
      <p:graphicFrame>
        <p:nvGraphicFramePr>
          <p:cNvPr id="5" name="">
            <a:extLst xmlns:a="http://schemas.openxmlformats.org/drawingml/2006/main">
              <a:ext uri="{FF2B5EF4-FFF2-40B4-BE49-F238E27FC236}">
                <a16:creationId xmlns:a16="http://schemas.microsoft.com/office/drawing/2014/main" id="{240C8DD4-1B30-43D4-8FC3-5E3F8B952EF8}"/>
              </a:ext>
            </a:extLst>
          </p:cNvPr>
          <p:cNvGraphicFramePr/>
          <p:nvPr/>
        </p:nvGraphicFramePr>
        <p:xfrm>
          <a:off xmlns:a="http://schemas.openxmlformats.org/drawingml/2006/main" x="666750" y="1762125"/>
          <a:ext xmlns:a="http://schemas.openxmlformats.org/drawingml/2006/main" cx="10858500" cy="2381250"/>
        </p:xfrm>
        <a:graphic xmlns:a="http://schemas.openxmlformats.org/drawingml/2006/main">
          <a:graphicData uri="http://schemas.openxmlformats.org/drawingml/2006/table">
            <a:tbl>
              <a:tblPr firstRow="0" bandRow="0"/>
              <a:tblGrid>
                <a:gridCol w="3447143"/>
                <a:gridCol w="1206500"/>
                <a:gridCol w="2240643"/>
                <a:gridCol w="2240643"/>
                <a:gridCol w="1723571"/>
              </a:tblGrid>
              <a:tr h="595313">
                <a:tc>
                  <a:txBody>
                    <a:bodyPr wrap="square" lIns="85725" tIns="85725" rIns="85725" bIns="85725">
                      <a:noAutofit/>
                    </a:bodyPr>
                    <a:lstStyle/>
                    <a:p>
                      <a:pPr algn="l"/>
                      <a:r>
                        <a:rPr sz="1900" b="1">
                          <a:solidFill>
                            <a:srgbClr val="000000"/>
                          </a:solidFill>
                          <a:latin typeface="Arial"/>
                          <a:ea typeface="Arial"/>
                          <a:cs typeface="Arial"/>
                        </a:rPr>
                        <a:t>Variant</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1900" b="1">
                          <a:solidFill>
                            <a:srgbClr val="000000"/>
                          </a:solidFill>
                          <a:latin typeface="Arial"/>
                          <a:ea typeface="Arial"/>
                          <a:cs typeface="Arial"/>
                        </a:rPr>
                        <a:t>n</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1900" b="1">
                          <a:solidFill>
                            <a:srgbClr val="000000"/>
                          </a:solidFill>
                          <a:latin typeface="Arial"/>
                          <a:ea typeface="Arial"/>
                          <a:cs typeface="Arial"/>
                        </a:rPr>
                        <a:t>Absences SD</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1900" b="1">
                          <a:solidFill>
                            <a:srgbClr val="000000"/>
                          </a:solidFill>
                          <a:latin typeface="Arial"/>
                          <a:ea typeface="Arial"/>
                          <a:cs typeface="Arial"/>
                        </a:rPr>
                        <a:t>ρ with G3</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1900" b="1">
                          <a:solidFill>
                            <a:srgbClr val="000000"/>
                          </a:solidFill>
                          <a:latin typeface="Arial"/>
                          <a:ea typeface="Arial"/>
                          <a:cs typeface="Arial"/>
                        </a:rPr>
                        <a:t>Filter n</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595313">
                <a:tc>
                  <a:txBody>
                    <a:bodyPr wrap="square" lIns="85725" tIns="85725" rIns="85725" bIns="85725">
                      <a:noAutofit/>
                    </a:bodyPr>
                    <a:lstStyle/>
                    <a:p>
                      <a:pPr algn="l"/>
                      <a:r>
                        <a:rPr sz="1900" b="0">
                          <a:solidFill>
                            <a:srgbClr val="000000"/>
                          </a:solidFill>
                          <a:latin typeface="Arial"/>
                          <a:ea typeface="Arial"/>
                          <a:cs typeface="Arial"/>
                        </a:rPr>
                        <a:t>Original</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649</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4.6408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-0.1585</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334</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95313">
                <a:tc>
                  <a:txBody>
                    <a:bodyPr wrap="square" lIns="85725" tIns="85725" rIns="85725" bIns="85725">
                      <a:noAutofit/>
                    </a:bodyPr>
                    <a:lstStyle/>
                    <a:p>
                      <a:pPr algn="l"/>
                      <a:r>
                        <a:rPr sz="1900" b="0">
                          <a:solidFill>
                            <a:srgbClr val="000000"/>
                          </a:solidFill>
                          <a:latin typeface="Arial"/>
                          <a:ea typeface="Arial"/>
                          <a:cs typeface="Arial"/>
                        </a:rPr>
                        <a:t>Mean imputation</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649</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4.4940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-0.1628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339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95313">
                <a:tc>
                  <a:txBody>
                    <a:bodyPr wrap="square" lIns="85725" tIns="85725" rIns="85725" bIns="85725">
                      <a:noAutofit/>
                    </a:bodyPr>
                    <a:lstStyle/>
                    <a:p>
                      <a:pPr algn="l"/>
                      <a:r>
                        <a:rPr sz="1900" b="0">
                          <a:solidFill>
                            <a:srgbClr val="000000"/>
                          </a:solidFill>
                          <a:latin typeface="Arial"/>
                          <a:ea typeface="Arial"/>
                          <a:cs typeface="Arial"/>
                        </a:rPr>
                        <a:t>Drop missing</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617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4.6092</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-0.1671</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319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Boundary checks: score bands, constant groups, zero-cou">
            <a:extLst xmlns:a="http://schemas.openxmlformats.org/drawingml/2006/main">
              <a:ext uri="{FF2B5EF4-FFF2-40B4-BE49-F238E27FC236}">
                <a16:creationId xmlns:a16="http://schemas.microsoft.com/office/drawing/2014/main" id="{2800CD3A-3D48-4318-AF14-3828E00C6E51}"/>
              </a:ext>
            </a:extLst>
          </p:cNvPr>
          <p:cNvSpPr>
            <a:spLocks xmlns:a="http://schemas.openxmlformats.org/drawingml/2006/main" noGrp="1"/>
          </p:cNvSpPr>
          <p:nvPr/>
        </p:nvSpPr>
        <p:spPr>
          <a:xfrm xmlns:a="http://schemas.openxmlformats.org/drawingml/2006/main">
            <a:off x="762000" y="4619625"/>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Boundary checks: score bands, constant groups, zero-count categories and stable ties.</a:t>
            </a:r>
          </a:p>
        </p:txBody>
      </p:sp>
      <p:sp>
        <p:nvSpPr>
          <p:cNvPr id="7" name="Actual failure codes are retained; the upper-code ambig">
            <a:extLst xmlns:a="http://schemas.openxmlformats.org/drawingml/2006/main">
              <a:ext uri="{FF2B5EF4-FFF2-40B4-BE49-F238E27FC236}">
                <a16:creationId xmlns:a16="http://schemas.microsoft.com/office/drawing/2014/main" id="{A598B0B9-E87B-40A3-AB0C-B4505104429C}"/>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Actual failure codes are retained; the upper-code ambiguity is documented.</a:t>
            </a:r>
          </a:p>
        </p:txBody>
      </p:sp>
    </p:spTree>
    <p:extLst>
      <p:ext uri="{BB962C8B-B14F-4D97-AF65-F5344CB8AC3E}">
        <p14:creationId xmlns:p14="http://schemas.microsoft.com/office/powerpoint/2010/main" val="2014841756"/>
      </p:ext>
    </p:extLst>
  </p:cSld>
</p:sld>
</file>

<file path=ppt/theme/theme1.xml><?xml version="1.0" encoding="utf-8"?>
<a:theme xmlns:a="http://schemas.openxmlformats.org/drawingml/2006/main" name="ChatGPT">
  <a:themeElements>
    <a:clrScheme name="TDTU Academic Monochrome">
      <a:dk1>
        <a:srgbClr val="000000"/>
      </a:dk1>
      <a:lt1>
        <a:srgbClr val="FFFFFF"/>
      </a:lt1>
      <a:dk2>
        <a:srgbClr val="333333"/>
      </a:dk2>
      <a:lt2>
        <a:srgbClr val="EEEEEE"/>
      </a:lt2>
      <a:accent1>
        <a:srgbClr val="555555"/>
      </a:accent1>
      <a:accent2>
        <a:srgbClr val="999999"/>
      </a:accent2>
      <a:accent3>
        <a:srgbClr val="CCCCCC"/>
      </a:accent3>
      <a:accent4>
        <a:srgbClr val="222222"/>
      </a:accent4>
      <a:accent5>
        <a:srgbClr val="EEEEEE"/>
      </a:accent5>
      <a:accent6>
        <a:srgbClr val="777777"/>
      </a:accent6>
      <a:hlink>
        <a:srgbClr val="000000"/>
      </a:hlink>
      <a:folHlink>
        <a:srgbClr val="444444"/>
      </a:folHlink>
    </a:clrScheme>
    <a:fontScheme name="">
      <a:majorFont>
        <a:latin typeface="Arial"/>
        <a:ea typeface=""/>
        <a:cs typeface=""/>
      </a:majorFont>
      <a:minorFont>
        <a:latin typeface="Arial"/>
        <a:ea typeface=""/>
        <a:cs typeface=""/>
      </a:minorFont>
    </a:fontScheme>
    <a:fmtScheme name="TDTU Academic Monochro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2026-10-20T05:18:25.9490000Z</dcterms:created>
  <dcterms:modified xsi:type="dcterms:W3CDTF">2026-10-20T05:18:25.9490000Z</dcterms:modified>
</coreProperties>
</file>