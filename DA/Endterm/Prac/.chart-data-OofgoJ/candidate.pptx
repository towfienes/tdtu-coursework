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c9f4e2b43b4452c" /><Relationship Type="http://schemas.openxmlformats.org/officeDocument/2006/relationships/extended-properties" Target="/docProps/app.xml" Id="R4f95c25052384b6c" /><Relationship Type="http://schemas.openxmlformats.org/officeDocument/2006/relationships/officeDocument" Target="/ppt/presentation.xml" Id="R87f28c228a4b4d10" /></Relationships>
</file>

<file path=ppt/presentation.xml><?xml version="1.0" encoding="utf-8"?>
<p:presentation xmlns:p="http://schemas.openxmlformats.org/presentationml/2006/main">
  <p:sldMasterIdLst>
    <p:sldMasterId xmlns:r="http://schemas.openxmlformats.org/officeDocument/2006/relationships" id="2147483648" r:id="R268633d808144ed1"/>
  </p:sldMasterIdLst>
  <p:notesMasterIdLst>
    <p:notesMasterId xmlns:r="http://schemas.openxmlformats.org/officeDocument/2006/relationships" r:id="Red651f06684148b3"/>
  </p:notesMasterIdLst>
  <p:sldIdLst>
    <p:sldId xmlns:r="http://schemas.openxmlformats.org/officeDocument/2006/relationships" id="256" r:id="R9744183e79c44475"/>
    <p:sldId xmlns:r="http://schemas.openxmlformats.org/officeDocument/2006/relationships" id="257" r:id="R75bc2823a3eb49a2"/>
    <p:sldId xmlns:r="http://schemas.openxmlformats.org/officeDocument/2006/relationships" id="258" r:id="R6e8ad1a53c4646df"/>
    <p:sldId xmlns:r="http://schemas.openxmlformats.org/officeDocument/2006/relationships" id="259" r:id="R6ce911a92a144306"/>
    <p:sldId xmlns:r="http://schemas.openxmlformats.org/officeDocument/2006/relationships" id="260" r:id="R9e1f6d23520e4b50"/>
    <p:sldId xmlns:r="http://schemas.openxmlformats.org/officeDocument/2006/relationships" id="261" r:id="R49c5fd3386a447a4"/>
    <p:sldId xmlns:r="http://schemas.openxmlformats.org/officeDocument/2006/relationships" id="262" r:id="R70d7125849dd4826"/>
    <p:sldId xmlns:r="http://schemas.openxmlformats.org/officeDocument/2006/relationships" id="263" r:id="R3855fe96df334439"/>
    <p:sldId xmlns:r="http://schemas.openxmlformats.org/officeDocument/2006/relationships" id="264" r:id="R2bc94e74e55142ce"/>
    <p:sldId xmlns:r="http://schemas.openxmlformats.org/officeDocument/2006/relationships" id="265" r:id="R2c7ebda0232944f9"/>
    <p:sldId xmlns:r="http://schemas.openxmlformats.org/officeDocument/2006/relationships" id="266" r:id="R6f4d94e51fec4fc1"/>
    <p:sldId xmlns:r="http://schemas.openxmlformats.org/officeDocument/2006/relationships" id="267" r:id="R239592ee1c584a0a"/>
    <p:sldId xmlns:r="http://schemas.openxmlformats.org/officeDocument/2006/relationships" id="268" r:id="R20648488fb204693"/>
    <p:sldId xmlns:r="http://schemas.openxmlformats.org/officeDocument/2006/relationships" id="269" r:id="Rab5691fbc4ae4b1d"/>
    <p:sldId xmlns:r="http://schemas.openxmlformats.org/officeDocument/2006/relationships" id="270" r:id="R987daca523fc4302"/>
    <p:sldId xmlns:r="http://schemas.openxmlformats.org/officeDocument/2006/relationships" id="271" r:id="R019699fdf7594157"/>
    <p:sldId xmlns:r="http://schemas.openxmlformats.org/officeDocument/2006/relationships" id="272" r:id="R9e68e9f413cc479b"/>
    <p:sldId xmlns:r="http://schemas.openxmlformats.org/officeDocument/2006/relationships" id="273" r:id="R75081e0bfbc7415e"/>
    <p:sldId xmlns:r="http://schemas.openxmlformats.org/officeDocument/2006/relationships" id="274" r:id="R87b39057111f4a55"/>
    <p:sldId xmlns:r="http://schemas.openxmlformats.org/officeDocument/2006/relationships" id="275" r:id="R6aa5f86c90464082"/>
    <p:sldId xmlns:r="http://schemas.openxmlformats.org/officeDocument/2006/relationships" id="276" r:id="R8abf4e9f312e46c2"/>
    <p:sldId xmlns:r="http://schemas.openxmlformats.org/officeDocument/2006/relationships" id="277" r:id="Rdd0a1323661f4957"/>
    <p:sldId xmlns:r="http://schemas.openxmlformats.org/officeDocument/2006/relationships" id="278" r:id="R41c42c9eb3294dbd"/>
    <p:sldId xmlns:r="http://schemas.openxmlformats.org/officeDocument/2006/relationships" id="279" r:id="R279a828637934530"/>
    <p:sldId xmlns:r="http://schemas.openxmlformats.org/officeDocument/2006/relationships" id="280" r:id="R2d06480af2784e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cd0313d33d4475" /><Relationship Type="http://schemas.openxmlformats.org/officeDocument/2006/relationships/slideMaster" Target="/ppt/slideMasters/slideMaster1.xml" Id="R268633d808144ed1" /><Relationship Type="http://schemas.openxmlformats.org/officeDocument/2006/relationships/notesMaster" Target="/ppt/notesMasters/notesMaster1.xml" Id="Red651f06684148b3" /><Relationship Type="http://schemas.openxmlformats.org/officeDocument/2006/relationships/presProps" Target="/ppt/presProps.xml" Id="Rcb678abfc33446ad" /><Relationship Type="http://schemas.openxmlformats.org/officeDocument/2006/relationships/tableStyles" Target="/ppt/tableStyles.xml" Id="R4590c29722424fa8" /><Relationship Type="http://schemas.openxmlformats.org/officeDocument/2006/relationships/slide" Target="/ppt/slides/slide1.xml" Id="R9744183e79c44475" /><Relationship Type="http://schemas.openxmlformats.org/officeDocument/2006/relationships/slide" Target="/ppt/slides/slide2.xml" Id="R75bc2823a3eb49a2" /><Relationship Type="http://schemas.openxmlformats.org/officeDocument/2006/relationships/slide" Target="/ppt/slides/slide3.xml" Id="R6e8ad1a53c4646df" /><Relationship Type="http://schemas.openxmlformats.org/officeDocument/2006/relationships/slide" Target="/ppt/slides/slide4.xml" Id="R6ce911a92a144306" /><Relationship Type="http://schemas.openxmlformats.org/officeDocument/2006/relationships/slide" Target="/ppt/slides/slide5.xml" Id="R9e1f6d23520e4b50" /><Relationship Type="http://schemas.openxmlformats.org/officeDocument/2006/relationships/slide" Target="/ppt/slides/slide6.xml" Id="R49c5fd3386a447a4" /><Relationship Type="http://schemas.openxmlformats.org/officeDocument/2006/relationships/slide" Target="/ppt/slides/slide7.xml" Id="R70d7125849dd4826" /><Relationship Type="http://schemas.openxmlformats.org/officeDocument/2006/relationships/slide" Target="/ppt/slides/slide8.xml" Id="R3855fe96df334439" /><Relationship Type="http://schemas.openxmlformats.org/officeDocument/2006/relationships/slide" Target="/ppt/slides/slide9.xml" Id="R2bc94e74e55142ce" /><Relationship Type="http://schemas.openxmlformats.org/officeDocument/2006/relationships/slide" Target="/ppt/slides/slide10.xml" Id="R2c7ebda0232944f9" /><Relationship Type="http://schemas.openxmlformats.org/officeDocument/2006/relationships/slide" Target="/ppt/slides/slide11.xml" Id="R6f4d94e51fec4fc1" /><Relationship Type="http://schemas.openxmlformats.org/officeDocument/2006/relationships/slide" Target="/ppt/slides/slide12.xml" Id="R239592ee1c584a0a" /><Relationship Type="http://schemas.openxmlformats.org/officeDocument/2006/relationships/slide" Target="/ppt/slides/slide13.xml" Id="R20648488fb204693" /><Relationship Type="http://schemas.openxmlformats.org/officeDocument/2006/relationships/slide" Target="/ppt/slides/slide14.xml" Id="Rab5691fbc4ae4b1d" /><Relationship Type="http://schemas.openxmlformats.org/officeDocument/2006/relationships/slide" Target="/ppt/slides/slide15.xml" Id="R987daca523fc4302" /><Relationship Type="http://schemas.openxmlformats.org/officeDocument/2006/relationships/slide" Target="/ppt/slides/slide16.xml" Id="R019699fdf7594157" /><Relationship Type="http://schemas.openxmlformats.org/officeDocument/2006/relationships/slide" Target="/ppt/slides/slide17.xml" Id="R9e68e9f413cc479b" /><Relationship Type="http://schemas.openxmlformats.org/officeDocument/2006/relationships/slide" Target="/ppt/slides/slide18.xml" Id="R75081e0bfbc7415e" /><Relationship Type="http://schemas.openxmlformats.org/officeDocument/2006/relationships/slide" Target="/ppt/slides/slide19.xml" Id="R87b39057111f4a55" /><Relationship Type="http://schemas.openxmlformats.org/officeDocument/2006/relationships/slide" Target="/ppt/slides/slide20.xml" Id="R6aa5f86c90464082" /><Relationship Type="http://schemas.openxmlformats.org/officeDocument/2006/relationships/slide" Target="/ppt/slides/slide21.xml" Id="R8abf4e9f312e46c2" /><Relationship Type="http://schemas.openxmlformats.org/officeDocument/2006/relationships/slide" Target="/ppt/slides/slide22.xml" Id="Rdd0a1323661f4957" /><Relationship Type="http://schemas.openxmlformats.org/officeDocument/2006/relationships/slide" Target="/ppt/slides/slide23.xml" Id="R41c42c9eb3294dbd" /><Relationship Type="http://schemas.openxmlformats.org/officeDocument/2006/relationships/slide" Target="/ppt/slides/slide24.xml" Id="R279a828637934530" /><Relationship Type="http://schemas.openxmlformats.org/officeDocument/2006/relationships/slide" Target="/ppt/slides/slide25.xml" Id="R2d06480af2784e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6adf42d69a43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6d39e6068a4076" /><Relationship Type="http://schemas.openxmlformats.org/officeDocument/2006/relationships/notesMaster" Target="/ppt/notesMasters/notesMaster1.xml" Id="Rbd9ef069b20445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cead256e2545e6" /><Relationship Type="http://schemas.openxmlformats.org/officeDocument/2006/relationships/notesMaster" Target="/ppt/notesMasters/notesMaster1.xml" Id="R2effad39574243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f2a418bcab4ac5" /><Relationship Type="http://schemas.openxmlformats.org/officeDocument/2006/relationships/notesMaster" Target="/ppt/notesMasters/notesMaster1.xml" Id="Rc536649583704a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1944b592da4eec" /><Relationship Type="http://schemas.openxmlformats.org/officeDocument/2006/relationships/notesMaster" Target="/ppt/notesMasters/notesMaster1.xml" Id="R91c80f2f4f9948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74dd6d71c5415f" /><Relationship Type="http://schemas.openxmlformats.org/officeDocument/2006/relationships/notesMaster" Target="/ppt/notesMasters/notesMaster1.xml" Id="Rf14920f9fca747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e56154755d45e1" /><Relationship Type="http://schemas.openxmlformats.org/officeDocument/2006/relationships/notesMaster" Target="/ppt/notesMasters/notesMaster1.xml" Id="R81b1fbfc251e40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98f29ae67d41af" /><Relationship Type="http://schemas.openxmlformats.org/officeDocument/2006/relationships/notesMaster" Target="/ppt/notesMasters/notesMaster1.xml" Id="Rdd2e4c2020c94b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93baa6f3de4591" /><Relationship Type="http://schemas.openxmlformats.org/officeDocument/2006/relationships/notesMaster" Target="/ppt/notesMasters/notesMaster1.xml" Id="Ra4a545a6c9084c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362af1f7804c1e" /><Relationship Type="http://schemas.openxmlformats.org/officeDocument/2006/relationships/notesMaster" Target="/ppt/notesMasters/notesMaster1.xml" Id="R0a882e12154149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e8c6f5071f44a6" /><Relationship Type="http://schemas.openxmlformats.org/officeDocument/2006/relationships/notesMaster" Target="/ppt/notesMasters/notesMaster1.xml" Id="Re04e3623763749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7f99a4e39c4ac4" /><Relationship Type="http://schemas.openxmlformats.org/officeDocument/2006/relationships/notesMaster" Target="/ppt/notesMasters/notesMaster1.xml" Id="R3f886f7da9074f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e9ecc0de624b06" /><Relationship Type="http://schemas.openxmlformats.org/officeDocument/2006/relationships/notesMaster" Target="/ppt/notesMasters/notesMaster1.xml" Id="Rf4373a2ea0ae41f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ce0f4e8d5cc4707" /><Relationship Type="http://schemas.openxmlformats.org/officeDocument/2006/relationships/notesMaster" Target="/ppt/notesMasters/notesMaster1.xml" Id="R150345e4916243e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1ca89d2e82c41e1" /><Relationship Type="http://schemas.openxmlformats.org/officeDocument/2006/relationships/notesMaster" Target="/ppt/notesMasters/notesMaster1.xml" Id="Re11e0482677a4b4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0f05eee1fa74278" /><Relationship Type="http://schemas.openxmlformats.org/officeDocument/2006/relationships/notesMaster" Target="/ppt/notesMasters/notesMaster1.xml" Id="Rf71cbb877f80460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e429324c80244f5" /><Relationship Type="http://schemas.openxmlformats.org/officeDocument/2006/relationships/notesMaster" Target="/ppt/notesMasters/notesMaster1.xml" Id="R5bb604fb8cf44f6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3d4fbde83a542dd" /><Relationship Type="http://schemas.openxmlformats.org/officeDocument/2006/relationships/notesMaster" Target="/ppt/notesMasters/notesMaster1.xml" Id="R7737432a4f064cb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4abbeac6e434623" /><Relationship Type="http://schemas.openxmlformats.org/officeDocument/2006/relationships/notesMaster" Target="/ppt/notesMasters/notesMaster1.xml" Id="R7d00a6bcd03548e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179896613fe4496" /><Relationship Type="http://schemas.openxmlformats.org/officeDocument/2006/relationships/notesMaster" Target="/ppt/notesMasters/notesMaster1.xml" Id="Ree09c7a8a161432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f82a2e9ab245e6" /><Relationship Type="http://schemas.openxmlformats.org/officeDocument/2006/relationships/notesMaster" Target="/ppt/notesMasters/notesMaster1.xml" Id="R34777c625844402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c3604a502f44ef9" /><Relationship Type="http://schemas.openxmlformats.org/officeDocument/2006/relationships/notesMaster" Target="/ppt/notesMasters/notesMaster1.xml" Id="R0f156feacae24b6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5c3d159f41e47a8" /><Relationship Type="http://schemas.openxmlformats.org/officeDocument/2006/relationships/notesMaster" Target="/ppt/notesMasters/notesMaster1.xml" Id="Rf5498187433f492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6ed924c3e71496e" /><Relationship Type="http://schemas.openxmlformats.org/officeDocument/2006/relationships/notesMaster" Target="/ppt/notesMasters/notesMaster1.xml" Id="Rfd792b7a5f6b499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b86754d64c2448d" /><Relationship Type="http://schemas.openxmlformats.org/officeDocument/2006/relationships/notesMaster" Target="/ppt/notesMasters/notesMaster1.xml" Id="R4194c9c6e18b466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258b5b234504c09" /><Relationship Type="http://schemas.openxmlformats.org/officeDocument/2006/relationships/notesMaster" Target="/ppt/notesMasters/notesMaster1.xml" Id="R8cafb4a7c54f4b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Giới thiệu nhóm bốn người và Cô Ho Thi Linh. Nêu đề tài phân tích thành tích học sinh từ dữ liệu công khai; báo cáo cuối kỳ ngày 20/10/2026. Không gọi đây là dữ liệu sinh viên TDTU.</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Trình bày bốn câu hỏi tương ứng bốn phần đề. Điểm nhấn là phân tích mô tả có thể chạy lại, có nguồn gốc dữ liệu và có giới hạn rõ ràng. Chuyển sang dataset trước khi giải thích kỹ thuật.</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Nguồn UCI Student Performance, chỉ file student-por.csv. Có 649 bản ghi, 33 cột, không thiếu ở nguồn. GP423 và MS226. Không gộp môn Toán vì có học sinh trùng giữa hai file. Nêu thang lý thuyết0–20 khác miền quan sát0–19.</a:t>
            </a:r>
          </a:p>
          <a:p xmlns:a="http://schemas.openxmlformats.org/drawingml/2006/main">
            <a:r>
              <a:t>Nguồn: Cortez (2008), https://doi.org/10.24432/C5TG7T; references/student.txt.</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Mở notebook mục I.1 và I.2. Giải thích delimiter chấm phẩy, kiểm checksum, shape, dtypes và info. Hiển thị cả đầu và cuối dữ liệu giúp phát hiện parse sai. Integer storage không có nghĩa studytime là số giờ thực.</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5%×649=32,45; lấy32 ô nên4,93%. Che duy nhất absences, cùng mask cho hai nhánh. Seed42 tái lập; MCAR chỉ là giả lập. Tất cả kết luận chính dùng raw đã kiểm.</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Bảng này lấy từ output chạy thật. Mean imputation dùng mean của617 giá trị chưa bị che:3,623987. Giữ649 dòng nhưng giảm phân tán và tạo số lần vắng lẻ. Dropna còn617. Cả hai bắt đầu từ cùng corrupted, không drop sau fillna.</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Chứng minh Series→list→lọc bằng Python. Có549 điểm≥10 theo quy ước bài phân tích. Regex fullmatch lấy đúngG1/G2/G3, loạiG12 vàG3_extra. Không cần bịa ID cá nhân hoặc dữ liệu bẩn.</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Giải thích loc theo nhãn có bao gồm cận cuối9, iloc theo vị trí. Bộ lọc studytime≥2 và absences≤5 cho334/649=51,46%. Nhấn mạnh ngưỡng minh họa, không phải quy tắc can thiệp.</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Giải thích từng cột và thao tác insert ngay trước G3. prior_grade_mean không chứa G3; grade_progress là chênh lệch giữa hai kỳ, không tự nó chứng minh tiến bộ do can thiệp. performance_band gồm 0–9, 10–14, 15–20 là nhóm tự quy ước. Vì chứa outcome, cột này không được xếp hạng như một yếu tố giải thích.</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Notebook và báo cáo có đủ count, mean, std, min, max cho cả G1, G2, G3 theo trường. Slide trích G3 và cỡ mẫu để đọc được. GP có 423 bản ghi, MS có 226; trung bình và độ phân tán khác nhau nhưng chưa điều chỉnh yếu tố khác. Chuẩn hóa min–max dùng transform trong từng trường và giữ đúng index; nhóm hằng trả 0. Đây là thang tương đối trong nhóm.</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15 giây.</a:t>
            </a:r>
          </a:p>
          <a:p xmlns:a="http://schemas.openxmlformats.org/drawingml/2006/main">
            <a:r>
              <a:t>Có ma trận Pearson cho 16 biến số gốc và bảng Spearman bổ sung. G2 có rho khoảng 0,94445 và là điểm kỳ trước; không trình bày như một phát hiện mới về hoàn cảnh. failures có rho khoảng −0,44836, lớn nhất về trị tuyệt đối trong nhóm biến hoàn cảnh dạng số/thứ bậc đã xét. Đây không phải feature importance của mô hình đa biến. Không so mean difference của biến định tính trực tiếp với rho.</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Histogram trong notebook dùng sns.histplot với bin một điểm. Slide dùng cùng bảng tần số đã xuất ở dạng chart chỉnh sửa được. Mean khoảng 11,906; median 12; sample SD khoảng 3,231. Giữ điểm 0 như một kết quả quan sát. Trục giữ toàn thang lý thuyết 0–20, kể cả bin rỗng.</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Box plot trong notebook dùng Seaborn. Q1, median, Q3, whiskers và outliers được xuất theo cùng quy tắc 1,5 IQR. Slide dùng các đối tượng chỉnh sửa được dựng từ thống kê này để tránh khác biệt quy tắc quartile của Office. Median GP là 13, MS là 11. Khác biệt nhóm chưa điều chỉnh không chứng minh tác động của trường.</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So sánh mean G3 theo studytime 1–4. Bảng gốc có count và SD; các cỡ nhóm lần lượt là 212, 305, 97, 35. Nhãn trên slide giữ cả khoảng giờ và n. Nhóm trên 10 giờ nhỏ nhất. Không suy ra rằng một người học thêm giờ sẽ đạt đúng chênh lệch trung bình quan sát này.</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Pie chart sử dụng đúng cột tạo ở Phần II. Nhóm 0–9 có 100 bản ghi, 15,41%; 10–14 có 418, 64,41%; 15–20 có 131, 20,18%. Đây là dải điểm do nhóm quy ước để mô tả, không phải hệ thống xếp loại chính thức. Tổng count là 649 và phần trăm tổng 100 trước làm tròn.</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Notebook dùng sns.regplot, ci=None, và độ trong suốt để thấy các tọa độ chồng nhau. Tọa độ đường fit được xuất từ lần chạy Seaborn và dùng lại trên slide. Rho khoảng 0,9445 là liên hệ, không phải nhân quả. G2 và G3 là các kỳ đánh giá liên quan nhau về thời gian và nội dung.</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a:t>
            </a:r>
          </a:p>
          <a:p xmlns:a="http://schemas.openxmlformats.org/drawingml/2006/main">
            <a:r>
              <a:t>Chỉ rõ cell III.4: dữ liệu chuyển thành list/dictionary, rồi dùng Matplotlib bar và bar_label. Giá trị là mean G1/G2 của năm bản ghi đầu, không chứa G3. Nhãn 1–5 là vị trí dòng nguồn, không phải mã hay tên cá nhân. Ví dụ nhỏ này minh họa thao tác Python và vẽ, không đại diện cho toàn bộ dataset.</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Hàm comprehensive_report(df) vừa in nội dung dễ đọc vừa trả dictionary để dùng lại đúng số liệu. Có 37 cột: 33 cột gốc và 4 cột dẫn xuất. Top/bottom giữ đúng 10 dòng; stable sort giữ thứ tự nguồn khi đồng hạng. Tất cả 37 cột có trong notebook và CSV; slide chỉ trích các cột có thể đọc được.</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 phút.</a:t>
            </a:r>
          </a:p>
          <a:p xmlns:a="http://schemas.openxmlformats.org/drawingml/2006/main">
            <a:r>
              <a:t>Demo trong 3 phút: (1) mở I.3, chỉ mask 32 ô và hai kết quả mean/dropna 649/617; (2) mở II.2 và II.4, chỉ insert và transform; (3) mở IV.1 và IV.2, gọi comprehensive_report rồi xem bảng đủ cột. Chạy toàn bộ từ kernel sạch trước buổi báo cáo để kiểm tái lập. Nếu demo gặp lỗi, dùng outputs đã lưu, không chờ tải dữ liệu. Xem Demo_VI.md để có lời dẫn và mốc thời gian.</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 phút 30 giây.</a:t>
            </a:r>
          </a:p>
          <a:p xmlns:a="http://schemas.openxmlformats.org/drawingml/2006/main">
            <a:r>
              <a:t>Chốt phân bố điểm, liên hệ với G2 và failure categories. Nhắc giới hạn: hai trường ở Bồ Đào Nha, không đại diện TDTU; chưa điều chỉnh đa biến; không chứng minh nhân quả; chỉ một mô phỏng MCAR. Gợi ý nghiên cứu hỗ trợ học sinh là một hướng cần kiểm chứng, chưa có effect size hay mức lợi ích dự kiến.</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30 giây.</a:t>
            </a:r>
          </a:p>
          <a:p xmlns:a="http://schemas.openxmlformats.org/drawingml/2006/main">
            <a:r>
              <a:t>Nêu dataset và tài liệu chính thức của các thư viện. Codebook, mã nguồn và manifest có trong gói nộp. Biểu đồ phân tích sinh từ notebook; logo giữ nguồn chuẩn của trường. Trích dẫn dữ liệu theo CC BY 4.0 và chuyển sang hỏi đáp.</a:t>
            </a:r>
          </a:p>
          <a:p xmlns:a="http://schemas.openxmlformats.org/drawingml/2006/main">
            <a:r>
              <a:t>Nguồn: URLs displayed on this slide.</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Theo giảng viên.</a:t>
            </a:r>
          </a:p>
          <a:p xmlns:a="http://schemas.openxmlformats.org/drawingml/2006/main">
            <a:r>
              <a:t>Mời giảng viên hỏi. Chuẩn bị giải thích vì sao 32 ô chỉ là 4,93%; mean imputation thay đổi độ phân tán; tương quan G2 không chứng minh nhân quả; normalization trong nhóm không tạo thang điểm tuyệt đối; stable top ten xử lý đồng hạng ra sao. Xem Viva_VI.md.</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trên slide chọn một số cột để đọc được. Tất cả 37 cột nằm trong notebook và CSV. Source index dùng zero-based. Đồng hạng giữ thứ tự dòng nguồn; bản ghi đồng điểm bị loại không kém hơn hay tốt hơn về G3.</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Dự phòng.</a:t>
            </a:r>
          </a:p>
          <a:p xmlns:a="http://schemas.openxmlformats.org/drawingml/2006/main">
            <a:r>
              <a:t>Bảng độ nhạy hiển thị sample SD của absences, rho với G3 và số dòng thỏa bộ lọc. Dùng cùng mask cho mọi phương pháp. Denominator raw là 649, dropna là 617. Fixture nhóm hằng trả 0; kiểm ngưỡng band tại 0, 9, 10, 14, 15, 20. Giữ nguyên mã failures và ghi chú sự mơ hồ trong codebook, không sửa ngầm.</a:t>
            </a:r>
          </a:p>
          <a:p xmlns:a="http://schemas.openxmlformats.org/drawingml/2006/main">
            <a:r>
              <a:t>Nguồn: Executed notebook and results/summary.json.</a:t>
            </a:r>
          </a:p>
          <a:p xmlns:a="http://schemas.openxmlformats.org/drawingml/2006/main">
            <a:r>
              <a:t>Các số liệu được lấy từ lần chạy notebook đã kiểm tra; các liên hệ là mô tả, không phải tác động nhân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9f750d5a2d48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f955f93fef412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b0e5abdef3f45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793b7851b5420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c191c54dbe4d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033dd5be3d74d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FA532C-DD5C-4A8B-A96D-3555F6AB320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4F9143D-E2C5-40AC-B061-E19C4F5E77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697EA6-D5C1-44FC-A9A6-E43CFB270A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0551FC-CB5E-4647-8CBB-443AE407BE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4A2180F-6812-4A65-AF9E-B0562926D71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B82C486-5BA9-419E-91D2-C6A8E784CA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3E9708-5882-488B-9D71-D7B17036AC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AD278B8-9328-4BA4-9F98-2C6FF9AA5B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4883C8-2114-409A-8CF1-45246C037F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012508-EB62-4FD8-9A11-71F1DF9351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a1feaa065d490f" /><Relationship Type="http://schemas.openxmlformats.org/officeDocument/2006/relationships/slideLayout" Target="/ppt/slideLayouts/slideLayout1.xml" Id="Rb78976878b234217" /><Relationship Type="http://schemas.openxmlformats.org/officeDocument/2006/relationships/slideLayout" Target="/ppt/slideLayouts/slideLayout2.xml" Id="R00720988b5b341d5" /><Relationship Type="http://schemas.openxmlformats.org/officeDocument/2006/relationships/slideLayout" Target="/ppt/slideLayouts/slideLayout3.xml" Id="Red57a15642e04652" /><Relationship Type="http://schemas.openxmlformats.org/officeDocument/2006/relationships/slideLayout" Target="/ppt/slideLayouts/slideLayout4.xml" Id="R0f6575bcf6134e07" /><Relationship Type="http://schemas.openxmlformats.org/officeDocument/2006/relationships/slideLayout" Target="/ppt/slideLayouts/slideLayout5.xml" Id="Re503c8cd7535451e" /><Relationship Type="http://schemas.openxmlformats.org/officeDocument/2006/relationships/slideLayout" Target="/ppt/slideLayouts/slideLayout6.xml" Id="R619cd69603f941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8976878b234217"/>
    <p:sldLayoutId xmlns:r="http://schemas.openxmlformats.org/officeDocument/2006/relationships" id="2147483650" r:id="R00720988b5b341d5"/>
    <p:sldLayoutId xmlns:r="http://schemas.openxmlformats.org/officeDocument/2006/relationships" id="2147483651" r:id="Red57a15642e04652"/>
    <p:sldLayoutId xmlns:r="http://schemas.openxmlformats.org/officeDocument/2006/relationships" id="2147483652" r:id="R0f6575bcf6134e07"/>
    <p:sldLayoutId xmlns:r="http://schemas.openxmlformats.org/officeDocument/2006/relationships" id="2147483653" r:id="Re503c8cd7535451e"/>
    <p:sldLayoutId xmlns:r="http://schemas.openxmlformats.org/officeDocument/2006/relationships" id="2147483654" r:id="R619cd69603f941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b7765f53f1944c7" /><Relationship Type="http://schemas.openxmlformats.org/officeDocument/2006/relationships/image" Target="/ppt/media/image.png" Id="R87bbd3ef1e204a23" /><Relationship Type="http://schemas.openxmlformats.org/officeDocument/2006/relationships/notesSlide" Target="/ppt/notesSlides/notesSlide1.xml" Id="R1869bc11610b4d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1bd1b263f24f2b" /><Relationship Type="http://schemas.openxmlformats.org/officeDocument/2006/relationships/image" Target="/ppt/media/image2.png" Id="Rd31efd8d301e4565" /><Relationship Type="http://schemas.openxmlformats.org/officeDocument/2006/relationships/notesSlide" Target="/ppt/notesSlides/notesSlide2.xml" Id="Rc408053813324b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0cf303ee7a54b81" /><Relationship Type="http://schemas.openxmlformats.org/officeDocument/2006/relationships/image" Target="/ppt/media/image3.png" Id="R69b743518b754b49" /><Relationship Type="http://schemas.openxmlformats.org/officeDocument/2006/relationships/notesSlide" Target="/ppt/notesSlides/notesSlide3.xml" Id="R376113fdef6249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97968af5829497a" /><Relationship Type="http://schemas.openxmlformats.org/officeDocument/2006/relationships/image" Target="/ppt/media/image4.png" Id="R3193e69630c1492c" /><Relationship Type="http://schemas.openxmlformats.org/officeDocument/2006/relationships/notesSlide" Target="/ppt/notesSlides/notesSlide4.xml" Id="R2840d28f5fa041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a538d3e3e5f41df" /><Relationship Type="http://schemas.openxmlformats.org/officeDocument/2006/relationships/image" Target="/ppt/media/image5.png" Id="R7a546abe4eb9430b" /><Relationship Type="http://schemas.openxmlformats.org/officeDocument/2006/relationships/notesSlide" Target="/ppt/notesSlides/notesSlide5.xml" Id="R18d38a04f9f443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b9cc4b91d5148c3" /><Relationship Type="http://schemas.openxmlformats.org/officeDocument/2006/relationships/image" Target="/ppt/media/image6.png" Id="R94426e2fdeb54cac" /><Relationship Type="http://schemas.openxmlformats.org/officeDocument/2006/relationships/notesSlide" Target="/ppt/notesSlides/notesSlide6.xml" Id="R2d95aaa225144f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826c9bf43ac4065" /><Relationship Type="http://schemas.openxmlformats.org/officeDocument/2006/relationships/image" Target="/ppt/media/image7.png" Id="R35286dd4d7024327" /><Relationship Type="http://schemas.openxmlformats.org/officeDocument/2006/relationships/notesSlide" Target="/ppt/notesSlides/notesSlide7.xml" Id="Rac44a974b09a4a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d73e51a7e6e4867" /><Relationship Type="http://schemas.openxmlformats.org/officeDocument/2006/relationships/image" Target="/ppt/media/image8.png" Id="R9c50192ffa9145ab" /><Relationship Type="http://schemas.openxmlformats.org/officeDocument/2006/relationships/notesSlide" Target="/ppt/notesSlides/notesSlide8.xml" Id="R5cc589218a9c43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09106042717435f" /><Relationship Type="http://schemas.openxmlformats.org/officeDocument/2006/relationships/image" Target="/ppt/media/image9.png" Id="R1e0819360e5745e7" /><Relationship Type="http://schemas.openxmlformats.org/officeDocument/2006/relationships/notesSlide" Target="/ppt/notesSlides/notesSlide9.xml" Id="Rd4070e8148f041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dda1b52a63e48df" /><Relationship Type="http://schemas.openxmlformats.org/officeDocument/2006/relationships/image" Target="/ppt/media/image10.png" Id="R5d03fb1285e74031" /><Relationship Type="http://schemas.openxmlformats.org/officeDocument/2006/relationships/notesSlide" Target="/ppt/notesSlides/notesSlide10.xml" Id="R02397a855ab44f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6b2ab7e0a8c46a5" /><Relationship Type="http://schemas.openxmlformats.org/officeDocument/2006/relationships/image" Target="/ppt/media/image11.png" Id="Rdc0b975450b746a8" /><Relationship Type="http://schemas.openxmlformats.org/officeDocument/2006/relationships/notesSlide" Target="/ppt/notesSlides/notesSlide11.xml" Id="R3d1f45c745db45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54cf70d33014766" /><Relationship Type="http://schemas.openxmlformats.org/officeDocument/2006/relationships/image" Target="/ppt/media/image12.png" Id="Re5138a6052a04389" /><Relationship Type="http://schemas.openxmlformats.org/officeDocument/2006/relationships/chart" Target="/ppt/slides/charts/chart1.xml" Id="R39d3e4ceef4c4a8a" /><Relationship Type="http://schemas.openxmlformats.org/officeDocument/2006/relationships/notesSlide" Target="/ppt/notesSlides/notesSlide12.xml" Id="R13af1db710ae46c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fdd223d22004176" /><Relationship Type="http://schemas.openxmlformats.org/officeDocument/2006/relationships/image" Target="/ppt/media/image13.png" Id="R25342fc6e6d34f31" /><Relationship Type="http://schemas.openxmlformats.org/officeDocument/2006/relationships/notesSlide" Target="/ppt/notesSlides/notesSlide13.xml" Id="Re64c29876c55413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8393146f7af499d" /><Relationship Type="http://schemas.openxmlformats.org/officeDocument/2006/relationships/image" Target="/ppt/media/image14.png" Id="R463e58f8d89f4501" /><Relationship Type="http://schemas.openxmlformats.org/officeDocument/2006/relationships/chart" Target="/ppt/slides/charts/chart2.xml" Id="R5ffcf12c03d54aae" /><Relationship Type="http://schemas.openxmlformats.org/officeDocument/2006/relationships/notesSlide" Target="/ppt/notesSlides/notesSlide14.xml" Id="Rf15450a2c2fa4f9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7073ac1edbc44d7" /><Relationship Type="http://schemas.openxmlformats.org/officeDocument/2006/relationships/image" Target="/ppt/media/image15.png" Id="Rd8d58cc79dde400a" /><Relationship Type="http://schemas.openxmlformats.org/officeDocument/2006/relationships/chart" Target="/ppt/slides/charts/chart3.xml" Id="R705e2d7ebf3f4741" /><Relationship Type="http://schemas.openxmlformats.org/officeDocument/2006/relationships/notesSlide" Target="/ppt/notesSlides/notesSlide15.xml" Id="R33cbf52e12bc41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0de1060d74b4e16" /><Relationship Type="http://schemas.openxmlformats.org/officeDocument/2006/relationships/image" Target="/ppt/media/image16.png" Id="R3428771c56254fa2" /><Relationship Type="http://schemas.openxmlformats.org/officeDocument/2006/relationships/chart" Target="/ppt/slides/charts/chart4.xml" Id="Re36fb859a0ca4d6e" /><Relationship Type="http://schemas.openxmlformats.org/officeDocument/2006/relationships/notesSlide" Target="/ppt/notesSlides/notesSlide16.xml" Id="R33e503c8ab974c4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5be3b8ecc414ec3" /><Relationship Type="http://schemas.openxmlformats.org/officeDocument/2006/relationships/image" Target="/ppt/media/image17.png" Id="Rc24567dbea8b47a0" /><Relationship Type="http://schemas.openxmlformats.org/officeDocument/2006/relationships/chart" Target="/ppt/slides/charts/chart5.xml" Id="R42bef7b5437e4d97" /><Relationship Type="http://schemas.openxmlformats.org/officeDocument/2006/relationships/notesSlide" Target="/ppt/notesSlides/notesSlide17.xml" Id="R9bd326cfca76474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27d389983d74e83" /><Relationship Type="http://schemas.openxmlformats.org/officeDocument/2006/relationships/image" Target="/ppt/media/image18.png" Id="Re8c84c13bcaf4470" /><Relationship Type="http://schemas.openxmlformats.org/officeDocument/2006/relationships/notesSlide" Target="/ppt/notesSlides/notesSlide18.xml" Id="R36e1e7f6d0934d4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e2138b65520456e" /><Relationship Type="http://schemas.openxmlformats.org/officeDocument/2006/relationships/image" Target="/ppt/media/image19.png" Id="Rf8d6554b33a04080" /><Relationship Type="http://schemas.openxmlformats.org/officeDocument/2006/relationships/notesSlide" Target="/ppt/notesSlides/notesSlide19.xml" Id="R6c3386ae24e64c8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e1404a75f8a4d51" /><Relationship Type="http://schemas.openxmlformats.org/officeDocument/2006/relationships/image" Target="/ppt/media/image20.png" Id="R7f2898008f95489b" /><Relationship Type="http://schemas.openxmlformats.org/officeDocument/2006/relationships/notesSlide" Target="/ppt/notesSlides/notesSlide20.xml" Id="R73f245b9e89d4c5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c07873f72224ff6" /><Relationship Type="http://schemas.openxmlformats.org/officeDocument/2006/relationships/image" Target="/ppt/media/image21.png" Id="R2e58ac488c7d46f5" /><Relationship Type="http://schemas.openxmlformats.org/officeDocument/2006/relationships/notesSlide" Target="/ppt/notesSlides/notesSlide21.xml" Id="R14393876417b4d2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e4e378ab0754139" /><Relationship Type="http://schemas.openxmlformats.org/officeDocument/2006/relationships/image" Target="/ppt/media/image22.png" Id="R1d7d3332e01241e4" /><Relationship Type="http://schemas.openxmlformats.org/officeDocument/2006/relationships/notesSlide" Target="/ppt/notesSlides/notesSlide22.xml" Id="Rb41d1f091ddd489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ba525aeb6a746af" /><Relationship Type="http://schemas.openxmlformats.org/officeDocument/2006/relationships/image" Target="/ppt/media/image23.png" Id="Rf4212bb2554d4938" /><Relationship Type="http://schemas.openxmlformats.org/officeDocument/2006/relationships/notesSlide" Target="/ppt/notesSlides/notesSlide23.xml" Id="R69b0493061cb46f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acd3da49ef1421c" /><Relationship Type="http://schemas.openxmlformats.org/officeDocument/2006/relationships/image" Target="/ppt/media/image24.png" Id="R3284dc621cff47cc" /><Relationship Type="http://schemas.openxmlformats.org/officeDocument/2006/relationships/notesSlide" Target="/ppt/notesSlides/notesSlide24.xml" Id="Rb81a30a8946e41f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c8728b2d96a41af" /><Relationship Type="http://schemas.openxmlformats.org/officeDocument/2006/relationships/image" Target="/ppt/media/image25.png" Id="R70f3359f69ca49cc" /><Relationship Type="http://schemas.openxmlformats.org/officeDocument/2006/relationships/notesSlide" Target="/ppt/notesSlides/notesSlide25.xml" Id="R50d1086d10ba440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Records</c:v>
          </c:tx>
          <c:spPr>
            <a:solidFill xmlns:a="http://schemas.openxmlformats.org/drawingml/2006/main">
              <a:srgbClr val="888888"/>
            </a:solidFill>
            <a:ln xmlns:a="http://schemas.openxmlformats.org/drawingml/2006/main" w="9525">
              <a:solidFill>
                <a:srgbClr val="000000"/>
              </a:solidFill>
              <a:prstDash val="solid"/>
            </a:ln>
          </c:spPr>
          <c:invertIfNegative val="0"/>
          <c:cat>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Data'!$B$2:$B$22</c:f>
              <c:numCache>
                <c:formatCode>General</c:formatCode>
                <c:ptCount val="21"/>
                <c:pt idx="0">
                  <c:v>15</c:v>
                </c:pt>
                <c:pt idx="1">
                  <c:v>1</c:v>
                </c:pt>
                <c:pt idx="2">
                  <c:v>0</c:v>
                </c:pt>
                <c:pt idx="3">
                  <c:v>0</c:v>
                </c:pt>
                <c:pt idx="4">
                  <c:v>0</c:v>
                </c:pt>
                <c:pt idx="5">
                  <c:v>1</c:v>
                </c:pt>
                <c:pt idx="6">
                  <c:v>3</c:v>
                </c:pt>
                <c:pt idx="7">
                  <c:v>10</c:v>
                </c:pt>
                <c:pt idx="8">
                  <c:v>35</c:v>
                </c:pt>
                <c:pt idx="9">
                  <c:v>35</c:v>
                </c:pt>
                <c:pt idx="10">
                  <c:v>97</c:v>
                </c:pt>
                <c:pt idx="11">
                  <c:v>104</c:v>
                </c:pt>
                <c:pt idx="12">
                  <c:v>72</c:v>
                </c:pt>
                <c:pt idx="13">
                  <c:v>82</c:v>
                </c:pt>
                <c:pt idx="14">
                  <c:v>63</c:v>
                </c:pt>
                <c:pt idx="15">
                  <c:v>49</c:v>
                </c:pt>
                <c:pt idx="16">
                  <c:v>36</c:v>
                </c:pt>
                <c:pt idx="17">
                  <c:v>29</c:v>
                </c:pt>
                <c:pt idx="18">
                  <c:v>15</c:v>
                </c:pt>
                <c:pt idx="19">
                  <c:v>2</c:v>
                </c:pt>
                <c:pt idx="20">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G3 final grade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Number of 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G3</c:v>
          </c:tx>
          <c:spPr>
            <a:solidFill xmlns:a="http://schemas.openxmlformats.org/drawingml/2006/main">
              <a:srgbClr val="999999"/>
            </a:solidFill>
            <a:ln xmlns:a="http://schemas.openxmlformats.org/drawingml/2006/main" w="9525">
              <a:solidFill>
                <a:srgbClr val="000000"/>
              </a:solidFill>
              <a:prstDash val="solid"/>
            </a:ln>
          </c:spPr>
          <c:invertIfNegative val="0"/>
          <c:cat>
            <c:strRef>
              <c:f>'Chart Data'!$A$2:$A$5</c:f>
              <c:strCache>
                <c:ptCount val="4"/>
                <c:pt idx="0">
                  <c:v>&lt;2 h
n=212</c:v>
                </c:pt>
                <c:pt idx="1">
                  <c:v>2–5 h
n=305</c:v>
                </c:pt>
                <c:pt idx="2">
                  <c:v>5–10 h
n=97</c:v>
                </c:pt>
                <c:pt idx="3">
                  <c:v>&gt;10 h
n=35</c:v>
                </c:pt>
              </c:strCache>
            </c:strRef>
          </c:cat>
          <c:val>
            <c:numRef>
              <c:f>'Chart Data'!$B$2:$B$5</c:f>
              <c:numCache>
                <c:formatCode>General</c:formatCode>
                <c:ptCount val="4"/>
                <c:pt idx="0">
                  <c:v>10.8443396226</c:v>
                </c:pt>
                <c:pt idx="1">
                  <c:v>12.0918032787</c:v>
                </c:pt>
                <c:pt idx="2">
                  <c:v>13.2268041237</c:v>
                </c:pt>
                <c:pt idx="3">
                  <c:v>13.0571428571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Weekly study-time category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pieChart>
        <c:ser>
          <c:idx val="0"/>
          <c:order val="0"/>
          <c:tx>
            <c:v>Records</c:v>
          </c:tx>
          <c:dPt>
            <c:idx val="0"/>
            <c:spPr>
              <a:solidFill xmlns:a="http://schemas.openxmlformats.org/drawingml/2006/main">
                <a:srgbClr val="EEEEEE"/>
              </a:solidFill>
              <a:ln xmlns:a="http://schemas.openxmlformats.org/drawingml/2006/main" w="9525">
                <a:solidFill>
                  <a:srgbClr val="000000"/>
                </a:solidFill>
                <a:prstDash val="solid"/>
              </a:ln>
            </c:spPr>
          </c:dPt>
          <c:dPt>
            <c:idx val="1"/>
            <c:spPr>
              <a:solidFill xmlns:a="http://schemas.openxmlformats.org/drawingml/2006/main">
                <a:srgbClr val="BBBBBB"/>
              </a:solidFill>
              <a:ln xmlns:a="http://schemas.openxmlformats.org/drawingml/2006/main" w="9525">
                <a:solidFill>
                  <a:srgbClr val="000000"/>
                </a:solidFill>
                <a:prstDash val="solid"/>
              </a:ln>
            </c:spPr>
          </c:dPt>
          <c:dPt>
            <c:idx val="2"/>
            <c:spPr>
              <a:solidFill xmlns:a="http://schemas.openxmlformats.org/drawingml/2006/main">
                <a:srgbClr val="888888"/>
              </a:solidFill>
              <a:ln xmlns:a="http://schemas.openxmlformats.org/drawingml/2006/main" w="9525">
                <a:solidFill>
                  <a:srgbClr val="000000"/>
                </a:solidFill>
                <a:prstDash val="solid"/>
              </a:ln>
            </c:spPr>
          </c:dPt>
          <c:cat>
            <c:strRef>
              <c:f>'Chart Data'!$A$2:$A$4</c:f>
              <c:strCache>
                <c:ptCount val="3"/>
                <c:pt idx="0">
                  <c:v>0–9</c:v>
                </c:pt>
                <c:pt idx="1">
                  <c:v>10–14</c:v>
                </c:pt>
                <c:pt idx="2">
                  <c:v>15–20</c:v>
                </c:pt>
              </c:strCache>
            </c:strRef>
          </c:cat>
          <c:val>
            <c:numRef>
              <c:f>'Chart Data'!$B$2:$B$4</c:f>
              <c:numCache>
                <c:formatCode>General</c:formatCode>
                <c:ptCount val="3"/>
                <c:pt idx="0">
                  <c:v>100</c:v>
                </c:pt>
                <c:pt idx="1">
                  <c:v>418</c:v>
                </c:pt>
                <c:pt idx="2">
                  <c:v>131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000000"/>
                  </a:solidFill>
                  <a:latin typeface="Arial"/>
                  <a:ea typeface="Arial"/>
                  <a:cs typeface="Arial"/>
                </a:defRPr>
              </a:pPr>
            </a:p>
          </c:txPr>
          <c:dLblPos val="bestFit"/>
          <c:showLegendKey val="0"/>
          <c:showVal val="0"/>
          <c:showCatName val="0"/>
          <c:showSerName val="0"/>
          <c:showPercent val="1"/>
          <c:showBubbleSize val="0"/>
          <c:showLeaderLines val="0"/>
        </c:dLbls>
      </c:pieChart>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records</c:v>
          </c:tx>
          <c:spPr>
            <a:solidFill xmlns:a="http://schemas.openxmlformats.org/drawingml/2006/main">
              <a:srgbClr val="777777"/>
            </a:solidFill>
            <a:ln xmlns:a="http://schemas.openxmlformats.org/drawingml/2006/main" w="0">
              <a:noFill/>
            </a:ln>
          </c:spPr>
          <c:marker>
            <c:symbol val="circle"/>
            <c:size val="4"/>
            <c:spPr>
              <a:solidFill xmlns:a="http://schemas.openxmlformats.org/drawingml/2006/main">
                <a:srgbClr val="777777">
                  <a:alpha val="30000"/>
                </a:srgbClr>
              </a:solidFill>
            </c:spPr>
          </c:marker>
          <c:xVal>
            <c:numRef>
              <c:f>'Chart Data'!$A$2:$A$650</c:f>
              <c:numCache>
                <c:formatCode>General</c:formatCode>
                <c:ptCount val="649"/>
                <c:pt idx="0">
                  <c:v>11</c:v>
                </c:pt>
                <c:pt idx="1">
                  <c:v>11</c:v>
                </c:pt>
                <c:pt idx="2">
                  <c:v>13</c:v>
                </c:pt>
                <c:pt idx="3">
                  <c:v>14</c:v>
                </c:pt>
                <c:pt idx="4">
                  <c:v>13</c:v>
                </c:pt>
                <c:pt idx="5">
                  <c:v>12</c:v>
                </c:pt>
                <c:pt idx="6">
                  <c:v>12</c:v>
                </c:pt>
                <c:pt idx="7">
                  <c:v>13</c:v>
                </c:pt>
                <c:pt idx="8">
                  <c:v>16</c:v>
                </c:pt>
                <c:pt idx="9">
                  <c:v>12</c:v>
                </c:pt>
                <c:pt idx="10">
                  <c:v>14</c:v>
                </c:pt>
                <c:pt idx="11">
                  <c:v>12</c:v>
                </c:pt>
                <c:pt idx="12">
                  <c:v>13</c:v>
                </c:pt>
                <c:pt idx="13">
                  <c:v>12</c:v>
                </c:pt>
                <c:pt idx="14">
                  <c:v>14</c:v>
                </c:pt>
                <c:pt idx="15">
                  <c:v>17</c:v>
                </c:pt>
                <c:pt idx="16">
                  <c:v>13</c:v>
                </c:pt>
                <c:pt idx="17">
                  <c:v>14</c:v>
                </c:pt>
                <c:pt idx="18">
                  <c:v>8</c:v>
                </c:pt>
                <c:pt idx="19">
                  <c:v>12</c:v>
                </c:pt>
                <c:pt idx="20">
                  <c:v>13</c:v>
                </c:pt>
                <c:pt idx="21">
                  <c:v>12</c:v>
                </c:pt>
                <c:pt idx="22">
                  <c:v>13</c:v>
                </c:pt>
                <c:pt idx="23">
                  <c:v>10</c:v>
                </c:pt>
                <c:pt idx="24">
                  <c:v>11</c:v>
                </c:pt>
                <c:pt idx="25">
                  <c:v>11</c:v>
                </c:pt>
                <c:pt idx="26">
                  <c:v>12</c:v>
                </c:pt>
                <c:pt idx="27">
                  <c:v>11</c:v>
                </c:pt>
                <c:pt idx="28">
                  <c:v>12</c:v>
                </c:pt>
                <c:pt idx="29">
                  <c:v>11</c:v>
                </c:pt>
                <c:pt idx="30">
                  <c:v>11</c:v>
                </c:pt>
                <c:pt idx="31">
                  <c:v>15</c:v>
                </c:pt>
                <c:pt idx="32">
                  <c:v>14</c:v>
                </c:pt>
                <c:pt idx="33">
                  <c:v>12</c:v>
                </c:pt>
                <c:pt idx="34">
                  <c:v>12</c:v>
                </c:pt>
                <c:pt idx="35">
                  <c:v>11</c:v>
                </c:pt>
                <c:pt idx="36">
                  <c:v>14</c:v>
                </c:pt>
                <c:pt idx="37">
                  <c:v>13</c:v>
                </c:pt>
                <c:pt idx="38">
                  <c:v>12</c:v>
                </c:pt>
                <c:pt idx="39">
                  <c:v>13</c:v>
                </c:pt>
                <c:pt idx="40">
                  <c:v>11</c:v>
                </c:pt>
                <c:pt idx="41">
                  <c:v>11</c:v>
                </c:pt>
                <c:pt idx="42">
                  <c:v>15</c:v>
                </c:pt>
                <c:pt idx="43">
                  <c:v>10</c:v>
                </c:pt>
                <c:pt idx="44">
                  <c:v>11</c:v>
                </c:pt>
                <c:pt idx="45">
                  <c:v>11</c:v>
                </c:pt>
                <c:pt idx="46">
                  <c:v>12</c:v>
                </c:pt>
                <c:pt idx="47">
                  <c:v>17</c:v>
                </c:pt>
                <c:pt idx="48">
                  <c:v>12</c:v>
                </c:pt>
                <c:pt idx="49">
                  <c:v>12</c:v>
                </c:pt>
                <c:pt idx="50">
                  <c:v>13</c:v>
                </c:pt>
                <c:pt idx="51">
                  <c:v>14</c:v>
                </c:pt>
                <c:pt idx="52">
                  <c:v>9</c:v>
                </c:pt>
                <c:pt idx="53">
                  <c:v>12</c:v>
                </c:pt>
                <c:pt idx="54">
                  <c:v>12</c:v>
                </c:pt>
                <c:pt idx="55">
                  <c:v>13</c:v>
                </c:pt>
                <c:pt idx="56">
                  <c:v>14</c:v>
                </c:pt>
                <c:pt idx="57">
                  <c:v>15</c:v>
                </c:pt>
                <c:pt idx="58">
                  <c:v>13</c:v>
                </c:pt>
                <c:pt idx="59">
                  <c:v>15</c:v>
                </c:pt>
                <c:pt idx="60">
                  <c:v>16</c:v>
                </c:pt>
                <c:pt idx="61">
                  <c:v>10</c:v>
                </c:pt>
                <c:pt idx="62">
                  <c:v>13</c:v>
                </c:pt>
                <c:pt idx="63">
                  <c:v>13</c:v>
                </c:pt>
                <c:pt idx="64">
                  <c:v>12</c:v>
                </c:pt>
                <c:pt idx="65">
                  <c:v>15</c:v>
                </c:pt>
                <c:pt idx="66">
                  <c:v>12</c:v>
                </c:pt>
                <c:pt idx="67">
                  <c:v>9</c:v>
                </c:pt>
                <c:pt idx="68">
                  <c:v>10</c:v>
                </c:pt>
                <c:pt idx="69">
                  <c:v>15</c:v>
                </c:pt>
                <c:pt idx="70">
                  <c:v>11</c:v>
                </c:pt>
                <c:pt idx="71">
                  <c:v>9</c:v>
                </c:pt>
                <c:pt idx="72">
                  <c:v>11</c:v>
                </c:pt>
                <c:pt idx="73">
                  <c:v>13</c:v>
                </c:pt>
                <c:pt idx="74">
                  <c:v>11</c:v>
                </c:pt>
                <c:pt idx="75">
                  <c:v>11</c:v>
                </c:pt>
                <c:pt idx="76">
                  <c:v>11</c:v>
                </c:pt>
                <c:pt idx="77">
                  <c:v>13</c:v>
                </c:pt>
                <c:pt idx="78">
                  <c:v>9</c:v>
                </c:pt>
                <c:pt idx="79">
                  <c:v>11</c:v>
                </c:pt>
                <c:pt idx="80">
                  <c:v>11</c:v>
                </c:pt>
                <c:pt idx="81">
                  <c:v>9</c:v>
                </c:pt>
                <c:pt idx="82">
                  <c:v>11</c:v>
                </c:pt>
                <c:pt idx="83">
                  <c:v>12</c:v>
                </c:pt>
                <c:pt idx="84">
                  <c:v>12</c:v>
                </c:pt>
                <c:pt idx="85">
                  <c:v>11</c:v>
                </c:pt>
                <c:pt idx="86">
                  <c:v>11</c:v>
                </c:pt>
                <c:pt idx="87">
                  <c:v>15</c:v>
                </c:pt>
                <c:pt idx="88">
                  <c:v>10</c:v>
                </c:pt>
                <c:pt idx="89">
                  <c:v>9</c:v>
                </c:pt>
                <c:pt idx="90">
                  <c:v>11</c:v>
                </c:pt>
                <c:pt idx="91">
                  <c:v>13</c:v>
                </c:pt>
                <c:pt idx="92">
                  <c:v>13</c:v>
                </c:pt>
                <c:pt idx="93">
                  <c:v>14</c:v>
                </c:pt>
                <c:pt idx="94">
                  <c:v>12</c:v>
                </c:pt>
                <c:pt idx="95">
                  <c:v>13</c:v>
                </c:pt>
                <c:pt idx="96">
                  <c:v>11</c:v>
                </c:pt>
                <c:pt idx="97">
                  <c:v>12</c:v>
                </c:pt>
                <c:pt idx="98">
                  <c:v>13</c:v>
                </c:pt>
                <c:pt idx="99">
                  <c:v>13</c:v>
                </c:pt>
                <c:pt idx="100">
                  <c:v>9</c:v>
                </c:pt>
                <c:pt idx="101">
                  <c:v>16</c:v>
                </c:pt>
                <c:pt idx="102">
                  <c:v>13</c:v>
                </c:pt>
                <c:pt idx="103">
                  <c:v>10</c:v>
                </c:pt>
                <c:pt idx="104">
                  <c:v>16</c:v>
                </c:pt>
                <c:pt idx="105">
                  <c:v>10</c:v>
                </c:pt>
                <c:pt idx="106">
                  <c:v>10</c:v>
                </c:pt>
                <c:pt idx="107">
                  <c:v>14</c:v>
                </c:pt>
                <c:pt idx="108">
                  <c:v>10</c:v>
                </c:pt>
                <c:pt idx="109">
                  <c:v>15</c:v>
                </c:pt>
                <c:pt idx="110">
                  <c:v>14</c:v>
                </c:pt>
                <c:pt idx="111">
                  <c:v>11</c:v>
                </c:pt>
                <c:pt idx="112">
                  <c:v>10</c:v>
                </c:pt>
                <c:pt idx="113">
                  <c:v>17</c:v>
                </c:pt>
                <c:pt idx="114">
                  <c:v>9</c:v>
                </c:pt>
                <c:pt idx="115">
                  <c:v>14</c:v>
                </c:pt>
                <c:pt idx="116">
                  <c:v>15</c:v>
                </c:pt>
                <c:pt idx="117">
                  <c:v>14</c:v>
                </c:pt>
                <c:pt idx="118">
                  <c:v>11</c:v>
                </c:pt>
                <c:pt idx="119">
                  <c:v>13</c:v>
                </c:pt>
                <c:pt idx="120">
                  <c:v>14</c:v>
                </c:pt>
                <c:pt idx="121">
                  <c:v>13</c:v>
                </c:pt>
                <c:pt idx="122">
                  <c:v>12</c:v>
                </c:pt>
                <c:pt idx="123">
                  <c:v>13</c:v>
                </c:pt>
                <c:pt idx="124">
                  <c:v>11</c:v>
                </c:pt>
                <c:pt idx="125">
                  <c:v>9</c:v>
                </c:pt>
                <c:pt idx="126">
                  <c:v>11</c:v>
                </c:pt>
                <c:pt idx="127">
                  <c:v>10</c:v>
                </c:pt>
                <c:pt idx="128">
                  <c:v>14</c:v>
                </c:pt>
                <c:pt idx="129">
                  <c:v>12</c:v>
                </c:pt>
                <c:pt idx="130">
                  <c:v>11</c:v>
                </c:pt>
                <c:pt idx="131">
                  <c:v>9</c:v>
                </c:pt>
                <c:pt idx="132">
                  <c:v>10</c:v>
                </c:pt>
                <c:pt idx="133">
                  <c:v>12</c:v>
                </c:pt>
                <c:pt idx="134">
                  <c:v>12</c:v>
                </c:pt>
                <c:pt idx="135">
                  <c:v>13</c:v>
                </c:pt>
                <c:pt idx="136">
                  <c:v>9</c:v>
                </c:pt>
                <c:pt idx="137">
                  <c:v>11</c:v>
                </c:pt>
                <c:pt idx="138">
                  <c:v>11</c:v>
                </c:pt>
                <c:pt idx="139">
                  <c:v>14</c:v>
                </c:pt>
                <c:pt idx="140">
                  <c:v>9</c:v>
                </c:pt>
                <c:pt idx="141">
                  <c:v>13</c:v>
                </c:pt>
                <c:pt idx="142">
                  <c:v>11</c:v>
                </c:pt>
                <c:pt idx="143">
                  <c:v>11</c:v>
                </c:pt>
                <c:pt idx="144">
                  <c:v>11</c:v>
                </c:pt>
                <c:pt idx="145">
                  <c:v>9</c:v>
                </c:pt>
                <c:pt idx="146">
                  <c:v>10</c:v>
                </c:pt>
                <c:pt idx="147">
                  <c:v>14</c:v>
                </c:pt>
                <c:pt idx="148">
                  <c:v>9</c:v>
                </c:pt>
                <c:pt idx="149">
                  <c:v>11</c:v>
                </c:pt>
                <c:pt idx="150">
                  <c:v>8</c:v>
                </c:pt>
                <c:pt idx="151">
                  <c:v>13</c:v>
                </c:pt>
                <c:pt idx="152">
                  <c:v>11</c:v>
                </c:pt>
                <c:pt idx="153">
                  <c:v>13</c:v>
                </c:pt>
                <c:pt idx="154">
                  <c:v>11</c:v>
                </c:pt>
                <c:pt idx="155">
                  <c:v>7</c:v>
                </c:pt>
                <c:pt idx="156">
                  <c:v>12</c:v>
                </c:pt>
                <c:pt idx="157">
                  <c:v>10</c:v>
                </c:pt>
                <c:pt idx="158">
                  <c:v>11</c:v>
                </c:pt>
                <c:pt idx="159">
                  <c:v>12</c:v>
                </c:pt>
                <c:pt idx="160">
                  <c:v>11</c:v>
                </c:pt>
                <c:pt idx="161">
                  <c:v>9</c:v>
                </c:pt>
                <c:pt idx="162">
                  <c:v>11</c:v>
                </c:pt>
                <c:pt idx="163">
                  <c:v>9</c:v>
                </c:pt>
                <c:pt idx="164">
                  <c:v>10</c:v>
                </c:pt>
                <c:pt idx="165">
                  <c:v>13</c:v>
                </c:pt>
                <c:pt idx="166">
                  <c:v>9</c:v>
                </c:pt>
                <c:pt idx="167">
                  <c:v>13</c:v>
                </c:pt>
                <c:pt idx="168">
                  <c:v>8</c:v>
                </c:pt>
                <c:pt idx="169">
                  <c:v>8</c:v>
                </c:pt>
                <c:pt idx="170">
                  <c:v>10</c:v>
                </c:pt>
                <c:pt idx="171">
                  <c:v>10</c:v>
                </c:pt>
                <c:pt idx="172">
                  <c:v>10</c:v>
                </c:pt>
                <c:pt idx="173">
                  <c:v>8</c:v>
                </c:pt>
                <c:pt idx="174">
                  <c:v>8</c:v>
                </c:pt>
                <c:pt idx="175">
                  <c:v>6</c:v>
                </c:pt>
                <c:pt idx="176">
                  <c:v>9</c:v>
                </c:pt>
                <c:pt idx="177">
                  <c:v>8</c:v>
                </c:pt>
                <c:pt idx="178">
                  <c:v>8</c:v>
                </c:pt>
                <c:pt idx="179">
                  <c:v>7</c:v>
                </c:pt>
                <c:pt idx="180">
                  <c:v>10</c:v>
                </c:pt>
                <c:pt idx="181">
                  <c:v>17</c:v>
                </c:pt>
                <c:pt idx="182">
                  <c:v>12</c:v>
                </c:pt>
                <c:pt idx="183">
                  <c:v>16</c:v>
                </c:pt>
                <c:pt idx="184">
                  <c:v>9</c:v>
                </c:pt>
                <c:pt idx="185">
                  <c:v>17</c:v>
                </c:pt>
                <c:pt idx="186">
                  <c:v>9</c:v>
                </c:pt>
                <c:pt idx="187">
                  <c:v>13</c:v>
                </c:pt>
                <c:pt idx="188">
                  <c:v>14</c:v>
                </c:pt>
                <c:pt idx="189">
                  <c:v>11</c:v>
                </c:pt>
                <c:pt idx="190">
                  <c:v>12</c:v>
                </c:pt>
                <c:pt idx="191">
                  <c:v>9</c:v>
                </c:pt>
                <c:pt idx="192">
                  <c:v>9</c:v>
                </c:pt>
                <c:pt idx="193">
                  <c:v>11</c:v>
                </c:pt>
                <c:pt idx="194">
                  <c:v>10</c:v>
                </c:pt>
                <c:pt idx="195">
                  <c:v>12</c:v>
                </c:pt>
                <c:pt idx="196">
                  <c:v>18</c:v>
                </c:pt>
                <c:pt idx="197">
                  <c:v>13</c:v>
                </c:pt>
                <c:pt idx="198">
                  <c:v>15</c:v>
                </c:pt>
                <c:pt idx="199">
                  <c:v>13</c:v>
                </c:pt>
                <c:pt idx="200">
                  <c:v>9</c:v>
                </c:pt>
                <c:pt idx="201">
                  <c:v>14</c:v>
                </c:pt>
                <c:pt idx="202">
                  <c:v>13</c:v>
                </c:pt>
                <c:pt idx="203">
                  <c:v>9</c:v>
                </c:pt>
                <c:pt idx="204">
                  <c:v>12</c:v>
                </c:pt>
                <c:pt idx="205">
                  <c:v>11</c:v>
                </c:pt>
                <c:pt idx="206">
                  <c:v>11</c:v>
                </c:pt>
                <c:pt idx="207">
                  <c:v>10</c:v>
                </c:pt>
                <c:pt idx="208">
                  <c:v>12</c:v>
                </c:pt>
                <c:pt idx="209">
                  <c:v>15</c:v>
                </c:pt>
                <c:pt idx="210">
                  <c:v>13</c:v>
                </c:pt>
                <c:pt idx="211">
                  <c:v>11</c:v>
                </c:pt>
                <c:pt idx="212">
                  <c:v>15</c:v>
                </c:pt>
                <c:pt idx="213">
                  <c:v>10</c:v>
                </c:pt>
                <c:pt idx="214">
                  <c:v>14</c:v>
                </c:pt>
                <c:pt idx="215">
                  <c:v>12</c:v>
                </c:pt>
                <c:pt idx="216">
                  <c:v>15</c:v>
                </c:pt>
                <c:pt idx="217">
                  <c:v>13</c:v>
                </c:pt>
                <c:pt idx="218">
                  <c:v>13</c:v>
                </c:pt>
                <c:pt idx="219">
                  <c:v>9</c:v>
                </c:pt>
                <c:pt idx="220">
                  <c:v>11</c:v>
                </c:pt>
                <c:pt idx="221">
                  <c:v>15</c:v>
                </c:pt>
                <c:pt idx="222">
                  <c:v>13</c:v>
                </c:pt>
                <c:pt idx="223">
                  <c:v>12</c:v>
                </c:pt>
                <c:pt idx="224">
                  <c:v>12</c:v>
                </c:pt>
                <c:pt idx="225">
                  <c:v>12</c:v>
                </c:pt>
                <c:pt idx="226">
                  <c:v>13</c:v>
                </c:pt>
                <c:pt idx="227">
                  <c:v>11</c:v>
                </c:pt>
                <c:pt idx="228">
                  <c:v>11</c:v>
                </c:pt>
                <c:pt idx="229">
                  <c:v>16</c:v>
                </c:pt>
                <c:pt idx="230">
                  <c:v>9</c:v>
                </c:pt>
                <c:pt idx="231">
                  <c:v>10</c:v>
                </c:pt>
                <c:pt idx="232">
                  <c:v>13</c:v>
                </c:pt>
                <c:pt idx="233">
                  <c:v>12</c:v>
                </c:pt>
                <c:pt idx="234">
                  <c:v>10</c:v>
                </c:pt>
                <c:pt idx="235">
                  <c:v>12</c:v>
                </c:pt>
                <c:pt idx="236">
                  <c:v>13</c:v>
                </c:pt>
                <c:pt idx="237">
                  <c:v>9</c:v>
                </c:pt>
                <c:pt idx="238">
                  <c:v>16</c:v>
                </c:pt>
                <c:pt idx="239">
                  <c:v>8</c:v>
                </c:pt>
                <c:pt idx="240">
                  <c:v>18</c:v>
                </c:pt>
                <c:pt idx="241">
                  <c:v>11</c:v>
                </c:pt>
                <c:pt idx="242">
                  <c:v>10</c:v>
                </c:pt>
                <c:pt idx="243">
                  <c:v>15</c:v>
                </c:pt>
                <c:pt idx="244">
                  <c:v>12</c:v>
                </c:pt>
                <c:pt idx="245">
                  <c:v>13</c:v>
                </c:pt>
                <c:pt idx="246">
                  <c:v>13</c:v>
                </c:pt>
                <c:pt idx="247">
                  <c:v>13</c:v>
                </c:pt>
                <c:pt idx="248">
                  <c:v>9</c:v>
                </c:pt>
                <c:pt idx="249">
                  <c:v>12</c:v>
                </c:pt>
                <c:pt idx="250">
                  <c:v>16</c:v>
                </c:pt>
                <c:pt idx="251">
                  <c:v>10</c:v>
                </c:pt>
                <c:pt idx="252">
                  <c:v>13</c:v>
                </c:pt>
                <c:pt idx="253">
                  <c:v>10</c:v>
                </c:pt>
                <c:pt idx="254">
                  <c:v>8</c:v>
                </c:pt>
                <c:pt idx="255">
                  <c:v>7</c:v>
                </c:pt>
                <c:pt idx="256">
                  <c:v>8</c:v>
                </c:pt>
                <c:pt idx="257">
                  <c:v>8</c:v>
                </c:pt>
                <c:pt idx="258">
                  <c:v>14</c:v>
                </c:pt>
                <c:pt idx="259">
                  <c:v>10</c:v>
                </c:pt>
                <c:pt idx="260">
                  <c:v>11</c:v>
                </c:pt>
                <c:pt idx="261">
                  <c:v>13</c:v>
                </c:pt>
                <c:pt idx="262">
                  <c:v>9</c:v>
                </c:pt>
                <c:pt idx="263">
                  <c:v>7</c:v>
                </c:pt>
                <c:pt idx="264">
                  <c:v>9</c:v>
                </c:pt>
                <c:pt idx="265">
                  <c:v>14</c:v>
                </c:pt>
                <c:pt idx="266">
                  <c:v>14</c:v>
                </c:pt>
                <c:pt idx="267">
                  <c:v>15</c:v>
                </c:pt>
                <c:pt idx="268">
                  <c:v>12</c:v>
                </c:pt>
                <c:pt idx="269">
                  <c:v>14</c:v>
                </c:pt>
                <c:pt idx="270">
                  <c:v>15</c:v>
                </c:pt>
                <c:pt idx="271">
                  <c:v>11</c:v>
                </c:pt>
                <c:pt idx="272">
                  <c:v>14</c:v>
                </c:pt>
                <c:pt idx="273">
                  <c:v>11</c:v>
                </c:pt>
                <c:pt idx="274">
                  <c:v>9</c:v>
                </c:pt>
                <c:pt idx="275">
                  <c:v>10</c:v>
                </c:pt>
                <c:pt idx="276">
                  <c:v>16</c:v>
                </c:pt>
                <c:pt idx="277">
                  <c:v>10</c:v>
                </c:pt>
                <c:pt idx="278">
                  <c:v>12</c:v>
                </c:pt>
                <c:pt idx="279">
                  <c:v>8</c:v>
                </c:pt>
                <c:pt idx="280">
                  <c:v>9</c:v>
                </c:pt>
                <c:pt idx="281">
                  <c:v>12</c:v>
                </c:pt>
                <c:pt idx="282">
                  <c:v>8</c:v>
                </c:pt>
                <c:pt idx="283">
                  <c:v>11</c:v>
                </c:pt>
                <c:pt idx="284">
                  <c:v>8</c:v>
                </c:pt>
                <c:pt idx="285">
                  <c:v>13</c:v>
                </c:pt>
                <c:pt idx="286">
                  <c:v>12</c:v>
                </c:pt>
                <c:pt idx="287">
                  <c:v>10</c:v>
                </c:pt>
                <c:pt idx="288">
                  <c:v>12</c:v>
                </c:pt>
                <c:pt idx="289">
                  <c:v>15</c:v>
                </c:pt>
                <c:pt idx="290">
                  <c:v>10</c:v>
                </c:pt>
                <c:pt idx="291">
                  <c:v>10</c:v>
                </c:pt>
                <c:pt idx="292">
                  <c:v>12</c:v>
                </c:pt>
                <c:pt idx="293">
                  <c:v>12</c:v>
                </c:pt>
                <c:pt idx="294">
                  <c:v>11</c:v>
                </c:pt>
                <c:pt idx="295">
                  <c:v>13</c:v>
                </c:pt>
                <c:pt idx="296">
                  <c:v>16</c:v>
                </c:pt>
                <c:pt idx="297">
                  <c:v>10</c:v>
                </c:pt>
                <c:pt idx="298">
                  <c:v>11</c:v>
                </c:pt>
                <c:pt idx="299">
                  <c:v>12</c:v>
                </c:pt>
                <c:pt idx="300">
                  <c:v>15</c:v>
                </c:pt>
                <c:pt idx="301">
                  <c:v>10</c:v>
                </c:pt>
                <c:pt idx="302">
                  <c:v>11</c:v>
                </c:pt>
                <c:pt idx="303">
                  <c:v>12</c:v>
                </c:pt>
                <c:pt idx="304">
                  <c:v>12</c:v>
                </c:pt>
                <c:pt idx="305">
                  <c:v>8</c:v>
                </c:pt>
                <c:pt idx="306">
                  <c:v>16</c:v>
                </c:pt>
                <c:pt idx="307">
                  <c:v>11</c:v>
                </c:pt>
                <c:pt idx="308">
                  <c:v>11</c:v>
                </c:pt>
                <c:pt idx="309">
                  <c:v>12</c:v>
                </c:pt>
                <c:pt idx="310">
                  <c:v>9</c:v>
                </c:pt>
                <c:pt idx="311">
                  <c:v>12</c:v>
                </c:pt>
                <c:pt idx="312">
                  <c:v>16</c:v>
                </c:pt>
                <c:pt idx="313">
                  <c:v>13</c:v>
                </c:pt>
                <c:pt idx="314">
                  <c:v>17</c:v>
                </c:pt>
                <c:pt idx="315">
                  <c:v>14</c:v>
                </c:pt>
                <c:pt idx="316">
                  <c:v>16</c:v>
                </c:pt>
                <c:pt idx="317">
                  <c:v>12</c:v>
                </c:pt>
                <c:pt idx="318">
                  <c:v>9</c:v>
                </c:pt>
                <c:pt idx="319">
                  <c:v>12</c:v>
                </c:pt>
                <c:pt idx="320">
                  <c:v>12</c:v>
                </c:pt>
                <c:pt idx="321">
                  <c:v>15</c:v>
                </c:pt>
                <c:pt idx="322">
                  <c:v>8</c:v>
                </c:pt>
                <c:pt idx="323">
                  <c:v>10</c:v>
                </c:pt>
                <c:pt idx="324">
                  <c:v>10</c:v>
                </c:pt>
                <c:pt idx="325">
                  <c:v>11</c:v>
                </c:pt>
                <c:pt idx="326">
                  <c:v>13</c:v>
                </c:pt>
                <c:pt idx="327">
                  <c:v>17</c:v>
                </c:pt>
                <c:pt idx="328">
                  <c:v>13</c:v>
                </c:pt>
                <c:pt idx="329">
                  <c:v>12</c:v>
                </c:pt>
                <c:pt idx="330">
                  <c:v>13</c:v>
                </c:pt>
                <c:pt idx="331">
                  <c:v>12</c:v>
                </c:pt>
                <c:pt idx="332">
                  <c:v>18</c:v>
                </c:pt>
                <c:pt idx="333">
                  <c:v>13</c:v>
                </c:pt>
                <c:pt idx="334">
                  <c:v>15</c:v>
                </c:pt>
                <c:pt idx="335">
                  <c:v>17</c:v>
                </c:pt>
                <c:pt idx="336">
                  <c:v>16</c:v>
                </c:pt>
                <c:pt idx="337">
                  <c:v>18</c:v>
                </c:pt>
                <c:pt idx="338">
                  <c:v>19</c:v>
                </c:pt>
                <c:pt idx="339">
                  <c:v>15</c:v>
                </c:pt>
                <c:pt idx="340">
                  <c:v>15</c:v>
                </c:pt>
                <c:pt idx="341">
                  <c:v>13</c:v>
                </c:pt>
                <c:pt idx="342">
                  <c:v>14</c:v>
                </c:pt>
                <c:pt idx="343">
                  <c:v>17</c:v>
                </c:pt>
                <c:pt idx="344">
                  <c:v>18</c:v>
                </c:pt>
                <c:pt idx="345">
                  <c:v>15</c:v>
                </c:pt>
                <c:pt idx="346">
                  <c:v>13</c:v>
                </c:pt>
                <c:pt idx="347">
                  <c:v>7</c:v>
                </c:pt>
                <c:pt idx="348">
                  <c:v>16</c:v>
                </c:pt>
                <c:pt idx="349">
                  <c:v>18</c:v>
                </c:pt>
                <c:pt idx="350">
                  <c:v>10</c:v>
                </c:pt>
                <c:pt idx="351">
                  <c:v>15</c:v>
                </c:pt>
                <c:pt idx="352">
                  <c:v>10</c:v>
                </c:pt>
                <c:pt idx="353">
                  <c:v>10</c:v>
                </c:pt>
                <c:pt idx="354">
                  <c:v>12</c:v>
                </c:pt>
                <c:pt idx="355">
                  <c:v>12</c:v>
                </c:pt>
                <c:pt idx="356">
                  <c:v>16</c:v>
                </c:pt>
                <c:pt idx="357">
                  <c:v>15</c:v>
                </c:pt>
                <c:pt idx="358">
                  <c:v>12</c:v>
                </c:pt>
                <c:pt idx="359">
                  <c:v>15</c:v>
                </c:pt>
                <c:pt idx="360">
                  <c:v>12</c:v>
                </c:pt>
                <c:pt idx="361">
                  <c:v>10</c:v>
                </c:pt>
                <c:pt idx="362">
                  <c:v>11</c:v>
                </c:pt>
                <c:pt idx="363">
                  <c:v>12</c:v>
                </c:pt>
                <c:pt idx="364">
                  <c:v>15</c:v>
                </c:pt>
                <c:pt idx="365">
                  <c:v>14</c:v>
                </c:pt>
                <c:pt idx="366">
                  <c:v>12</c:v>
                </c:pt>
                <c:pt idx="367">
                  <c:v>12</c:v>
                </c:pt>
                <c:pt idx="368">
                  <c:v>9</c:v>
                </c:pt>
                <c:pt idx="369">
                  <c:v>10</c:v>
                </c:pt>
                <c:pt idx="370">
                  <c:v>8</c:v>
                </c:pt>
                <c:pt idx="371">
                  <c:v>10</c:v>
                </c:pt>
                <c:pt idx="372">
                  <c:v>13</c:v>
                </c:pt>
                <c:pt idx="373">
                  <c:v>11</c:v>
                </c:pt>
                <c:pt idx="374">
                  <c:v>18</c:v>
                </c:pt>
                <c:pt idx="375">
                  <c:v>14</c:v>
                </c:pt>
                <c:pt idx="376">
                  <c:v>14</c:v>
                </c:pt>
                <c:pt idx="377">
                  <c:v>14</c:v>
                </c:pt>
                <c:pt idx="378">
                  <c:v>18</c:v>
                </c:pt>
                <c:pt idx="379">
                  <c:v>10</c:v>
                </c:pt>
                <c:pt idx="380">
                  <c:v>12</c:v>
                </c:pt>
                <c:pt idx="381">
                  <c:v>14</c:v>
                </c:pt>
                <c:pt idx="382">
                  <c:v>12</c:v>
                </c:pt>
                <c:pt idx="383">
                  <c:v>11</c:v>
                </c:pt>
                <c:pt idx="384">
                  <c:v>10</c:v>
                </c:pt>
                <c:pt idx="385">
                  <c:v>9</c:v>
                </c:pt>
                <c:pt idx="386">
                  <c:v>15</c:v>
                </c:pt>
                <c:pt idx="387">
                  <c:v>14</c:v>
                </c:pt>
                <c:pt idx="388">
                  <c:v>11</c:v>
                </c:pt>
                <c:pt idx="389">
                  <c:v>9</c:v>
                </c:pt>
                <c:pt idx="390">
                  <c:v>13</c:v>
                </c:pt>
                <c:pt idx="391">
                  <c:v>13</c:v>
                </c:pt>
                <c:pt idx="392">
                  <c:v>13</c:v>
                </c:pt>
                <c:pt idx="393">
                  <c:v>14</c:v>
                </c:pt>
                <c:pt idx="394">
                  <c:v>14</c:v>
                </c:pt>
                <c:pt idx="395">
                  <c:v>12</c:v>
                </c:pt>
                <c:pt idx="396">
                  <c:v>16</c:v>
                </c:pt>
                <c:pt idx="397">
                  <c:v>12</c:v>
                </c:pt>
                <c:pt idx="398">
                  <c:v>12</c:v>
                </c:pt>
                <c:pt idx="399">
                  <c:v>16</c:v>
                </c:pt>
                <c:pt idx="400">
                  <c:v>14</c:v>
                </c:pt>
                <c:pt idx="401">
                  <c:v>13</c:v>
                </c:pt>
                <c:pt idx="402">
                  <c:v>12</c:v>
                </c:pt>
                <c:pt idx="403">
                  <c:v>15</c:v>
                </c:pt>
                <c:pt idx="404">
                  <c:v>16</c:v>
                </c:pt>
                <c:pt idx="405">
                  <c:v>11</c:v>
                </c:pt>
                <c:pt idx="406">
                  <c:v>13</c:v>
                </c:pt>
                <c:pt idx="407">
                  <c:v>12</c:v>
                </c:pt>
                <c:pt idx="408">
                  <c:v>11</c:v>
                </c:pt>
                <c:pt idx="409">
                  <c:v>14</c:v>
                </c:pt>
                <c:pt idx="410">
                  <c:v>17</c:v>
                </c:pt>
                <c:pt idx="411">
                  <c:v>15</c:v>
                </c:pt>
                <c:pt idx="412">
                  <c:v>17</c:v>
                </c:pt>
                <c:pt idx="413">
                  <c:v>10</c:v>
                </c:pt>
                <c:pt idx="414">
                  <c:v>15</c:v>
                </c:pt>
                <c:pt idx="415">
                  <c:v>10</c:v>
                </c:pt>
                <c:pt idx="416">
                  <c:v>18</c:v>
                </c:pt>
                <c:pt idx="417">
                  <c:v>17</c:v>
                </c:pt>
                <c:pt idx="418">
                  <c:v>14</c:v>
                </c:pt>
                <c:pt idx="419">
                  <c:v>11</c:v>
                </c:pt>
                <c:pt idx="420">
                  <c:v>17</c:v>
                </c:pt>
                <c:pt idx="421">
                  <c:v>10</c:v>
                </c:pt>
                <c:pt idx="422">
                  <c:v>13</c:v>
                </c:pt>
                <c:pt idx="423">
                  <c:v>11</c:v>
                </c:pt>
                <c:pt idx="424">
                  <c:v>12</c:v>
                </c:pt>
                <c:pt idx="425">
                  <c:v>10</c:v>
                </c:pt>
                <c:pt idx="426">
                  <c:v>10</c:v>
                </c:pt>
                <c:pt idx="427">
                  <c:v>17</c:v>
                </c:pt>
                <c:pt idx="428">
                  <c:v>8</c:v>
                </c:pt>
                <c:pt idx="429">
                  <c:v>11</c:v>
                </c:pt>
                <c:pt idx="430">
                  <c:v>11</c:v>
                </c:pt>
                <c:pt idx="431">
                  <c:v>10</c:v>
                </c:pt>
                <c:pt idx="432">
                  <c:v>6</c:v>
                </c:pt>
                <c:pt idx="433">
                  <c:v>14</c:v>
                </c:pt>
                <c:pt idx="434">
                  <c:v>9</c:v>
                </c:pt>
                <c:pt idx="435">
                  <c:v>10</c:v>
                </c:pt>
                <c:pt idx="436">
                  <c:v>7</c:v>
                </c:pt>
                <c:pt idx="437">
                  <c:v>11</c:v>
                </c:pt>
                <c:pt idx="438">
                  <c:v>11</c:v>
                </c:pt>
                <c:pt idx="439">
                  <c:v>16</c:v>
                </c:pt>
                <c:pt idx="440">
                  <c:v>0</c:v>
                </c:pt>
                <c:pt idx="441">
                  <c:v>9</c:v>
                </c:pt>
                <c:pt idx="442">
                  <c:v>13</c:v>
                </c:pt>
                <c:pt idx="443">
                  <c:v>9</c:v>
                </c:pt>
                <c:pt idx="444">
                  <c:v>10</c:v>
                </c:pt>
                <c:pt idx="445">
                  <c:v>9</c:v>
                </c:pt>
                <c:pt idx="446">
                  <c:v>11</c:v>
                </c:pt>
                <c:pt idx="447">
                  <c:v>10</c:v>
                </c:pt>
                <c:pt idx="448">
                  <c:v>16</c:v>
                </c:pt>
                <c:pt idx="449">
                  <c:v>13</c:v>
                </c:pt>
                <c:pt idx="450">
                  <c:v>15</c:v>
                </c:pt>
                <c:pt idx="451">
                  <c:v>11</c:v>
                </c:pt>
                <c:pt idx="452">
                  <c:v>10</c:v>
                </c:pt>
                <c:pt idx="453">
                  <c:v>8</c:v>
                </c:pt>
                <c:pt idx="454">
                  <c:v>8</c:v>
                </c:pt>
                <c:pt idx="455">
                  <c:v>10</c:v>
                </c:pt>
                <c:pt idx="456">
                  <c:v>14</c:v>
                </c:pt>
                <c:pt idx="457">
                  <c:v>11</c:v>
                </c:pt>
                <c:pt idx="458">
                  <c:v>10</c:v>
                </c:pt>
                <c:pt idx="459">
                  <c:v>9</c:v>
                </c:pt>
                <c:pt idx="460">
                  <c:v>10</c:v>
                </c:pt>
                <c:pt idx="461">
                  <c:v>12</c:v>
                </c:pt>
                <c:pt idx="462">
                  <c:v>14</c:v>
                </c:pt>
                <c:pt idx="463">
                  <c:v>11</c:v>
                </c:pt>
                <c:pt idx="464">
                  <c:v>11</c:v>
                </c:pt>
                <c:pt idx="465">
                  <c:v>8</c:v>
                </c:pt>
                <c:pt idx="466">
                  <c:v>9</c:v>
                </c:pt>
                <c:pt idx="467">
                  <c:v>13</c:v>
                </c:pt>
                <c:pt idx="468">
                  <c:v>12</c:v>
                </c:pt>
                <c:pt idx="469">
                  <c:v>12</c:v>
                </c:pt>
                <c:pt idx="470">
                  <c:v>12</c:v>
                </c:pt>
                <c:pt idx="471">
                  <c:v>11</c:v>
                </c:pt>
                <c:pt idx="472">
                  <c:v>14</c:v>
                </c:pt>
                <c:pt idx="473">
                  <c:v>8</c:v>
                </c:pt>
                <c:pt idx="474">
                  <c:v>11</c:v>
                </c:pt>
                <c:pt idx="475">
                  <c:v>13</c:v>
                </c:pt>
                <c:pt idx="476">
                  <c:v>8</c:v>
                </c:pt>
                <c:pt idx="477">
                  <c:v>10</c:v>
                </c:pt>
                <c:pt idx="478">
                  <c:v>7</c:v>
                </c:pt>
                <c:pt idx="479">
                  <c:v>9</c:v>
                </c:pt>
                <c:pt idx="480">
                  <c:v>9</c:v>
                </c:pt>
                <c:pt idx="481">
                  <c:v>10</c:v>
                </c:pt>
                <c:pt idx="482">
                  <c:v>10</c:v>
                </c:pt>
                <c:pt idx="483">
                  <c:v>10</c:v>
                </c:pt>
                <c:pt idx="484">
                  <c:v>7</c:v>
                </c:pt>
                <c:pt idx="485">
                  <c:v>10</c:v>
                </c:pt>
                <c:pt idx="486">
                  <c:v>10</c:v>
                </c:pt>
                <c:pt idx="487">
                  <c:v>9</c:v>
                </c:pt>
                <c:pt idx="488">
                  <c:v>9</c:v>
                </c:pt>
                <c:pt idx="489">
                  <c:v>9</c:v>
                </c:pt>
                <c:pt idx="490">
                  <c:v>11</c:v>
                </c:pt>
                <c:pt idx="491">
                  <c:v>8</c:v>
                </c:pt>
                <c:pt idx="492">
                  <c:v>10</c:v>
                </c:pt>
                <c:pt idx="493">
                  <c:v>9</c:v>
                </c:pt>
                <c:pt idx="494">
                  <c:v>9</c:v>
                </c:pt>
                <c:pt idx="495">
                  <c:v>13</c:v>
                </c:pt>
                <c:pt idx="496">
                  <c:v>14</c:v>
                </c:pt>
                <c:pt idx="497">
                  <c:v>11</c:v>
                </c:pt>
                <c:pt idx="498">
                  <c:v>13</c:v>
                </c:pt>
                <c:pt idx="499">
                  <c:v>16</c:v>
                </c:pt>
                <c:pt idx="500">
                  <c:v>7</c:v>
                </c:pt>
                <c:pt idx="501">
                  <c:v>12</c:v>
                </c:pt>
                <c:pt idx="502">
                  <c:v>8</c:v>
                </c:pt>
                <c:pt idx="503">
                  <c:v>14</c:v>
                </c:pt>
                <c:pt idx="504">
                  <c:v>13</c:v>
                </c:pt>
                <c:pt idx="505">
                  <c:v>11</c:v>
                </c:pt>
                <c:pt idx="506">
                  <c:v>9</c:v>
                </c:pt>
                <c:pt idx="507">
                  <c:v>11</c:v>
                </c:pt>
                <c:pt idx="508">
                  <c:v>9</c:v>
                </c:pt>
                <c:pt idx="509">
                  <c:v>17</c:v>
                </c:pt>
                <c:pt idx="510">
                  <c:v>17</c:v>
                </c:pt>
                <c:pt idx="511">
                  <c:v>9</c:v>
                </c:pt>
                <c:pt idx="512">
                  <c:v>7</c:v>
                </c:pt>
                <c:pt idx="513">
                  <c:v>6</c:v>
                </c:pt>
                <c:pt idx="514">
                  <c:v>6</c:v>
                </c:pt>
                <c:pt idx="515">
                  <c:v>8</c:v>
                </c:pt>
                <c:pt idx="516">
                  <c:v>16</c:v>
                </c:pt>
                <c:pt idx="517">
                  <c:v>14</c:v>
                </c:pt>
                <c:pt idx="518">
                  <c:v>5</c:v>
                </c:pt>
                <c:pt idx="519">
                  <c:v>7</c:v>
                </c:pt>
                <c:pt idx="520">
                  <c:v>8</c:v>
                </c:pt>
                <c:pt idx="521">
                  <c:v>10</c:v>
                </c:pt>
                <c:pt idx="522">
                  <c:v>8</c:v>
                </c:pt>
                <c:pt idx="523">
                  <c:v>6</c:v>
                </c:pt>
                <c:pt idx="524">
                  <c:v>9</c:v>
                </c:pt>
                <c:pt idx="525">
                  <c:v>14</c:v>
                </c:pt>
                <c:pt idx="526">
                  <c:v>14</c:v>
                </c:pt>
                <c:pt idx="527">
                  <c:v>9</c:v>
                </c:pt>
                <c:pt idx="528">
                  <c:v>9</c:v>
                </c:pt>
                <c:pt idx="529">
                  <c:v>11</c:v>
                </c:pt>
                <c:pt idx="530">
                  <c:v>10</c:v>
                </c:pt>
                <c:pt idx="531">
                  <c:v>10</c:v>
                </c:pt>
                <c:pt idx="532">
                  <c:v>7</c:v>
                </c:pt>
                <c:pt idx="533">
                  <c:v>15</c:v>
                </c:pt>
                <c:pt idx="534">
                  <c:v>12</c:v>
                </c:pt>
                <c:pt idx="535">
                  <c:v>11</c:v>
                </c:pt>
                <c:pt idx="536">
                  <c:v>14</c:v>
                </c:pt>
                <c:pt idx="537">
                  <c:v>13</c:v>
                </c:pt>
                <c:pt idx="538">
                  <c:v>11</c:v>
                </c:pt>
                <c:pt idx="539">
                  <c:v>10</c:v>
                </c:pt>
                <c:pt idx="540">
                  <c:v>11</c:v>
                </c:pt>
                <c:pt idx="541">
                  <c:v>9</c:v>
                </c:pt>
                <c:pt idx="542">
                  <c:v>11</c:v>
                </c:pt>
                <c:pt idx="543">
                  <c:v>9</c:v>
                </c:pt>
                <c:pt idx="544">
                  <c:v>11</c:v>
                </c:pt>
                <c:pt idx="545">
                  <c:v>9</c:v>
                </c:pt>
                <c:pt idx="546">
                  <c:v>15</c:v>
                </c:pt>
                <c:pt idx="547">
                  <c:v>11</c:v>
                </c:pt>
                <c:pt idx="548">
                  <c:v>10</c:v>
                </c:pt>
                <c:pt idx="549">
                  <c:v>18</c:v>
                </c:pt>
                <c:pt idx="550">
                  <c:v>13</c:v>
                </c:pt>
                <c:pt idx="551">
                  <c:v>14</c:v>
                </c:pt>
                <c:pt idx="552">
                  <c:v>9</c:v>
                </c:pt>
                <c:pt idx="553">
                  <c:v>11</c:v>
                </c:pt>
                <c:pt idx="554">
                  <c:v>11</c:v>
                </c:pt>
                <c:pt idx="555">
                  <c:v>14</c:v>
                </c:pt>
                <c:pt idx="556">
                  <c:v>10</c:v>
                </c:pt>
                <c:pt idx="557">
                  <c:v>9</c:v>
                </c:pt>
                <c:pt idx="558">
                  <c:v>13</c:v>
                </c:pt>
                <c:pt idx="559">
                  <c:v>12</c:v>
                </c:pt>
                <c:pt idx="560">
                  <c:v>9</c:v>
                </c:pt>
                <c:pt idx="561">
                  <c:v>9</c:v>
                </c:pt>
                <c:pt idx="562">
                  <c:v>13</c:v>
                </c:pt>
                <c:pt idx="563">
                  <c:v>0</c:v>
                </c:pt>
                <c:pt idx="564">
                  <c:v>9</c:v>
                </c:pt>
                <c:pt idx="565">
                  <c:v>10</c:v>
                </c:pt>
                <c:pt idx="566">
                  <c:v>7</c:v>
                </c:pt>
                <c:pt idx="567">
                  <c:v>0</c:v>
                </c:pt>
                <c:pt idx="568">
                  <c:v>11</c:v>
                </c:pt>
                <c:pt idx="569">
                  <c:v>8</c:v>
                </c:pt>
                <c:pt idx="570">
                  <c:v>8</c:v>
                </c:pt>
                <c:pt idx="571">
                  <c:v>9</c:v>
                </c:pt>
                <c:pt idx="572">
                  <c:v>5</c:v>
                </c:pt>
                <c:pt idx="573">
                  <c:v>9</c:v>
                </c:pt>
                <c:pt idx="574">
                  <c:v>11</c:v>
                </c:pt>
                <c:pt idx="575">
                  <c:v>11</c:v>
                </c:pt>
                <c:pt idx="576">
                  <c:v>10</c:v>
                </c:pt>
                <c:pt idx="577">
                  <c:v>9</c:v>
                </c:pt>
                <c:pt idx="578">
                  <c:v>9</c:v>
                </c:pt>
                <c:pt idx="579">
                  <c:v>10</c:v>
                </c:pt>
                <c:pt idx="580">
                  <c:v>9</c:v>
                </c:pt>
                <c:pt idx="581">
                  <c:v>8</c:v>
                </c:pt>
                <c:pt idx="582">
                  <c:v>8</c:v>
                </c:pt>
                <c:pt idx="583">
                  <c:v>6</c:v>
                </c:pt>
                <c:pt idx="584">
                  <c:v>11</c:v>
                </c:pt>
                <c:pt idx="585">
                  <c:v>7</c:v>
                </c:pt>
                <c:pt idx="586">
                  <c:v>8</c:v>
                </c:pt>
                <c:pt idx="587">
                  <c:v>6</c:v>
                </c:pt>
                <c:pt idx="588">
                  <c:v>10</c:v>
                </c:pt>
                <c:pt idx="589">
                  <c:v>10</c:v>
                </c:pt>
                <c:pt idx="590">
                  <c:v>8</c:v>
                </c:pt>
                <c:pt idx="591">
                  <c:v>13</c:v>
                </c:pt>
                <c:pt idx="592">
                  <c:v>12</c:v>
                </c:pt>
                <c:pt idx="593">
                  <c:v>13</c:v>
                </c:pt>
                <c:pt idx="594">
                  <c:v>18</c:v>
                </c:pt>
                <c:pt idx="595">
                  <c:v>17</c:v>
                </c:pt>
                <c:pt idx="596">
                  <c:v>18</c:v>
                </c:pt>
                <c:pt idx="597">
                  <c:v>0</c:v>
                </c:pt>
                <c:pt idx="598">
                  <c:v>11</c:v>
                </c:pt>
                <c:pt idx="599">
                  <c:v>13</c:v>
                </c:pt>
                <c:pt idx="600">
                  <c:v>13</c:v>
                </c:pt>
                <c:pt idx="601">
                  <c:v>8</c:v>
                </c:pt>
                <c:pt idx="602">
                  <c:v>12</c:v>
                </c:pt>
                <c:pt idx="603">
                  <c:v>0</c:v>
                </c:pt>
                <c:pt idx="604">
                  <c:v>10</c:v>
                </c:pt>
                <c:pt idx="605">
                  <c:v>0</c:v>
                </c:pt>
                <c:pt idx="606">
                  <c:v>18</c:v>
                </c:pt>
                <c:pt idx="607">
                  <c:v>11</c:v>
                </c:pt>
                <c:pt idx="608">
                  <c:v>10</c:v>
                </c:pt>
                <c:pt idx="609">
                  <c:v>11</c:v>
                </c:pt>
                <c:pt idx="610">
                  <c:v>0</c:v>
                </c:pt>
                <c:pt idx="611">
                  <c:v>14</c:v>
                </c:pt>
                <c:pt idx="612">
                  <c:v>11</c:v>
                </c:pt>
                <c:pt idx="613">
                  <c:v>10</c:v>
                </c:pt>
                <c:pt idx="614">
                  <c:v>12</c:v>
                </c:pt>
                <c:pt idx="615">
                  <c:v>14</c:v>
                </c:pt>
                <c:pt idx="616">
                  <c:v>13</c:v>
                </c:pt>
                <c:pt idx="617">
                  <c:v>17</c:v>
                </c:pt>
                <c:pt idx="618">
                  <c:v>15</c:v>
                </c:pt>
                <c:pt idx="619">
                  <c:v>12</c:v>
                </c:pt>
                <c:pt idx="620">
                  <c:v>14</c:v>
                </c:pt>
                <c:pt idx="621">
                  <c:v>13</c:v>
                </c:pt>
                <c:pt idx="622">
                  <c:v>10</c:v>
                </c:pt>
                <c:pt idx="623">
                  <c:v>16</c:v>
                </c:pt>
                <c:pt idx="624">
                  <c:v>8</c:v>
                </c:pt>
                <c:pt idx="625">
                  <c:v>10</c:v>
                </c:pt>
                <c:pt idx="626">
                  <c:v>5</c:v>
                </c:pt>
                <c:pt idx="627">
                  <c:v>10</c:v>
                </c:pt>
                <c:pt idx="628">
                  <c:v>11</c:v>
                </c:pt>
                <c:pt idx="629">
                  <c:v>8</c:v>
                </c:pt>
                <c:pt idx="630">
                  <c:v>17</c:v>
                </c:pt>
                <c:pt idx="631">
                  <c:v>11</c:v>
                </c:pt>
                <c:pt idx="632">
                  <c:v>8</c:v>
                </c:pt>
                <c:pt idx="633">
                  <c:v>14</c:v>
                </c:pt>
                <c:pt idx="634">
                  <c:v>16</c:v>
                </c:pt>
                <c:pt idx="635">
                  <c:v>9</c:v>
                </c:pt>
                <c:pt idx="636">
                  <c:v>18</c:v>
                </c:pt>
                <c:pt idx="637">
                  <c:v>7</c:v>
                </c:pt>
                <c:pt idx="638">
                  <c:v>15</c:v>
                </c:pt>
                <c:pt idx="639">
                  <c:v>8</c:v>
                </c:pt>
                <c:pt idx="640">
                  <c:v>7</c:v>
                </c:pt>
                <c:pt idx="641">
                  <c:v>17</c:v>
                </c:pt>
                <c:pt idx="642">
                  <c:v>9</c:v>
                </c:pt>
                <c:pt idx="643">
                  <c:v>9</c:v>
                </c:pt>
                <c:pt idx="644">
                  <c:v>11</c:v>
                </c:pt>
                <c:pt idx="645">
                  <c:v>15</c:v>
                </c:pt>
                <c:pt idx="646">
                  <c:v>12</c:v>
                </c:pt>
                <c:pt idx="647">
                  <c:v>10</c:v>
                </c:pt>
                <c:pt idx="648">
                  <c:v>11</c:v>
                </c:pt>
              </c:numCache>
            </c:numRef>
          </c:xVal>
          <c:yVal>
            <c:numRef>
              <c:f>'Chart Data'!$B$2:$B$650</c:f>
              <c:numCache>
                <c:formatCode>General</c:formatCode>
                <c:ptCount val="649"/>
                <c:pt idx="0">
                  <c:v>11</c:v>
                </c:pt>
                <c:pt idx="1">
                  <c:v>11</c:v>
                </c:pt>
                <c:pt idx="2">
                  <c:v>12</c:v>
                </c:pt>
                <c:pt idx="3">
                  <c:v>14</c:v>
                </c:pt>
                <c:pt idx="4">
                  <c:v>13</c:v>
                </c:pt>
                <c:pt idx="5">
                  <c:v>13</c:v>
                </c:pt>
                <c:pt idx="6">
                  <c:v>13</c:v>
                </c:pt>
                <c:pt idx="7">
                  <c:v>13</c:v>
                </c:pt>
                <c:pt idx="8">
                  <c:v>17</c:v>
                </c:pt>
                <c:pt idx="9">
                  <c:v>13</c:v>
                </c:pt>
                <c:pt idx="10">
                  <c:v>14</c:v>
                </c:pt>
                <c:pt idx="11">
                  <c:v>13</c:v>
                </c:pt>
                <c:pt idx="12">
                  <c:v>12</c:v>
                </c:pt>
                <c:pt idx="13">
                  <c:v>13</c:v>
                </c:pt>
                <c:pt idx="14">
                  <c:v>15</c:v>
                </c:pt>
                <c:pt idx="15">
                  <c:v>17</c:v>
                </c:pt>
                <c:pt idx="16">
                  <c:v>14</c:v>
                </c:pt>
                <c:pt idx="17">
                  <c:v>14</c:v>
                </c:pt>
                <c:pt idx="18">
                  <c:v>7</c:v>
                </c:pt>
                <c:pt idx="19">
                  <c:v>12</c:v>
                </c:pt>
                <c:pt idx="20">
                  <c:v>14</c:v>
                </c:pt>
                <c:pt idx="21">
                  <c:v>12</c:v>
                </c:pt>
                <c:pt idx="22">
                  <c:v>14</c:v>
                </c:pt>
                <c:pt idx="23">
                  <c:v>10</c:v>
                </c:pt>
                <c:pt idx="24">
                  <c:v>10</c:v>
                </c:pt>
                <c:pt idx="25">
                  <c:v>12</c:v>
                </c:pt>
                <c:pt idx="26">
                  <c:v>12</c:v>
                </c:pt>
                <c:pt idx="27">
                  <c:v>11</c:v>
                </c:pt>
                <c:pt idx="28">
                  <c:v>13</c:v>
                </c:pt>
                <c:pt idx="29">
                  <c:v>12</c:v>
                </c:pt>
                <c:pt idx="30">
                  <c:v>11</c:v>
                </c:pt>
                <c:pt idx="31">
                  <c:v>15</c:v>
                </c:pt>
                <c:pt idx="32">
                  <c:v>15</c:v>
                </c:pt>
                <c:pt idx="33">
                  <c:v>12</c:v>
                </c:pt>
                <c:pt idx="34">
                  <c:v>12</c:v>
                </c:pt>
                <c:pt idx="35">
                  <c:v>11</c:v>
                </c:pt>
                <c:pt idx="36">
                  <c:v>14</c:v>
                </c:pt>
                <c:pt idx="37">
                  <c:v>13</c:v>
                </c:pt>
                <c:pt idx="38">
                  <c:v>12</c:v>
                </c:pt>
                <c:pt idx="39">
                  <c:v>12</c:v>
                </c:pt>
                <c:pt idx="40">
                  <c:v>10</c:v>
                </c:pt>
                <c:pt idx="41">
                  <c:v>11</c:v>
                </c:pt>
                <c:pt idx="42">
                  <c:v>15</c:v>
                </c:pt>
                <c:pt idx="43">
                  <c:v>10</c:v>
                </c:pt>
                <c:pt idx="44">
                  <c:v>11</c:v>
                </c:pt>
                <c:pt idx="45">
                  <c:v>11</c:v>
                </c:pt>
                <c:pt idx="46">
                  <c:v>13</c:v>
                </c:pt>
                <c:pt idx="47">
                  <c:v>17</c:v>
                </c:pt>
                <c:pt idx="48">
                  <c:v>13</c:v>
                </c:pt>
                <c:pt idx="49">
                  <c:v>12</c:v>
                </c:pt>
                <c:pt idx="50">
                  <c:v>13</c:v>
                </c:pt>
                <c:pt idx="51">
                  <c:v>16</c:v>
                </c:pt>
                <c:pt idx="52">
                  <c:v>9</c:v>
                </c:pt>
                <c:pt idx="53">
                  <c:v>12</c:v>
                </c:pt>
                <c:pt idx="54">
                  <c:v>13</c:v>
                </c:pt>
                <c:pt idx="55">
                  <c:v>12</c:v>
                </c:pt>
                <c:pt idx="56">
                  <c:v>15</c:v>
                </c:pt>
                <c:pt idx="57">
                  <c:v>16</c:v>
                </c:pt>
                <c:pt idx="58">
                  <c:v>14</c:v>
                </c:pt>
                <c:pt idx="59">
                  <c:v>16</c:v>
                </c:pt>
                <c:pt idx="60">
                  <c:v>16</c:v>
                </c:pt>
                <c:pt idx="61">
                  <c:v>16</c:v>
                </c:pt>
                <c:pt idx="62">
                  <c:v>10</c:v>
                </c:pt>
                <c:pt idx="63">
                  <c:v>13</c:v>
                </c:pt>
                <c:pt idx="64">
                  <c:v>12</c:v>
                </c:pt>
                <c:pt idx="65">
                  <c:v>16</c:v>
                </c:pt>
                <c:pt idx="66">
                  <c:v>12</c:v>
                </c:pt>
                <c:pt idx="67">
                  <c:v>10</c:v>
                </c:pt>
                <c:pt idx="68">
                  <c:v>11</c:v>
                </c:pt>
                <c:pt idx="69">
                  <c:v>15</c:v>
                </c:pt>
                <c:pt idx="70">
                  <c:v>11</c:v>
                </c:pt>
                <c:pt idx="71">
                  <c:v>10</c:v>
                </c:pt>
                <c:pt idx="72">
                  <c:v>11</c:v>
                </c:pt>
                <c:pt idx="73">
                  <c:v>14</c:v>
                </c:pt>
                <c:pt idx="74">
                  <c:v>11</c:v>
                </c:pt>
                <c:pt idx="75">
                  <c:v>11</c:v>
                </c:pt>
                <c:pt idx="76">
                  <c:v>11</c:v>
                </c:pt>
                <c:pt idx="77">
                  <c:v>13</c:v>
                </c:pt>
                <c:pt idx="78">
                  <c:v>10</c:v>
                </c:pt>
                <c:pt idx="79">
                  <c:v>11</c:v>
                </c:pt>
                <c:pt idx="80">
                  <c:v>12</c:v>
                </c:pt>
                <c:pt idx="81">
                  <c:v>9</c:v>
                </c:pt>
                <c:pt idx="82">
                  <c:v>11</c:v>
                </c:pt>
                <c:pt idx="83">
                  <c:v>13</c:v>
                </c:pt>
                <c:pt idx="84">
                  <c:v>12</c:v>
                </c:pt>
                <c:pt idx="85">
                  <c:v>12</c:v>
                </c:pt>
                <c:pt idx="86">
                  <c:v>11</c:v>
                </c:pt>
                <c:pt idx="87">
                  <c:v>15</c:v>
                </c:pt>
                <c:pt idx="88">
                  <c:v>11</c:v>
                </c:pt>
                <c:pt idx="89">
                  <c:v>10</c:v>
                </c:pt>
                <c:pt idx="90">
                  <c:v>11</c:v>
                </c:pt>
                <c:pt idx="91">
                  <c:v>13</c:v>
                </c:pt>
                <c:pt idx="92">
                  <c:v>12</c:v>
                </c:pt>
                <c:pt idx="93">
                  <c:v>14</c:v>
                </c:pt>
                <c:pt idx="94">
                  <c:v>12</c:v>
                </c:pt>
                <c:pt idx="95">
                  <c:v>13</c:v>
                </c:pt>
                <c:pt idx="96">
                  <c:v>11</c:v>
                </c:pt>
                <c:pt idx="97">
                  <c:v>12</c:v>
                </c:pt>
                <c:pt idx="98">
                  <c:v>13</c:v>
                </c:pt>
                <c:pt idx="99">
                  <c:v>13</c:v>
                </c:pt>
                <c:pt idx="100">
                  <c:v>8</c:v>
                </c:pt>
                <c:pt idx="101">
                  <c:v>16</c:v>
                </c:pt>
                <c:pt idx="102">
                  <c:v>12</c:v>
                </c:pt>
                <c:pt idx="103">
                  <c:v>10</c:v>
                </c:pt>
                <c:pt idx="104">
                  <c:v>16</c:v>
                </c:pt>
                <c:pt idx="105">
                  <c:v>10</c:v>
                </c:pt>
                <c:pt idx="106">
                  <c:v>10</c:v>
                </c:pt>
                <c:pt idx="107">
                  <c:v>14</c:v>
                </c:pt>
                <c:pt idx="108">
                  <c:v>11</c:v>
                </c:pt>
                <c:pt idx="109">
                  <c:v>14</c:v>
                </c:pt>
                <c:pt idx="110">
                  <c:v>14</c:v>
                </c:pt>
                <c:pt idx="111">
                  <c:v>11</c:v>
                </c:pt>
                <c:pt idx="112">
                  <c:v>10</c:v>
                </c:pt>
                <c:pt idx="113">
                  <c:v>18</c:v>
                </c:pt>
                <c:pt idx="114">
                  <c:v>10</c:v>
                </c:pt>
                <c:pt idx="115">
                  <c:v>14</c:v>
                </c:pt>
                <c:pt idx="116">
                  <c:v>16</c:v>
                </c:pt>
                <c:pt idx="117">
                  <c:v>15</c:v>
                </c:pt>
                <c:pt idx="118">
                  <c:v>11</c:v>
                </c:pt>
                <c:pt idx="119">
                  <c:v>14</c:v>
                </c:pt>
                <c:pt idx="120">
                  <c:v>14</c:v>
                </c:pt>
                <c:pt idx="121">
                  <c:v>13</c:v>
                </c:pt>
                <c:pt idx="122">
                  <c:v>13</c:v>
                </c:pt>
                <c:pt idx="123">
                  <c:v>13</c:v>
                </c:pt>
                <c:pt idx="124">
                  <c:v>11</c:v>
                </c:pt>
                <c:pt idx="125">
                  <c:v>9</c:v>
                </c:pt>
                <c:pt idx="126">
                  <c:v>11</c:v>
                </c:pt>
                <c:pt idx="127">
                  <c:v>11</c:v>
                </c:pt>
                <c:pt idx="128">
                  <c:v>15</c:v>
                </c:pt>
                <c:pt idx="129">
                  <c:v>13</c:v>
                </c:pt>
                <c:pt idx="130">
                  <c:v>12</c:v>
                </c:pt>
                <c:pt idx="131">
                  <c:v>8</c:v>
                </c:pt>
                <c:pt idx="132">
                  <c:v>11</c:v>
                </c:pt>
                <c:pt idx="133">
                  <c:v>13</c:v>
                </c:pt>
                <c:pt idx="134">
                  <c:v>12</c:v>
                </c:pt>
                <c:pt idx="135">
                  <c:v>14</c:v>
                </c:pt>
                <c:pt idx="136">
                  <c:v>11</c:v>
                </c:pt>
                <c:pt idx="137">
                  <c:v>11</c:v>
                </c:pt>
                <c:pt idx="138">
                  <c:v>11</c:v>
                </c:pt>
                <c:pt idx="139">
                  <c:v>15</c:v>
                </c:pt>
                <c:pt idx="140">
                  <c:v>10</c:v>
                </c:pt>
                <c:pt idx="141">
                  <c:v>13</c:v>
                </c:pt>
                <c:pt idx="142">
                  <c:v>12</c:v>
                </c:pt>
                <c:pt idx="143">
                  <c:v>11</c:v>
                </c:pt>
                <c:pt idx="144">
                  <c:v>11</c:v>
                </c:pt>
                <c:pt idx="145">
                  <c:v>10</c:v>
                </c:pt>
                <c:pt idx="146">
                  <c:v>10</c:v>
                </c:pt>
                <c:pt idx="147">
                  <c:v>14</c:v>
                </c:pt>
                <c:pt idx="148">
                  <c:v>9</c:v>
                </c:pt>
                <c:pt idx="149">
                  <c:v>11</c:v>
                </c:pt>
                <c:pt idx="150">
                  <c:v>9</c:v>
                </c:pt>
                <c:pt idx="151">
                  <c:v>13</c:v>
                </c:pt>
                <c:pt idx="152">
                  <c:v>11</c:v>
                </c:pt>
                <c:pt idx="153">
                  <c:v>13</c:v>
                </c:pt>
                <c:pt idx="154">
                  <c:v>11</c:v>
                </c:pt>
                <c:pt idx="155">
                  <c:v>6</c:v>
                </c:pt>
                <c:pt idx="156">
                  <c:v>12</c:v>
                </c:pt>
                <c:pt idx="157">
                  <c:v>10</c:v>
                </c:pt>
                <c:pt idx="158">
                  <c:v>11</c:v>
                </c:pt>
                <c:pt idx="159">
                  <c:v>13</c:v>
                </c:pt>
                <c:pt idx="160">
                  <c:v>11</c:v>
                </c:pt>
                <c:pt idx="161">
                  <c:v>8</c:v>
                </c:pt>
                <c:pt idx="162">
                  <c:v>11</c:v>
                </c:pt>
                <c:pt idx="163">
                  <c:v>0</c:v>
                </c:pt>
                <c:pt idx="164">
                  <c:v>10</c:v>
                </c:pt>
                <c:pt idx="165">
                  <c:v>13</c:v>
                </c:pt>
                <c:pt idx="166">
                  <c:v>11</c:v>
                </c:pt>
                <c:pt idx="167">
                  <c:v>13</c:v>
                </c:pt>
                <c:pt idx="168">
                  <c:v>8</c:v>
                </c:pt>
                <c:pt idx="169">
                  <c:v>10</c:v>
                </c:pt>
                <c:pt idx="170">
                  <c:v>11</c:v>
                </c:pt>
                <c:pt idx="171">
                  <c:v>11</c:v>
                </c:pt>
                <c:pt idx="172">
                  <c:v>1</c:v>
                </c:pt>
                <c:pt idx="173">
                  <c:v>10</c:v>
                </c:pt>
                <c:pt idx="174">
                  <c:v>9</c:v>
                </c:pt>
                <c:pt idx="175">
                  <c:v>8</c:v>
                </c:pt>
                <c:pt idx="176">
                  <c:v>10</c:v>
                </c:pt>
                <c:pt idx="177">
                  <c:v>8</c:v>
                </c:pt>
                <c:pt idx="178">
                  <c:v>8</c:v>
                </c:pt>
                <c:pt idx="179">
                  <c:v>8</c:v>
                </c:pt>
                <c:pt idx="180">
                  <c:v>11</c:v>
                </c:pt>
                <c:pt idx="181">
                  <c:v>18</c:v>
                </c:pt>
                <c:pt idx="182">
                  <c:v>13</c:v>
                </c:pt>
                <c:pt idx="183">
                  <c:v>17</c:v>
                </c:pt>
                <c:pt idx="184">
                  <c:v>10</c:v>
                </c:pt>
                <c:pt idx="185">
                  <c:v>18</c:v>
                </c:pt>
                <c:pt idx="186">
                  <c:v>10</c:v>
                </c:pt>
                <c:pt idx="187">
                  <c:v>13</c:v>
                </c:pt>
                <c:pt idx="188">
                  <c:v>15</c:v>
                </c:pt>
                <c:pt idx="189">
                  <c:v>11</c:v>
                </c:pt>
                <c:pt idx="190">
                  <c:v>14</c:v>
                </c:pt>
                <c:pt idx="191">
                  <c:v>10</c:v>
                </c:pt>
                <c:pt idx="192">
                  <c:v>11</c:v>
                </c:pt>
                <c:pt idx="193">
                  <c:v>13</c:v>
                </c:pt>
                <c:pt idx="194">
                  <c:v>11</c:v>
                </c:pt>
                <c:pt idx="195">
                  <c:v>13</c:v>
                </c:pt>
                <c:pt idx="196">
                  <c:v>17</c:v>
                </c:pt>
                <c:pt idx="197">
                  <c:v>14</c:v>
                </c:pt>
                <c:pt idx="198">
                  <c:v>16</c:v>
                </c:pt>
                <c:pt idx="199">
                  <c:v>14</c:v>
                </c:pt>
                <c:pt idx="200">
                  <c:v>11</c:v>
                </c:pt>
                <c:pt idx="201">
                  <c:v>16</c:v>
                </c:pt>
                <c:pt idx="202">
                  <c:v>14</c:v>
                </c:pt>
                <c:pt idx="203">
                  <c:v>10</c:v>
                </c:pt>
                <c:pt idx="204">
                  <c:v>13</c:v>
                </c:pt>
                <c:pt idx="205">
                  <c:v>12</c:v>
                </c:pt>
                <c:pt idx="206">
                  <c:v>12</c:v>
                </c:pt>
                <c:pt idx="207">
                  <c:v>10</c:v>
                </c:pt>
                <c:pt idx="208">
                  <c:v>12</c:v>
                </c:pt>
                <c:pt idx="209">
                  <c:v>16</c:v>
                </c:pt>
                <c:pt idx="210">
                  <c:v>14</c:v>
                </c:pt>
                <c:pt idx="211">
                  <c:v>12</c:v>
                </c:pt>
                <c:pt idx="212">
                  <c:v>16</c:v>
                </c:pt>
                <c:pt idx="213">
                  <c:v>11</c:v>
                </c:pt>
                <c:pt idx="214">
                  <c:v>15</c:v>
                </c:pt>
                <c:pt idx="215">
                  <c:v>12</c:v>
                </c:pt>
                <c:pt idx="216">
                  <c:v>15</c:v>
                </c:pt>
                <c:pt idx="217">
                  <c:v>13</c:v>
                </c:pt>
                <c:pt idx="218">
                  <c:v>13</c:v>
                </c:pt>
                <c:pt idx="219">
                  <c:v>8</c:v>
                </c:pt>
                <c:pt idx="220">
                  <c:v>12</c:v>
                </c:pt>
                <c:pt idx="221">
                  <c:v>15</c:v>
                </c:pt>
                <c:pt idx="222">
                  <c:v>13</c:v>
                </c:pt>
                <c:pt idx="223">
                  <c:v>12</c:v>
                </c:pt>
                <c:pt idx="224">
                  <c:v>12</c:v>
                </c:pt>
                <c:pt idx="225">
                  <c:v>12</c:v>
                </c:pt>
                <c:pt idx="226">
                  <c:v>13</c:v>
                </c:pt>
                <c:pt idx="227">
                  <c:v>11</c:v>
                </c:pt>
                <c:pt idx="228">
                  <c:v>11</c:v>
                </c:pt>
                <c:pt idx="229">
                  <c:v>15</c:v>
                </c:pt>
                <c:pt idx="230">
                  <c:v>10</c:v>
                </c:pt>
                <c:pt idx="231">
                  <c:v>10</c:v>
                </c:pt>
                <c:pt idx="232">
                  <c:v>13</c:v>
                </c:pt>
                <c:pt idx="233">
                  <c:v>13</c:v>
                </c:pt>
                <c:pt idx="234">
                  <c:v>11</c:v>
                </c:pt>
                <c:pt idx="235">
                  <c:v>12</c:v>
                </c:pt>
                <c:pt idx="236">
                  <c:v>14</c:v>
                </c:pt>
                <c:pt idx="237">
                  <c:v>10</c:v>
                </c:pt>
                <c:pt idx="238">
                  <c:v>16</c:v>
                </c:pt>
                <c:pt idx="239">
                  <c:v>8</c:v>
                </c:pt>
                <c:pt idx="240">
                  <c:v>17</c:v>
                </c:pt>
                <c:pt idx="241">
                  <c:v>11</c:v>
                </c:pt>
                <c:pt idx="242">
                  <c:v>11</c:v>
                </c:pt>
                <c:pt idx="243">
                  <c:v>16</c:v>
                </c:pt>
                <c:pt idx="244">
                  <c:v>12</c:v>
                </c:pt>
                <c:pt idx="245">
                  <c:v>13</c:v>
                </c:pt>
                <c:pt idx="246">
                  <c:v>13</c:v>
                </c:pt>
                <c:pt idx="247">
                  <c:v>14</c:v>
                </c:pt>
                <c:pt idx="248">
                  <c:v>9</c:v>
                </c:pt>
                <c:pt idx="249">
                  <c:v>12</c:v>
                </c:pt>
                <c:pt idx="250">
                  <c:v>16</c:v>
                </c:pt>
                <c:pt idx="251">
                  <c:v>10</c:v>
                </c:pt>
                <c:pt idx="252">
                  <c:v>13</c:v>
                </c:pt>
                <c:pt idx="253">
                  <c:v>10</c:v>
                </c:pt>
                <c:pt idx="254">
                  <c:v>10</c:v>
                </c:pt>
                <c:pt idx="255">
                  <c:v>7</c:v>
                </c:pt>
                <c:pt idx="256">
                  <c:v>8</c:v>
                </c:pt>
                <c:pt idx="257">
                  <c:v>9</c:v>
                </c:pt>
                <c:pt idx="258">
                  <c:v>15</c:v>
                </c:pt>
                <c:pt idx="259">
                  <c:v>10</c:v>
                </c:pt>
                <c:pt idx="260">
                  <c:v>11</c:v>
                </c:pt>
                <c:pt idx="261">
                  <c:v>13</c:v>
                </c:pt>
                <c:pt idx="262">
                  <c:v>8</c:v>
                </c:pt>
                <c:pt idx="263">
                  <c:v>8</c:v>
                </c:pt>
                <c:pt idx="264">
                  <c:v>10</c:v>
                </c:pt>
                <c:pt idx="265">
                  <c:v>15</c:v>
                </c:pt>
                <c:pt idx="266">
                  <c:v>14</c:v>
                </c:pt>
                <c:pt idx="267">
                  <c:v>15</c:v>
                </c:pt>
                <c:pt idx="268">
                  <c:v>12</c:v>
                </c:pt>
                <c:pt idx="269">
                  <c:v>15</c:v>
                </c:pt>
                <c:pt idx="270">
                  <c:v>15</c:v>
                </c:pt>
                <c:pt idx="271">
                  <c:v>12</c:v>
                </c:pt>
                <c:pt idx="272">
                  <c:v>15</c:v>
                </c:pt>
                <c:pt idx="273">
                  <c:v>11</c:v>
                </c:pt>
                <c:pt idx="274">
                  <c:v>10</c:v>
                </c:pt>
                <c:pt idx="275">
                  <c:v>11</c:v>
                </c:pt>
                <c:pt idx="276">
                  <c:v>16</c:v>
                </c:pt>
                <c:pt idx="277">
                  <c:v>11</c:v>
                </c:pt>
                <c:pt idx="278">
                  <c:v>13</c:v>
                </c:pt>
                <c:pt idx="279">
                  <c:v>5</c:v>
                </c:pt>
                <c:pt idx="280">
                  <c:v>10</c:v>
                </c:pt>
                <c:pt idx="281">
                  <c:v>11</c:v>
                </c:pt>
                <c:pt idx="282">
                  <c:v>7</c:v>
                </c:pt>
                <c:pt idx="283">
                  <c:v>10</c:v>
                </c:pt>
                <c:pt idx="284">
                  <c:v>6</c:v>
                </c:pt>
                <c:pt idx="285">
                  <c:v>12</c:v>
                </c:pt>
                <c:pt idx="286">
                  <c:v>13</c:v>
                </c:pt>
                <c:pt idx="287">
                  <c:v>10</c:v>
                </c:pt>
                <c:pt idx="288">
                  <c:v>13</c:v>
                </c:pt>
                <c:pt idx="289">
                  <c:v>17</c:v>
                </c:pt>
                <c:pt idx="290">
                  <c:v>11</c:v>
                </c:pt>
                <c:pt idx="291">
                  <c:v>11</c:v>
                </c:pt>
                <c:pt idx="292">
                  <c:v>14</c:v>
                </c:pt>
                <c:pt idx="293">
                  <c:v>14</c:v>
                </c:pt>
                <c:pt idx="294">
                  <c:v>13</c:v>
                </c:pt>
                <c:pt idx="295">
                  <c:v>14</c:v>
                </c:pt>
                <c:pt idx="296">
                  <c:v>16</c:v>
                </c:pt>
                <c:pt idx="297">
                  <c:v>10</c:v>
                </c:pt>
                <c:pt idx="298">
                  <c:v>12</c:v>
                </c:pt>
                <c:pt idx="299">
                  <c:v>12</c:v>
                </c:pt>
                <c:pt idx="300">
                  <c:v>15</c:v>
                </c:pt>
                <c:pt idx="301">
                  <c:v>11</c:v>
                </c:pt>
                <c:pt idx="302">
                  <c:v>12</c:v>
                </c:pt>
                <c:pt idx="303">
                  <c:v>13</c:v>
                </c:pt>
                <c:pt idx="304">
                  <c:v>13</c:v>
                </c:pt>
                <c:pt idx="305">
                  <c:v>9</c:v>
                </c:pt>
                <c:pt idx="306">
                  <c:v>16</c:v>
                </c:pt>
                <c:pt idx="307">
                  <c:v>14</c:v>
                </c:pt>
                <c:pt idx="308">
                  <c:v>12</c:v>
                </c:pt>
                <c:pt idx="309">
                  <c:v>14</c:v>
                </c:pt>
                <c:pt idx="310">
                  <c:v>10</c:v>
                </c:pt>
                <c:pt idx="311">
                  <c:v>12</c:v>
                </c:pt>
                <c:pt idx="312">
                  <c:v>16</c:v>
                </c:pt>
                <c:pt idx="313">
                  <c:v>13</c:v>
                </c:pt>
                <c:pt idx="314">
                  <c:v>18</c:v>
                </c:pt>
                <c:pt idx="315">
                  <c:v>15</c:v>
                </c:pt>
                <c:pt idx="316">
                  <c:v>16</c:v>
                </c:pt>
                <c:pt idx="317">
                  <c:v>12</c:v>
                </c:pt>
                <c:pt idx="318">
                  <c:v>10</c:v>
                </c:pt>
                <c:pt idx="319">
                  <c:v>12</c:v>
                </c:pt>
                <c:pt idx="320">
                  <c:v>13</c:v>
                </c:pt>
                <c:pt idx="321">
                  <c:v>15</c:v>
                </c:pt>
                <c:pt idx="322">
                  <c:v>10</c:v>
                </c:pt>
                <c:pt idx="323">
                  <c:v>10</c:v>
                </c:pt>
                <c:pt idx="324">
                  <c:v>11</c:v>
                </c:pt>
                <c:pt idx="325">
                  <c:v>10</c:v>
                </c:pt>
                <c:pt idx="326">
                  <c:v>13</c:v>
                </c:pt>
                <c:pt idx="327">
                  <c:v>18</c:v>
                </c:pt>
                <c:pt idx="328">
                  <c:v>13</c:v>
                </c:pt>
                <c:pt idx="329">
                  <c:v>14</c:v>
                </c:pt>
                <c:pt idx="330">
                  <c:v>14</c:v>
                </c:pt>
                <c:pt idx="331">
                  <c:v>12</c:v>
                </c:pt>
                <c:pt idx="332">
                  <c:v>18</c:v>
                </c:pt>
                <c:pt idx="333">
                  <c:v>14</c:v>
                </c:pt>
                <c:pt idx="334">
                  <c:v>15</c:v>
                </c:pt>
                <c:pt idx="335">
                  <c:v>17</c:v>
                </c:pt>
                <c:pt idx="336">
                  <c:v>16</c:v>
                </c:pt>
                <c:pt idx="337">
                  <c:v>18</c:v>
                </c:pt>
                <c:pt idx="338">
                  <c:v>19</c:v>
                </c:pt>
                <c:pt idx="339">
                  <c:v>15</c:v>
                </c:pt>
                <c:pt idx="340">
                  <c:v>15</c:v>
                </c:pt>
                <c:pt idx="341">
                  <c:v>13</c:v>
                </c:pt>
                <c:pt idx="342">
                  <c:v>14</c:v>
                </c:pt>
                <c:pt idx="343">
                  <c:v>17</c:v>
                </c:pt>
                <c:pt idx="344">
                  <c:v>17</c:v>
                </c:pt>
                <c:pt idx="345">
                  <c:v>15</c:v>
                </c:pt>
                <c:pt idx="346">
                  <c:v>13</c:v>
                </c:pt>
                <c:pt idx="347">
                  <c:v>8</c:v>
                </c:pt>
                <c:pt idx="348">
                  <c:v>16</c:v>
                </c:pt>
                <c:pt idx="349">
                  <c:v>18</c:v>
                </c:pt>
                <c:pt idx="350">
                  <c:v>11</c:v>
                </c:pt>
                <c:pt idx="351">
                  <c:v>15</c:v>
                </c:pt>
                <c:pt idx="352">
                  <c:v>11</c:v>
                </c:pt>
                <c:pt idx="353">
                  <c:v>11</c:v>
                </c:pt>
                <c:pt idx="354">
                  <c:v>15</c:v>
                </c:pt>
                <c:pt idx="355">
                  <c:v>14</c:v>
                </c:pt>
                <c:pt idx="356">
                  <c:v>17</c:v>
                </c:pt>
                <c:pt idx="357">
                  <c:v>17</c:v>
                </c:pt>
                <c:pt idx="358">
                  <c:v>15</c:v>
                </c:pt>
                <c:pt idx="359">
                  <c:v>17</c:v>
                </c:pt>
                <c:pt idx="360">
                  <c:v>14</c:v>
                </c:pt>
                <c:pt idx="361">
                  <c:v>10</c:v>
                </c:pt>
                <c:pt idx="362">
                  <c:v>13</c:v>
                </c:pt>
                <c:pt idx="363">
                  <c:v>14</c:v>
                </c:pt>
                <c:pt idx="364">
                  <c:v>17</c:v>
                </c:pt>
                <c:pt idx="365">
                  <c:v>17</c:v>
                </c:pt>
                <c:pt idx="366">
                  <c:v>13</c:v>
                </c:pt>
                <c:pt idx="367">
                  <c:v>14</c:v>
                </c:pt>
                <c:pt idx="368">
                  <c:v>11</c:v>
                </c:pt>
                <c:pt idx="369">
                  <c:v>11</c:v>
                </c:pt>
                <c:pt idx="370">
                  <c:v>9</c:v>
                </c:pt>
                <c:pt idx="371">
                  <c:v>10</c:v>
                </c:pt>
                <c:pt idx="372">
                  <c:v>13</c:v>
                </c:pt>
                <c:pt idx="373">
                  <c:v>10</c:v>
                </c:pt>
                <c:pt idx="374">
                  <c:v>17</c:v>
                </c:pt>
                <c:pt idx="375">
                  <c:v>15</c:v>
                </c:pt>
                <c:pt idx="376">
                  <c:v>14</c:v>
                </c:pt>
                <c:pt idx="377">
                  <c:v>13</c:v>
                </c:pt>
                <c:pt idx="378">
                  <c:v>17</c:v>
                </c:pt>
                <c:pt idx="379">
                  <c:v>10</c:v>
                </c:pt>
                <c:pt idx="380">
                  <c:v>13</c:v>
                </c:pt>
                <c:pt idx="381">
                  <c:v>15</c:v>
                </c:pt>
                <c:pt idx="382">
                  <c:v>11</c:v>
                </c:pt>
                <c:pt idx="383">
                  <c:v>12</c:v>
                </c:pt>
                <c:pt idx="384">
                  <c:v>10</c:v>
                </c:pt>
                <c:pt idx="385">
                  <c:v>10</c:v>
                </c:pt>
                <c:pt idx="386">
                  <c:v>15</c:v>
                </c:pt>
                <c:pt idx="387">
                  <c:v>15</c:v>
                </c:pt>
                <c:pt idx="388">
                  <c:v>12</c:v>
                </c:pt>
                <c:pt idx="389">
                  <c:v>12</c:v>
                </c:pt>
                <c:pt idx="390">
                  <c:v>14</c:v>
                </c:pt>
                <c:pt idx="391">
                  <c:v>14</c:v>
                </c:pt>
                <c:pt idx="392">
                  <c:v>15</c:v>
                </c:pt>
                <c:pt idx="393">
                  <c:v>15</c:v>
                </c:pt>
                <c:pt idx="394">
                  <c:v>16</c:v>
                </c:pt>
                <c:pt idx="395">
                  <c:v>13</c:v>
                </c:pt>
                <c:pt idx="396">
                  <c:v>17</c:v>
                </c:pt>
                <c:pt idx="397">
                  <c:v>14</c:v>
                </c:pt>
                <c:pt idx="398">
                  <c:v>14</c:v>
                </c:pt>
                <c:pt idx="399">
                  <c:v>17</c:v>
                </c:pt>
                <c:pt idx="400">
                  <c:v>17</c:v>
                </c:pt>
                <c:pt idx="401">
                  <c:v>14</c:v>
                </c:pt>
                <c:pt idx="402">
                  <c:v>13</c:v>
                </c:pt>
                <c:pt idx="403">
                  <c:v>15</c:v>
                </c:pt>
                <c:pt idx="404">
                  <c:v>16</c:v>
                </c:pt>
                <c:pt idx="405">
                  <c:v>11</c:v>
                </c:pt>
                <c:pt idx="406">
                  <c:v>13</c:v>
                </c:pt>
                <c:pt idx="407">
                  <c:v>12</c:v>
                </c:pt>
                <c:pt idx="408">
                  <c:v>12</c:v>
                </c:pt>
                <c:pt idx="409">
                  <c:v>15</c:v>
                </c:pt>
                <c:pt idx="410">
                  <c:v>17</c:v>
                </c:pt>
                <c:pt idx="411">
                  <c:v>15</c:v>
                </c:pt>
                <c:pt idx="412">
                  <c:v>17</c:v>
                </c:pt>
                <c:pt idx="413">
                  <c:v>10</c:v>
                </c:pt>
                <c:pt idx="414">
                  <c:v>15</c:v>
                </c:pt>
                <c:pt idx="415">
                  <c:v>11</c:v>
                </c:pt>
                <c:pt idx="416">
                  <c:v>18</c:v>
                </c:pt>
                <c:pt idx="417">
                  <c:v>17</c:v>
                </c:pt>
                <c:pt idx="418">
                  <c:v>14</c:v>
                </c:pt>
                <c:pt idx="419">
                  <c:v>11</c:v>
                </c:pt>
                <c:pt idx="420">
                  <c:v>17</c:v>
                </c:pt>
                <c:pt idx="421">
                  <c:v>10</c:v>
                </c:pt>
                <c:pt idx="422">
                  <c:v>13</c:v>
                </c:pt>
                <c:pt idx="423">
                  <c:v>11</c:v>
                </c:pt>
                <c:pt idx="424">
                  <c:v>12</c:v>
                </c:pt>
                <c:pt idx="425">
                  <c:v>10</c:v>
                </c:pt>
                <c:pt idx="426">
                  <c:v>11</c:v>
                </c:pt>
                <c:pt idx="427">
                  <c:v>17</c:v>
                </c:pt>
                <c:pt idx="428">
                  <c:v>9</c:v>
                </c:pt>
                <c:pt idx="429">
                  <c:v>11</c:v>
                </c:pt>
                <c:pt idx="430">
                  <c:v>11</c:v>
                </c:pt>
                <c:pt idx="431">
                  <c:v>10</c:v>
                </c:pt>
                <c:pt idx="432">
                  <c:v>7</c:v>
                </c:pt>
                <c:pt idx="433">
                  <c:v>14</c:v>
                </c:pt>
                <c:pt idx="434">
                  <c:v>11</c:v>
                </c:pt>
                <c:pt idx="435">
                  <c:v>10</c:v>
                </c:pt>
                <c:pt idx="436">
                  <c:v>8</c:v>
                </c:pt>
                <c:pt idx="437">
                  <c:v>12</c:v>
                </c:pt>
                <c:pt idx="438">
                  <c:v>12</c:v>
                </c:pt>
                <c:pt idx="439">
                  <c:v>16</c:v>
                </c:pt>
                <c:pt idx="440">
                  <c:v>0</c:v>
                </c:pt>
                <c:pt idx="441">
                  <c:v>9</c:v>
                </c:pt>
                <c:pt idx="442">
                  <c:v>14</c:v>
                </c:pt>
                <c:pt idx="443">
                  <c:v>8</c:v>
                </c:pt>
                <c:pt idx="444">
                  <c:v>11</c:v>
                </c:pt>
                <c:pt idx="445">
                  <c:v>9</c:v>
                </c:pt>
                <c:pt idx="446">
                  <c:v>11</c:v>
                </c:pt>
                <c:pt idx="447">
                  <c:v>9</c:v>
                </c:pt>
                <c:pt idx="448">
                  <c:v>17</c:v>
                </c:pt>
                <c:pt idx="449">
                  <c:v>13</c:v>
                </c:pt>
                <c:pt idx="450">
                  <c:v>15</c:v>
                </c:pt>
                <c:pt idx="451">
                  <c:v>11</c:v>
                </c:pt>
                <c:pt idx="452">
                  <c:v>11</c:v>
                </c:pt>
                <c:pt idx="453">
                  <c:v>8</c:v>
                </c:pt>
                <c:pt idx="454">
                  <c:v>8</c:v>
                </c:pt>
                <c:pt idx="455">
                  <c:v>9</c:v>
                </c:pt>
                <c:pt idx="456">
                  <c:v>15</c:v>
                </c:pt>
                <c:pt idx="457">
                  <c:v>11</c:v>
                </c:pt>
                <c:pt idx="458">
                  <c:v>13</c:v>
                </c:pt>
                <c:pt idx="459">
                  <c:v>10</c:v>
                </c:pt>
                <c:pt idx="460">
                  <c:v>11</c:v>
                </c:pt>
                <c:pt idx="461">
                  <c:v>14</c:v>
                </c:pt>
                <c:pt idx="462">
                  <c:v>14</c:v>
                </c:pt>
                <c:pt idx="463">
                  <c:v>12</c:v>
                </c:pt>
                <c:pt idx="464">
                  <c:v>11</c:v>
                </c:pt>
                <c:pt idx="465">
                  <c:v>8</c:v>
                </c:pt>
                <c:pt idx="466">
                  <c:v>11</c:v>
                </c:pt>
                <c:pt idx="467">
                  <c:v>14</c:v>
                </c:pt>
                <c:pt idx="468">
                  <c:v>13</c:v>
                </c:pt>
                <c:pt idx="469">
                  <c:v>13</c:v>
                </c:pt>
                <c:pt idx="470">
                  <c:v>12</c:v>
                </c:pt>
                <c:pt idx="471">
                  <c:v>12</c:v>
                </c:pt>
                <c:pt idx="472">
                  <c:v>16</c:v>
                </c:pt>
                <c:pt idx="473">
                  <c:v>10</c:v>
                </c:pt>
                <c:pt idx="474">
                  <c:v>11</c:v>
                </c:pt>
                <c:pt idx="475">
                  <c:v>14</c:v>
                </c:pt>
                <c:pt idx="476">
                  <c:v>8</c:v>
                </c:pt>
                <c:pt idx="477">
                  <c:v>11</c:v>
                </c:pt>
                <c:pt idx="478">
                  <c:v>8</c:v>
                </c:pt>
                <c:pt idx="479">
                  <c:v>10</c:v>
                </c:pt>
                <c:pt idx="480">
                  <c:v>10</c:v>
                </c:pt>
                <c:pt idx="481">
                  <c:v>11</c:v>
                </c:pt>
                <c:pt idx="482">
                  <c:v>9</c:v>
                </c:pt>
                <c:pt idx="483">
                  <c:v>11</c:v>
                </c:pt>
                <c:pt idx="484">
                  <c:v>8</c:v>
                </c:pt>
                <c:pt idx="485">
                  <c:v>11</c:v>
                </c:pt>
                <c:pt idx="486">
                  <c:v>10</c:v>
                </c:pt>
                <c:pt idx="487">
                  <c:v>10</c:v>
                </c:pt>
                <c:pt idx="488">
                  <c:v>9</c:v>
                </c:pt>
                <c:pt idx="489">
                  <c:v>10</c:v>
                </c:pt>
                <c:pt idx="490">
                  <c:v>10</c:v>
                </c:pt>
                <c:pt idx="491">
                  <c:v>9</c:v>
                </c:pt>
                <c:pt idx="492">
                  <c:v>10</c:v>
                </c:pt>
                <c:pt idx="493">
                  <c:v>10</c:v>
                </c:pt>
                <c:pt idx="494">
                  <c:v>9</c:v>
                </c:pt>
                <c:pt idx="495">
                  <c:v>13</c:v>
                </c:pt>
                <c:pt idx="496">
                  <c:v>14</c:v>
                </c:pt>
                <c:pt idx="497">
                  <c:v>10</c:v>
                </c:pt>
                <c:pt idx="498">
                  <c:v>14</c:v>
                </c:pt>
                <c:pt idx="499">
                  <c:v>16</c:v>
                </c:pt>
                <c:pt idx="500">
                  <c:v>7</c:v>
                </c:pt>
                <c:pt idx="501">
                  <c:v>13</c:v>
                </c:pt>
                <c:pt idx="502">
                  <c:v>9</c:v>
                </c:pt>
                <c:pt idx="503">
                  <c:v>14</c:v>
                </c:pt>
                <c:pt idx="504">
                  <c:v>13</c:v>
                </c:pt>
                <c:pt idx="505">
                  <c:v>11</c:v>
                </c:pt>
                <c:pt idx="506">
                  <c:v>10</c:v>
                </c:pt>
                <c:pt idx="507">
                  <c:v>10</c:v>
                </c:pt>
                <c:pt idx="508">
                  <c:v>9</c:v>
                </c:pt>
                <c:pt idx="509">
                  <c:v>18</c:v>
                </c:pt>
                <c:pt idx="510">
                  <c:v>17</c:v>
                </c:pt>
                <c:pt idx="511">
                  <c:v>10</c:v>
                </c:pt>
                <c:pt idx="512">
                  <c:v>7</c:v>
                </c:pt>
                <c:pt idx="513">
                  <c:v>8</c:v>
                </c:pt>
                <c:pt idx="514">
                  <c:v>7</c:v>
                </c:pt>
                <c:pt idx="515">
                  <c:v>10</c:v>
                </c:pt>
                <c:pt idx="516">
                  <c:v>16</c:v>
                </c:pt>
                <c:pt idx="517">
                  <c:v>15</c:v>
                </c:pt>
                <c:pt idx="518">
                  <c:v>8</c:v>
                </c:pt>
                <c:pt idx="519">
                  <c:v>0</c:v>
                </c:pt>
                <c:pt idx="520">
                  <c:v>8</c:v>
                </c:pt>
                <c:pt idx="521">
                  <c:v>10</c:v>
                </c:pt>
                <c:pt idx="522">
                  <c:v>8</c:v>
                </c:pt>
                <c:pt idx="523">
                  <c:v>6</c:v>
                </c:pt>
                <c:pt idx="524">
                  <c:v>8</c:v>
                </c:pt>
                <c:pt idx="525">
                  <c:v>16</c:v>
                </c:pt>
                <c:pt idx="526">
                  <c:v>14</c:v>
                </c:pt>
                <c:pt idx="527">
                  <c:v>10</c:v>
                </c:pt>
                <c:pt idx="528">
                  <c:v>9</c:v>
                </c:pt>
                <c:pt idx="529">
                  <c:v>11</c:v>
                </c:pt>
                <c:pt idx="530">
                  <c:v>9</c:v>
                </c:pt>
                <c:pt idx="531">
                  <c:v>10</c:v>
                </c:pt>
                <c:pt idx="532">
                  <c:v>8</c:v>
                </c:pt>
                <c:pt idx="533">
                  <c:v>16</c:v>
                </c:pt>
                <c:pt idx="534">
                  <c:v>12</c:v>
                </c:pt>
                <c:pt idx="535">
                  <c:v>10</c:v>
                </c:pt>
                <c:pt idx="536">
                  <c:v>14</c:v>
                </c:pt>
                <c:pt idx="537">
                  <c:v>12</c:v>
                </c:pt>
                <c:pt idx="538">
                  <c:v>11</c:v>
                </c:pt>
                <c:pt idx="539">
                  <c:v>10</c:v>
                </c:pt>
                <c:pt idx="540">
                  <c:v>11</c:v>
                </c:pt>
                <c:pt idx="541">
                  <c:v>11</c:v>
                </c:pt>
                <c:pt idx="542">
                  <c:v>12</c:v>
                </c:pt>
                <c:pt idx="543">
                  <c:v>8</c:v>
                </c:pt>
                <c:pt idx="544">
                  <c:v>12</c:v>
                </c:pt>
                <c:pt idx="545">
                  <c:v>8</c:v>
                </c:pt>
                <c:pt idx="546">
                  <c:v>16</c:v>
                </c:pt>
                <c:pt idx="547">
                  <c:v>11</c:v>
                </c:pt>
                <c:pt idx="548">
                  <c:v>11</c:v>
                </c:pt>
                <c:pt idx="549">
                  <c:v>18</c:v>
                </c:pt>
                <c:pt idx="550">
                  <c:v>13</c:v>
                </c:pt>
                <c:pt idx="551">
                  <c:v>13</c:v>
                </c:pt>
                <c:pt idx="552">
                  <c:v>10</c:v>
                </c:pt>
                <c:pt idx="553">
                  <c:v>12</c:v>
                </c:pt>
                <c:pt idx="554">
                  <c:v>10</c:v>
                </c:pt>
                <c:pt idx="555">
                  <c:v>13</c:v>
                </c:pt>
                <c:pt idx="556">
                  <c:v>11</c:v>
                </c:pt>
                <c:pt idx="557">
                  <c:v>10</c:v>
                </c:pt>
                <c:pt idx="558">
                  <c:v>10</c:v>
                </c:pt>
                <c:pt idx="559">
                  <c:v>13</c:v>
                </c:pt>
                <c:pt idx="560">
                  <c:v>10</c:v>
                </c:pt>
                <c:pt idx="561">
                  <c:v>10</c:v>
                </c:pt>
                <c:pt idx="562">
                  <c:v>12</c:v>
                </c:pt>
                <c:pt idx="563">
                  <c:v>0</c:v>
                </c:pt>
                <c:pt idx="564">
                  <c:v>10</c:v>
                </c:pt>
                <c:pt idx="565">
                  <c:v>9</c:v>
                </c:pt>
                <c:pt idx="566">
                  <c:v>9</c:v>
                </c:pt>
                <c:pt idx="567">
                  <c:v>0</c:v>
                </c:pt>
                <c:pt idx="568">
                  <c:v>9</c:v>
                </c:pt>
                <c:pt idx="569">
                  <c:v>8</c:v>
                </c:pt>
                <c:pt idx="570">
                  <c:v>8</c:v>
                </c:pt>
                <c:pt idx="571">
                  <c:v>9</c:v>
                </c:pt>
                <c:pt idx="572">
                  <c:v>7</c:v>
                </c:pt>
                <c:pt idx="573">
                  <c:v>10</c:v>
                </c:pt>
                <c:pt idx="574">
                  <c:v>10</c:v>
                </c:pt>
                <c:pt idx="575">
                  <c:v>10</c:v>
                </c:pt>
                <c:pt idx="576">
                  <c:v>11</c:v>
                </c:pt>
                <c:pt idx="577">
                  <c:v>11</c:v>
                </c:pt>
                <c:pt idx="578">
                  <c:v>10</c:v>
                </c:pt>
                <c:pt idx="579">
                  <c:v>9</c:v>
                </c:pt>
                <c:pt idx="580">
                  <c:v>10</c:v>
                </c:pt>
                <c:pt idx="581">
                  <c:v>8</c:v>
                </c:pt>
                <c:pt idx="582">
                  <c:v>7</c:v>
                </c:pt>
                <c:pt idx="583">
                  <c:v>0</c:v>
                </c:pt>
                <c:pt idx="584">
                  <c:v>11</c:v>
                </c:pt>
                <c:pt idx="585">
                  <c:v>8</c:v>
                </c:pt>
                <c:pt idx="586">
                  <c:v>0</c:v>
                </c:pt>
                <c:pt idx="587">
                  <c:v>8</c:v>
                </c:pt>
                <c:pt idx="588">
                  <c:v>9</c:v>
                </c:pt>
                <c:pt idx="589">
                  <c:v>10</c:v>
                </c:pt>
                <c:pt idx="590">
                  <c:v>7</c:v>
                </c:pt>
                <c:pt idx="591">
                  <c:v>14</c:v>
                </c:pt>
                <c:pt idx="592">
                  <c:v>13</c:v>
                </c:pt>
                <c:pt idx="593">
                  <c:v>14</c:v>
                </c:pt>
                <c:pt idx="594">
                  <c:v>18</c:v>
                </c:pt>
                <c:pt idx="595">
                  <c:v>17</c:v>
                </c:pt>
                <c:pt idx="596">
                  <c:v>18</c:v>
                </c:pt>
                <c:pt idx="597">
                  <c:v>0</c:v>
                </c:pt>
                <c:pt idx="598">
                  <c:v>11</c:v>
                </c:pt>
                <c:pt idx="599">
                  <c:v>14</c:v>
                </c:pt>
                <c:pt idx="600">
                  <c:v>14</c:v>
                </c:pt>
                <c:pt idx="601">
                  <c:v>10</c:v>
                </c:pt>
                <c:pt idx="602">
                  <c:v>13</c:v>
                </c:pt>
                <c:pt idx="603">
                  <c:v>0</c:v>
                </c:pt>
                <c:pt idx="604">
                  <c:v>10</c:v>
                </c:pt>
                <c:pt idx="605">
                  <c:v>0</c:v>
                </c:pt>
                <c:pt idx="606">
                  <c:v>18</c:v>
                </c:pt>
                <c:pt idx="607">
                  <c:v>12</c:v>
                </c:pt>
                <c:pt idx="608">
                  <c:v>11</c:v>
                </c:pt>
                <c:pt idx="609">
                  <c:v>12</c:v>
                </c:pt>
                <c:pt idx="610">
                  <c:v>0</c:v>
                </c:pt>
                <c:pt idx="611">
                  <c:v>15</c:v>
                </c:pt>
                <c:pt idx="612">
                  <c:v>11</c:v>
                </c:pt>
                <c:pt idx="613">
                  <c:v>10</c:v>
                </c:pt>
                <c:pt idx="614">
                  <c:v>12</c:v>
                </c:pt>
                <c:pt idx="615">
                  <c:v>15</c:v>
                </c:pt>
                <c:pt idx="616">
                  <c:v>14</c:v>
                </c:pt>
                <c:pt idx="617">
                  <c:v>18</c:v>
                </c:pt>
                <c:pt idx="618">
                  <c:v>15</c:v>
                </c:pt>
                <c:pt idx="619">
                  <c:v>13</c:v>
                </c:pt>
                <c:pt idx="620">
                  <c:v>15</c:v>
                </c:pt>
                <c:pt idx="621">
                  <c:v>13</c:v>
                </c:pt>
                <c:pt idx="622">
                  <c:v>9</c:v>
                </c:pt>
                <c:pt idx="623">
                  <c:v>16</c:v>
                </c:pt>
                <c:pt idx="624">
                  <c:v>9</c:v>
                </c:pt>
                <c:pt idx="625">
                  <c:v>10</c:v>
                </c:pt>
                <c:pt idx="626">
                  <c:v>0</c:v>
                </c:pt>
                <c:pt idx="627">
                  <c:v>10</c:v>
                </c:pt>
                <c:pt idx="628">
                  <c:v>12</c:v>
                </c:pt>
                <c:pt idx="629">
                  <c:v>9</c:v>
                </c:pt>
                <c:pt idx="630">
                  <c:v>17</c:v>
                </c:pt>
                <c:pt idx="631">
                  <c:v>12</c:v>
                </c:pt>
                <c:pt idx="632">
                  <c:v>9</c:v>
                </c:pt>
                <c:pt idx="633">
                  <c:v>14</c:v>
                </c:pt>
                <c:pt idx="634">
                  <c:v>16</c:v>
                </c:pt>
                <c:pt idx="635">
                  <c:v>9</c:v>
                </c:pt>
                <c:pt idx="636">
                  <c:v>19</c:v>
                </c:pt>
                <c:pt idx="637">
                  <c:v>0</c:v>
                </c:pt>
                <c:pt idx="638">
                  <c:v>16</c:v>
                </c:pt>
                <c:pt idx="639">
                  <c:v>0</c:v>
                </c:pt>
                <c:pt idx="640">
                  <c:v>0</c:v>
                </c:pt>
                <c:pt idx="641">
                  <c:v>15</c:v>
                </c:pt>
                <c:pt idx="642">
                  <c:v>11</c:v>
                </c:pt>
                <c:pt idx="643">
                  <c:v>10</c:v>
                </c:pt>
                <c:pt idx="644">
                  <c:v>10</c:v>
                </c:pt>
                <c:pt idx="645">
                  <c:v>16</c:v>
                </c:pt>
                <c:pt idx="646">
                  <c:v>9</c:v>
                </c:pt>
                <c:pt idx="647">
                  <c:v>10</c:v>
                </c:pt>
                <c:pt idx="648">
                  <c:v>11</c:v>
                </c:pt>
              </c:numCache>
            </c:numRef>
          </c:yVal>
        </c:ser>
        <c:ser>
          <c:idx val="1"/>
          <c:order val="1"/>
          <c:tx>
            <c:v>Descriptive fitted line</c:v>
          </c:tx>
          <c:spPr>
            <a:noFill xmlns:a="http://schemas.openxmlformats.org/drawingml/2006/main"/>
            <a:ln xmlns:a="http://schemas.openxmlformats.org/drawingml/2006/main" w="19050">
              <a:solidFill>
                <a:srgbClr val="000000"/>
              </a:solidFill>
              <a:prstDash val="solid"/>
            </a:ln>
          </c:spPr>
          <c:marker>
            <c:symbol val="none"/>
          </c:marker>
          <c:xVal>
            <c:numRef>
              <c:f>'Chart Data'!$C$2:$C$101</c:f>
              <c:numCache>
                <c:formatCode>General</c:formatCode>
                <c:ptCount val="100"/>
                <c:pt idx="0">
                  <c:v>0</c:v>
                </c:pt>
                <c:pt idx="1">
                  <c:v>0.191919191919</c:v>
                </c:pt>
                <c:pt idx="2">
                  <c:v>0.383838383838</c:v>
                </c:pt>
                <c:pt idx="3">
                  <c:v>0.575757575758</c:v>
                </c:pt>
                <c:pt idx="4">
                  <c:v>0.767676767677</c:v>
                </c:pt>
                <c:pt idx="5">
                  <c:v>0.959595959596</c:v>
                </c:pt>
                <c:pt idx="6">
                  <c:v>1.15151515152</c:v>
                </c:pt>
                <c:pt idx="7">
                  <c:v>1.34343434343</c:v>
                </c:pt>
                <c:pt idx="8">
                  <c:v>1.53535353535</c:v>
                </c:pt>
                <c:pt idx="9">
                  <c:v>1.72727272727</c:v>
                </c:pt>
                <c:pt idx="10">
                  <c:v>1.91919191919</c:v>
                </c:pt>
                <c:pt idx="11">
                  <c:v>2.11111111111</c:v>
                </c:pt>
                <c:pt idx="12">
                  <c:v>2.30303030303</c:v>
                </c:pt>
                <c:pt idx="13">
                  <c:v>2.49494949495</c:v>
                </c:pt>
                <c:pt idx="14">
                  <c:v>2.68686868687</c:v>
                </c:pt>
                <c:pt idx="15">
                  <c:v>2.87878787879</c:v>
                </c:pt>
                <c:pt idx="16">
                  <c:v>3.07070707071</c:v>
                </c:pt>
                <c:pt idx="17">
                  <c:v>3.26262626263</c:v>
                </c:pt>
                <c:pt idx="18">
                  <c:v>3.45454545455</c:v>
                </c:pt>
                <c:pt idx="19">
                  <c:v>3.64646464646</c:v>
                </c:pt>
                <c:pt idx="20">
                  <c:v>3.83838383838</c:v>
                </c:pt>
                <c:pt idx="21">
                  <c:v>4.0303030303</c:v>
                </c:pt>
                <c:pt idx="22">
                  <c:v>4.22222222222</c:v>
                </c:pt>
                <c:pt idx="23">
                  <c:v>4.41414141414</c:v>
                </c:pt>
                <c:pt idx="24">
                  <c:v>4.60606060606</c:v>
                </c:pt>
                <c:pt idx="25">
                  <c:v>4.79797979798</c:v>
                </c:pt>
                <c:pt idx="26">
                  <c:v>4.9898989899</c:v>
                </c:pt>
                <c:pt idx="27">
                  <c:v>5.18181818182</c:v>
                </c:pt>
                <c:pt idx="28">
                  <c:v>5.37373737374</c:v>
                </c:pt>
                <c:pt idx="29">
                  <c:v>5.56565656566</c:v>
                </c:pt>
                <c:pt idx="30">
                  <c:v>5.75757575758</c:v>
                </c:pt>
                <c:pt idx="31">
                  <c:v>5.94949494949</c:v>
                </c:pt>
                <c:pt idx="32">
                  <c:v>6.14141414141</c:v>
                </c:pt>
                <c:pt idx="33">
                  <c:v>6.33333333333</c:v>
                </c:pt>
                <c:pt idx="34">
                  <c:v>6.52525252525</c:v>
                </c:pt>
                <c:pt idx="35">
                  <c:v>6.71717171717</c:v>
                </c:pt>
                <c:pt idx="36">
                  <c:v>6.90909090909</c:v>
                </c:pt>
                <c:pt idx="37">
                  <c:v>7.10101010101</c:v>
                </c:pt>
                <c:pt idx="38">
                  <c:v>7.29292929293</c:v>
                </c:pt>
                <c:pt idx="39">
                  <c:v>7.48484848485</c:v>
                </c:pt>
                <c:pt idx="40">
                  <c:v>7.67676767677</c:v>
                </c:pt>
                <c:pt idx="41">
                  <c:v>7.86868686869</c:v>
                </c:pt>
                <c:pt idx="42">
                  <c:v>8.06060606061</c:v>
                </c:pt>
                <c:pt idx="43">
                  <c:v>8.25252525253</c:v>
                </c:pt>
                <c:pt idx="44">
                  <c:v>8.44444444444</c:v>
                </c:pt>
                <c:pt idx="45">
                  <c:v>8.63636363636</c:v>
                </c:pt>
                <c:pt idx="46">
                  <c:v>8.82828282828</c:v>
                </c:pt>
                <c:pt idx="47">
                  <c:v>9.0202020202</c:v>
                </c:pt>
                <c:pt idx="48">
                  <c:v>9.21212121212</c:v>
                </c:pt>
                <c:pt idx="49">
                  <c:v>9.40404040404</c:v>
                </c:pt>
                <c:pt idx="50">
                  <c:v>9.59595959596</c:v>
                </c:pt>
                <c:pt idx="51">
                  <c:v>9.78787878788</c:v>
                </c:pt>
                <c:pt idx="52">
                  <c:v>9.9797979798</c:v>
                </c:pt>
                <c:pt idx="53">
                  <c:v>10.1717171717</c:v>
                </c:pt>
                <c:pt idx="54">
                  <c:v>10.3636363636</c:v>
                </c:pt>
                <c:pt idx="55">
                  <c:v>10.5555555556</c:v>
                </c:pt>
                <c:pt idx="56">
                  <c:v>10.7474747475</c:v>
                </c:pt>
                <c:pt idx="57">
                  <c:v>10.9393939394</c:v>
                </c:pt>
                <c:pt idx="58">
                  <c:v>11.1313131313</c:v>
                </c:pt>
                <c:pt idx="59">
                  <c:v>11.3232323232</c:v>
                </c:pt>
                <c:pt idx="60">
                  <c:v>11.5151515152</c:v>
                </c:pt>
                <c:pt idx="61">
                  <c:v>11.7070707071</c:v>
                </c:pt>
                <c:pt idx="62">
                  <c:v>11.898989899</c:v>
                </c:pt>
                <c:pt idx="63">
                  <c:v>12.0909090909</c:v>
                </c:pt>
                <c:pt idx="64">
                  <c:v>12.2828282828</c:v>
                </c:pt>
                <c:pt idx="65">
                  <c:v>12.4747474747</c:v>
                </c:pt>
                <c:pt idx="66">
                  <c:v>12.6666666667</c:v>
                </c:pt>
                <c:pt idx="67">
                  <c:v>12.8585858586</c:v>
                </c:pt>
                <c:pt idx="68">
                  <c:v>13.0505050505</c:v>
                </c:pt>
                <c:pt idx="69">
                  <c:v>13.2424242424</c:v>
                </c:pt>
                <c:pt idx="70">
                  <c:v>13.4343434343</c:v>
                </c:pt>
                <c:pt idx="71">
                  <c:v>13.6262626263</c:v>
                </c:pt>
                <c:pt idx="72">
                  <c:v>13.8181818182</c:v>
                </c:pt>
                <c:pt idx="73">
                  <c:v>14.0101010101</c:v>
                </c:pt>
                <c:pt idx="74">
                  <c:v>14.202020202</c:v>
                </c:pt>
                <c:pt idx="75">
                  <c:v>14.3939393939</c:v>
                </c:pt>
                <c:pt idx="76">
                  <c:v>14.5858585859</c:v>
                </c:pt>
                <c:pt idx="77">
                  <c:v>14.7777777778</c:v>
                </c:pt>
                <c:pt idx="78">
                  <c:v>14.9696969697</c:v>
                </c:pt>
                <c:pt idx="79">
                  <c:v>15.1616161616</c:v>
                </c:pt>
                <c:pt idx="80">
                  <c:v>15.3535353535</c:v>
                </c:pt>
                <c:pt idx="81">
                  <c:v>15.5454545455</c:v>
                </c:pt>
                <c:pt idx="82">
                  <c:v>15.7373737374</c:v>
                </c:pt>
                <c:pt idx="83">
                  <c:v>15.9292929293</c:v>
                </c:pt>
                <c:pt idx="84">
                  <c:v>16.1212121212</c:v>
                </c:pt>
                <c:pt idx="85">
                  <c:v>16.3131313131</c:v>
                </c:pt>
                <c:pt idx="86">
                  <c:v>16.5050505051</c:v>
                </c:pt>
                <c:pt idx="87">
                  <c:v>16.696969697</c:v>
                </c:pt>
                <c:pt idx="88">
                  <c:v>16.8888888889</c:v>
                </c:pt>
                <c:pt idx="89">
                  <c:v>17.0808080808</c:v>
                </c:pt>
                <c:pt idx="90">
                  <c:v>17.2727272727</c:v>
                </c:pt>
                <c:pt idx="91">
                  <c:v>17.4646464646</c:v>
                </c:pt>
                <c:pt idx="92">
                  <c:v>17.6565656566</c:v>
                </c:pt>
                <c:pt idx="93">
                  <c:v>17.8484848485</c:v>
                </c:pt>
                <c:pt idx="94">
                  <c:v>18.0404040404</c:v>
                </c:pt>
                <c:pt idx="95">
                  <c:v>18.2323232323</c:v>
                </c:pt>
                <c:pt idx="96">
                  <c:v>18.4242424242</c:v>
                </c:pt>
                <c:pt idx="97">
                  <c:v>18.6161616162</c:v>
                </c:pt>
                <c:pt idx="98">
                  <c:v>18.8080808081</c:v>
                </c:pt>
                <c:pt idx="99">
                  <c:v>19</c:v>
                </c:pt>
              </c:numCache>
            </c:numRef>
          </c:xVal>
          <c:yVal>
            <c:numRef>
              <c:f>'Chart Data'!$D$2:$D$101</c:f>
              <c:numCache>
                <c:formatCode>General</c:formatCode>
                <c:ptCount val="100"/>
                <c:pt idx="0">
                  <c:v>0.121966126154</c:v>
                </c:pt>
                <c:pt idx="1">
                  <c:v>0.317433969722</c:v>
                </c:pt>
                <c:pt idx="2">
                  <c:v>0.512901813291</c:v>
                </c:pt>
                <c:pt idx="3">
                  <c:v>0.70836965686</c:v>
                </c:pt>
                <c:pt idx="4">
                  <c:v>0.903837500428</c:v>
                </c:pt>
                <c:pt idx="5">
                  <c:v>1.099305344</c:v>
                </c:pt>
                <c:pt idx="6">
                  <c:v>1.29477318757</c:v>
                </c:pt>
                <c:pt idx="7">
                  <c:v>1.49024103113</c:v>
                </c:pt>
                <c:pt idx="8">
                  <c:v>1.6857088747</c:v>
                </c:pt>
                <c:pt idx="9">
                  <c:v>1.88117671827</c:v>
                </c:pt>
                <c:pt idx="10">
                  <c:v>2.07664456184</c:v>
                </c:pt>
                <c:pt idx="11">
                  <c:v>2.27211240541</c:v>
                </c:pt>
                <c:pt idx="12">
                  <c:v>2.46758024898</c:v>
                </c:pt>
                <c:pt idx="13">
                  <c:v>2.66304809255</c:v>
                </c:pt>
                <c:pt idx="14">
                  <c:v>2.85851593612</c:v>
                </c:pt>
                <c:pt idx="15">
                  <c:v>3.05398377968</c:v>
                </c:pt>
                <c:pt idx="16">
                  <c:v>3.24945162325</c:v>
                </c:pt>
                <c:pt idx="17">
                  <c:v>3.44491946682</c:v>
                </c:pt>
                <c:pt idx="18">
                  <c:v>3.64038731039</c:v>
                </c:pt>
                <c:pt idx="19">
                  <c:v>3.83585515396</c:v>
                </c:pt>
                <c:pt idx="20">
                  <c:v>4.03132299753</c:v>
                </c:pt>
                <c:pt idx="21">
                  <c:v>4.2267908411</c:v>
                </c:pt>
                <c:pt idx="22">
                  <c:v>4.42225868467</c:v>
                </c:pt>
                <c:pt idx="23">
                  <c:v>4.61772652823</c:v>
                </c:pt>
                <c:pt idx="24">
                  <c:v>4.8131943718</c:v>
                </c:pt>
                <c:pt idx="25">
                  <c:v>5.00866221537</c:v>
                </c:pt>
                <c:pt idx="26">
                  <c:v>5.20413005894</c:v>
                </c:pt>
                <c:pt idx="27">
                  <c:v>5.39959790251</c:v>
                </c:pt>
                <c:pt idx="28">
                  <c:v>5.59506574608</c:v>
                </c:pt>
                <c:pt idx="29">
                  <c:v>5.79053358965</c:v>
                </c:pt>
                <c:pt idx="30">
                  <c:v>5.98600143322</c:v>
                </c:pt>
                <c:pt idx="31">
                  <c:v>6.18146927678</c:v>
                </c:pt>
                <c:pt idx="32">
                  <c:v>6.37693712035</c:v>
                </c:pt>
                <c:pt idx="33">
                  <c:v>6.57240496392</c:v>
                </c:pt>
                <c:pt idx="34">
                  <c:v>6.76787280749</c:v>
                </c:pt>
                <c:pt idx="35">
                  <c:v>6.96334065106</c:v>
                </c:pt>
                <c:pt idx="36">
                  <c:v>7.15880849463</c:v>
                </c:pt>
                <c:pt idx="37">
                  <c:v>7.3542763382</c:v>
                </c:pt>
                <c:pt idx="38">
                  <c:v>7.54974418177</c:v>
                </c:pt>
                <c:pt idx="39">
                  <c:v>7.74521202533</c:v>
                </c:pt>
                <c:pt idx="40">
                  <c:v>7.9406798689</c:v>
                </c:pt>
                <c:pt idx="41">
                  <c:v>8.13614771247</c:v>
                </c:pt>
                <c:pt idx="42">
                  <c:v>8.33161555604</c:v>
                </c:pt>
                <c:pt idx="43">
                  <c:v>8.52708339961</c:v>
                </c:pt>
                <c:pt idx="44">
                  <c:v>8.72255124318</c:v>
                </c:pt>
                <c:pt idx="45">
                  <c:v>8.91801908675</c:v>
                </c:pt>
                <c:pt idx="46">
                  <c:v>9.11348693032</c:v>
                </c:pt>
                <c:pt idx="47">
                  <c:v>9.30895477388</c:v>
                </c:pt>
                <c:pt idx="48">
                  <c:v>9.50442261745</c:v>
                </c:pt>
                <c:pt idx="49">
                  <c:v>9.69989046102</c:v>
                </c:pt>
                <c:pt idx="50">
                  <c:v>9.89535830459</c:v>
                </c:pt>
                <c:pt idx="51">
                  <c:v>10.0908261482</c:v>
                </c:pt>
                <c:pt idx="52">
                  <c:v>10.2862939917</c:v>
                </c:pt>
                <c:pt idx="53">
                  <c:v>10.4817618353</c:v>
                </c:pt>
                <c:pt idx="54">
                  <c:v>10.6772296789</c:v>
                </c:pt>
                <c:pt idx="55">
                  <c:v>10.8726975224</c:v>
                </c:pt>
                <c:pt idx="56">
                  <c:v>11.068165366</c:v>
                </c:pt>
                <c:pt idx="57">
                  <c:v>11.2636332096</c:v>
                </c:pt>
                <c:pt idx="58">
                  <c:v>11.4591010531</c:v>
                </c:pt>
                <c:pt idx="59">
                  <c:v>11.6545688967</c:v>
                </c:pt>
                <c:pt idx="60">
                  <c:v>11.8500367403</c:v>
                </c:pt>
                <c:pt idx="61">
                  <c:v>12.0455045838</c:v>
                </c:pt>
                <c:pt idx="62">
                  <c:v>12.2409724274</c:v>
                </c:pt>
                <c:pt idx="63">
                  <c:v>12.436440271</c:v>
                </c:pt>
                <c:pt idx="64">
                  <c:v>12.6319081146</c:v>
                </c:pt>
                <c:pt idx="65">
                  <c:v>12.8273759581</c:v>
                </c:pt>
                <c:pt idx="66">
                  <c:v>13.0228438017</c:v>
                </c:pt>
                <c:pt idx="67">
                  <c:v>13.2183116453</c:v>
                </c:pt>
                <c:pt idx="68">
                  <c:v>13.4137794888</c:v>
                </c:pt>
                <c:pt idx="69">
                  <c:v>13.6092473324</c:v>
                </c:pt>
                <c:pt idx="70">
                  <c:v>13.804715176</c:v>
                </c:pt>
                <c:pt idx="71">
                  <c:v>14.0001830195</c:v>
                </c:pt>
                <c:pt idx="72">
                  <c:v>14.1956508631</c:v>
                </c:pt>
                <c:pt idx="73">
                  <c:v>14.3911187067</c:v>
                </c:pt>
                <c:pt idx="74">
                  <c:v>14.5865865502</c:v>
                </c:pt>
                <c:pt idx="75">
                  <c:v>14.7820543938</c:v>
                </c:pt>
                <c:pt idx="76">
                  <c:v>14.9775222374</c:v>
                </c:pt>
                <c:pt idx="77">
                  <c:v>15.1729900809</c:v>
                </c:pt>
                <c:pt idx="78">
                  <c:v>15.3684579245</c:v>
                </c:pt>
                <c:pt idx="79">
                  <c:v>15.5639257681</c:v>
                </c:pt>
                <c:pt idx="80">
                  <c:v>15.7593936117</c:v>
                </c:pt>
                <c:pt idx="81">
                  <c:v>15.9548614552</c:v>
                </c:pt>
                <c:pt idx="82">
                  <c:v>16.1503292988</c:v>
                </c:pt>
                <c:pt idx="83">
                  <c:v>16.3457971424</c:v>
                </c:pt>
                <c:pt idx="84">
                  <c:v>16.5412649859</c:v>
                </c:pt>
                <c:pt idx="85">
                  <c:v>16.7367328295</c:v>
                </c:pt>
                <c:pt idx="86">
                  <c:v>16.9322006731</c:v>
                </c:pt>
                <c:pt idx="87">
                  <c:v>17.1276685166</c:v>
                </c:pt>
                <c:pt idx="88">
                  <c:v>17.3231363602</c:v>
                </c:pt>
                <c:pt idx="89">
                  <c:v>17.5186042038</c:v>
                </c:pt>
                <c:pt idx="90">
                  <c:v>17.7140720473</c:v>
                </c:pt>
                <c:pt idx="91">
                  <c:v>17.9095398909</c:v>
                </c:pt>
                <c:pt idx="92">
                  <c:v>18.1050077345</c:v>
                </c:pt>
                <c:pt idx="93">
                  <c:v>18.300475578</c:v>
                </c:pt>
                <c:pt idx="94">
                  <c:v>18.4959434216</c:v>
                </c:pt>
                <c:pt idx="95">
                  <c:v>18.6914112652</c:v>
                </c:pt>
                <c:pt idx="96">
                  <c:v>18.8868791088</c:v>
                </c:pt>
                <c:pt idx="97">
                  <c:v>19.0823469523</c:v>
                </c:pt>
                <c:pt idx="98">
                  <c:v>19.2778147959</c:v>
                </c:pt>
                <c:pt idx="99">
                  <c:v>19.4732826395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G3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majorUnit val="5"/>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varyColors val="0"/>
        <c:ser>
          <c:idx val="0"/>
          <c:order val="0"/>
          <c:tx>
            <c:v>Earlier-grade mean</c:v>
          </c:tx>
          <c:spPr>
            <a:solidFill xmlns:a="http://schemas.openxmlformats.org/drawingml/2006/main">
              <a:srgbClr val="DDDDDD"/>
            </a:solidFill>
            <a:ln xmlns:a="http://schemas.openxmlformats.org/drawingml/2006/main" w="9525">
              <a:solidFill>
                <a:srgbClr val="000000"/>
              </a:solidFill>
              <a:prstDash val="solid"/>
            </a:ln>
          </c:spPr>
          <c:invertIfNegative val="0"/>
          <c:cat>
            <c:numRef>
              <c:f>'Chart Data'!$A$2:$A$6</c:f>
              <c:numCache>
                <c:formatCode>General</c:formatCode>
                <c:ptCount val="5"/>
                <c:pt idx="0">
                  <c:v>1</c:v>
                </c:pt>
                <c:pt idx="1">
                  <c:v>2</c:v>
                </c:pt>
                <c:pt idx="2">
                  <c:v>3</c:v>
                </c:pt>
                <c:pt idx="3">
                  <c:v>4</c:v>
                </c:pt>
                <c:pt idx="4">
                  <c:v>5</c:v>
                </c:pt>
              </c:numCache>
            </c:numRef>
          </c:cat>
          <c:val>
            <c:numRef>
              <c:f>'Chart Data'!$B$2:$B$6</c:f>
              <c:numCache>
                <c:formatCode>General</c:formatCode>
                <c:ptCount val="5"/>
                <c:pt idx="0">
                  <c:v>5.5</c:v>
                </c:pt>
                <c:pt idx="1">
                  <c:v>10</c:v>
                </c:pt>
                <c:pt idx="2">
                  <c:v>12.5</c:v>
                </c:pt>
                <c:pt idx="3">
                  <c:v>14</c:v>
                </c:pt>
                <c:pt idx="4">
                  <c:v>12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Source row number (one-based)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of G1 and G2 (points)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34FE5E5-2F04-448B-9EE4-62209F998075}"/>
              </a:ext>
            </a:extLst>
          </p:cNvPr>
          <p:cNvPicPr>
            <a:picLocks xmlns:a="http://schemas.openxmlformats.org/drawingml/2006/main" noChangeAspect="1"/>
          </p:cNvPicPr>
          <p:nvPr/>
        </p:nvPicPr>
        <p:blipFill>
          <a:blip xmlns:r="http://schemas.openxmlformats.org/officeDocument/2006/relationships" xmlns:a="http://schemas.openxmlformats.org/drawingml/2006/main" r:embed="R87bbd3ef1e204a23"/>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B8AF28D-D07C-4D99-80DF-8CCB931735A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19AD14C6-8461-4AB6-BA58-872FFC9C690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CD10F7E4-F8DC-4AEA-B68E-E9669967485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Student Performance">
            <a:extLst xmlns:a="http://schemas.openxmlformats.org/drawingml/2006/main">
              <a:ext uri="{FF2B5EF4-FFF2-40B4-BE49-F238E27FC236}">
                <a16:creationId xmlns:a16="http://schemas.microsoft.com/office/drawing/2014/main" id="{A3CFF51E-39F5-4297-B560-EB4B87CEC1EA}"/>
              </a:ext>
            </a:extLst>
          </p:cNvPr>
          <p:cNvSpPr>
            <a:spLocks xmlns:a="http://schemas.openxmlformats.org/drawingml/2006/main" noGrp="1"/>
          </p:cNvSpPr>
          <p:nvPr/>
        </p:nvSpPr>
        <p:spPr>
          <a:xfrm xmlns:a="http://schemas.openxmlformats.org/drawingml/2006/main">
            <a:off x="762000" y="17145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Student Performance</a:t>
            </a:r>
          </a:p>
        </p:txBody>
      </p:sp>
      <p:sp>
        <p:nvSpPr>
          <p:cNvPr id="6" name="Preprocessing, Statistics and Visualization">
            <a:extLst xmlns:a="http://schemas.openxmlformats.org/drawingml/2006/main">
              <a:ext uri="{FF2B5EF4-FFF2-40B4-BE49-F238E27FC236}">
                <a16:creationId xmlns:a16="http://schemas.microsoft.com/office/drawing/2014/main" id="{5F3B8FD4-637E-4EFD-A88C-80AD833886C3}"/>
              </a:ext>
            </a:extLst>
          </p:cNvPr>
          <p:cNvSpPr>
            <a:spLocks xmlns:a="http://schemas.openxmlformats.org/drawingml/2006/main" noGrp="1"/>
          </p:cNvSpPr>
          <p:nvPr/>
        </p:nvSpPr>
        <p:spPr>
          <a:xfrm xmlns:a="http://schemas.openxmlformats.org/drawingml/2006/main">
            <a:off x="762000" y="2724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000000"/>
                </a:solidFill>
                <a:latin typeface="Arial"/>
                <a:ea typeface="Arial"/>
                <a:cs typeface="Arial"/>
              </a:defRPr>
            </a:defPPr>
          </a:lstStyle>
          <a:p xmlns:a="http://schemas.openxmlformats.org/drawingml/2006/main">
            <a:pPr algn="l">
              <a:defRPr sz="2700" b="0">
                <a:solidFill>
                  <a:srgbClr val="000000"/>
                </a:solidFill>
                <a:latin typeface="Arial"/>
                <a:ea typeface="Arial"/>
                <a:cs typeface="Arial"/>
              </a:defRPr>
            </a:pPr>
            <a:r>
              <a:rPr sz="2700" b="0">
                <a:solidFill>
                  <a:srgbClr val="000000"/>
                </a:solidFill>
                <a:latin typeface="Arial"/>
                <a:ea typeface="Arial"/>
                <a:cs typeface="Arial"/>
              </a:rPr>
              <a:t>Preprocessing, Statistics and Visualization</a:t>
            </a:r>
          </a:p>
        </p:txBody>
      </p:sp>
      <p:sp>
        <p:nvSpPr>
          <p:cNvPr id="7" name="ENDTERM REPORT">
            <a:extLst xmlns:a="http://schemas.openxmlformats.org/drawingml/2006/main">
              <a:ext uri="{FF2B5EF4-FFF2-40B4-BE49-F238E27FC236}">
                <a16:creationId xmlns:a16="http://schemas.microsoft.com/office/drawing/2014/main" id="{F003FB7E-826F-493C-B8EE-4749F6E7E1BA}"/>
              </a:ext>
            </a:extLst>
          </p:cNvPr>
          <p:cNvSpPr>
            <a:spLocks xmlns:a="http://schemas.openxmlformats.org/drawingml/2006/main" noGrp="1"/>
          </p:cNvSpPr>
          <p:nvPr/>
        </p:nvSpPr>
        <p:spPr>
          <a:xfrm xmlns:a="http://schemas.openxmlformats.org/drawingml/2006/main">
            <a:off x="762000" y="34766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ENDTERM REPORT</a:t>
            </a:r>
          </a:p>
        </p:txBody>
      </p:sp>
      <p:sp>
        <p:nvSpPr>
          <p:cNvPr id="8" name="NGO LAM TIEN  524H0195&#10;NGUYEN CONG THANH  524H0191&#10;NGUY">
            <a:extLst xmlns:a="http://schemas.openxmlformats.org/drawingml/2006/main">
              <a:ext uri="{FF2B5EF4-FFF2-40B4-BE49-F238E27FC236}">
                <a16:creationId xmlns:a16="http://schemas.microsoft.com/office/drawing/2014/main" id="{C66B8F60-7C7E-48EF-ADEC-75D133DF293E}"/>
              </a:ext>
            </a:extLst>
          </p:cNvPr>
          <p:cNvSpPr>
            <a:spLocks xmlns:a="http://schemas.openxmlformats.org/drawingml/2006/main" noGrp="1"/>
          </p:cNvSpPr>
          <p:nvPr/>
        </p:nvSpPr>
        <p:spPr>
          <a:xfrm xmlns:a="http://schemas.openxmlformats.org/drawingml/2006/main">
            <a:off x="762000" y="4095750"/>
            <a:ext cx="6477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9" name="VibeCoding_Expert&#10;Advised by&#10;Ho Thi Linh, Ph.D.">
            <a:extLst xmlns:a="http://schemas.openxmlformats.org/drawingml/2006/main">
              <a:ext uri="{FF2B5EF4-FFF2-40B4-BE49-F238E27FC236}">
                <a16:creationId xmlns:a16="http://schemas.microsoft.com/office/drawing/2014/main" id="{24A4BE77-FEC0-42DE-8C49-237C9F8EF2AB}"/>
              </a:ext>
            </a:extLst>
          </p:cNvPr>
          <p:cNvSpPr>
            <a:spLocks xmlns:a="http://schemas.openxmlformats.org/drawingml/2006/main" noGrp="1"/>
          </p:cNvSpPr>
          <p:nvPr/>
        </p:nvSpPr>
        <p:spPr>
          <a:xfrm xmlns:a="http://schemas.openxmlformats.org/drawingml/2006/main">
            <a:off x="7810500" y="4238625"/>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VibeCoding_Expert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Advised by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 Thi Linh, Ph.D.</a:t>
            </a:r>
          </a:p>
        </p:txBody>
      </p:sp>
      <p:sp>
        <p:nvSpPr>
          <p:cNvPr id="10" name="20 October 2026">
            <a:extLst xmlns:a="http://schemas.openxmlformats.org/drawingml/2006/main">
              <a:ext uri="{FF2B5EF4-FFF2-40B4-BE49-F238E27FC236}">
                <a16:creationId xmlns:a16="http://schemas.microsoft.com/office/drawing/2014/main" id="{E82D90F8-FBB3-46E6-990C-EBCEF67BF731}"/>
              </a:ext>
            </a:extLst>
          </p:cNvPr>
          <p:cNvSpPr>
            <a:spLocks xmlns:a="http://schemas.openxmlformats.org/drawingml/2006/main" noGrp="1"/>
          </p:cNvSpPr>
          <p:nvPr/>
        </p:nvSpPr>
        <p:spPr>
          <a:xfrm xmlns:a="http://schemas.openxmlformats.org/drawingml/2006/main">
            <a:off x="762000" y="61722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0">
                <a:solidFill>
                  <a:srgbClr val="000000"/>
                </a:solidFill>
                <a:latin typeface="Arial"/>
                <a:ea typeface="Arial"/>
                <a:cs typeface="Arial"/>
              </a:defRPr>
            </a:defPPr>
          </a:lstStyle>
          <a:p xmlns:a="http://schemas.openxmlformats.org/drawingml/2006/main">
            <a:pPr algn="l">
              <a:defRPr sz="1700" b="0">
                <a:solidFill>
                  <a:srgbClr val="000000"/>
                </a:solidFill>
                <a:latin typeface="Arial"/>
                <a:ea typeface="Arial"/>
                <a:cs typeface="Arial"/>
              </a:defRPr>
            </a:pPr>
            <a:r>
              <a:rPr sz="1700" b="0">
                <a:solidFill>
                  <a:srgbClr val="000000"/>
                </a:solidFill>
                <a:latin typeface="Arial"/>
                <a:ea typeface="Arial"/>
                <a:cs typeface="Arial"/>
              </a:rPr>
              <a:t>20 October 2026</a:t>
            </a:r>
          </a:p>
        </p:txBody>
      </p:sp>
    </p:spTree>
    <p:extLst>
      <p:ext uri="{BB962C8B-B14F-4D97-AF65-F5344CB8AC3E}">
        <p14:creationId xmlns:p14="http://schemas.microsoft.com/office/powerpoint/2010/main" val="4440448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2278B09-036B-4B0B-A827-180A968496E7}"/>
              </a:ext>
            </a:extLst>
          </p:cNvPr>
          <p:cNvPicPr>
            <a:picLocks xmlns:a="http://schemas.openxmlformats.org/drawingml/2006/main" noChangeAspect="1"/>
          </p:cNvPicPr>
          <p:nvPr/>
        </p:nvPicPr>
        <p:blipFill>
          <a:blip xmlns:r="http://schemas.openxmlformats.org/officeDocument/2006/relationships" xmlns:a="http://schemas.openxmlformats.org/drawingml/2006/main" r:embed="Rd31efd8d301e4565"/>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5288CA4-FF95-49E6-B0B6-7CF07FE63E9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Objectives and analytical questions</a:t>
            </a:r>
          </a:p>
        </p:txBody>
      </p:sp>
      <p:sp>
        <p:nvSpPr>
          <p:cNvPr id="3" name="Thin monochrome rule">
            <a:extLst xmlns:a="http://schemas.openxmlformats.org/drawingml/2006/main">
              <a:ext uri="{FF2B5EF4-FFF2-40B4-BE49-F238E27FC236}">
                <a16:creationId xmlns:a16="http://schemas.microsoft.com/office/drawing/2014/main" id="{EF0D333C-FA10-4670-A419-C1EA1EC6E51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6E234802-2C82-4CCE-AA11-CEE38636697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01">
            <a:extLst xmlns:a="http://schemas.openxmlformats.org/drawingml/2006/main">
              <a:ext uri="{FF2B5EF4-FFF2-40B4-BE49-F238E27FC236}">
                <a16:creationId xmlns:a16="http://schemas.microsoft.com/office/drawing/2014/main" id="{560F1A9B-8184-4EC5-A5C1-3CE8293BD527}"/>
              </a:ext>
            </a:extLst>
          </p:cNvPr>
          <p:cNvSpPr>
            <a:spLocks xmlns:a="http://schemas.openxmlformats.org/drawingml/2006/main" noGrp="1"/>
          </p:cNvSpPr>
          <p:nvPr/>
        </p:nvSpPr>
        <p:spPr>
          <a:xfrm xmlns:a="http://schemas.openxmlformats.org/drawingml/2006/main">
            <a:off x="762000" y="1666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How are final grades distributed?">
            <a:extLst xmlns:a="http://schemas.openxmlformats.org/drawingml/2006/main">
              <a:ext uri="{FF2B5EF4-FFF2-40B4-BE49-F238E27FC236}">
                <a16:creationId xmlns:a16="http://schemas.microsoft.com/office/drawing/2014/main" id="{53EB0C89-6316-432B-A334-1B7256FA22BA}"/>
              </a:ext>
            </a:extLst>
          </p:cNvPr>
          <p:cNvSpPr>
            <a:spLocks xmlns:a="http://schemas.openxmlformats.org/drawingml/2006/main" noGrp="1"/>
          </p:cNvSpPr>
          <p:nvPr/>
        </p:nvSpPr>
        <p:spPr>
          <a:xfrm xmlns:a="http://schemas.openxmlformats.org/drawingml/2006/main">
            <a:off x="1571625" y="16668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are final grades distributed?</a:t>
            </a:r>
          </a:p>
        </p:txBody>
      </p:sp>
      <p:sp>
        <p:nvSpPr>
          <p:cNvPr id="7" name="02">
            <a:extLst xmlns:a="http://schemas.openxmlformats.org/drawingml/2006/main">
              <a:ext uri="{FF2B5EF4-FFF2-40B4-BE49-F238E27FC236}">
                <a16:creationId xmlns:a16="http://schemas.microsoft.com/office/drawing/2014/main" id="{8539C00D-04AF-40A5-A967-79CD28A7497A}"/>
              </a:ext>
            </a:extLst>
          </p:cNvPr>
          <p:cNvSpPr>
            <a:spLocks xmlns:a="http://schemas.openxmlformats.org/drawingml/2006/main" noGrp="1"/>
          </p:cNvSpPr>
          <p:nvPr/>
        </p:nvSpPr>
        <p:spPr>
          <a:xfrm xmlns:a="http://schemas.openxmlformats.org/drawingml/2006/main">
            <a:off x="762000" y="27336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What changes when missing values are imputed or removed">
            <a:extLst xmlns:a="http://schemas.openxmlformats.org/drawingml/2006/main">
              <a:ext uri="{FF2B5EF4-FFF2-40B4-BE49-F238E27FC236}">
                <a16:creationId xmlns:a16="http://schemas.microsoft.com/office/drawing/2014/main" id="{8341627D-2E1B-4EC8-8EF1-9E3C9251584B}"/>
              </a:ext>
            </a:extLst>
          </p:cNvPr>
          <p:cNvSpPr>
            <a:spLocks xmlns:a="http://schemas.openxmlformats.org/drawingml/2006/main" noGrp="1"/>
          </p:cNvSpPr>
          <p:nvPr/>
        </p:nvSpPr>
        <p:spPr>
          <a:xfrm xmlns:a="http://schemas.openxmlformats.org/drawingml/2006/main">
            <a:off x="1571625" y="27336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What changes when missing values are imputed or removed?</a:t>
            </a:r>
          </a:p>
        </p:txBody>
      </p:sp>
      <p:sp>
        <p:nvSpPr>
          <p:cNvPr id="9" name="03">
            <a:extLst xmlns:a="http://schemas.openxmlformats.org/drawingml/2006/main">
              <a:ext uri="{FF2B5EF4-FFF2-40B4-BE49-F238E27FC236}">
                <a16:creationId xmlns:a16="http://schemas.microsoft.com/office/drawing/2014/main" id="{9E802BFB-460F-4501-BB33-3160F555C6F7}"/>
              </a:ext>
            </a:extLst>
          </p:cNvPr>
          <p:cNvSpPr>
            <a:spLocks xmlns:a="http://schemas.openxmlformats.org/drawingml/2006/main" noGrp="1"/>
          </p:cNvSpPr>
          <p:nvPr/>
        </p:nvSpPr>
        <p:spPr>
          <a:xfrm xmlns:a="http://schemas.openxmlformats.org/drawingml/2006/main">
            <a:off x="762000" y="38004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Which original factors have the strongest observed asso">
            <a:extLst xmlns:a="http://schemas.openxmlformats.org/drawingml/2006/main">
              <a:ext uri="{FF2B5EF4-FFF2-40B4-BE49-F238E27FC236}">
                <a16:creationId xmlns:a16="http://schemas.microsoft.com/office/drawing/2014/main" id="{8F4952AC-0732-4F6D-8116-9A448273AF68}"/>
              </a:ext>
            </a:extLst>
          </p:cNvPr>
          <p:cNvSpPr>
            <a:spLocks xmlns:a="http://schemas.openxmlformats.org/drawingml/2006/main" noGrp="1"/>
          </p:cNvSpPr>
          <p:nvPr/>
        </p:nvSpPr>
        <p:spPr>
          <a:xfrm xmlns:a="http://schemas.openxmlformats.org/drawingml/2006/main">
            <a:off x="1571625" y="38004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Which original factors have the strongest observed association with G3?</a:t>
            </a:r>
          </a:p>
        </p:txBody>
      </p:sp>
      <p:sp>
        <p:nvSpPr>
          <p:cNvPr id="11" name="04">
            <a:extLst xmlns:a="http://schemas.openxmlformats.org/drawingml/2006/main">
              <a:ext uri="{FF2B5EF4-FFF2-40B4-BE49-F238E27FC236}">
                <a16:creationId xmlns:a16="http://schemas.microsoft.com/office/drawing/2014/main" id="{1AEA15A0-4B7F-431B-8701-3BCFA253799F}"/>
              </a:ext>
            </a:extLst>
          </p:cNvPr>
          <p:cNvSpPr>
            <a:spLocks xmlns:a="http://schemas.openxmlformats.org/drawingml/2006/main" noGrp="1"/>
          </p:cNvSpPr>
          <p:nvPr/>
        </p:nvSpPr>
        <p:spPr>
          <a:xfrm xmlns:a="http://schemas.openxmlformats.org/drawingml/2006/main">
            <a:off x="762000" y="48672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How do group comparisons and visualizations qualify the">
            <a:extLst xmlns:a="http://schemas.openxmlformats.org/drawingml/2006/main">
              <a:ext uri="{FF2B5EF4-FFF2-40B4-BE49-F238E27FC236}">
                <a16:creationId xmlns:a16="http://schemas.microsoft.com/office/drawing/2014/main" id="{0B065864-DB83-4581-87A0-EB08F688943B}"/>
              </a:ext>
            </a:extLst>
          </p:cNvPr>
          <p:cNvSpPr>
            <a:spLocks xmlns:a="http://schemas.openxmlformats.org/drawingml/2006/main" noGrp="1"/>
          </p:cNvSpPr>
          <p:nvPr/>
        </p:nvSpPr>
        <p:spPr>
          <a:xfrm xmlns:a="http://schemas.openxmlformats.org/drawingml/2006/main">
            <a:off x="1571625" y="4867275"/>
            <a:ext cx="985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How do group comparisons and visualizations qualify the findings?</a:t>
            </a:r>
          </a:p>
        </p:txBody>
      </p:sp>
    </p:spTree>
    <p:extLst>
      <p:ext uri="{BB962C8B-B14F-4D97-AF65-F5344CB8AC3E}">
        <p14:creationId xmlns:p14="http://schemas.microsoft.com/office/powerpoint/2010/main" val="727447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3BDFA63-F037-4BBC-8F02-27EEA626FE99}"/>
              </a:ext>
            </a:extLst>
          </p:cNvPr>
          <p:cNvPicPr>
            <a:picLocks xmlns:a="http://schemas.openxmlformats.org/drawingml/2006/main" noChangeAspect="1"/>
          </p:cNvPicPr>
          <p:nvPr/>
        </p:nvPicPr>
        <p:blipFill>
          <a:blip xmlns:r="http://schemas.openxmlformats.org/officeDocument/2006/relationships" xmlns:a="http://schemas.openxmlformats.org/drawingml/2006/main" r:embed="R69b743518b754b49"/>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DBE9B7A-F240-4ABC-AF72-DDDE8B11F29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provenance</a:t>
            </a:r>
          </a:p>
        </p:txBody>
      </p:sp>
      <p:sp>
        <p:nvSpPr>
          <p:cNvPr id="3" name="Thin monochrome rule">
            <a:extLst xmlns:a="http://schemas.openxmlformats.org/drawingml/2006/main">
              <a:ext uri="{FF2B5EF4-FFF2-40B4-BE49-F238E27FC236}">
                <a16:creationId xmlns:a16="http://schemas.microsoft.com/office/drawing/2014/main" id="{97D795A1-2980-4BFC-A1D4-88025BDE410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D1491FF9-13D3-4744-8FA5-22A63F57C3B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ABE9B929-7325-414C-93D4-39AF7011BAD7}"/>
              </a:ext>
            </a:extLst>
          </p:cNvPr>
          <p:cNvGraphicFramePr/>
          <p:nvPr/>
        </p:nvGraphicFramePr>
        <p:xfrm>
          <a:off xmlns:a="http://schemas.openxmlformats.org/drawingml/2006/main" x="762000" y="1666875"/>
          <a:ext xmlns:a="http://schemas.openxmlformats.org/drawingml/2006/main" cx="10668000" cy="3714750"/>
        </p:xfrm>
        <a:graphic xmlns:a="http://schemas.openxmlformats.org/drawingml/2006/main">
          <a:graphicData uri="http://schemas.openxmlformats.org/drawingml/2006/table">
            <a:tbl>
              <a:tblPr firstRow="0" bandRow="0"/>
              <a:tblGrid>
                <a:gridCol w="3048000"/>
                <a:gridCol w="7620000"/>
              </a:tblGrid>
              <a:tr h="530679">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Selected data</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30679">
                <a:tc>
                  <a:txBody>
                    <a:bodyPr wrap="square" lIns="85725" tIns="85725" rIns="85725" bIns="85725">
                      <a:noAutofit/>
                    </a:bodyPr>
                    <a:lstStyle/>
                    <a:p>
                      <a:pPr algn="l"/>
                      <a:r>
                        <a:rPr sz="2100" b="0">
                          <a:solidFill>
                            <a:srgbClr val="000000"/>
                          </a:solidFill>
                          <a:latin typeface="Arial"/>
                          <a:ea typeface="Arial"/>
                          <a:cs typeface="Arial"/>
                        </a:rPr>
                        <a:t>Subject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Portuguese language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Records / original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 / 33</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Schools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GP: 423 · MS: 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Original missing cells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Outcome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G3, final grade on a 0–20 scale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30679">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wo Portuguese schools; findings do not directly repres">
            <a:extLst xmlns:a="http://schemas.openxmlformats.org/drawingml/2006/main">
              <a:ext uri="{FF2B5EF4-FFF2-40B4-BE49-F238E27FC236}">
                <a16:creationId xmlns:a16="http://schemas.microsoft.com/office/drawing/2014/main" id="{3F91572C-56CA-43D6-AA53-E9E140141D1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Two Portuguese schools; findings do not directly represent TDTU students.</a:t>
            </a:r>
          </a:p>
        </p:txBody>
      </p:sp>
    </p:spTree>
    <p:extLst>
      <p:ext uri="{BB962C8B-B14F-4D97-AF65-F5344CB8AC3E}">
        <p14:creationId xmlns:p14="http://schemas.microsoft.com/office/powerpoint/2010/main" val="7244068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75CE166-5E65-4AC1-A6D5-59A535A7079B}"/>
              </a:ext>
            </a:extLst>
          </p:cNvPr>
          <p:cNvPicPr>
            <a:picLocks xmlns:a="http://schemas.openxmlformats.org/drawingml/2006/main" noChangeAspect="1"/>
          </p:cNvPicPr>
          <p:nvPr/>
        </p:nvPicPr>
        <p:blipFill>
          <a:blip xmlns:r="http://schemas.openxmlformats.org/officeDocument/2006/relationships" xmlns:a="http://schemas.openxmlformats.org/drawingml/2006/main" r:embed="R3193e69630c1492c"/>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D388C0BF-897E-4686-91F8-9D5386FFD25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Inspect before transforming</a:t>
            </a:r>
          </a:p>
        </p:txBody>
      </p:sp>
      <p:sp>
        <p:nvSpPr>
          <p:cNvPr id="3" name="Thin monochrome rule">
            <a:extLst xmlns:a="http://schemas.openxmlformats.org/drawingml/2006/main">
              <a:ext uri="{FF2B5EF4-FFF2-40B4-BE49-F238E27FC236}">
                <a16:creationId xmlns:a16="http://schemas.microsoft.com/office/drawing/2014/main" id="{98A5D798-299A-441F-9E11-39335999FB5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A529AAEB-3332-4711-98B5-33C1F302CC7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raw = pd.read_csv(path, sep=';')&#10;raw.head(5)&#10;raw.tail(5">
            <a:extLst xmlns:a="http://schemas.openxmlformats.org/drawingml/2006/main">
              <a:ext uri="{FF2B5EF4-FFF2-40B4-BE49-F238E27FC236}">
                <a16:creationId xmlns:a16="http://schemas.microsoft.com/office/drawing/2014/main" id="{ABDA9798-0154-41D5-91FB-8AC11A9D4AF5}"/>
              </a:ext>
            </a:extLst>
          </p:cNvPr>
          <p:cNvSpPr>
            <a:spLocks xmlns:a="http://schemas.openxmlformats.org/drawingml/2006/main" noGrp="1"/>
          </p:cNvSpPr>
          <p:nvPr/>
        </p:nvSpPr>
        <p:spPr>
          <a:xfrm xmlns:a="http://schemas.openxmlformats.org/drawingml/2006/main">
            <a:off x="762000" y="1809750"/>
            <a:ext cx="72390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 = pd.read_csv(path, sep=';')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raw.head(5)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raw.tail(5)</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raw.shape</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raw.dtypes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raw.info()</a:t>
            </a:r>
          </a:p>
        </p:txBody>
      </p:sp>
      <p:sp>
        <p:nvSpPr>
          <p:cNvPr id="6" name="649 × 33">
            <a:extLst xmlns:a="http://schemas.openxmlformats.org/drawingml/2006/main">
              <a:ext uri="{FF2B5EF4-FFF2-40B4-BE49-F238E27FC236}">
                <a16:creationId xmlns:a16="http://schemas.microsoft.com/office/drawing/2014/main" id="{267420C3-26FC-47E2-A549-571EEABF639A}"/>
              </a:ext>
            </a:extLst>
          </p:cNvPr>
          <p:cNvSpPr>
            <a:spLocks xmlns:a="http://schemas.openxmlformats.org/drawingml/2006/main" noGrp="1"/>
          </p:cNvSpPr>
          <p:nvPr/>
        </p:nvSpPr>
        <p:spPr>
          <a:xfrm xmlns:a="http://schemas.openxmlformats.org/drawingml/2006/main">
            <a:off x="8953500" y="2047875"/>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00" b="1">
                <a:solidFill>
                  <a:srgbClr val="000000"/>
                </a:solidFill>
                <a:latin typeface="Arial"/>
                <a:ea typeface="Arial"/>
                <a:cs typeface="Arial"/>
              </a:defRPr>
            </a:defPPr>
          </a:lstStyle>
          <a:p xmlns:a="http://schemas.openxmlformats.org/drawingml/2006/main">
            <a:pPr algn="l">
              <a:defRPr sz="3500" b="1">
                <a:solidFill>
                  <a:srgbClr val="000000"/>
                </a:solidFill>
                <a:latin typeface="Arial"/>
                <a:ea typeface="Arial"/>
                <a:cs typeface="Arial"/>
              </a:defRPr>
            </a:pPr>
            <a:r>
              <a:rPr sz="3500" b="1">
                <a:solidFill>
                  <a:srgbClr val="000000"/>
                </a:solidFill>
                <a:latin typeface="Arial"/>
                <a:ea typeface="Arial"/>
                <a:cs typeface="Arial"/>
              </a:rPr>
              <a:t>649 × 33</a:t>
            </a:r>
          </a:p>
        </p:txBody>
      </p:sp>
      <p:sp>
        <p:nvSpPr>
          <p:cNvPr id="7" name="Numeric, ordinal and categorical fields&#10;&#10;Preserve raw d">
            <a:extLst xmlns:a="http://schemas.openxmlformats.org/drawingml/2006/main">
              <a:ext uri="{FF2B5EF4-FFF2-40B4-BE49-F238E27FC236}">
                <a16:creationId xmlns:a16="http://schemas.microsoft.com/office/drawing/2014/main" id="{BBC8360A-71F5-431D-85C5-425923800F38}"/>
              </a:ext>
            </a:extLst>
          </p:cNvPr>
          <p:cNvSpPr>
            <a:spLocks xmlns:a="http://schemas.openxmlformats.org/drawingml/2006/main" noGrp="1"/>
          </p:cNvSpPr>
          <p:nvPr/>
        </p:nvSpPr>
        <p:spPr>
          <a:xfrm xmlns:a="http://schemas.openxmlformats.org/drawingml/2006/main">
            <a:off x="8953500" y="314325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Numeric, ordinal and categorical fields</a:t>
            </a:r>
          </a:p>
          <a:p xmlns:a="http://schemas.openxmlformats.org/drawingml/2006/main">
            <a:r>
              <a:t/>
            </a:r>
          </a:p>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Preserve raw data</a:t>
            </a:r>
          </a:p>
        </p:txBody>
      </p:sp>
      <p:sp>
        <p:nvSpPr>
          <p:cNvPr id="8" name="Recorded zero grades remain observations; they are not ">
            <a:extLst xmlns:a="http://schemas.openxmlformats.org/drawingml/2006/main">
              <a:ext uri="{FF2B5EF4-FFF2-40B4-BE49-F238E27FC236}">
                <a16:creationId xmlns:a16="http://schemas.microsoft.com/office/drawing/2014/main" id="{9BDB309E-5CC8-461C-BCEE-E2127FD0477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Recorded zero grades remain observations; they are not reclassified as missing.</a:t>
            </a:r>
          </a:p>
        </p:txBody>
      </p:sp>
    </p:spTree>
    <p:extLst>
      <p:ext uri="{BB962C8B-B14F-4D97-AF65-F5344CB8AC3E}">
        <p14:creationId xmlns:p14="http://schemas.microsoft.com/office/powerpoint/2010/main" val="17517500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1FA3FC2-9140-4D0F-BC81-3758D3CBF345}"/>
              </a:ext>
            </a:extLst>
          </p:cNvPr>
          <p:cNvPicPr>
            <a:picLocks xmlns:a="http://schemas.openxmlformats.org/drawingml/2006/main" noChangeAspect="1"/>
          </p:cNvPicPr>
          <p:nvPr/>
        </p:nvPicPr>
        <p:blipFill>
          <a:blip xmlns:r="http://schemas.openxmlformats.org/officeDocument/2006/relationships" xmlns:a="http://schemas.openxmlformats.org/drawingml/2006/main" r:embed="R7a546abe4eb9430b"/>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3B6D3E8-4FF9-4945-95F1-F5945A99C92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 controlled missingness experiment</a:t>
            </a:r>
          </a:p>
        </p:txBody>
      </p:sp>
      <p:sp>
        <p:nvSpPr>
          <p:cNvPr id="3" name="Thin monochrome rule">
            <a:extLst xmlns:a="http://schemas.openxmlformats.org/drawingml/2006/main">
              <a:ext uri="{FF2B5EF4-FFF2-40B4-BE49-F238E27FC236}">
                <a16:creationId xmlns:a16="http://schemas.microsoft.com/office/drawing/2014/main" id="{15DD3EC3-5066-40DD-A067-8D47C59ADF8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F188200A-05A2-4B75-9490-994402CD5A5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sp>
        <p:nvSpPr>
          <p:cNvPr id="5" name="649">
            <a:extLst xmlns:a="http://schemas.openxmlformats.org/drawingml/2006/main">
              <a:ext uri="{FF2B5EF4-FFF2-40B4-BE49-F238E27FC236}">
                <a16:creationId xmlns:a16="http://schemas.microsoft.com/office/drawing/2014/main" id="{B45B0BFB-C0E7-4473-A88E-73CC5935E81D}"/>
              </a:ext>
            </a:extLst>
          </p:cNvPr>
          <p:cNvSpPr>
            <a:spLocks xmlns:a="http://schemas.openxmlformats.org/drawingml/2006/main" noGrp="1"/>
          </p:cNvSpPr>
          <p:nvPr/>
        </p:nvSpPr>
        <p:spPr>
          <a:xfrm xmlns:a="http://schemas.openxmlformats.org/drawingml/2006/main">
            <a:off x="762000" y="18097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649</a:t>
            </a:r>
          </a:p>
        </p:txBody>
      </p:sp>
      <p:sp>
        <p:nvSpPr>
          <p:cNvPr id="6" name="complete original records">
            <a:extLst xmlns:a="http://schemas.openxmlformats.org/drawingml/2006/main">
              <a:ext uri="{FF2B5EF4-FFF2-40B4-BE49-F238E27FC236}">
                <a16:creationId xmlns:a16="http://schemas.microsoft.com/office/drawing/2014/main" id="{98CC49BA-A08D-436F-98C8-81CEC700DAB8}"/>
              </a:ext>
            </a:extLst>
          </p:cNvPr>
          <p:cNvSpPr>
            <a:spLocks xmlns:a="http://schemas.openxmlformats.org/drawingml/2006/main" noGrp="1"/>
          </p:cNvSpPr>
          <p:nvPr/>
        </p:nvSpPr>
        <p:spPr>
          <a:xfrm xmlns:a="http://schemas.openxmlformats.org/drawingml/2006/main">
            <a:off x="762000" y="28575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complete original records</a:t>
            </a:r>
          </a:p>
        </p:txBody>
      </p:sp>
      <p:sp>
        <p:nvSpPr>
          <p:cNvPr id="7" name="Thin monochrome rule">
            <a:extLst xmlns:a="http://schemas.openxmlformats.org/drawingml/2006/main">
              <a:ext uri="{FF2B5EF4-FFF2-40B4-BE49-F238E27FC236}">
                <a16:creationId xmlns:a16="http://schemas.microsoft.com/office/drawing/2014/main" id="{0B15A576-4244-4DA5-BAD8-69BDEBDF765F}"/>
              </a:ext>
            </a:extLst>
          </p:cNvPr>
          <p:cNvSpPr>
            <a:spLocks xmlns:a="http://schemas.openxmlformats.org/drawingml/2006/main" noGrp="1"/>
          </p:cNvSpPr>
          <p:nvPr/>
        </p:nvSpPr>
        <p:spPr>
          <a:xfrm xmlns:a="http://schemas.openxmlformats.org/drawingml/2006/main">
            <a:off x="41910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32">
            <a:extLst xmlns:a="http://schemas.openxmlformats.org/drawingml/2006/main">
              <a:ext uri="{FF2B5EF4-FFF2-40B4-BE49-F238E27FC236}">
                <a16:creationId xmlns:a16="http://schemas.microsoft.com/office/drawing/2014/main" id="{7DDFE9E7-0BBB-4C5B-9F59-5C9160C03224}"/>
              </a:ext>
            </a:extLst>
          </p:cNvPr>
          <p:cNvSpPr>
            <a:spLocks xmlns:a="http://schemas.openxmlformats.org/drawingml/2006/main" noGrp="1"/>
          </p:cNvSpPr>
          <p:nvPr/>
        </p:nvSpPr>
        <p:spPr>
          <a:xfrm xmlns:a="http://schemas.openxmlformats.org/drawingml/2006/main">
            <a:off x="4667250" y="18097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00000"/>
                </a:solidFill>
                <a:latin typeface="Arial"/>
                <a:ea typeface="Arial"/>
                <a:cs typeface="Arial"/>
              </a:defRPr>
            </a:def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32</a:t>
            </a:r>
          </a:p>
        </p:txBody>
      </p:sp>
      <p:sp>
        <p:nvSpPr>
          <p:cNvPr id="9" name="masked absences values&#10;4.93% of records&#10;Seed 42">
            <a:extLst xmlns:a="http://schemas.openxmlformats.org/drawingml/2006/main">
              <a:ext uri="{FF2B5EF4-FFF2-40B4-BE49-F238E27FC236}">
                <a16:creationId xmlns:a16="http://schemas.microsoft.com/office/drawing/2014/main" id="{1071C3DE-2A7B-420B-B7DF-59E3DA0761BA}"/>
              </a:ext>
            </a:extLst>
          </p:cNvPr>
          <p:cNvSpPr>
            <a:spLocks xmlns:a="http://schemas.openxmlformats.org/drawingml/2006/main" noGrp="1"/>
          </p:cNvSpPr>
          <p:nvPr/>
        </p:nvSpPr>
        <p:spPr>
          <a:xfrm xmlns:a="http://schemas.openxmlformats.org/drawingml/2006/main">
            <a:off x="4667250" y="2857500"/>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masked absences values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4.93% of records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Seed 42</a:t>
            </a:r>
          </a:p>
        </p:txBody>
      </p:sp>
      <p:sp>
        <p:nvSpPr>
          <p:cNvPr id="10" name="Thin monochrome rule">
            <a:extLst xmlns:a="http://schemas.openxmlformats.org/drawingml/2006/main">
              <a:ext uri="{FF2B5EF4-FFF2-40B4-BE49-F238E27FC236}">
                <a16:creationId xmlns:a16="http://schemas.microsoft.com/office/drawing/2014/main" id="{7850DC1A-D601-4AD6-85E4-9882B6486175}"/>
              </a:ext>
            </a:extLst>
          </p:cNvPr>
          <p:cNvSpPr>
            <a:spLocks xmlns:a="http://schemas.openxmlformats.org/drawingml/2006/main" noGrp="1"/>
          </p:cNvSpPr>
          <p:nvPr/>
        </p:nvSpPr>
        <p:spPr>
          <a:xfrm xmlns:a="http://schemas.openxmlformats.org/drawingml/2006/main">
            <a:off x="8191500" y="1809750"/>
            <a:ext cx="14288" cy="32385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1" name="Two treatments">
            <a:extLst xmlns:a="http://schemas.openxmlformats.org/drawingml/2006/main">
              <a:ext uri="{FF2B5EF4-FFF2-40B4-BE49-F238E27FC236}">
                <a16:creationId xmlns:a16="http://schemas.microsoft.com/office/drawing/2014/main" id="{232113B0-D7EB-4E5F-B1AF-C5F155B4BBF5}"/>
              </a:ext>
            </a:extLst>
          </p:cNvPr>
          <p:cNvSpPr>
            <a:spLocks xmlns:a="http://schemas.openxmlformats.org/drawingml/2006/main" noGrp="1"/>
          </p:cNvSpPr>
          <p:nvPr/>
        </p:nvSpPr>
        <p:spPr>
          <a:xfrm xmlns:a="http://schemas.openxmlformats.org/drawingml/2006/main">
            <a:off x="8667750" y="1857375"/>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Two treatments</a:t>
            </a:r>
          </a:p>
        </p:txBody>
      </p:sp>
      <p:sp>
        <p:nvSpPr>
          <p:cNvPr id="12" name="Mean imputation&#10;&#10;Drop missing rows">
            <a:extLst xmlns:a="http://schemas.openxmlformats.org/drawingml/2006/main">
              <a:ext uri="{FF2B5EF4-FFF2-40B4-BE49-F238E27FC236}">
                <a16:creationId xmlns:a16="http://schemas.microsoft.com/office/drawing/2014/main" id="{73A9B4E6-030E-455E-B9E3-38CE34C59509}"/>
              </a:ext>
            </a:extLst>
          </p:cNvPr>
          <p:cNvSpPr>
            <a:spLocks xmlns:a="http://schemas.openxmlformats.org/drawingml/2006/main" noGrp="1"/>
          </p:cNvSpPr>
          <p:nvPr/>
        </p:nvSpPr>
        <p:spPr>
          <a:xfrm xmlns:a="http://schemas.openxmlformats.org/drawingml/2006/main">
            <a:off x="8667750" y="3000375"/>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Mean imputation</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Drop missing rows</a:t>
            </a:r>
          </a:p>
        </p:txBody>
      </p:sp>
      <p:sp>
        <p:nvSpPr>
          <p:cNvPr id="13" name="The missingness exercise is separate from the primary a">
            <a:extLst xmlns:a="http://schemas.openxmlformats.org/drawingml/2006/main">
              <a:ext uri="{FF2B5EF4-FFF2-40B4-BE49-F238E27FC236}">
                <a16:creationId xmlns:a16="http://schemas.microsoft.com/office/drawing/2014/main" id="{FF3D892A-2219-44C7-A036-FF07D3F3C10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missingness exercise is separate from the primary analysis of original measurements.</a:t>
            </a:r>
          </a:p>
        </p:txBody>
      </p:sp>
    </p:spTree>
    <p:extLst>
      <p:ext uri="{BB962C8B-B14F-4D97-AF65-F5344CB8AC3E}">
        <p14:creationId xmlns:p14="http://schemas.microsoft.com/office/powerpoint/2010/main" val="8510814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A1395F6-E880-495F-856E-EE79235E0163}"/>
              </a:ext>
            </a:extLst>
          </p:cNvPr>
          <p:cNvPicPr>
            <a:picLocks xmlns:a="http://schemas.openxmlformats.org/drawingml/2006/main" noChangeAspect="1"/>
          </p:cNvPicPr>
          <p:nvPr/>
        </p:nvPicPr>
        <p:blipFill>
          <a:blip xmlns:r="http://schemas.openxmlformats.org/officeDocument/2006/relationships" xmlns:a="http://schemas.openxmlformats.org/drawingml/2006/main" r:embed="R94426e2fdeb54cac"/>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334EFEFB-BF06-4BBF-9B66-ABAF203402B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Imputation and deletion change the data</a:t>
            </a:r>
          </a:p>
        </p:txBody>
      </p:sp>
      <p:sp>
        <p:nvSpPr>
          <p:cNvPr id="3" name="Thin monochrome rule">
            <a:extLst xmlns:a="http://schemas.openxmlformats.org/drawingml/2006/main">
              <a:ext uri="{FF2B5EF4-FFF2-40B4-BE49-F238E27FC236}">
                <a16:creationId xmlns:a16="http://schemas.microsoft.com/office/drawing/2014/main" id="{29165601-228C-4661-94F9-E56E5068AB14}"/>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6CC73AC1-ADBF-46FE-9AD6-6B1AE9CB3AC4}"/>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462521E9-7A67-4983-A438-646960E82B29}"/>
              </a:ext>
            </a:extLst>
          </p:cNvPr>
          <p:cNvGraphicFramePr/>
          <p:nvPr/>
        </p:nvGraphicFramePr>
        <p:xfrm>
          <a:off xmlns:a="http://schemas.openxmlformats.org/drawingml/2006/main" x="666750" y="1809750"/>
          <a:ext xmlns:a="http://schemas.openxmlformats.org/drawingml/2006/main" cx="10858500" cy="2952750"/>
        </p:xfrm>
        <a:graphic xmlns:a="http://schemas.openxmlformats.org/drawingml/2006/main">
          <a:graphicData uri="http://schemas.openxmlformats.org/drawingml/2006/table">
            <a:tbl>
              <a:tblPr firstRow="0" bandRow="0"/>
              <a:tblGrid>
                <a:gridCol w="3619500"/>
                <a:gridCol w="1316182"/>
                <a:gridCol w="1480705"/>
                <a:gridCol w="2303318"/>
                <a:gridCol w="2138795"/>
              </a:tblGrid>
              <a:tr h="590550">
                <a:tc>
                  <a:txBody>
                    <a:bodyPr wrap="square" lIns="85725" tIns="85725" rIns="85725" bIns="85725">
                      <a:noAutofit/>
                    </a:bodyPr>
                    <a:lstStyle/>
                    <a:p>
                      <a:pPr algn="l"/>
                      <a:r>
                        <a:rPr sz="20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Rows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Missing</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Mean absences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Sample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0550">
                <a:tc>
                  <a:txBody>
                    <a:bodyPr wrap="square" lIns="85725" tIns="85725" rIns="85725" bIns="85725">
                      <a:noAutofit/>
                    </a:bodyPr>
                    <a:lstStyle/>
                    <a:p>
                      <a:pPr algn="l"/>
                      <a:r>
                        <a:rPr sz="20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3.6595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Simulated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0550">
                <a:tc>
                  <a:txBody>
                    <a:bodyPr wrap="square" lIns="85725" tIns="85725" rIns="85725" bIns="85725">
                      <a:noAutofit/>
                    </a:bodyPr>
                    <a:lstStyle/>
                    <a:p>
                      <a:pPr algn="l"/>
                      <a:r>
                        <a:rPr sz="20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3.6240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Imputation preserves rows and concentrates replacement ">
            <a:extLst xmlns:a="http://schemas.openxmlformats.org/drawingml/2006/main">
              <a:ext uri="{FF2B5EF4-FFF2-40B4-BE49-F238E27FC236}">
                <a16:creationId xmlns:a16="http://schemas.microsoft.com/office/drawing/2014/main" id="{4AFB0870-9B3D-4898-A0C5-88CAE0FA9FD5}"/>
              </a:ext>
            </a:extLst>
          </p:cNvPr>
          <p:cNvSpPr>
            <a:spLocks xmlns:a="http://schemas.openxmlformats.org/drawingml/2006/main" noGrp="1"/>
          </p:cNvSpPr>
          <p:nvPr/>
        </p:nvSpPr>
        <p:spPr>
          <a:xfrm xmlns:a="http://schemas.openxmlformats.org/drawingml/2006/main">
            <a:off x="762000" y="5143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Imputation preserves rows and concentrates replacement values at the mean.</a:t>
            </a:r>
          </a:p>
        </p:txBody>
      </p:sp>
      <p:sp>
        <p:nvSpPr>
          <p:cNvPr id="7" name="A single seeded simulation does not establish a univers">
            <a:extLst xmlns:a="http://schemas.openxmlformats.org/drawingml/2006/main">
              <a:ext uri="{FF2B5EF4-FFF2-40B4-BE49-F238E27FC236}">
                <a16:creationId xmlns:a16="http://schemas.microsoft.com/office/drawing/2014/main" id="{D72D4477-B7F7-40D0-A889-60F681981F1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single seeded simulation does not establish a universally best treatment.</a:t>
            </a:r>
          </a:p>
        </p:txBody>
      </p:sp>
    </p:spTree>
    <p:extLst>
      <p:ext uri="{BB962C8B-B14F-4D97-AF65-F5344CB8AC3E}">
        <p14:creationId xmlns:p14="http://schemas.microsoft.com/office/powerpoint/2010/main" val="6214197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FC8A4D6-ADF2-452C-B38E-6DD697FF4D24}"/>
              </a:ext>
            </a:extLst>
          </p:cNvPr>
          <p:cNvPicPr>
            <a:picLocks xmlns:a="http://schemas.openxmlformats.org/drawingml/2006/main" noChangeAspect="1"/>
          </p:cNvPicPr>
          <p:nvPr/>
        </p:nvPicPr>
        <p:blipFill>
          <a:blip xmlns:r="http://schemas.openxmlformats.org/officeDocument/2006/relationships" xmlns:a="http://schemas.openxmlformats.org/drawingml/2006/main" r:embed="R35286dd4d7024327"/>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C07E93C-268C-43B4-B25A-4B4D482E3FE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Python structures and regex</a:t>
            </a:r>
          </a:p>
        </p:txBody>
      </p:sp>
      <p:sp>
        <p:nvSpPr>
          <p:cNvPr id="3" name="Thin monochrome rule">
            <a:extLst xmlns:a="http://schemas.openxmlformats.org/drawingml/2006/main">
              <a:ext uri="{FF2B5EF4-FFF2-40B4-BE49-F238E27FC236}">
                <a16:creationId xmlns:a16="http://schemas.microsoft.com/office/drawing/2014/main" id="{45DBF165-4B97-48B7-A1D6-424A967A027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83B53D7C-2FD0-4547-B8F8-84C9AF189A2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sp>
        <p:nvSpPr>
          <p:cNvPr id="5" name="grades = raw['G3'].tolist()&#10;selected = [g for g in grad">
            <a:extLst xmlns:a="http://schemas.openxmlformats.org/drawingml/2006/main">
              <a:ext uri="{FF2B5EF4-FFF2-40B4-BE49-F238E27FC236}">
                <a16:creationId xmlns:a16="http://schemas.microsoft.com/office/drawing/2014/main" id="{2EF5556C-6BE5-4AC5-95C1-12C1D2B1AECB}"/>
              </a:ext>
            </a:extLst>
          </p:cNvPr>
          <p:cNvSpPr>
            <a:spLocks xmlns:a="http://schemas.openxmlformats.org/drawingml/2006/main" noGrp="1"/>
          </p:cNvSpPr>
          <p:nvPr/>
        </p:nvSpPr>
        <p:spPr>
          <a:xfrm xmlns:a="http://schemas.openxmlformats.org/drawingml/2006/main">
            <a:off x="762000" y="1809750"/>
            <a:ext cx="10668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grades = raw['G3'].tolist()</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selected = [g for g in grades if g &gt;= 10]</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grade_cols = [c for c in raw.columns</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if re.fullmatch(r'G[123]', c)]</a:t>
            </a:r>
          </a:p>
        </p:txBody>
      </p:sp>
      <p:sp>
        <p:nvSpPr>
          <p:cNvPr id="6" name="Filtered list: 549 grades">
            <a:extLst xmlns:a="http://schemas.openxmlformats.org/drawingml/2006/main">
              <a:ext uri="{FF2B5EF4-FFF2-40B4-BE49-F238E27FC236}">
                <a16:creationId xmlns:a16="http://schemas.microsoft.com/office/drawing/2014/main" id="{FC96B101-0EEF-48B3-945D-C49F2CE8A0FF}"/>
              </a:ext>
            </a:extLst>
          </p:cNvPr>
          <p:cNvSpPr>
            <a:spLocks xmlns:a="http://schemas.openxmlformats.org/drawingml/2006/main" noGrp="1"/>
          </p:cNvSpPr>
          <p:nvPr/>
        </p:nvSpPr>
        <p:spPr>
          <a:xfrm xmlns:a="http://schemas.openxmlformats.org/drawingml/2006/main">
            <a:off x="762000" y="4667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Filtered list: 549 grades</a:t>
            </a:r>
          </a:p>
        </p:txBody>
      </p:sp>
      <p:sp>
        <p:nvSpPr>
          <p:cNvPr id="7" name="Full matching validates actual schema names without inv">
            <a:extLst xmlns:a="http://schemas.openxmlformats.org/drawingml/2006/main">
              <a:ext uri="{FF2B5EF4-FFF2-40B4-BE49-F238E27FC236}">
                <a16:creationId xmlns:a16="http://schemas.microsoft.com/office/drawing/2014/main" id="{FFDECA26-D651-4F34-80D8-D0D9092F48E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Full matching validates actual schema names without inventing personal identifiers.</a:t>
            </a:r>
          </a:p>
        </p:txBody>
      </p:sp>
    </p:spTree>
    <p:extLst>
      <p:ext uri="{BB962C8B-B14F-4D97-AF65-F5344CB8AC3E}">
        <p14:creationId xmlns:p14="http://schemas.microsoft.com/office/powerpoint/2010/main" val="10390807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58A3B6E-F533-4A05-BD63-E450865F452F}"/>
              </a:ext>
            </a:extLst>
          </p:cNvPr>
          <p:cNvPicPr>
            <a:picLocks xmlns:a="http://schemas.openxmlformats.org/drawingml/2006/main" noChangeAspect="1"/>
          </p:cNvPicPr>
          <p:nvPr/>
        </p:nvPicPr>
        <p:blipFill>
          <a:blip xmlns:r="http://schemas.openxmlformats.org/officeDocument/2006/relationships" xmlns:a="http://schemas.openxmlformats.org/drawingml/2006/main" r:embed="R9c50192ffa9145ab"/>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11E677A-AE49-4A22-A6CF-346BEFB78A4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Indexing and a two-condition filter</a:t>
            </a:r>
          </a:p>
        </p:txBody>
      </p:sp>
      <p:sp>
        <p:nvSpPr>
          <p:cNvPr id="3" name="Thin monochrome rule">
            <a:extLst xmlns:a="http://schemas.openxmlformats.org/drawingml/2006/main">
              <a:ext uri="{FF2B5EF4-FFF2-40B4-BE49-F238E27FC236}">
                <a16:creationId xmlns:a16="http://schemas.microsoft.com/office/drawing/2014/main" id="{2EB2A4C2-DEC2-44E7-ABFD-BC87335C2D6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C3F52046-1312-410C-8BCF-61BAD0E8709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sp>
        <p:nvSpPr>
          <p:cNvPr id="5" name="df.loc[:9]&#10;df.iloc[:, selected_positions]&#10;&#10;df.loc[(df.s">
            <a:extLst xmlns:a="http://schemas.openxmlformats.org/drawingml/2006/main">
              <a:ext uri="{FF2B5EF4-FFF2-40B4-BE49-F238E27FC236}">
                <a16:creationId xmlns:a16="http://schemas.microsoft.com/office/drawing/2014/main" id="{D94EEC59-745B-4CFB-9447-D103F79B8E71}"/>
              </a:ext>
            </a:extLst>
          </p:cNvPr>
          <p:cNvSpPr>
            <a:spLocks xmlns:a="http://schemas.openxmlformats.org/drawingml/2006/main" noGrp="1"/>
          </p:cNvSpPr>
          <p:nvPr/>
        </p:nvSpPr>
        <p:spPr>
          <a:xfrm xmlns:a="http://schemas.openxmlformats.org/drawingml/2006/main">
            <a:off x="762000" y="1809750"/>
            <a:ext cx="7572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DejaVu Sans Mono"/>
                <a:ea typeface="DejaVu Sans Mono"/>
                <a:cs typeface="DejaVu Sans Mono"/>
              </a:defRPr>
            </a:defPPr>
          </a:lstStyle>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df.loc[:9]</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df.iloc[:, selected_positions]</a:t>
            </a:r>
          </a:p>
          <a:p xmlns:a="http://schemas.openxmlformats.org/drawingml/2006/main">
            <a:r>
              <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df.loc[(df.studytime &gt;= 2) &amp;</a:t>
            </a:r>
          </a:p>
          <a:p xmlns:a="http://schemas.openxmlformats.org/drawingml/2006/main">
            <a:pPr algn="l">
              <a:defRPr sz="2100" b="0">
                <a:solidFill>
                  <a:srgbClr val="000000"/>
                </a:solidFill>
                <a:latin typeface="DejaVu Sans Mono"/>
                <a:ea typeface="DejaVu Sans Mono"/>
                <a:cs typeface="DejaVu Sans Mono"/>
              </a:defRPr>
            </a:pPr>
            <a:r>
              <a:rPr sz="2100" b="0">
                <a:solidFill>
                  <a:srgbClr val="000000"/>
                </a:solidFill>
                <a:latin typeface="DejaVu Sans Mono"/>
                <a:ea typeface="DejaVu Sans Mono"/>
                <a:cs typeface="DejaVu Sans Mono"/>
              </a:rPr>
              <a:t>       (df.absences &lt;= 5)]</a:t>
            </a:r>
          </a:p>
        </p:txBody>
      </p:sp>
      <p:sp>
        <p:nvSpPr>
          <p:cNvPr id="6" name="334">
            <a:extLst xmlns:a="http://schemas.openxmlformats.org/drawingml/2006/main">
              <a:ext uri="{FF2B5EF4-FFF2-40B4-BE49-F238E27FC236}">
                <a16:creationId xmlns:a16="http://schemas.microsoft.com/office/drawing/2014/main" id="{B9E95A5A-9641-4279-BFD0-ECE68535D6C6}"/>
              </a:ext>
            </a:extLst>
          </p:cNvPr>
          <p:cNvSpPr>
            <a:spLocks xmlns:a="http://schemas.openxmlformats.org/drawingml/2006/main" noGrp="1"/>
          </p:cNvSpPr>
          <p:nvPr/>
        </p:nvSpPr>
        <p:spPr>
          <a:xfrm xmlns:a="http://schemas.openxmlformats.org/drawingml/2006/main">
            <a:off x="8953500" y="204787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Arial"/>
                <a:ea typeface="Arial"/>
                <a:cs typeface="Arial"/>
              </a:defRPr>
            </a:defPPr>
          </a:lstStyle>
          <a:p xmlns:a="http://schemas.openxmlformats.org/drawingml/2006/main">
            <a:pPr algn="l">
              <a:defRPr sz="4800" b="1">
                <a:solidFill>
                  <a:srgbClr val="000000"/>
                </a:solidFill>
                <a:latin typeface="Arial"/>
                <a:ea typeface="Arial"/>
                <a:cs typeface="Arial"/>
              </a:defRPr>
            </a:pPr>
            <a:r>
              <a:rPr sz="4800" b="1">
                <a:solidFill>
                  <a:srgbClr val="000000"/>
                </a:solidFill>
                <a:latin typeface="Arial"/>
                <a:ea typeface="Arial"/>
                <a:cs typeface="Arial"/>
              </a:rPr>
              <a:t>334</a:t>
            </a:r>
          </a:p>
        </p:txBody>
      </p:sp>
      <p:sp>
        <p:nvSpPr>
          <p:cNvPr id="7" name="51.46% of records&#10;&#10;Both conditions hold">
            <a:extLst xmlns:a="http://schemas.openxmlformats.org/drawingml/2006/main">
              <a:ext uri="{FF2B5EF4-FFF2-40B4-BE49-F238E27FC236}">
                <a16:creationId xmlns:a16="http://schemas.microsoft.com/office/drawing/2014/main" id="{6F7291EB-9146-43A0-BB88-8E6A3D441B12}"/>
              </a:ext>
            </a:extLst>
          </p:cNvPr>
          <p:cNvSpPr>
            <a:spLocks xmlns:a="http://schemas.openxmlformats.org/drawingml/2006/main" noGrp="1"/>
          </p:cNvSpPr>
          <p:nvPr/>
        </p:nvSpPr>
        <p:spPr>
          <a:xfrm xmlns:a="http://schemas.openxmlformats.org/drawingml/2006/main">
            <a:off x="8953500" y="3143250"/>
            <a:ext cx="2667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51.46% of records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Both conditions hold</a:t>
            </a:r>
          </a:p>
        </p:txBody>
      </p:sp>
      <p:sp>
        <p:nvSpPr>
          <p:cNvPr id="8" name="The study-time variable is an ordered interval code, no">
            <a:extLst xmlns:a="http://schemas.openxmlformats.org/drawingml/2006/main">
              <a:ext uri="{FF2B5EF4-FFF2-40B4-BE49-F238E27FC236}">
                <a16:creationId xmlns:a16="http://schemas.microsoft.com/office/drawing/2014/main" id="{D533B536-66D4-49EB-8F2D-7AC943DAF1DF}"/>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study-time variable is an ordered interval code, not a continuous hour count.</a:t>
            </a:r>
          </a:p>
        </p:txBody>
      </p:sp>
    </p:spTree>
    <p:extLst>
      <p:ext uri="{BB962C8B-B14F-4D97-AF65-F5344CB8AC3E}">
        <p14:creationId xmlns:p14="http://schemas.microsoft.com/office/powerpoint/2010/main" val="13345560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9590B9B-50EC-465F-995D-7E09EFF899AB}"/>
              </a:ext>
            </a:extLst>
          </p:cNvPr>
          <p:cNvPicPr>
            <a:picLocks xmlns:a="http://schemas.openxmlformats.org/drawingml/2006/main" noChangeAspect="1"/>
          </p:cNvPicPr>
          <p:nvPr/>
        </p:nvPicPr>
        <p:blipFill>
          <a:blip xmlns:r="http://schemas.openxmlformats.org/officeDocument/2006/relationships" xmlns:a="http://schemas.openxmlformats.org/drawingml/2006/main" r:embed="R1e0819360e5745e7"/>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FE603F2-76D1-4835-8A66-A48959B10695}"/>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engineered features</a:t>
            </a:r>
          </a:p>
        </p:txBody>
      </p:sp>
      <p:sp>
        <p:nvSpPr>
          <p:cNvPr id="3" name="Thin monochrome rule">
            <a:extLst xmlns:a="http://schemas.openxmlformats.org/drawingml/2006/main">
              <a:ext uri="{FF2B5EF4-FFF2-40B4-BE49-F238E27FC236}">
                <a16:creationId xmlns:a16="http://schemas.microsoft.com/office/drawing/2014/main" id="{D9C9E443-B8AD-4A96-8417-BB5FC030389F}"/>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FA6D0F63-88CB-4966-AFDB-1F6E1E971F2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352A42CB-1557-4DE2-A7E0-09CF34A916CF}"/>
              </a:ext>
            </a:extLst>
          </p:cNvPr>
          <p:cNvGraphicFramePr/>
          <p:nvPr/>
        </p:nvGraphicFramePr>
        <p:xfrm>
          <a:off xmlns:a="http://schemas.openxmlformats.org/drawingml/2006/main" x="666750" y="1857375"/>
          <a:ext xmlns:a="http://schemas.openxmlformats.org/drawingml/2006/main" cx="10858500" cy="2667000"/>
        </p:xfrm>
        <a:graphic xmlns:a="http://schemas.openxmlformats.org/drawingml/2006/main">
          <a:graphicData uri="http://schemas.openxmlformats.org/drawingml/2006/table">
            <a:tbl>
              <a:tblPr firstRow="0" bandRow="0"/>
              <a:tblGrid>
                <a:gridCol w="3701761"/>
                <a:gridCol w="3454977"/>
                <a:gridCol w="3701761"/>
              </a:tblGrid>
              <a:tr h="666750">
                <a:tc>
                  <a:txBody>
                    <a:bodyPr wrap="square" lIns="85725" tIns="85725" rIns="85725" bIns="85725">
                      <a:noAutofit/>
                    </a:bodyPr>
                    <a:lstStyle/>
                    <a:p>
                      <a:pPr algn="l"/>
                      <a:r>
                        <a:rPr sz="2000" b="1">
                          <a:solidFill>
                            <a:srgbClr val="000000"/>
                          </a:solidFill>
                          <a:latin typeface="Arial"/>
                          <a:ea typeface="Arial"/>
                          <a:cs typeface="Arial"/>
                        </a:rPr>
                        <a:t>Feature</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Definition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000" b="1">
                          <a:solidFill>
                            <a:srgbClr val="000000"/>
                          </a:solidFill>
                          <a:latin typeface="Arial"/>
                          <a:ea typeface="Arial"/>
                          <a:cs typeface="Arial"/>
                        </a:rPr>
                        <a:t>Purpose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000" b="0">
                          <a:solidFill>
                            <a:srgbClr val="000000"/>
                          </a:solidFill>
                          <a:latin typeface="Arial"/>
                          <a:ea typeface="Arial"/>
                          <a:cs typeface="Arial"/>
                        </a:rPr>
                        <a:t>prior_grade_mean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(G1 + G2) / 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Earlier-grade summary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grade_progress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G2 − G1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Assessment difference</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000" b="0">
                          <a:solidFill>
                            <a:srgbClr val="000000"/>
                          </a:solidFill>
                          <a:latin typeface="Arial"/>
                          <a:ea typeface="Arial"/>
                          <a:cs typeface="Arial"/>
                        </a:rPr>
                        <a:t>performance_band</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0–9; 10–14; 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000" b="0">
                          <a:solidFill>
                            <a:srgbClr val="000000"/>
                          </a:solidFill>
                          <a:latin typeface="Arial"/>
                          <a:ea typeface="Arial"/>
                          <a:cs typeface="Arial"/>
                        </a:rPr>
                        <a:t>Outcome description</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DataFrame.insert() places prior_grade_mean immediately ">
            <a:extLst xmlns:a="http://schemas.openxmlformats.org/drawingml/2006/main">
              <a:ext uri="{FF2B5EF4-FFF2-40B4-BE49-F238E27FC236}">
                <a16:creationId xmlns:a16="http://schemas.microsoft.com/office/drawing/2014/main" id="{6AE2E74A-2BED-445C-AC65-3F80F5F96AED}"/>
              </a:ext>
            </a:extLst>
          </p:cNvPr>
          <p:cNvSpPr>
            <a:spLocks xmlns:a="http://schemas.openxmlformats.org/drawingml/2006/main" noGrp="1"/>
          </p:cNvSpPr>
          <p:nvPr/>
        </p:nvSpPr>
        <p:spPr>
          <a:xfrm xmlns:a="http://schemas.openxmlformats.org/drawingml/2006/main">
            <a:off x="762000" y="5000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DataFrame.insert() places prior_grade_mean immediately before G3.</a:t>
            </a:r>
          </a:p>
        </p:txBody>
      </p:sp>
      <p:sp>
        <p:nvSpPr>
          <p:cNvPr id="7" name="All derived features are excluded from the original-fac">
            <a:extLst xmlns:a="http://schemas.openxmlformats.org/drawingml/2006/main">
              <a:ext uri="{FF2B5EF4-FFF2-40B4-BE49-F238E27FC236}">
                <a16:creationId xmlns:a16="http://schemas.microsoft.com/office/drawing/2014/main" id="{F6B29222-A8BC-4F61-A86C-5602A1CC8BF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All derived features are excluded from the original-factor association ranking.</a:t>
            </a:r>
          </a:p>
        </p:txBody>
      </p:sp>
    </p:spTree>
    <p:extLst>
      <p:ext uri="{BB962C8B-B14F-4D97-AF65-F5344CB8AC3E}">
        <p14:creationId xmlns:p14="http://schemas.microsoft.com/office/powerpoint/2010/main" val="12842423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D897A03-84DB-4554-8BCF-C5FEA7F0582D}"/>
              </a:ext>
            </a:extLst>
          </p:cNvPr>
          <p:cNvPicPr>
            <a:picLocks xmlns:a="http://schemas.openxmlformats.org/drawingml/2006/main" noChangeAspect="1"/>
          </p:cNvPicPr>
          <p:nvPr/>
        </p:nvPicPr>
        <p:blipFill>
          <a:blip xmlns:r="http://schemas.openxmlformats.org/officeDocument/2006/relationships" xmlns:a="http://schemas.openxmlformats.org/drawingml/2006/main" r:embed="R5d03fb1285e74031"/>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4E32A343-0648-41F7-A36D-A818CFC5954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Grouped statistics and transformation</a:t>
            </a:r>
          </a:p>
        </p:txBody>
      </p:sp>
      <p:sp>
        <p:nvSpPr>
          <p:cNvPr id="3" name="Thin monochrome rule">
            <a:extLst xmlns:a="http://schemas.openxmlformats.org/drawingml/2006/main">
              <a:ext uri="{FF2B5EF4-FFF2-40B4-BE49-F238E27FC236}">
                <a16:creationId xmlns:a16="http://schemas.microsoft.com/office/drawing/2014/main" id="{72B2715C-589F-4CF3-B5F5-9A614CAC1EB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A18AC3BA-9F57-4CE8-B01D-7758C5F8B69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6BE3C1ED-078F-4C89-BACD-6C389BA8A8CF}"/>
              </a:ext>
            </a:extLst>
          </p:cNvPr>
          <p:cNvGraphicFramePr/>
          <p:nvPr/>
        </p:nvGraphicFramePr>
        <p:xfrm>
          <a:off xmlns:a="http://schemas.openxmlformats.org/drawingml/2006/main" x="666750" y="1762125"/>
          <a:ext xmlns:a="http://schemas.openxmlformats.org/drawingml/2006/main" cx="10858500" cy="2000250"/>
        </p:xfrm>
        <a:graphic xmlns:a="http://schemas.openxmlformats.org/drawingml/2006/main">
          <a:graphicData uri="http://schemas.openxmlformats.org/drawingml/2006/table">
            <a:tbl>
              <a:tblPr firstRow="0" bandRow="0"/>
              <a:tblGrid>
                <a:gridCol w="1751371"/>
                <a:gridCol w="1751371"/>
                <a:gridCol w="2451919"/>
                <a:gridCol w="2451919"/>
                <a:gridCol w="2451919"/>
              </a:tblGrid>
              <a:tr h="666750">
                <a:tc>
                  <a:txBody>
                    <a:bodyPr wrap="square" lIns="85725" tIns="85725" rIns="85725" bIns="85725">
                      <a:noAutofit/>
                    </a:bodyPr>
                    <a:lstStyle/>
                    <a:p>
                      <a:pPr algn="l"/>
                      <a:r>
                        <a:rPr sz="2300" b="1">
                          <a:solidFill>
                            <a:srgbClr val="000000"/>
                          </a:solidFill>
                          <a:latin typeface="Arial"/>
                          <a:ea typeface="Arial"/>
                          <a:cs typeface="Arial"/>
                        </a:rPr>
                        <a:t>School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median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G3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GP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423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12.577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2.626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MS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226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10.650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11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3.834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Within-school score">
            <a:extLst xmlns:a="http://schemas.openxmlformats.org/drawingml/2006/main">
              <a:ext uri="{FF2B5EF4-FFF2-40B4-BE49-F238E27FC236}">
                <a16:creationId xmlns:a16="http://schemas.microsoft.com/office/drawing/2014/main" id="{4DA32C03-7174-4E81-9C63-20F5017213FE}"/>
              </a:ext>
            </a:extLst>
          </p:cNvPr>
          <p:cNvSpPr>
            <a:spLocks xmlns:a="http://schemas.openxmlformats.org/drawingml/2006/main" noGrp="1"/>
          </p:cNvSpPr>
          <p:nvPr/>
        </p:nvSpPr>
        <p:spPr>
          <a:xfrm xmlns:a="http://schemas.openxmlformats.org/drawingml/2006/main">
            <a:off x="762000" y="4191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Within-school score</a:t>
            </a:r>
          </a:p>
        </p:txBody>
      </p:sp>
      <p:sp>
        <p:nvSpPr>
          <p:cNvPr id="7" name="(G3 − school minimum) / (school maximum − school minimu">
            <a:extLst xmlns:a="http://schemas.openxmlformats.org/drawingml/2006/main">
              <a:ext uri="{FF2B5EF4-FFF2-40B4-BE49-F238E27FC236}">
                <a16:creationId xmlns:a16="http://schemas.microsoft.com/office/drawing/2014/main" id="{186B9EA9-E959-458F-8FB3-F8EF0292B403}"/>
              </a:ext>
            </a:extLst>
          </p:cNvPr>
          <p:cNvSpPr>
            <a:spLocks xmlns:a="http://schemas.openxmlformats.org/drawingml/2006/main" noGrp="1"/>
          </p:cNvSpPr>
          <p:nvPr/>
        </p:nvSpPr>
        <p:spPr>
          <a:xfrm xmlns:a="http://schemas.openxmlformats.org/drawingml/2006/main">
            <a:off x="762000" y="48101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000000"/>
                </a:solidFill>
                <a:latin typeface="Arial"/>
                <a:ea typeface="Arial"/>
                <a:cs typeface="Arial"/>
              </a:defRPr>
            </a:defPPr>
          </a:lstStyle>
          <a:p xmlns:a="http://schemas.openxmlformats.org/drawingml/2006/main">
            <a:pPr algn="l">
              <a:defRPr sz="2200" b="0">
                <a:solidFill>
                  <a:srgbClr val="000000"/>
                </a:solidFill>
                <a:latin typeface="Arial"/>
                <a:ea typeface="Arial"/>
                <a:cs typeface="Arial"/>
              </a:defRPr>
            </a:pPr>
            <a:r>
              <a:rPr sz="2200" b="0">
                <a:solidFill>
                  <a:srgbClr val="000000"/>
                </a:solidFill>
                <a:latin typeface="Arial"/>
                <a:ea typeface="Arial"/>
                <a:cs typeface="Arial"/>
              </a:rPr>
              <a:t>(G3 − school minimum) / (school maximum − school minimum)</a:t>
            </a:r>
          </a:p>
        </p:txBody>
      </p:sp>
      <p:sp>
        <p:nvSpPr>
          <p:cNvPr id="8" name="Constant groups receive 0; the scale describes relative">
            <a:extLst xmlns:a="http://schemas.openxmlformats.org/drawingml/2006/main">
              <a:ext uri="{FF2B5EF4-FFF2-40B4-BE49-F238E27FC236}">
                <a16:creationId xmlns:a16="http://schemas.microsoft.com/office/drawing/2014/main" id="{F0172517-829B-4C42-9472-211D1F837B6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Constant groups receive 0; the scale describes relative position within each school.</a:t>
            </a:r>
          </a:p>
        </p:txBody>
      </p:sp>
    </p:spTree>
    <p:extLst>
      <p:ext uri="{BB962C8B-B14F-4D97-AF65-F5344CB8AC3E}">
        <p14:creationId xmlns:p14="http://schemas.microsoft.com/office/powerpoint/2010/main" val="20654701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4C99F76-6780-4974-B506-E4233D66B9FA}"/>
              </a:ext>
            </a:extLst>
          </p:cNvPr>
          <p:cNvPicPr>
            <a:picLocks xmlns:a="http://schemas.openxmlformats.org/drawingml/2006/main" noChangeAspect="1"/>
          </p:cNvPicPr>
          <p:nvPr/>
        </p:nvPicPr>
        <p:blipFill>
          <a:blip xmlns:r="http://schemas.openxmlformats.org/officeDocument/2006/relationships" xmlns:a="http://schemas.openxmlformats.org/drawingml/2006/main" r:embed="Rdc0b975450b746a8"/>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67A2793-D63F-4DC2-9C06-E4E407A93BE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Association ranking: two distinct families</a:t>
            </a:r>
          </a:p>
        </p:txBody>
      </p:sp>
      <p:sp>
        <p:nvSpPr>
          <p:cNvPr id="3" name="Thin monochrome rule">
            <a:extLst xmlns:a="http://schemas.openxmlformats.org/drawingml/2006/main">
              <a:ext uri="{FF2B5EF4-FFF2-40B4-BE49-F238E27FC236}">
                <a16:creationId xmlns:a16="http://schemas.microsoft.com/office/drawing/2014/main" id="{ECD9FE47-17F5-4D5A-BB6F-BF3F2F69C4A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C7B757F3-605D-4F33-8B64-37DECD41A05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Prior grade: G2, Spearman ρ = 0.9445">
            <a:extLst xmlns:a="http://schemas.openxmlformats.org/drawingml/2006/main">
              <a:ext uri="{FF2B5EF4-FFF2-40B4-BE49-F238E27FC236}">
                <a16:creationId xmlns:a16="http://schemas.microsoft.com/office/drawing/2014/main" id="{B8FC6989-CB46-405B-8CF3-93767A6CDDF0}"/>
              </a:ext>
            </a:extLst>
          </p:cNvPr>
          <p:cNvSpPr>
            <a:spLocks xmlns:a="http://schemas.openxmlformats.org/drawingml/2006/main" noGrp="1"/>
          </p:cNvSpPr>
          <p:nvPr/>
        </p:nvSpPr>
        <p:spPr>
          <a:xfrm xmlns:a="http://schemas.openxmlformats.org/drawingml/2006/main">
            <a:off x="762000" y="1619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Prior grade: G2, Spearman ρ = 0.9445</a:t>
            </a:r>
          </a:p>
        </p:txBody>
      </p:sp>
      <p:graphicFrame>
        <p:nvGraphicFramePr>
          <p:cNvPr id="6" name="">
            <a:extLst xmlns:a="http://schemas.openxmlformats.org/drawingml/2006/main">
              <a:ext uri="{FF2B5EF4-FFF2-40B4-BE49-F238E27FC236}">
                <a16:creationId xmlns:a16="http://schemas.microsoft.com/office/drawing/2014/main" id="{88890005-11C8-4C51-83E5-256E91B21043}"/>
              </a:ext>
            </a:extLst>
          </p:cNvPr>
          <p:cNvGraphicFramePr/>
          <p:nvPr/>
        </p:nvGraphicFramePr>
        <p:xfrm>
          <a:off xmlns:a="http://schemas.openxmlformats.org/drawingml/2006/main" x="762000" y="2381250"/>
          <a:ext xmlns:a="http://schemas.openxmlformats.org/drawingml/2006/main" cx="10668000" cy="2857500"/>
        </p:xfrm>
        <a:graphic xmlns:a="http://schemas.openxmlformats.org/drawingml/2006/main">
          <a:graphicData uri="http://schemas.openxmlformats.org/drawingml/2006/table">
            <a:tbl>
              <a:tblPr firstRow="0" bandRow="0"/>
              <a:tblGrid>
                <a:gridCol w="6096000"/>
                <a:gridCol w="2540000"/>
                <a:gridCol w="2032000"/>
              </a:tblGrid>
              <a:tr h="476250">
                <a:tc>
                  <a:txBody>
                    <a:bodyPr wrap="square" lIns="85725" tIns="85725" rIns="85725" bIns="85725">
                      <a:noAutofit/>
                    </a:bodyPr>
                    <a:lstStyle/>
                    <a:p>
                      <a:pPr algn="l"/>
                      <a:r>
                        <a:rPr sz="2100" b="1">
                          <a:solidFill>
                            <a:srgbClr val="000000"/>
                          </a:solidFill>
                          <a:latin typeface="Arial"/>
                          <a:ea typeface="Arial"/>
                          <a:cs typeface="Arial"/>
                        </a:rPr>
                        <a:t>Contextual numerical/ordinal factor</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Spearman ρ</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476250">
                <a:tc>
                  <a:txBody>
                    <a:bodyPr wrap="square" lIns="85725" tIns="85725" rIns="85725" bIns="85725">
                      <a:noAutofit/>
                    </a:bodyPr>
                    <a:lstStyle/>
                    <a:p>
                      <a:pPr algn="l"/>
                      <a:r>
                        <a:rPr sz="2100" b="0">
                          <a:solidFill>
                            <a:srgbClr val="000000"/>
                          </a:solidFill>
                          <a:latin typeface="Arial"/>
                          <a:ea typeface="Arial"/>
                          <a:cs typeface="Arial"/>
                        </a:rPr>
                        <a:t>failures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-0.4484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Medu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0.2839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studytime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0.2747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Fedu</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0.2346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476250">
                <a:tc>
                  <a:txBody>
                    <a:bodyPr wrap="square" lIns="85725" tIns="85725" rIns="85725" bIns="85725">
                      <a:noAutofit/>
                    </a:bodyPr>
                    <a:lstStyle/>
                    <a:p>
                      <a:pPr algn="l"/>
                      <a:r>
                        <a:rPr sz="2100" b="0">
                          <a:solidFill>
                            <a:srgbClr val="000000"/>
                          </a:solidFill>
                          <a:latin typeface="Arial"/>
                          <a:ea typeface="Arial"/>
                          <a:cs typeface="Arial"/>
                        </a:rPr>
                        <a:t>Dalc</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-0.2084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The ranking is unadjusted association among examined or">
            <a:extLst xmlns:a="http://schemas.openxmlformats.org/drawingml/2006/main">
              <a:ext uri="{FF2B5EF4-FFF2-40B4-BE49-F238E27FC236}">
                <a16:creationId xmlns:a16="http://schemas.microsoft.com/office/drawing/2014/main" id="{526E3332-3BAB-4197-9810-48E7D3B54CE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ranking is unadjusted association among examined original numerical/ordinal factors.</a:t>
            </a:r>
          </a:p>
        </p:txBody>
      </p:sp>
    </p:spTree>
    <p:extLst>
      <p:ext uri="{BB962C8B-B14F-4D97-AF65-F5344CB8AC3E}">
        <p14:creationId xmlns:p14="http://schemas.microsoft.com/office/powerpoint/2010/main" val="7529106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133E7D5-9B92-4357-B6AD-A54AC37FB5EB}"/>
              </a:ext>
            </a:extLst>
          </p:cNvPr>
          <p:cNvPicPr>
            <a:picLocks xmlns:a="http://schemas.openxmlformats.org/drawingml/2006/main" noChangeAspect="1"/>
          </p:cNvPicPr>
          <p:nvPr/>
        </p:nvPicPr>
        <p:blipFill>
          <a:blip xmlns:r="http://schemas.openxmlformats.org/officeDocument/2006/relationships" xmlns:a="http://schemas.openxmlformats.org/drawingml/2006/main" r:embed="Re5138a6052a04389"/>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7C10587-AD88-462D-9750-1D6DCF30095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Final-grade distribution</a:t>
            </a:r>
          </a:p>
        </p:txBody>
      </p:sp>
      <p:sp>
        <p:nvSpPr>
          <p:cNvPr id="3" name="Thin monochrome rule">
            <a:extLst xmlns:a="http://schemas.openxmlformats.org/drawingml/2006/main">
              <a:ext uri="{FF2B5EF4-FFF2-40B4-BE49-F238E27FC236}">
                <a16:creationId xmlns:a16="http://schemas.microsoft.com/office/drawing/2014/main" id="{A66DB54B-693C-4473-9322-D0889F7EEDA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91F555D2-C637-4108-8ADA-C8A7A58AA6E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F9501768-0BAA-4CB7-AAC5-BDF1CA910137}"/>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39d3e4ceef4c4a8a"/>
          </a:graphicData>
        </a:graphic>
      </p:graphicFrame>
      <p:sp>
        <p:nvSpPr>
          <p:cNvPr id="6" name="Mean 11.91">
            <a:extLst xmlns:a="http://schemas.openxmlformats.org/drawingml/2006/main">
              <a:ext uri="{FF2B5EF4-FFF2-40B4-BE49-F238E27FC236}">
                <a16:creationId xmlns:a16="http://schemas.microsoft.com/office/drawing/2014/main" id="{7028B910-E7AE-4B34-8E8E-FEB3989D6502}"/>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Mean 11.91</a:t>
            </a:r>
          </a:p>
        </p:txBody>
      </p:sp>
      <p:sp>
        <p:nvSpPr>
          <p:cNvPr id="7" name="Median 12&#10;Sample SD 3.23&#10;&#10;n = 649">
            <a:extLst xmlns:a="http://schemas.openxmlformats.org/drawingml/2006/main">
              <a:ext uri="{FF2B5EF4-FFF2-40B4-BE49-F238E27FC236}">
                <a16:creationId xmlns:a16="http://schemas.microsoft.com/office/drawing/2014/main" id="{C61924F6-E535-424B-B679-00B2FFBDAD49}"/>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12</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Sample SD 3.23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 = 649</a:t>
            </a:r>
          </a:p>
        </p:txBody>
      </p:sp>
      <p:sp>
        <p:nvSpPr>
          <p:cNvPr id="8" name="One-point-wide bins retain the integer-score distributi">
            <a:extLst xmlns:a="http://schemas.openxmlformats.org/drawingml/2006/main">
              <a:ext uri="{FF2B5EF4-FFF2-40B4-BE49-F238E27FC236}">
                <a16:creationId xmlns:a16="http://schemas.microsoft.com/office/drawing/2014/main" id="{88278847-9078-47B4-9855-6EEAE24885E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One-point-wide bins retain the integer-score distribution.</a:t>
            </a:r>
          </a:p>
        </p:txBody>
      </p:sp>
    </p:spTree>
    <p:extLst>
      <p:ext uri="{BB962C8B-B14F-4D97-AF65-F5344CB8AC3E}">
        <p14:creationId xmlns:p14="http://schemas.microsoft.com/office/powerpoint/2010/main" val="12753004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80C08897-5169-4E6F-8754-1C05A0ACC926}"/>
              </a:ext>
            </a:extLst>
          </p:cNvPr>
          <p:cNvPicPr>
            <a:picLocks xmlns:a="http://schemas.openxmlformats.org/drawingml/2006/main" noChangeAspect="1"/>
          </p:cNvPicPr>
          <p:nvPr/>
        </p:nvPicPr>
        <p:blipFill>
          <a:blip xmlns:r="http://schemas.openxmlformats.org/officeDocument/2006/relationships" xmlns:a="http://schemas.openxmlformats.org/drawingml/2006/main" r:embed="R25342fc6e6d34f31"/>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6195A574-ED8F-4F55-9FBB-76735B03ADB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grades by school</a:t>
            </a:r>
          </a:p>
        </p:txBody>
      </p:sp>
      <p:sp>
        <p:nvSpPr>
          <p:cNvPr id="3" name="Thin monochrome rule">
            <a:extLst xmlns:a="http://schemas.openxmlformats.org/drawingml/2006/main">
              <a:ext uri="{FF2B5EF4-FFF2-40B4-BE49-F238E27FC236}">
                <a16:creationId xmlns:a16="http://schemas.microsoft.com/office/drawing/2014/main" id="{1C1A6559-C0B8-4123-BB4D-E006E9237AC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1A7D9D9D-FC89-416A-8881-47F051CB111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Thin monochrome rule">
            <a:extLst xmlns:a="http://schemas.openxmlformats.org/drawingml/2006/main">
              <a:ext uri="{FF2B5EF4-FFF2-40B4-BE49-F238E27FC236}">
                <a16:creationId xmlns:a16="http://schemas.microsoft.com/office/drawing/2014/main" id="{3BDE835B-96BB-4D5A-B594-9D7202D1840D}"/>
              </a:ext>
            </a:extLst>
          </p:cNvPr>
          <p:cNvSpPr>
            <a:spLocks xmlns:a="http://schemas.openxmlformats.org/drawingml/2006/main" noGrp="1"/>
          </p:cNvSpPr>
          <p:nvPr/>
        </p:nvSpPr>
        <p:spPr>
          <a:xfrm xmlns:a="http://schemas.openxmlformats.org/drawingml/2006/main">
            <a:off x="1333500" y="519112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0">
            <a:extLst xmlns:a="http://schemas.openxmlformats.org/drawingml/2006/main">
              <a:ext uri="{FF2B5EF4-FFF2-40B4-BE49-F238E27FC236}">
                <a16:creationId xmlns:a16="http://schemas.microsoft.com/office/drawing/2014/main" id="{0AA3267B-217E-4925-8BB6-981BF86D1B80}"/>
              </a:ext>
            </a:extLst>
          </p:cNvPr>
          <p:cNvSpPr>
            <a:spLocks xmlns:a="http://schemas.openxmlformats.org/drawingml/2006/main" noGrp="1"/>
          </p:cNvSpPr>
          <p:nvPr/>
        </p:nvSpPr>
        <p:spPr>
          <a:xfrm xmlns:a="http://schemas.openxmlformats.org/drawingml/2006/main">
            <a:off x="762000" y="504825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0</a:t>
            </a:r>
          </a:p>
        </p:txBody>
      </p:sp>
      <p:sp>
        <p:nvSpPr>
          <p:cNvPr id="7" name="Thin monochrome rule">
            <a:extLst xmlns:a="http://schemas.openxmlformats.org/drawingml/2006/main">
              <a:ext uri="{FF2B5EF4-FFF2-40B4-BE49-F238E27FC236}">
                <a16:creationId xmlns:a16="http://schemas.microsoft.com/office/drawing/2014/main" id="{B144EBF5-6E9C-40D4-823E-DC9E362E2DC9}"/>
              </a:ext>
            </a:extLst>
          </p:cNvPr>
          <p:cNvSpPr>
            <a:spLocks xmlns:a="http://schemas.openxmlformats.org/drawingml/2006/main" noGrp="1"/>
          </p:cNvSpPr>
          <p:nvPr/>
        </p:nvSpPr>
        <p:spPr>
          <a:xfrm xmlns:a="http://schemas.openxmlformats.org/drawingml/2006/main">
            <a:off x="1333500" y="4357688"/>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5">
            <a:extLst xmlns:a="http://schemas.openxmlformats.org/drawingml/2006/main">
              <a:ext uri="{FF2B5EF4-FFF2-40B4-BE49-F238E27FC236}">
                <a16:creationId xmlns:a16="http://schemas.microsoft.com/office/drawing/2014/main" id="{B1B046B7-D205-49F5-9395-184036B72903}"/>
              </a:ext>
            </a:extLst>
          </p:cNvPr>
          <p:cNvSpPr>
            <a:spLocks xmlns:a="http://schemas.openxmlformats.org/drawingml/2006/main" noGrp="1"/>
          </p:cNvSpPr>
          <p:nvPr/>
        </p:nvSpPr>
        <p:spPr>
          <a:xfrm xmlns:a="http://schemas.openxmlformats.org/drawingml/2006/main">
            <a:off x="762000" y="4214813"/>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5</a:t>
            </a:r>
          </a:p>
        </p:txBody>
      </p:sp>
      <p:sp>
        <p:nvSpPr>
          <p:cNvPr id="9" name="Thin monochrome rule">
            <a:extLst xmlns:a="http://schemas.openxmlformats.org/drawingml/2006/main">
              <a:ext uri="{FF2B5EF4-FFF2-40B4-BE49-F238E27FC236}">
                <a16:creationId xmlns:a16="http://schemas.microsoft.com/office/drawing/2014/main" id="{9F04522E-8156-4D71-9A70-DA73E4238792}"/>
              </a:ext>
            </a:extLst>
          </p:cNvPr>
          <p:cNvSpPr>
            <a:spLocks xmlns:a="http://schemas.openxmlformats.org/drawingml/2006/main" noGrp="1"/>
          </p:cNvSpPr>
          <p:nvPr/>
        </p:nvSpPr>
        <p:spPr>
          <a:xfrm xmlns:a="http://schemas.openxmlformats.org/drawingml/2006/main">
            <a:off x="1333500" y="3524250"/>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0" name="10">
            <a:extLst xmlns:a="http://schemas.openxmlformats.org/drawingml/2006/main">
              <a:ext uri="{FF2B5EF4-FFF2-40B4-BE49-F238E27FC236}">
                <a16:creationId xmlns:a16="http://schemas.microsoft.com/office/drawing/2014/main" id="{8D136494-A61B-40F8-8669-F5E8C94E612F}"/>
              </a:ext>
            </a:extLst>
          </p:cNvPr>
          <p:cNvSpPr>
            <a:spLocks xmlns:a="http://schemas.openxmlformats.org/drawingml/2006/main" noGrp="1"/>
          </p:cNvSpPr>
          <p:nvPr/>
        </p:nvSpPr>
        <p:spPr>
          <a:xfrm xmlns:a="http://schemas.openxmlformats.org/drawingml/2006/main">
            <a:off x="762000" y="33813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10</a:t>
            </a:r>
          </a:p>
        </p:txBody>
      </p:sp>
      <p:sp>
        <p:nvSpPr>
          <p:cNvPr id="11" name="Thin monochrome rule">
            <a:extLst xmlns:a="http://schemas.openxmlformats.org/drawingml/2006/main">
              <a:ext uri="{FF2B5EF4-FFF2-40B4-BE49-F238E27FC236}">
                <a16:creationId xmlns:a16="http://schemas.microsoft.com/office/drawing/2014/main" id="{CFF6F5C1-7E13-4172-BC42-51DFE3B6B651}"/>
              </a:ext>
            </a:extLst>
          </p:cNvPr>
          <p:cNvSpPr>
            <a:spLocks xmlns:a="http://schemas.openxmlformats.org/drawingml/2006/main" noGrp="1"/>
          </p:cNvSpPr>
          <p:nvPr/>
        </p:nvSpPr>
        <p:spPr>
          <a:xfrm xmlns:a="http://schemas.openxmlformats.org/drawingml/2006/main">
            <a:off x="1333500" y="2690813"/>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2" name="15">
            <a:extLst xmlns:a="http://schemas.openxmlformats.org/drawingml/2006/main">
              <a:ext uri="{FF2B5EF4-FFF2-40B4-BE49-F238E27FC236}">
                <a16:creationId xmlns:a16="http://schemas.microsoft.com/office/drawing/2014/main" id="{FE36F8C3-B909-4029-A005-1729EB4EC9FE}"/>
              </a:ext>
            </a:extLst>
          </p:cNvPr>
          <p:cNvSpPr>
            <a:spLocks xmlns:a="http://schemas.openxmlformats.org/drawingml/2006/main" noGrp="1"/>
          </p:cNvSpPr>
          <p:nvPr/>
        </p:nvSpPr>
        <p:spPr>
          <a:xfrm xmlns:a="http://schemas.openxmlformats.org/drawingml/2006/main">
            <a:off x="762000" y="2547938"/>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15</a:t>
            </a:r>
          </a:p>
        </p:txBody>
      </p:sp>
      <p:sp>
        <p:nvSpPr>
          <p:cNvPr id="13" name="Thin monochrome rule">
            <a:extLst xmlns:a="http://schemas.openxmlformats.org/drawingml/2006/main">
              <a:ext uri="{FF2B5EF4-FFF2-40B4-BE49-F238E27FC236}">
                <a16:creationId xmlns:a16="http://schemas.microsoft.com/office/drawing/2014/main" id="{11D8A357-B215-4675-B9B9-FFDDE09C6E49}"/>
              </a:ext>
            </a:extLst>
          </p:cNvPr>
          <p:cNvSpPr>
            <a:spLocks xmlns:a="http://schemas.openxmlformats.org/drawingml/2006/main" noGrp="1"/>
          </p:cNvSpPr>
          <p:nvPr/>
        </p:nvSpPr>
        <p:spPr>
          <a:xfrm xmlns:a="http://schemas.openxmlformats.org/drawingml/2006/main">
            <a:off x="1333500" y="1857375"/>
            <a:ext cx="6286500" cy="666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4" name="20">
            <a:extLst xmlns:a="http://schemas.openxmlformats.org/drawingml/2006/main">
              <a:ext uri="{FF2B5EF4-FFF2-40B4-BE49-F238E27FC236}">
                <a16:creationId xmlns:a16="http://schemas.microsoft.com/office/drawing/2014/main" id="{287CC9B9-9105-4C58-92EF-C2B99C278E43}"/>
              </a:ext>
            </a:extLst>
          </p:cNvPr>
          <p:cNvSpPr>
            <a:spLocks xmlns:a="http://schemas.openxmlformats.org/drawingml/2006/main" noGrp="1"/>
          </p:cNvSpPr>
          <p:nvPr/>
        </p:nvSpPr>
        <p:spPr>
          <a:xfrm xmlns:a="http://schemas.openxmlformats.org/drawingml/2006/main">
            <a:off x="762000" y="1714500"/>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000000"/>
                </a:solidFill>
                <a:latin typeface="Arial"/>
                <a:ea typeface="Arial"/>
                <a:cs typeface="Arial"/>
              </a:defRPr>
            </a:defPPr>
          </a:lstStyle>
          <a:p xmlns:a="http://schemas.openxmlformats.org/drawingml/2006/main">
            <a:pPr algn="r">
              <a:defRPr sz="1800" b="0">
                <a:solidFill>
                  <a:srgbClr val="000000"/>
                </a:solidFill>
                <a:latin typeface="Arial"/>
                <a:ea typeface="Arial"/>
                <a:cs typeface="Arial"/>
              </a:defRPr>
            </a:pPr>
            <a:r>
              <a:rPr sz="1800" b="0">
                <a:solidFill>
                  <a:srgbClr val="000000"/>
                </a:solidFill>
                <a:latin typeface="Arial"/>
                <a:ea typeface="Arial"/>
                <a:cs typeface="Arial"/>
              </a:rPr>
              <a:t>20</a:t>
            </a:r>
          </a:p>
        </p:txBody>
      </p:sp>
      <p:sp>
        <p:nvSpPr>
          <p:cNvPr id="15" name="G3 (points)">
            <a:extLst xmlns:a="http://schemas.openxmlformats.org/drawingml/2006/main">
              <a:ext uri="{FF2B5EF4-FFF2-40B4-BE49-F238E27FC236}">
                <a16:creationId xmlns:a16="http://schemas.microsoft.com/office/drawing/2014/main" id="{B664609E-6ADA-41EF-B02F-F7235365BD10}"/>
              </a:ext>
            </a:extLst>
          </p:cNvPr>
          <p:cNvSpPr>
            <a:spLocks xmlns:a="http://schemas.openxmlformats.org/drawingml/2006/main" noGrp="1"/>
          </p:cNvSpPr>
          <p:nvPr/>
        </p:nvSpPr>
        <p:spPr>
          <a:xfrm xmlns:a="http://schemas.openxmlformats.org/drawingml/2006/main">
            <a:off x="762000"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G3 (points)</a:t>
            </a:r>
          </a:p>
        </p:txBody>
      </p:sp>
      <p:sp>
        <p:nvSpPr>
          <p:cNvPr id="16" name="Thin monochrome rule">
            <a:extLst xmlns:a="http://schemas.openxmlformats.org/drawingml/2006/main">
              <a:ext uri="{FF2B5EF4-FFF2-40B4-BE49-F238E27FC236}">
                <a16:creationId xmlns:a16="http://schemas.microsoft.com/office/drawing/2014/main" id="{F39940F9-B14E-49F5-BD94-9810880B73E7}"/>
              </a:ext>
            </a:extLst>
          </p:cNvPr>
          <p:cNvSpPr>
            <a:spLocks xmlns:a="http://schemas.openxmlformats.org/drawingml/2006/main" noGrp="1"/>
          </p:cNvSpPr>
          <p:nvPr/>
        </p:nvSpPr>
        <p:spPr>
          <a:xfrm xmlns:a="http://schemas.openxmlformats.org/drawingml/2006/main">
            <a:off x="3238500" y="2190750"/>
            <a:ext cx="14288" cy="183356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7" name="Thin monochrome rule">
            <a:extLst xmlns:a="http://schemas.openxmlformats.org/drawingml/2006/main">
              <a:ext uri="{FF2B5EF4-FFF2-40B4-BE49-F238E27FC236}">
                <a16:creationId xmlns:a16="http://schemas.microsoft.com/office/drawing/2014/main" id="{B3E8BD23-E556-47C5-B196-EAF538D780F2}"/>
              </a:ext>
            </a:extLst>
          </p:cNvPr>
          <p:cNvSpPr>
            <a:spLocks xmlns:a="http://schemas.openxmlformats.org/drawingml/2006/main" noGrp="1"/>
          </p:cNvSpPr>
          <p:nvPr/>
        </p:nvSpPr>
        <p:spPr>
          <a:xfrm xmlns:a="http://schemas.openxmlformats.org/drawingml/2006/main">
            <a:off x="2905125" y="219075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8" name="Thin monochrome rule">
            <a:extLst xmlns:a="http://schemas.openxmlformats.org/drawingml/2006/main">
              <a:ext uri="{FF2B5EF4-FFF2-40B4-BE49-F238E27FC236}">
                <a16:creationId xmlns:a16="http://schemas.microsoft.com/office/drawing/2014/main" id="{09ED04FC-1BA7-40F0-9F95-710F718E69E5}"/>
              </a:ext>
            </a:extLst>
          </p:cNvPr>
          <p:cNvSpPr>
            <a:spLocks xmlns:a="http://schemas.openxmlformats.org/drawingml/2006/main" noGrp="1"/>
          </p:cNvSpPr>
          <p:nvPr/>
        </p:nvSpPr>
        <p:spPr>
          <a:xfrm xmlns:a="http://schemas.openxmlformats.org/drawingml/2006/main">
            <a:off x="2905125" y="402431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9" name="GP Q1–Q3, exported Seaborn statistics">
            <a:extLst xmlns:a="http://schemas.openxmlformats.org/drawingml/2006/main">
              <a:ext uri="{FF2B5EF4-FFF2-40B4-BE49-F238E27FC236}">
                <a16:creationId xmlns:a16="http://schemas.microsoft.com/office/drawing/2014/main" id="{50AB1B07-A466-4003-9741-02BE2AC7ADE0}"/>
              </a:ext>
            </a:extLst>
          </p:cNvPr>
          <p:cNvSpPr>
            <a:spLocks xmlns:a="http://schemas.openxmlformats.org/drawingml/2006/main" noGrp="1"/>
          </p:cNvSpPr>
          <p:nvPr/>
        </p:nvSpPr>
        <p:spPr>
          <a:xfrm xmlns:a="http://schemas.openxmlformats.org/drawingml/2006/main">
            <a:off x="2619375" y="2857500"/>
            <a:ext cx="1238250" cy="500063"/>
          </a:xfrm>
          <a:prstGeom xmlns:a="http://schemas.openxmlformats.org/drawingml/2006/main" prst="rect">
            <a:avLst/>
          </a:prstGeom>
          <a:solidFill xmlns:a="http://schemas.openxmlformats.org/drawingml/2006/main">
            <a:srgbClr val="CCCCCC"/>
          </a:solidFill>
          <a:ln xmlns:a="http://schemas.openxmlformats.org/drawingml/2006/main" w="9525">
            <a:solidFill>
              <a:srgbClr val="000000"/>
            </a:solidFill>
            <a:prstDash val="solid"/>
          </a:ln>
        </p:spPr>
      </p:sp>
      <p:sp>
        <p:nvSpPr>
          <p:cNvPr id="20" name="Thin monochrome rule">
            <a:extLst xmlns:a="http://schemas.openxmlformats.org/drawingml/2006/main">
              <a:ext uri="{FF2B5EF4-FFF2-40B4-BE49-F238E27FC236}">
                <a16:creationId xmlns:a16="http://schemas.microsoft.com/office/drawing/2014/main" id="{F5C21915-1B88-4D8C-AD64-8EBE8154EF6F}"/>
              </a:ext>
            </a:extLst>
          </p:cNvPr>
          <p:cNvSpPr>
            <a:spLocks xmlns:a="http://schemas.openxmlformats.org/drawingml/2006/main" noGrp="1"/>
          </p:cNvSpPr>
          <p:nvPr/>
        </p:nvSpPr>
        <p:spPr>
          <a:xfrm xmlns:a="http://schemas.openxmlformats.org/drawingml/2006/main">
            <a:off x="2619375" y="3024188"/>
            <a:ext cx="1238250" cy="2381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1" name="GP outlier 6">
            <a:extLst xmlns:a="http://schemas.openxmlformats.org/drawingml/2006/main">
              <a:ext uri="{FF2B5EF4-FFF2-40B4-BE49-F238E27FC236}">
                <a16:creationId xmlns:a16="http://schemas.microsoft.com/office/drawing/2014/main" id="{E173DEA5-CB24-43C6-90CC-8CFFB1159E4D}"/>
              </a:ext>
            </a:extLst>
          </p:cNvPr>
          <p:cNvSpPr>
            <a:spLocks xmlns:a="http://schemas.openxmlformats.org/drawingml/2006/main" noGrp="1"/>
          </p:cNvSpPr>
          <p:nvPr/>
        </p:nvSpPr>
        <p:spPr>
          <a:xfrm xmlns:a="http://schemas.openxmlformats.org/drawingml/2006/main">
            <a:off x="3200400" y="4152900"/>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2" name="GP outlier 0">
            <a:extLst xmlns:a="http://schemas.openxmlformats.org/drawingml/2006/main">
              <a:ext uri="{FF2B5EF4-FFF2-40B4-BE49-F238E27FC236}">
                <a16:creationId xmlns:a16="http://schemas.microsoft.com/office/drawing/2014/main" id="{9CF54D9B-FFAE-4BE3-B454-56DD03E92F11}"/>
              </a:ext>
            </a:extLst>
          </p:cNvPr>
          <p:cNvSpPr>
            <a:spLocks xmlns:a="http://schemas.openxmlformats.org/drawingml/2006/main" noGrp="1"/>
          </p:cNvSpPr>
          <p:nvPr/>
        </p:nvSpPr>
        <p:spPr>
          <a:xfrm xmlns:a="http://schemas.openxmlformats.org/drawingml/2006/main">
            <a:off x="3200400" y="51530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3" name="GP outlier 1">
            <a:extLst xmlns:a="http://schemas.openxmlformats.org/drawingml/2006/main">
              <a:ext uri="{FF2B5EF4-FFF2-40B4-BE49-F238E27FC236}">
                <a16:creationId xmlns:a16="http://schemas.microsoft.com/office/drawing/2014/main" id="{805359E2-BE54-4D3A-8CA4-5C15B0BA82C0}"/>
              </a:ext>
            </a:extLst>
          </p:cNvPr>
          <p:cNvSpPr>
            <a:spLocks xmlns:a="http://schemas.openxmlformats.org/drawingml/2006/main" noGrp="1"/>
          </p:cNvSpPr>
          <p:nvPr/>
        </p:nvSpPr>
        <p:spPr>
          <a:xfrm xmlns:a="http://schemas.openxmlformats.org/drawingml/2006/main">
            <a:off x="3200400" y="4986338"/>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4" name="GP outlier 5">
            <a:extLst xmlns:a="http://schemas.openxmlformats.org/drawingml/2006/main">
              <a:ext uri="{FF2B5EF4-FFF2-40B4-BE49-F238E27FC236}">
                <a16:creationId xmlns:a16="http://schemas.microsoft.com/office/drawing/2014/main" id="{31B8A4A7-DA3F-4B35-96EB-191FBB95AE59}"/>
              </a:ext>
            </a:extLst>
          </p:cNvPr>
          <p:cNvSpPr>
            <a:spLocks xmlns:a="http://schemas.openxmlformats.org/drawingml/2006/main" noGrp="1"/>
          </p:cNvSpPr>
          <p:nvPr/>
        </p:nvSpPr>
        <p:spPr>
          <a:xfrm xmlns:a="http://schemas.openxmlformats.org/drawingml/2006/main">
            <a:off x="3200400" y="4319588"/>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5" name="GP outlier 19">
            <a:extLst xmlns:a="http://schemas.openxmlformats.org/drawingml/2006/main">
              <a:ext uri="{FF2B5EF4-FFF2-40B4-BE49-F238E27FC236}">
                <a16:creationId xmlns:a16="http://schemas.microsoft.com/office/drawing/2014/main" id="{8CCA82E9-2097-4A72-9395-B2D9B7278B80}"/>
              </a:ext>
            </a:extLst>
          </p:cNvPr>
          <p:cNvSpPr>
            <a:spLocks xmlns:a="http://schemas.openxmlformats.org/drawingml/2006/main" noGrp="1"/>
          </p:cNvSpPr>
          <p:nvPr/>
        </p:nvSpPr>
        <p:spPr>
          <a:xfrm xmlns:a="http://schemas.openxmlformats.org/drawingml/2006/main">
            <a:off x="3200400" y="1985963"/>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26" name="GP&#10;n = 423">
            <a:extLst xmlns:a="http://schemas.openxmlformats.org/drawingml/2006/main">
              <a:ext uri="{FF2B5EF4-FFF2-40B4-BE49-F238E27FC236}">
                <a16:creationId xmlns:a16="http://schemas.microsoft.com/office/drawing/2014/main" id="{239FD609-A3D8-4873-81CF-EE45DCD4B100}"/>
              </a:ext>
            </a:extLst>
          </p:cNvPr>
          <p:cNvSpPr>
            <a:spLocks xmlns:a="http://schemas.openxmlformats.org/drawingml/2006/main" noGrp="1"/>
          </p:cNvSpPr>
          <p:nvPr/>
        </p:nvSpPr>
        <p:spPr>
          <a:xfrm xmlns:a="http://schemas.openxmlformats.org/drawingml/2006/main">
            <a:off x="2286000" y="54292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GP</a:t>
            </a:r>
          </a:p>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n = 423</a:t>
            </a:r>
          </a:p>
        </p:txBody>
      </p:sp>
      <p:sp>
        <p:nvSpPr>
          <p:cNvPr id="27" name="Thin monochrome rule">
            <a:extLst xmlns:a="http://schemas.openxmlformats.org/drawingml/2006/main">
              <a:ext uri="{FF2B5EF4-FFF2-40B4-BE49-F238E27FC236}">
                <a16:creationId xmlns:a16="http://schemas.microsoft.com/office/drawing/2014/main" id="{BE0B68D1-5AC8-492F-9F33-68F7FB248A76}"/>
              </a:ext>
            </a:extLst>
          </p:cNvPr>
          <p:cNvSpPr>
            <a:spLocks xmlns:a="http://schemas.openxmlformats.org/drawingml/2006/main" noGrp="1"/>
          </p:cNvSpPr>
          <p:nvPr/>
        </p:nvSpPr>
        <p:spPr>
          <a:xfrm xmlns:a="http://schemas.openxmlformats.org/drawingml/2006/main">
            <a:off x="6096000" y="2024063"/>
            <a:ext cx="14288" cy="2166938"/>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8" name="Thin monochrome rule">
            <a:extLst xmlns:a="http://schemas.openxmlformats.org/drawingml/2006/main">
              <a:ext uri="{FF2B5EF4-FFF2-40B4-BE49-F238E27FC236}">
                <a16:creationId xmlns:a16="http://schemas.microsoft.com/office/drawing/2014/main" id="{D2DE8EF9-95A5-40D4-9B10-43B5E6830EA3}"/>
              </a:ext>
            </a:extLst>
          </p:cNvPr>
          <p:cNvSpPr>
            <a:spLocks xmlns:a="http://schemas.openxmlformats.org/drawingml/2006/main" noGrp="1"/>
          </p:cNvSpPr>
          <p:nvPr/>
        </p:nvSpPr>
        <p:spPr>
          <a:xfrm xmlns:a="http://schemas.openxmlformats.org/drawingml/2006/main">
            <a:off x="5762625" y="2024063"/>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9" name="Thin monochrome rule">
            <a:extLst xmlns:a="http://schemas.openxmlformats.org/drawingml/2006/main">
              <a:ext uri="{FF2B5EF4-FFF2-40B4-BE49-F238E27FC236}">
                <a16:creationId xmlns:a16="http://schemas.microsoft.com/office/drawing/2014/main" id="{4AB7B8A2-3C83-48ED-9C00-F800E684B543}"/>
              </a:ext>
            </a:extLst>
          </p:cNvPr>
          <p:cNvSpPr>
            <a:spLocks xmlns:a="http://schemas.openxmlformats.org/drawingml/2006/main" noGrp="1"/>
          </p:cNvSpPr>
          <p:nvPr/>
        </p:nvSpPr>
        <p:spPr>
          <a:xfrm xmlns:a="http://schemas.openxmlformats.org/drawingml/2006/main">
            <a:off x="5762625" y="4191000"/>
            <a:ext cx="66675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0" name="MS Q1–Q3, exported Seaborn statistics">
            <a:extLst xmlns:a="http://schemas.openxmlformats.org/drawingml/2006/main">
              <a:ext uri="{FF2B5EF4-FFF2-40B4-BE49-F238E27FC236}">
                <a16:creationId xmlns:a16="http://schemas.microsoft.com/office/drawing/2014/main" id="{3A353547-AA1B-4376-9708-2DB7C4E85690}"/>
              </a:ext>
            </a:extLst>
          </p:cNvPr>
          <p:cNvSpPr>
            <a:spLocks xmlns:a="http://schemas.openxmlformats.org/drawingml/2006/main" noGrp="1"/>
          </p:cNvSpPr>
          <p:nvPr/>
        </p:nvSpPr>
        <p:spPr>
          <a:xfrm xmlns:a="http://schemas.openxmlformats.org/drawingml/2006/main">
            <a:off x="5476875" y="3024188"/>
            <a:ext cx="1238250" cy="666750"/>
          </a:xfrm>
          <a:prstGeom xmlns:a="http://schemas.openxmlformats.org/drawingml/2006/main" prst="rect">
            <a:avLst/>
          </a:prstGeom>
          <a:solidFill xmlns:a="http://schemas.openxmlformats.org/drawingml/2006/main">
            <a:srgbClr val="CCCCCC"/>
          </a:solidFill>
          <a:ln xmlns:a="http://schemas.openxmlformats.org/drawingml/2006/main" w="9525">
            <a:solidFill>
              <a:srgbClr val="000000"/>
            </a:solidFill>
            <a:prstDash val="solid"/>
          </a:ln>
        </p:spPr>
      </p:sp>
      <p:sp>
        <p:nvSpPr>
          <p:cNvPr id="31" name="Thin monochrome rule">
            <a:extLst xmlns:a="http://schemas.openxmlformats.org/drawingml/2006/main">
              <a:ext uri="{FF2B5EF4-FFF2-40B4-BE49-F238E27FC236}">
                <a16:creationId xmlns:a16="http://schemas.microsoft.com/office/drawing/2014/main" id="{A179939A-5571-43B3-A092-00702EF8205C}"/>
              </a:ext>
            </a:extLst>
          </p:cNvPr>
          <p:cNvSpPr>
            <a:spLocks xmlns:a="http://schemas.openxmlformats.org/drawingml/2006/main" noGrp="1"/>
          </p:cNvSpPr>
          <p:nvPr/>
        </p:nvSpPr>
        <p:spPr>
          <a:xfrm xmlns:a="http://schemas.openxmlformats.org/drawingml/2006/main">
            <a:off x="5476875" y="3357563"/>
            <a:ext cx="1238250" cy="2381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2" name="MS outlier 0">
            <a:extLst xmlns:a="http://schemas.openxmlformats.org/drawingml/2006/main">
              <a:ext uri="{FF2B5EF4-FFF2-40B4-BE49-F238E27FC236}">
                <a16:creationId xmlns:a16="http://schemas.microsoft.com/office/drawing/2014/main" id="{2BF5E7A5-13C7-4F28-B9E8-BF363811240D}"/>
              </a:ext>
            </a:extLst>
          </p:cNvPr>
          <p:cNvSpPr>
            <a:spLocks xmlns:a="http://schemas.openxmlformats.org/drawingml/2006/main" noGrp="1"/>
          </p:cNvSpPr>
          <p:nvPr/>
        </p:nvSpPr>
        <p:spPr>
          <a:xfrm xmlns:a="http://schemas.openxmlformats.org/drawingml/2006/main">
            <a:off x="6057900" y="51530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00000"/>
            </a:solidFill>
            <a:prstDash val="solid"/>
          </a:ln>
        </p:spPr>
      </p:sp>
      <p:sp>
        <p:nvSpPr>
          <p:cNvPr id="33" name="MS&#10;n = 226">
            <a:extLst xmlns:a="http://schemas.openxmlformats.org/drawingml/2006/main">
              <a:ext uri="{FF2B5EF4-FFF2-40B4-BE49-F238E27FC236}">
                <a16:creationId xmlns:a16="http://schemas.microsoft.com/office/drawing/2014/main" id="{3C9CFF8F-1F5B-4D93-8BC4-A478AD021447}"/>
              </a:ext>
            </a:extLst>
          </p:cNvPr>
          <p:cNvSpPr>
            <a:spLocks xmlns:a="http://schemas.openxmlformats.org/drawingml/2006/main" noGrp="1"/>
          </p:cNvSpPr>
          <p:nvPr/>
        </p:nvSpPr>
        <p:spPr>
          <a:xfrm xmlns:a="http://schemas.openxmlformats.org/drawingml/2006/main">
            <a:off x="5143500" y="54292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00" b="0">
                <a:solidFill>
                  <a:srgbClr val="000000"/>
                </a:solidFill>
                <a:latin typeface="Arial"/>
                <a:ea typeface="Arial"/>
                <a:cs typeface="Arial"/>
              </a:defRPr>
            </a:defPPr>
          </a:lstStyle>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MS</a:t>
            </a:r>
          </a:p>
          <a:p xmlns:a="http://schemas.openxmlformats.org/drawingml/2006/main">
            <a:pPr algn="ctr">
              <a:defRPr sz="2000" b="0">
                <a:solidFill>
                  <a:srgbClr val="000000"/>
                </a:solidFill>
                <a:latin typeface="Arial"/>
                <a:ea typeface="Arial"/>
                <a:cs typeface="Arial"/>
              </a:defRPr>
            </a:pPr>
            <a:r>
              <a:rPr sz="2000" b="0">
                <a:solidFill>
                  <a:srgbClr val="000000"/>
                </a:solidFill>
                <a:latin typeface="Arial"/>
                <a:ea typeface="Arial"/>
                <a:cs typeface="Arial"/>
              </a:rPr>
              <a:t>n = 226</a:t>
            </a:r>
          </a:p>
        </p:txBody>
      </p:sp>
      <p:sp>
        <p:nvSpPr>
          <p:cNvPr id="34" name="Medians: 13 / 11">
            <a:extLst xmlns:a="http://schemas.openxmlformats.org/drawingml/2006/main">
              <a:ext uri="{FF2B5EF4-FFF2-40B4-BE49-F238E27FC236}">
                <a16:creationId xmlns:a16="http://schemas.microsoft.com/office/drawing/2014/main" id="{5FC251CC-F568-4033-BD9A-EEE6CE5A706A}"/>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Medians: 13 / 11</a:t>
            </a:r>
          </a:p>
        </p:txBody>
      </p:sp>
      <p:sp>
        <p:nvSpPr>
          <p:cNvPr id="35" name="GP has a higher observed centre.&#10;&#10;MS has greater disper">
            <a:extLst xmlns:a="http://schemas.openxmlformats.org/drawingml/2006/main">
              <a:ext uri="{FF2B5EF4-FFF2-40B4-BE49-F238E27FC236}">
                <a16:creationId xmlns:a16="http://schemas.microsoft.com/office/drawing/2014/main" id="{C2F1C9DF-147B-4BE5-98EE-7DC08C464815}"/>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GP has a higher observed centre.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MS has greater dispersion.</a:t>
            </a:r>
          </a:p>
        </p:txBody>
      </p:sp>
      <p:sp>
        <p:nvSpPr>
          <p:cNvPr id="36" name="Descriptive group differences do not identify a causal ">
            <a:extLst xmlns:a="http://schemas.openxmlformats.org/drawingml/2006/main">
              <a:ext uri="{FF2B5EF4-FFF2-40B4-BE49-F238E27FC236}">
                <a16:creationId xmlns:a16="http://schemas.microsoft.com/office/drawing/2014/main" id="{09374621-0FA0-4951-AA1E-6DE4DC1C332A}"/>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Descriptive group differences do not identify a causal school effect.</a:t>
            </a:r>
          </a:p>
        </p:txBody>
      </p:sp>
    </p:spTree>
    <p:extLst>
      <p:ext uri="{BB962C8B-B14F-4D97-AF65-F5344CB8AC3E}">
        <p14:creationId xmlns:p14="http://schemas.microsoft.com/office/powerpoint/2010/main" val="9205073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5F1F9A5-C344-435B-9B39-62586964B003}"/>
              </a:ext>
            </a:extLst>
          </p:cNvPr>
          <p:cNvPicPr>
            <a:picLocks xmlns:a="http://schemas.openxmlformats.org/drawingml/2006/main" noChangeAspect="1"/>
          </p:cNvPicPr>
          <p:nvPr/>
        </p:nvPicPr>
        <p:blipFill>
          <a:blip xmlns:r="http://schemas.openxmlformats.org/officeDocument/2006/relationships" xmlns:a="http://schemas.openxmlformats.org/drawingml/2006/main" r:embed="R463e58f8d89f4501"/>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B8A702A-4F27-4795-BEAF-53FF7A3AE0B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Final grade by study-time category</a:t>
            </a:r>
          </a:p>
        </p:txBody>
      </p:sp>
      <p:sp>
        <p:nvSpPr>
          <p:cNvPr id="3" name="Thin monochrome rule">
            <a:extLst xmlns:a="http://schemas.openxmlformats.org/drawingml/2006/main">
              <a:ext uri="{FF2B5EF4-FFF2-40B4-BE49-F238E27FC236}">
                <a16:creationId xmlns:a16="http://schemas.microsoft.com/office/drawing/2014/main" id="{52274FDC-64A4-4CE1-B44E-0B34ED8C8F4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BC93404C-5B29-43AD-859B-85F20797708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B4E85872-BC28-4B94-A231-0C387B7F6E6A}"/>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5ffcf12c03d54aae"/>
          </a:graphicData>
        </a:graphic>
      </p:graphicFrame>
      <p:sp>
        <p:nvSpPr>
          <p:cNvPr id="6" name="Unequal groups">
            <a:extLst xmlns:a="http://schemas.openxmlformats.org/drawingml/2006/main">
              <a:ext uri="{FF2B5EF4-FFF2-40B4-BE49-F238E27FC236}">
                <a16:creationId xmlns:a16="http://schemas.microsoft.com/office/drawing/2014/main" id="{38AAAB55-D193-46FF-BF6F-6EBF90938AB2}"/>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Unequal groups</a:t>
            </a:r>
          </a:p>
        </p:txBody>
      </p:sp>
      <p:sp>
        <p:nvSpPr>
          <p:cNvPr id="7" name="Category codes represent intervals.&#10;&#10;Counts accompany m">
            <a:extLst xmlns:a="http://schemas.openxmlformats.org/drawingml/2006/main">
              <a:ext uri="{FF2B5EF4-FFF2-40B4-BE49-F238E27FC236}">
                <a16:creationId xmlns:a16="http://schemas.microsoft.com/office/drawing/2014/main" id="{9F335AA8-716D-4448-B66F-64FE4128C15F}"/>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Category codes represent intervals.</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Counts accompany means.</a:t>
            </a:r>
          </a:p>
        </p:txBody>
      </p:sp>
      <p:sp>
        <p:nvSpPr>
          <p:cNvPr id="8" name="The positive association remains observational and pote">
            <a:extLst xmlns:a="http://schemas.openxmlformats.org/drawingml/2006/main">
              <a:ext uri="{FF2B5EF4-FFF2-40B4-BE49-F238E27FC236}">
                <a16:creationId xmlns:a16="http://schemas.microsoft.com/office/drawing/2014/main" id="{4F36CDC5-EBF1-40C2-B6B9-444F2F5F330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positive association remains observational and potentially confounded.</a:t>
            </a:r>
          </a:p>
        </p:txBody>
      </p:sp>
    </p:spTree>
    <p:extLst>
      <p:ext uri="{BB962C8B-B14F-4D97-AF65-F5344CB8AC3E}">
        <p14:creationId xmlns:p14="http://schemas.microsoft.com/office/powerpoint/2010/main" val="20396999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01836D2-F613-45E9-983F-61B4E87AD6EC}"/>
              </a:ext>
            </a:extLst>
          </p:cNvPr>
          <p:cNvPicPr>
            <a:picLocks xmlns:a="http://schemas.openxmlformats.org/drawingml/2006/main" noChangeAspect="1"/>
          </p:cNvPicPr>
          <p:nvPr/>
        </p:nvPicPr>
        <p:blipFill>
          <a:blip xmlns:r="http://schemas.openxmlformats.org/officeDocument/2006/relationships" xmlns:a="http://schemas.openxmlformats.org/drawingml/2006/main" r:embed="Rd8d58cc79dde400a"/>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3B01E46-75E5-4D32-9777-710F267D824B}"/>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Performance-band proportions</a:t>
            </a:r>
          </a:p>
        </p:txBody>
      </p:sp>
      <p:sp>
        <p:nvSpPr>
          <p:cNvPr id="3" name="Thin monochrome rule">
            <a:extLst xmlns:a="http://schemas.openxmlformats.org/drawingml/2006/main">
              <a:ext uri="{FF2B5EF4-FFF2-40B4-BE49-F238E27FC236}">
                <a16:creationId xmlns:a16="http://schemas.microsoft.com/office/drawing/2014/main" id="{82FBDAA1-98F3-4D8A-8294-1B8B83CC83C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412DE0E1-6169-43DF-83E8-80690BE8999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graphicFrame>
        <p:nvGraphicFramePr>
          <p:cNvPr id="5" name="Chart">
            <a:extLst xmlns:a="http://schemas.openxmlformats.org/drawingml/2006/main">
              <a:ext uri="{FF2B5EF4-FFF2-40B4-BE49-F238E27FC236}">
                <a16:creationId xmlns:a16="http://schemas.microsoft.com/office/drawing/2014/main" id="{417A7118-103C-4DF9-B9B7-84B87938726B}"/>
              </a:ext>
            </a:extLst>
          </p:cNvPr>
          <p:cNvGraphicFramePr/>
          <p:nvPr/>
        </p:nvGraphicFramePr>
        <p:xfrm>
          <a:off xmlns:a="http://schemas.openxmlformats.org/drawingml/2006/main" x="762000" y="1666875"/>
          <a:ext xmlns:a="http://schemas.openxmlformats.org/drawingml/2006/main" cx="7524750" cy="4286250"/>
        </p:xfrm>
        <a:graphic xmlns:a="http://schemas.openxmlformats.org/drawingml/2006/main">
          <a:graphicData uri="http://schemas.openxmlformats.org/drawingml/2006/chart">
            <c:chart xmlns:r="http://schemas.openxmlformats.org/officeDocument/2006/relationships" xmlns:c="http://schemas.openxmlformats.org/drawingml/2006/chart" r:id="R705e2d7ebf3f4741"/>
          </a:graphicData>
        </a:graphic>
      </p:graphicFrame>
      <p:sp>
        <p:nvSpPr>
          <p:cNvPr id="6" name="Largest band: 10–14">
            <a:extLst xmlns:a="http://schemas.openxmlformats.org/drawingml/2006/main">
              <a:ext uri="{FF2B5EF4-FFF2-40B4-BE49-F238E27FC236}">
                <a16:creationId xmlns:a16="http://schemas.microsoft.com/office/drawing/2014/main" id="{7AADEFCE-9B7F-4BD2-BB15-4184801BCB23}"/>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Largest band: 10–14</a:t>
            </a:r>
          </a:p>
        </p:txBody>
      </p:sp>
      <p:sp>
        <p:nvSpPr>
          <p:cNvPr id="7" name="0–9: 100&#10;15.41%&#10;&#10;10–14: 418&#10;64.41%&#10;&#10;15–20: 131&#10;20.18%">
            <a:extLst xmlns:a="http://schemas.openxmlformats.org/drawingml/2006/main">
              <a:ext uri="{FF2B5EF4-FFF2-40B4-BE49-F238E27FC236}">
                <a16:creationId xmlns:a16="http://schemas.microsoft.com/office/drawing/2014/main" id="{4DD87663-5A22-43F2-B343-55A7DB4D55F1}"/>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0–9: 100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10–14: 418</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64.41%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15–20: 131</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20.18%</a:t>
            </a:r>
          </a:p>
        </p:txBody>
      </p:sp>
      <p:sp>
        <p:nvSpPr>
          <p:cNvPr id="8" name="The bands are analyst-defined descriptions, not an offi">
            <a:extLst xmlns:a="http://schemas.openxmlformats.org/drawingml/2006/main">
              <a:ext uri="{FF2B5EF4-FFF2-40B4-BE49-F238E27FC236}">
                <a16:creationId xmlns:a16="http://schemas.microsoft.com/office/drawing/2014/main" id="{BA582CCF-6D5F-46DB-88A2-5A6BA51CDFA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bands are analyst-defined descriptions, not an official grading classification.</a:t>
            </a:r>
          </a:p>
        </p:txBody>
      </p:sp>
    </p:spTree>
    <p:extLst>
      <p:ext uri="{BB962C8B-B14F-4D97-AF65-F5344CB8AC3E}">
        <p14:creationId xmlns:p14="http://schemas.microsoft.com/office/powerpoint/2010/main" val="7482357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5ECB64C-408A-429A-AC84-6E2C615774EC}"/>
              </a:ext>
            </a:extLst>
          </p:cNvPr>
          <p:cNvPicPr>
            <a:picLocks xmlns:a="http://schemas.openxmlformats.org/drawingml/2006/main" noChangeAspect="1"/>
          </p:cNvPicPr>
          <p:nvPr/>
        </p:nvPicPr>
        <p:blipFill>
          <a:blip xmlns:r="http://schemas.openxmlformats.org/officeDocument/2006/relationships" xmlns:a="http://schemas.openxmlformats.org/drawingml/2006/main" r:embed="R3428771c56254fa2"/>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E9E6928-0B77-4BB3-82A8-BCB1529261C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Earlier and final grades</a:t>
            </a:r>
          </a:p>
        </p:txBody>
      </p:sp>
      <p:sp>
        <p:nvSpPr>
          <p:cNvPr id="3" name="Thin monochrome rule">
            <a:extLst xmlns:a="http://schemas.openxmlformats.org/drawingml/2006/main">
              <a:ext uri="{FF2B5EF4-FFF2-40B4-BE49-F238E27FC236}">
                <a16:creationId xmlns:a16="http://schemas.microsoft.com/office/drawing/2014/main" id="{A563987F-6C99-4FFF-93A2-A46FE437B21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9FCF73B6-11F9-47BF-A7D7-5736A58951C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graphicFrame>
        <p:nvGraphicFramePr>
          <p:cNvPr id="5" name="Chart">
            <a:extLst xmlns:a="http://schemas.openxmlformats.org/drawingml/2006/main">
              <a:ext uri="{FF2B5EF4-FFF2-40B4-BE49-F238E27FC236}">
                <a16:creationId xmlns:a16="http://schemas.microsoft.com/office/drawing/2014/main" id="{84C26A65-80EF-40E1-B2FF-42FD984CABD1}"/>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e36fb859a0ca4d6e"/>
          </a:graphicData>
        </a:graphic>
      </p:graphicFrame>
      <p:sp>
        <p:nvSpPr>
          <p:cNvPr id="6" name="ρ = 0.9445">
            <a:extLst xmlns:a="http://schemas.openxmlformats.org/drawingml/2006/main">
              <a:ext uri="{FF2B5EF4-FFF2-40B4-BE49-F238E27FC236}">
                <a16:creationId xmlns:a16="http://schemas.microsoft.com/office/drawing/2014/main" id="{62FC318B-2034-4A9B-BEED-98AC07EBF455}"/>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0.9445</a:t>
            </a:r>
          </a:p>
        </p:txBody>
      </p:sp>
      <p:sp>
        <p:nvSpPr>
          <p:cNvPr id="7" name="Pearson r = 0.9185&#10;&#10;Related assessments at different pe">
            <a:extLst xmlns:a="http://schemas.openxmlformats.org/drawingml/2006/main">
              <a:ext uri="{FF2B5EF4-FFF2-40B4-BE49-F238E27FC236}">
                <a16:creationId xmlns:a16="http://schemas.microsoft.com/office/drawing/2014/main" id="{B95A0C9F-EE04-4989-82FD-15FC1312819C}"/>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Pearson r = 0.9185</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Related assessments at different periods</a:t>
            </a:r>
          </a:p>
        </p:txBody>
      </p:sp>
      <p:sp>
        <p:nvSpPr>
          <p:cNvPr id="8" name="The fitted line describes the observations; it is not a">
            <a:extLst xmlns:a="http://schemas.openxmlformats.org/drawingml/2006/main">
              <a:ext uri="{FF2B5EF4-FFF2-40B4-BE49-F238E27FC236}">
                <a16:creationId xmlns:a16="http://schemas.microsoft.com/office/drawing/2014/main" id="{0EC870A1-EF21-4B0D-912A-74751F47384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fitted line describes the observations; it is not a validated forecasting model.</a:t>
            </a:r>
          </a:p>
        </p:txBody>
      </p:sp>
    </p:spTree>
    <p:extLst>
      <p:ext uri="{BB962C8B-B14F-4D97-AF65-F5344CB8AC3E}">
        <p14:creationId xmlns:p14="http://schemas.microsoft.com/office/powerpoint/2010/main" val="26029936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6B1A92D-91A8-4EE9-AD85-D431C58B3708}"/>
              </a:ext>
            </a:extLst>
          </p:cNvPr>
          <p:cNvPicPr>
            <a:picLocks xmlns:a="http://schemas.openxmlformats.org/drawingml/2006/main" noChangeAspect="1"/>
          </p:cNvPicPr>
          <p:nvPr/>
        </p:nvPicPr>
        <p:blipFill>
          <a:blip xmlns:r="http://schemas.openxmlformats.org/officeDocument/2006/relationships" xmlns:a="http://schemas.openxmlformats.org/drawingml/2006/main" r:embed="Rc24567dbea8b47a0"/>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2D48AD45-8C1E-4050-9914-31C8B8B61F2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Matplotlib core from Python structures</a:t>
            </a:r>
          </a:p>
        </p:txBody>
      </p:sp>
      <p:sp>
        <p:nvSpPr>
          <p:cNvPr id="3" name="Thin monochrome rule">
            <a:extLst xmlns:a="http://schemas.openxmlformats.org/drawingml/2006/main">
              <a:ext uri="{FF2B5EF4-FFF2-40B4-BE49-F238E27FC236}">
                <a16:creationId xmlns:a16="http://schemas.microsoft.com/office/drawing/2014/main" id="{8C4C8065-FCF6-4954-AF62-8671C18F8AB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EDEF023B-D3C9-4F06-88F1-BB8D9DE4D1E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graphicFrame>
        <p:nvGraphicFramePr>
          <p:cNvPr id="5" name="Chart">
            <a:extLst xmlns:a="http://schemas.openxmlformats.org/drawingml/2006/main">
              <a:ext uri="{FF2B5EF4-FFF2-40B4-BE49-F238E27FC236}">
                <a16:creationId xmlns:a16="http://schemas.microsoft.com/office/drawing/2014/main" id="{1FFF9737-D6AE-44A4-BCD4-3345BAEE3F4E}"/>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42bef7b5437e4d97"/>
          </a:graphicData>
        </a:graphic>
      </p:graphicFrame>
      <p:sp>
        <p:nvSpPr>
          <p:cNvPr id="6" name="List + dictionary">
            <a:extLst xmlns:a="http://schemas.openxmlformats.org/drawingml/2006/main">
              <a:ext uri="{FF2B5EF4-FFF2-40B4-BE49-F238E27FC236}">
                <a16:creationId xmlns:a16="http://schemas.microsoft.com/office/drawing/2014/main" id="{4084F9C0-CCEF-4A70-9BF8-264C66697A7F}"/>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List + dictionary</a:t>
            </a:r>
          </a:p>
        </p:txBody>
      </p:sp>
      <p:sp>
        <p:nvSpPr>
          <p:cNvPr id="7" name="Only Matplotlib plots the notebook demonstration.&#10;&#10;Five">
            <a:extLst xmlns:a="http://schemas.openxmlformats.org/drawingml/2006/main">
              <a:ext uri="{FF2B5EF4-FFF2-40B4-BE49-F238E27FC236}">
                <a16:creationId xmlns:a16="http://schemas.microsoft.com/office/drawing/2014/main" id="{2FA51997-C6AD-439B-8187-172B9B109AC6}"/>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Only Matplotlib plots the notebook demonstration.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Five records illustrate mechanics.</a:t>
            </a:r>
          </a:p>
        </p:txBody>
      </p:sp>
      <p:sp>
        <p:nvSpPr>
          <p:cNvPr id="8" name="This small example is not a random sample or a populati">
            <a:extLst xmlns:a="http://schemas.openxmlformats.org/drawingml/2006/main">
              <a:ext uri="{FF2B5EF4-FFF2-40B4-BE49-F238E27FC236}">
                <a16:creationId xmlns:a16="http://schemas.microsoft.com/office/drawing/2014/main" id="{FD3DE2E8-ECCA-4542-9556-D66CE908494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small example is not a random sample or a population trend.</a:t>
            </a:r>
          </a:p>
        </p:txBody>
      </p:sp>
    </p:spTree>
    <p:extLst>
      <p:ext uri="{BB962C8B-B14F-4D97-AF65-F5344CB8AC3E}">
        <p14:creationId xmlns:p14="http://schemas.microsoft.com/office/powerpoint/2010/main" val="15962218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BF9A919-5D7B-4732-82D4-668FD1FD233A}"/>
              </a:ext>
            </a:extLst>
          </p:cNvPr>
          <p:cNvPicPr>
            <a:picLocks xmlns:a="http://schemas.openxmlformats.org/drawingml/2006/main" noChangeAspect="1"/>
          </p:cNvPicPr>
          <p:nvPr/>
        </p:nvPicPr>
        <p:blipFill>
          <a:blip xmlns:r="http://schemas.openxmlformats.org/officeDocument/2006/relationships" xmlns:a="http://schemas.openxmlformats.org/drawingml/2006/main" r:embed="Re8c84c13bcaf4470"/>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C9F62B8-08E1-4AF1-B333-7CF06FEE9C6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Comprehensive report and extreme records</a:t>
            </a:r>
          </a:p>
        </p:txBody>
      </p:sp>
      <p:sp>
        <p:nvSpPr>
          <p:cNvPr id="3" name="Thin monochrome rule">
            <a:extLst xmlns:a="http://schemas.openxmlformats.org/drawingml/2006/main">
              <a:ext uri="{FF2B5EF4-FFF2-40B4-BE49-F238E27FC236}">
                <a16:creationId xmlns:a16="http://schemas.microsoft.com/office/drawing/2014/main" id="{59BE070A-1D37-497D-88DB-0E4644F8778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DECA60FF-1245-4211-A4CD-6A53864E25D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EA109FCE-1294-4336-BB06-BCAA727C22A8}"/>
              </a:ext>
            </a:extLst>
          </p:cNvPr>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firstRow="0" bandRow="0"/>
              <a:tblGrid>
                <a:gridCol w="4485033"/>
                <a:gridCol w="2360543"/>
                <a:gridCol w="4012924"/>
              </a:tblGrid>
              <a:tr h="523875">
                <a:tc>
                  <a:txBody>
                    <a:bodyPr wrap="square" lIns="85725" tIns="85725" rIns="85725" bIns="85725">
                      <a:noAutofit/>
                    </a:bodyPr>
                    <a:lstStyle/>
                    <a:p>
                      <a:pPr algn="l"/>
                      <a:r>
                        <a:rPr sz="2100" b="1">
                          <a:solidFill>
                            <a:srgbClr val="000000"/>
                          </a:solidFill>
                          <a:latin typeface="Arial"/>
                          <a:ea typeface="Arial"/>
                          <a:cs typeface="Arial"/>
                        </a:rPr>
                        <a:t>Summary item</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Count</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Share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records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Analysis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33 original + 4 derived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0–9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15.41%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10–14</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64.41%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23875">
                <a:tc>
                  <a:txBody>
                    <a:bodyPr wrap="square" lIns="85725" tIns="85725" rIns="85725" bIns="85725">
                      <a:noAutofit/>
                    </a:bodyPr>
                    <a:lstStyle/>
                    <a:p>
                      <a:pPr algn="l"/>
                      <a:r>
                        <a:rPr sz="2100" b="0">
                          <a:solidFill>
                            <a:srgbClr val="000000"/>
                          </a:solidFill>
                          <a:latin typeface="Arial"/>
                          <a:ea typeface="Arial"/>
                          <a:cs typeface="Arial"/>
                        </a:rPr>
                        <a:t>G3 band 15–20</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131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20.18%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op/bottom: exactly ten rows; original source order res">
            <a:extLst xmlns:a="http://schemas.openxmlformats.org/drawingml/2006/main">
              <a:ext uri="{FF2B5EF4-FFF2-40B4-BE49-F238E27FC236}">
                <a16:creationId xmlns:a16="http://schemas.microsoft.com/office/drawing/2014/main" id="{CE29084A-54FD-4EBF-A12F-C2C08D20F314}"/>
              </a:ext>
            </a:extLst>
          </p:cNvPr>
          <p:cNvSpPr>
            <a:spLocks xmlns:a="http://schemas.openxmlformats.org/drawingml/2006/main" noGrp="1"/>
          </p:cNvSpPr>
          <p:nvPr/>
        </p:nvSpPr>
        <p:spPr>
          <a:xfrm xmlns:a="http://schemas.openxmlformats.org/drawingml/2006/main">
            <a:off x="762000" y="528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Top/bottom: exactly ten rows; original source order resolves ties.</a:t>
            </a:r>
          </a:p>
        </p:txBody>
      </p:sp>
      <p:sp>
        <p:nvSpPr>
          <p:cNvPr id="7" name="Complete rows and all columns are preserved in the note">
            <a:extLst xmlns:a="http://schemas.openxmlformats.org/drawingml/2006/main">
              <a:ext uri="{FF2B5EF4-FFF2-40B4-BE49-F238E27FC236}">
                <a16:creationId xmlns:a16="http://schemas.microsoft.com/office/drawing/2014/main" id="{B8FD3018-768A-4257-B793-3512E55E5E8D}"/>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Complete rows and all columns are preserved in the notebook and CSV exports.</a:t>
            </a:r>
          </a:p>
        </p:txBody>
      </p:sp>
    </p:spTree>
    <p:extLst>
      <p:ext uri="{BB962C8B-B14F-4D97-AF65-F5344CB8AC3E}">
        <p14:creationId xmlns:p14="http://schemas.microsoft.com/office/powerpoint/2010/main" val="2255259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5A2DBA2-CA91-498D-B5DD-6808F09B5F25}"/>
              </a:ext>
            </a:extLst>
          </p:cNvPr>
          <p:cNvPicPr>
            <a:picLocks xmlns:a="http://schemas.openxmlformats.org/drawingml/2006/main" noChangeAspect="1"/>
          </p:cNvPicPr>
          <p:nvPr/>
        </p:nvPicPr>
        <p:blipFill>
          <a:blip xmlns:r="http://schemas.openxmlformats.org/officeDocument/2006/relationships" xmlns:a="http://schemas.openxmlformats.org/drawingml/2006/main" r:embed="Rf8d6554b33a04080"/>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1D66B94-667C-454C-B441-21A02006978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Code demonstration</a:t>
            </a:r>
          </a:p>
        </p:txBody>
      </p:sp>
      <p:sp>
        <p:nvSpPr>
          <p:cNvPr id="3" name="Thin monochrome rule">
            <a:extLst xmlns:a="http://schemas.openxmlformats.org/drawingml/2006/main">
              <a:ext uri="{FF2B5EF4-FFF2-40B4-BE49-F238E27FC236}">
                <a16:creationId xmlns:a16="http://schemas.microsoft.com/office/drawing/2014/main" id="{A52C6838-86FB-4D3C-AE48-7C99CE555CF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F18791D4-71B0-4211-9B00-F3C6C3EF867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01">
            <a:extLst xmlns:a="http://schemas.openxmlformats.org/drawingml/2006/main">
              <a:ext uri="{FF2B5EF4-FFF2-40B4-BE49-F238E27FC236}">
                <a16:creationId xmlns:a16="http://schemas.microsoft.com/office/drawing/2014/main" id="{9780E3B7-4E26-4EA1-A392-E1CCC00F9052}"/>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Show the same 32-cell mask and both treatment branches.">
            <a:extLst xmlns:a="http://schemas.openxmlformats.org/drawingml/2006/main">
              <a:ext uri="{FF2B5EF4-FFF2-40B4-BE49-F238E27FC236}">
                <a16:creationId xmlns:a16="http://schemas.microsoft.com/office/drawing/2014/main" id="{E8D55893-2D77-4B3E-B50A-022D5C989D61}"/>
              </a:ext>
            </a:extLst>
          </p:cNvPr>
          <p:cNvSpPr>
            <a:spLocks xmlns:a="http://schemas.openxmlformats.org/drawingml/2006/main" noGrp="1"/>
          </p:cNvSpPr>
          <p:nvPr/>
        </p:nvSpPr>
        <p:spPr>
          <a:xfrm xmlns:a="http://schemas.openxmlformats.org/drawingml/2006/main">
            <a:off x="1571625" y="17145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the same 32-cell mask and both treatment branches.</a:t>
            </a:r>
          </a:p>
        </p:txBody>
      </p:sp>
      <p:sp>
        <p:nvSpPr>
          <p:cNvPr id="7" name="02">
            <a:extLst xmlns:a="http://schemas.openxmlformats.org/drawingml/2006/main">
              <a:ext uri="{FF2B5EF4-FFF2-40B4-BE49-F238E27FC236}">
                <a16:creationId xmlns:a16="http://schemas.microsoft.com/office/drawing/2014/main" id="{C9D5EAD3-17A8-4D61-9A7C-2A587961067F}"/>
              </a:ext>
            </a:extLst>
          </p:cNvPr>
          <p:cNvSpPr>
            <a:spLocks xmlns:a="http://schemas.openxmlformats.org/drawingml/2006/main" noGrp="1"/>
          </p:cNvSpPr>
          <p:nvPr/>
        </p:nvSpPr>
        <p:spPr>
          <a:xfrm xmlns:a="http://schemas.openxmlformats.org/drawingml/2006/main">
            <a:off x="762000" y="27432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insert(), grouped statistics and transform().">
            <a:extLst xmlns:a="http://schemas.openxmlformats.org/drawingml/2006/main">
              <a:ext uri="{FF2B5EF4-FFF2-40B4-BE49-F238E27FC236}">
                <a16:creationId xmlns:a16="http://schemas.microsoft.com/office/drawing/2014/main" id="{F6D858AB-1FE6-43D4-9C93-7C335718FBEF}"/>
              </a:ext>
            </a:extLst>
          </p:cNvPr>
          <p:cNvSpPr>
            <a:spLocks xmlns:a="http://schemas.openxmlformats.org/drawingml/2006/main" noGrp="1"/>
          </p:cNvSpPr>
          <p:nvPr/>
        </p:nvSpPr>
        <p:spPr>
          <a:xfrm xmlns:a="http://schemas.openxmlformats.org/drawingml/2006/main">
            <a:off x="1571625" y="27432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insert(), grouped statistics and transform().</a:t>
            </a:r>
          </a:p>
        </p:txBody>
      </p:sp>
      <p:sp>
        <p:nvSpPr>
          <p:cNvPr id="9" name="03">
            <a:extLst xmlns:a="http://schemas.openxmlformats.org/drawingml/2006/main">
              <a:ext uri="{FF2B5EF4-FFF2-40B4-BE49-F238E27FC236}">
                <a16:creationId xmlns:a16="http://schemas.microsoft.com/office/drawing/2014/main" id="{9A20D390-CEEE-4039-91B0-6523AEED7937}"/>
              </a:ext>
            </a:extLst>
          </p:cNvPr>
          <p:cNvSpPr>
            <a:spLocks xmlns:a="http://schemas.openxmlformats.org/drawingml/2006/main" noGrp="1"/>
          </p:cNvSpPr>
          <p:nvPr/>
        </p:nvSpPr>
        <p:spPr>
          <a:xfrm xmlns:a="http://schemas.openxmlformats.org/drawingml/2006/main">
            <a:off x="762000" y="37719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Call comprehensive_report(df) and inspect complete top/">
            <a:extLst xmlns:a="http://schemas.openxmlformats.org/drawingml/2006/main">
              <a:ext uri="{FF2B5EF4-FFF2-40B4-BE49-F238E27FC236}">
                <a16:creationId xmlns:a16="http://schemas.microsoft.com/office/drawing/2014/main" id="{08C5CFC1-C160-42F9-A588-B72EDBC2D4DA}"/>
              </a:ext>
            </a:extLst>
          </p:cNvPr>
          <p:cNvSpPr>
            <a:spLocks xmlns:a="http://schemas.openxmlformats.org/drawingml/2006/main" noGrp="1"/>
          </p:cNvSpPr>
          <p:nvPr/>
        </p:nvSpPr>
        <p:spPr>
          <a:xfrm xmlns:a="http://schemas.openxmlformats.org/drawingml/2006/main">
            <a:off x="1571625" y="37719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Call comprehensive_report(df) and inspect complete top/bottom rows.</a:t>
            </a:r>
          </a:p>
        </p:txBody>
      </p:sp>
      <p:sp>
        <p:nvSpPr>
          <p:cNvPr id="11" name="04">
            <a:extLst xmlns:a="http://schemas.openxmlformats.org/drawingml/2006/main">
              <a:ext uri="{FF2B5EF4-FFF2-40B4-BE49-F238E27FC236}">
                <a16:creationId xmlns:a16="http://schemas.microsoft.com/office/drawing/2014/main" id="{5FF5A088-87B1-48BC-8310-E42CE84FB49F}"/>
              </a:ext>
            </a:extLst>
          </p:cNvPr>
          <p:cNvSpPr>
            <a:spLocks xmlns:a="http://schemas.openxmlformats.org/drawingml/2006/main" noGrp="1"/>
          </p:cNvSpPr>
          <p:nvPr/>
        </p:nvSpPr>
        <p:spPr>
          <a:xfrm xmlns:a="http://schemas.openxmlformats.org/drawingml/2006/main">
            <a:off x="762000" y="48006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Use the executed notebook if live execution fails.">
            <a:extLst xmlns:a="http://schemas.openxmlformats.org/drawingml/2006/main">
              <a:ext uri="{FF2B5EF4-FFF2-40B4-BE49-F238E27FC236}">
                <a16:creationId xmlns:a16="http://schemas.microsoft.com/office/drawing/2014/main" id="{115237DD-E0B3-461A-B1B9-0140AA864381}"/>
              </a:ext>
            </a:extLst>
          </p:cNvPr>
          <p:cNvSpPr>
            <a:spLocks xmlns:a="http://schemas.openxmlformats.org/drawingml/2006/main" noGrp="1"/>
          </p:cNvSpPr>
          <p:nvPr/>
        </p:nvSpPr>
        <p:spPr>
          <a:xfrm xmlns:a="http://schemas.openxmlformats.org/drawingml/2006/main">
            <a:off x="1571625" y="4800600"/>
            <a:ext cx="9858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Use the executed notebook if live execution fails.</a:t>
            </a:r>
          </a:p>
        </p:txBody>
      </p:sp>
    </p:spTree>
    <p:extLst>
      <p:ext uri="{BB962C8B-B14F-4D97-AF65-F5344CB8AC3E}">
        <p14:creationId xmlns:p14="http://schemas.microsoft.com/office/powerpoint/2010/main" val="74345138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AB91DFE-0F59-4BAE-A0D4-D9B41A7F1C4F}"/>
              </a:ext>
            </a:extLst>
          </p:cNvPr>
          <p:cNvPicPr>
            <a:picLocks xmlns:a="http://schemas.openxmlformats.org/drawingml/2006/main" noChangeAspect="1"/>
          </p:cNvPicPr>
          <p:nvPr/>
        </p:nvPicPr>
        <p:blipFill>
          <a:blip xmlns:r="http://schemas.openxmlformats.org/officeDocument/2006/relationships" xmlns:a="http://schemas.openxmlformats.org/drawingml/2006/main" r:embed="R7f2898008f95489b"/>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4CE0CC1-4418-4835-8A39-AA89EAB9AA3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4471B942-BC6E-495A-82E5-87C4C961801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0">
            <a:extLst xmlns:a="http://schemas.openxmlformats.org/drawingml/2006/main">
              <a:ext uri="{FF2B5EF4-FFF2-40B4-BE49-F238E27FC236}">
                <a16:creationId xmlns:a16="http://schemas.microsoft.com/office/drawing/2014/main" id="{02855310-961E-4347-941B-1198B21153D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20</a:t>
            </a:r>
          </a:p>
        </p:txBody>
      </p:sp>
      <p:sp>
        <p:nvSpPr>
          <p:cNvPr id="5" name="Observed findings">
            <a:extLst xmlns:a="http://schemas.openxmlformats.org/drawingml/2006/main">
              <a:ext uri="{FF2B5EF4-FFF2-40B4-BE49-F238E27FC236}">
                <a16:creationId xmlns:a16="http://schemas.microsoft.com/office/drawing/2014/main" id="{942B0008-EB9E-441F-ACE7-361B18D2F3F1}"/>
              </a:ext>
            </a:extLst>
          </p:cNvPr>
          <p:cNvSpPr>
            <a:spLocks xmlns:a="http://schemas.openxmlformats.org/drawingml/2006/main" noGrp="1"/>
          </p:cNvSpPr>
          <p:nvPr/>
        </p:nvSpPr>
        <p:spPr>
          <a:xfrm xmlns:a="http://schemas.openxmlformats.org/drawingml/2006/main">
            <a:off x="762000" y="1714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Observed findings</a:t>
            </a:r>
          </a:p>
        </p:txBody>
      </p:sp>
      <p:sp>
        <p:nvSpPr>
          <p:cNvPr id="6" name="Final grade mean: 11.91&#10;&#10;G2 association: ρ = 0.9445&#10;&#10;St">
            <a:extLst xmlns:a="http://schemas.openxmlformats.org/drawingml/2006/main">
              <a:ext uri="{FF2B5EF4-FFF2-40B4-BE49-F238E27FC236}">
                <a16:creationId xmlns:a16="http://schemas.microsoft.com/office/drawing/2014/main" id="{F8B6FDE3-2AD7-4381-A926-3203305FDAEC}"/>
              </a:ext>
            </a:extLst>
          </p:cNvPr>
          <p:cNvSpPr>
            <a:spLocks xmlns:a="http://schemas.openxmlformats.org/drawingml/2006/main" noGrp="1"/>
          </p:cNvSpPr>
          <p:nvPr/>
        </p:nvSpPr>
        <p:spPr>
          <a:xfrm xmlns:a="http://schemas.openxmlformats.org/drawingml/2006/main">
            <a:off x="762000" y="2428875"/>
            <a:ext cx="5048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Final grade mean: 11.91</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G2 association: ρ = 0.9445</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Strongest examined contextual rank association: failures</a:t>
            </a:r>
          </a:p>
        </p:txBody>
      </p:sp>
      <p:sp>
        <p:nvSpPr>
          <p:cNvPr id="7" name="Thin monochrome rule">
            <a:extLst xmlns:a="http://schemas.openxmlformats.org/drawingml/2006/main">
              <a:ext uri="{FF2B5EF4-FFF2-40B4-BE49-F238E27FC236}">
                <a16:creationId xmlns:a16="http://schemas.microsoft.com/office/drawing/2014/main" id="{C6F79C50-08EB-4761-9109-5CA68F4E99E6}"/>
              </a:ext>
            </a:extLst>
          </p:cNvPr>
          <p:cNvSpPr>
            <a:spLocks xmlns:a="http://schemas.openxmlformats.org/drawingml/2006/main" noGrp="1"/>
          </p:cNvSpPr>
          <p:nvPr/>
        </p:nvSpPr>
        <p:spPr>
          <a:xfrm xmlns:a="http://schemas.openxmlformats.org/drawingml/2006/main">
            <a:off x="6191250" y="1762125"/>
            <a:ext cx="14288" cy="37623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Interpretation limits">
            <a:extLst xmlns:a="http://schemas.openxmlformats.org/drawingml/2006/main">
              <a:ext uri="{FF2B5EF4-FFF2-40B4-BE49-F238E27FC236}">
                <a16:creationId xmlns:a16="http://schemas.microsoft.com/office/drawing/2014/main" id="{CC5A337A-B45F-4CA6-AE71-8308D0B7A7F1}"/>
              </a:ext>
            </a:extLst>
          </p:cNvPr>
          <p:cNvSpPr>
            <a:spLocks xmlns:a="http://schemas.openxmlformats.org/drawingml/2006/main" noGrp="1"/>
          </p:cNvSpPr>
          <p:nvPr/>
        </p:nvSpPr>
        <p:spPr>
          <a:xfrm xmlns:a="http://schemas.openxmlformats.org/drawingml/2006/main">
            <a:off x="6762750" y="17145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000000"/>
                </a:solidFill>
                <a:latin typeface="Arial"/>
                <a:ea typeface="Arial"/>
                <a:cs typeface="Arial"/>
              </a:defRPr>
            </a:defPPr>
          </a:lstStyle>
          <a:p xmlns:a="http://schemas.openxmlformats.org/drawingml/2006/main">
            <a:pPr algn="l">
              <a:defRPr sz="2800" b="1">
                <a:solidFill>
                  <a:srgbClr val="000000"/>
                </a:solidFill>
                <a:latin typeface="Arial"/>
                <a:ea typeface="Arial"/>
                <a:cs typeface="Arial"/>
              </a:defRPr>
            </a:pPr>
            <a:r>
              <a:rPr sz="2800" b="1">
                <a:solidFill>
                  <a:srgbClr val="000000"/>
                </a:solidFill>
                <a:latin typeface="Arial"/>
                <a:ea typeface="Arial"/>
                <a:cs typeface="Arial"/>
              </a:rPr>
              <a:t>Interpretation limits</a:t>
            </a:r>
          </a:p>
        </p:txBody>
      </p:sp>
      <p:sp>
        <p:nvSpPr>
          <p:cNvPr id="9" name="Two schools and one subject&#10;&#10;Ordinal coding and unequal">
            <a:extLst xmlns:a="http://schemas.openxmlformats.org/drawingml/2006/main">
              <a:ext uri="{FF2B5EF4-FFF2-40B4-BE49-F238E27FC236}">
                <a16:creationId xmlns:a16="http://schemas.microsoft.com/office/drawing/2014/main" id="{521DBFA4-F492-45CE-B80A-8B252E150504}"/>
              </a:ext>
            </a:extLst>
          </p:cNvPr>
          <p:cNvSpPr>
            <a:spLocks xmlns:a="http://schemas.openxmlformats.org/drawingml/2006/main" noGrp="1"/>
          </p:cNvSpPr>
          <p:nvPr/>
        </p:nvSpPr>
        <p:spPr>
          <a:xfrm xmlns:a="http://schemas.openxmlformats.org/drawingml/2006/main">
            <a:off x="6762750" y="2428875"/>
            <a:ext cx="4762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Two schools and one subject</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Ordinal coding and unequal groups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Unadjusted observational associations</a:t>
            </a:r>
          </a:p>
          <a:p xmlns:a="http://schemas.openxmlformats.org/drawingml/2006/main">
            <a:r>
              <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One MCAR simulation</a:t>
            </a:r>
          </a:p>
        </p:txBody>
      </p:sp>
    </p:spTree>
    <p:extLst>
      <p:ext uri="{BB962C8B-B14F-4D97-AF65-F5344CB8AC3E}">
        <p14:creationId xmlns:p14="http://schemas.microsoft.com/office/powerpoint/2010/main" val="43054526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B9940AA-DAEC-4A07-9C94-3F5615EB5211}"/>
              </a:ext>
            </a:extLst>
          </p:cNvPr>
          <p:cNvPicPr>
            <a:picLocks xmlns:a="http://schemas.openxmlformats.org/drawingml/2006/main" noChangeAspect="1"/>
          </p:cNvPicPr>
          <p:nvPr/>
        </p:nvPicPr>
        <p:blipFill>
          <a:blip xmlns:r="http://schemas.openxmlformats.org/officeDocument/2006/relationships" xmlns:a="http://schemas.openxmlformats.org/drawingml/2006/main" r:embed="R2e58ac488c7d46f5"/>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A2D1DC2-1539-4C77-9248-9500B5844F6F}"/>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00770C8B-F5E6-4F96-851C-8938751BDC7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1">
            <a:extLst xmlns:a="http://schemas.openxmlformats.org/drawingml/2006/main">
              <a:ext uri="{FF2B5EF4-FFF2-40B4-BE49-F238E27FC236}">
                <a16:creationId xmlns:a16="http://schemas.microsoft.com/office/drawing/2014/main" id="{709AB1CD-BC0C-47A2-A14D-6757AEDF52D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21</a:t>
            </a:r>
          </a:p>
        </p:txBody>
      </p:sp>
      <p:sp>
        <p:nvSpPr>
          <p:cNvPr id="5" name="Cortez (2008). Student Performance. UCI Machine Learnin">
            <a:extLst xmlns:a="http://schemas.openxmlformats.org/drawingml/2006/main">
              <a:ext uri="{FF2B5EF4-FFF2-40B4-BE49-F238E27FC236}">
                <a16:creationId xmlns:a16="http://schemas.microsoft.com/office/drawing/2014/main" id="{3899EB36-BB21-4832-955A-9681769DE8DB}"/>
              </a:ext>
            </a:extLst>
          </p:cNvPr>
          <p:cNvSpPr>
            <a:spLocks xmlns:a="http://schemas.openxmlformats.org/drawingml/2006/main" noGrp="1"/>
          </p:cNvSpPr>
          <p:nvPr/>
        </p:nvSpPr>
        <p:spPr>
          <a:xfrm xmlns:a="http://schemas.openxmlformats.org/drawingml/2006/main">
            <a:off x="762000" y="1809750"/>
            <a:ext cx="10668000" cy="395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Cortez (2008). Student Performance. UCI Machine Learning Repository.</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https://doi.org/10.24432/C5TG7T</a:t>
            </a:r>
          </a:p>
          <a:p xmlns:a="http://schemas.openxmlformats.org/drawingml/2006/main">
            <a:r>
              <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Pandas documentation  https://pandas.pydata.org/docs/</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Seaborn API  https://seaborn.pydata.org/api.html</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Matplotlib documentation  https://matplotlib.org/stable/</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NumPy documentation  https://numpy.org/doc/</a:t>
            </a:r>
          </a:p>
        </p:txBody>
      </p:sp>
      <p:sp>
        <p:nvSpPr>
          <p:cNvPr id="6" name="The dataset is reused under CC BY 4.0 with attribution.">
            <a:extLst xmlns:a="http://schemas.openxmlformats.org/drawingml/2006/main">
              <a:ext uri="{FF2B5EF4-FFF2-40B4-BE49-F238E27FC236}">
                <a16:creationId xmlns:a16="http://schemas.microsoft.com/office/drawing/2014/main" id="{F473ED36-DE4C-4363-BEEF-06A1A7C0771C}"/>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dataset is reused under CC BY 4.0 with attribution.</a:t>
            </a:r>
          </a:p>
        </p:txBody>
      </p:sp>
    </p:spTree>
    <p:extLst>
      <p:ext uri="{BB962C8B-B14F-4D97-AF65-F5344CB8AC3E}">
        <p14:creationId xmlns:p14="http://schemas.microsoft.com/office/powerpoint/2010/main" val="120298262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AB7BF2D-DFC7-4FE2-841B-EAD037EDFF94}"/>
              </a:ext>
            </a:extLst>
          </p:cNvPr>
          <p:cNvPicPr>
            <a:picLocks xmlns:a="http://schemas.openxmlformats.org/drawingml/2006/main" noChangeAspect="1"/>
          </p:cNvPicPr>
          <p:nvPr/>
        </p:nvPicPr>
        <p:blipFill>
          <a:blip xmlns:r="http://schemas.openxmlformats.org/officeDocument/2006/relationships" xmlns:a="http://schemas.openxmlformats.org/drawingml/2006/main" r:embed="R1d7d3332e01241e4"/>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95C3BA9-853A-43ED-AE37-6EA46D86E45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Questions and discussion</a:t>
            </a:r>
          </a:p>
        </p:txBody>
      </p:sp>
      <p:sp>
        <p:nvSpPr>
          <p:cNvPr id="3" name="Thin monochrome rule">
            <a:extLst xmlns:a="http://schemas.openxmlformats.org/drawingml/2006/main">
              <a:ext uri="{FF2B5EF4-FFF2-40B4-BE49-F238E27FC236}">
                <a16:creationId xmlns:a16="http://schemas.microsoft.com/office/drawing/2014/main" id="{473F74C1-DCB3-4469-B011-E71AEA5A0F7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2">
            <a:extLst xmlns:a="http://schemas.openxmlformats.org/drawingml/2006/main">
              <a:ext uri="{FF2B5EF4-FFF2-40B4-BE49-F238E27FC236}">
                <a16:creationId xmlns:a16="http://schemas.microsoft.com/office/drawing/2014/main" id="{A075C430-B591-4A6F-AEAB-D1BB8781D63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22</a:t>
            </a:r>
          </a:p>
        </p:txBody>
      </p:sp>
      <p:sp>
        <p:nvSpPr>
          <p:cNvPr id="5" name="Questions">
            <a:extLst xmlns:a="http://schemas.openxmlformats.org/drawingml/2006/main">
              <a:ext uri="{FF2B5EF4-FFF2-40B4-BE49-F238E27FC236}">
                <a16:creationId xmlns:a16="http://schemas.microsoft.com/office/drawing/2014/main" id="{8CAB247C-6397-4752-92B0-A2164089F2F1}"/>
              </a:ext>
            </a:extLst>
          </p:cNvPr>
          <p:cNvSpPr>
            <a:spLocks xmlns:a="http://schemas.openxmlformats.org/drawingml/2006/main" noGrp="1"/>
          </p:cNvSpPr>
          <p:nvPr/>
        </p:nvSpPr>
        <p:spPr>
          <a:xfrm xmlns:a="http://schemas.openxmlformats.org/drawingml/2006/main">
            <a:off x="762000" y="2000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00" b="1">
                <a:solidFill>
                  <a:srgbClr val="000000"/>
                </a:solidFill>
                <a:latin typeface="Arial"/>
                <a:ea typeface="Arial"/>
                <a:cs typeface="Arial"/>
              </a:defRPr>
            </a:defPPr>
          </a:lstStyle>
          <a:p xmlns:a="http://schemas.openxmlformats.org/drawingml/2006/main">
            <a:pPr algn="l">
              <a:defRPr sz="4400" b="1">
                <a:solidFill>
                  <a:srgbClr val="000000"/>
                </a:solidFill>
                <a:latin typeface="Arial"/>
                <a:ea typeface="Arial"/>
                <a:cs typeface="Arial"/>
              </a:defRPr>
            </a:pPr>
            <a:r>
              <a:rPr sz="4400" b="1">
                <a:solidFill>
                  <a:srgbClr val="000000"/>
                </a:solidFill>
                <a:latin typeface="Arial"/>
                <a:ea typeface="Arial"/>
                <a:cs typeface="Arial"/>
              </a:rPr>
              <a:t>Questions</a:t>
            </a:r>
          </a:p>
        </p:txBody>
      </p:sp>
      <p:sp>
        <p:nvSpPr>
          <p:cNvPr id="6" name="Missing data, association, group comparison and reprodu">
            <a:extLst xmlns:a="http://schemas.openxmlformats.org/drawingml/2006/main">
              <a:ext uri="{FF2B5EF4-FFF2-40B4-BE49-F238E27FC236}">
                <a16:creationId xmlns:a16="http://schemas.microsoft.com/office/drawing/2014/main" id="{338B7E4D-F028-48F7-9986-9B11373AFD46}"/>
              </a:ext>
            </a:extLst>
          </p:cNvPr>
          <p:cNvSpPr>
            <a:spLocks xmlns:a="http://schemas.openxmlformats.org/drawingml/2006/main" noGrp="1"/>
          </p:cNvSpPr>
          <p:nvPr/>
        </p:nvSpPr>
        <p:spPr>
          <a:xfrm xmlns:a="http://schemas.openxmlformats.org/drawingml/2006/main">
            <a:off x="762000" y="3286125"/>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Missing data, association, group comparison and reproducibility</a:t>
            </a:r>
          </a:p>
        </p:txBody>
      </p:sp>
    </p:spTree>
    <p:extLst>
      <p:ext uri="{BB962C8B-B14F-4D97-AF65-F5344CB8AC3E}">
        <p14:creationId xmlns:p14="http://schemas.microsoft.com/office/powerpoint/2010/main" val="102974253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A814DA4-3CA2-44F9-883D-5ECC92357C38}"/>
              </a:ext>
            </a:extLst>
          </p:cNvPr>
          <p:cNvPicPr>
            <a:picLocks xmlns:a="http://schemas.openxmlformats.org/drawingml/2006/main" noChangeAspect="1"/>
          </p:cNvPicPr>
          <p:nvPr/>
        </p:nvPicPr>
        <p:blipFill>
          <a:blip xmlns:r="http://schemas.openxmlformats.org/officeDocument/2006/relationships" xmlns:a="http://schemas.openxmlformats.org/drawingml/2006/main" r:embed="Rf4212bb2554d4938"/>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7C1889AB-251B-469A-9CE0-9C2B6A40AF7D}"/>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highest ten records</a:t>
            </a:r>
          </a:p>
        </p:txBody>
      </p:sp>
      <p:sp>
        <p:nvSpPr>
          <p:cNvPr id="3" name="Thin monochrome rule">
            <a:extLst xmlns:a="http://schemas.openxmlformats.org/drawingml/2006/main">
              <a:ext uri="{FF2B5EF4-FFF2-40B4-BE49-F238E27FC236}">
                <a16:creationId xmlns:a16="http://schemas.microsoft.com/office/drawing/2014/main" id="{E05CFF2C-0D5E-4964-BE9F-A08709943FD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3">
            <a:extLst xmlns:a="http://schemas.openxmlformats.org/drawingml/2006/main">
              <a:ext uri="{FF2B5EF4-FFF2-40B4-BE49-F238E27FC236}">
                <a16:creationId xmlns:a16="http://schemas.microsoft.com/office/drawing/2014/main" id="{72CAC80C-3B81-47CB-9D5F-BA2BE09D1F9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23</a:t>
            </a:r>
          </a:p>
        </p:txBody>
      </p:sp>
      <p:graphicFrame>
        <p:nvGraphicFramePr>
          <p:cNvPr id="5" name="">
            <a:extLst xmlns:a="http://schemas.openxmlformats.org/drawingml/2006/main">
              <a:ext uri="{FF2B5EF4-FFF2-40B4-BE49-F238E27FC236}">
                <a16:creationId xmlns:a16="http://schemas.microsoft.com/office/drawing/2014/main" id="{6A23D025-B58B-4FE1-8132-F72FD723EE3D}"/>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85725" tIns="85725" rIns="85725" bIns="85725">
                      <a:noAutofit/>
                    </a:bodyPr>
                    <a:lstStyle/>
                    <a:p>
                      <a:pPr algn="l"/>
                      <a:r>
                        <a:rPr sz="1800" b="1">
                          <a:solidFill>
                            <a:srgbClr val="000000"/>
                          </a:solidFill>
                          <a:latin typeface="Arial"/>
                          <a:ea typeface="Arial"/>
                          <a:cs typeface="Arial"/>
                        </a:rPr>
                        <a:t>Source index</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School</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G1</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G2</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Band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85725" tIns="85725" rIns="85725" bIns="85725">
                      <a:noAutofit/>
                    </a:bodyPr>
                    <a:lstStyle/>
                    <a:p>
                      <a:pPr algn="l"/>
                      <a:r>
                        <a:rPr sz="1800" b="0">
                          <a:solidFill>
                            <a:srgbClr val="000000"/>
                          </a:solidFill>
                          <a:latin typeface="Arial"/>
                          <a:ea typeface="Arial"/>
                          <a:cs typeface="Arial"/>
                        </a:rPr>
                        <a:t>338</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636</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113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181</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185</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314</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327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332</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337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349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15–20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EDE9EBA8-DD70-4B51-9C96-7D1AF6EF770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65981202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4ED79FF-F3E5-46DD-AA71-3A58558B2900}"/>
              </a:ext>
            </a:extLst>
          </p:cNvPr>
          <p:cNvPicPr>
            <a:picLocks xmlns:a="http://schemas.openxmlformats.org/drawingml/2006/main" noChangeAspect="1"/>
          </p:cNvPicPr>
          <p:nvPr/>
        </p:nvPicPr>
        <p:blipFill>
          <a:blip xmlns:r="http://schemas.openxmlformats.org/officeDocument/2006/relationships" xmlns:a="http://schemas.openxmlformats.org/drawingml/2006/main" r:embed="R3284dc621cff47cc"/>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9E90E40-2C5E-49D3-9CD3-A15F3DC2C24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lowest ten records</a:t>
            </a:r>
          </a:p>
        </p:txBody>
      </p:sp>
      <p:sp>
        <p:nvSpPr>
          <p:cNvPr id="3" name="Thin monochrome rule">
            <a:extLst xmlns:a="http://schemas.openxmlformats.org/drawingml/2006/main">
              <a:ext uri="{FF2B5EF4-FFF2-40B4-BE49-F238E27FC236}">
                <a16:creationId xmlns:a16="http://schemas.microsoft.com/office/drawing/2014/main" id="{FE0C9BD3-D3B4-4CCA-ACE9-DBC4F025CAC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4">
            <a:extLst xmlns:a="http://schemas.openxmlformats.org/drawingml/2006/main">
              <a:ext uri="{FF2B5EF4-FFF2-40B4-BE49-F238E27FC236}">
                <a16:creationId xmlns:a16="http://schemas.microsoft.com/office/drawing/2014/main" id="{D7DC2B06-44B4-4766-8474-45DD833C189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24</a:t>
            </a:r>
          </a:p>
        </p:txBody>
      </p:sp>
      <p:graphicFrame>
        <p:nvGraphicFramePr>
          <p:cNvPr id="5" name="">
            <a:extLst xmlns:a="http://schemas.openxmlformats.org/drawingml/2006/main">
              <a:ext uri="{FF2B5EF4-FFF2-40B4-BE49-F238E27FC236}">
                <a16:creationId xmlns:a16="http://schemas.microsoft.com/office/drawing/2014/main" id="{E69F4BCC-D656-466A-8A6B-BF725E9AD48F}"/>
              </a:ext>
            </a:extLst>
          </p:cNvPr>
          <p:cNvGraphicFramePr/>
          <p:nvPr/>
        </p:nvGraphicFramePr>
        <p:xfrm>
          <a:off xmlns:a="http://schemas.openxmlformats.org/drawingml/2006/main" x="762000" y="1666875"/>
          <a:ext xmlns:a="http://schemas.openxmlformats.org/drawingml/2006/main" cx="10668000" cy="4191000"/>
        </p:xfrm>
        <a:graphic xmlns:a="http://schemas.openxmlformats.org/drawingml/2006/main">
          <a:graphicData uri="http://schemas.openxmlformats.org/drawingml/2006/table">
            <a:tbl>
              <a:tblPr firstRow="0" bandRow="0"/>
              <a:tblGrid>
                <a:gridCol w="2625969"/>
                <a:gridCol w="1641231"/>
                <a:gridCol w="1312985"/>
                <a:gridCol w="1312985"/>
                <a:gridCol w="1312985"/>
                <a:gridCol w="2461846"/>
              </a:tblGrid>
              <a:tr h="381000">
                <a:tc>
                  <a:txBody>
                    <a:bodyPr wrap="square" lIns="85725" tIns="85725" rIns="85725" bIns="85725">
                      <a:noAutofit/>
                    </a:bodyPr>
                    <a:lstStyle/>
                    <a:p>
                      <a:pPr algn="l"/>
                      <a:r>
                        <a:rPr sz="1800" b="1">
                          <a:solidFill>
                            <a:srgbClr val="000000"/>
                          </a:solidFill>
                          <a:latin typeface="Arial"/>
                          <a:ea typeface="Arial"/>
                          <a:cs typeface="Arial"/>
                        </a:rPr>
                        <a:t>Source index</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School</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G1</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G2</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800" b="1">
                          <a:solidFill>
                            <a:srgbClr val="000000"/>
                          </a:solidFill>
                          <a:latin typeface="Arial"/>
                          <a:ea typeface="Arial"/>
                          <a:cs typeface="Arial"/>
                        </a:rPr>
                        <a:t>Band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381000">
                <a:tc>
                  <a:txBody>
                    <a:bodyPr wrap="square" lIns="85725" tIns="85725" rIns="85725" bIns="85725">
                      <a:noAutofit/>
                    </a:bodyPr>
                    <a:lstStyle/>
                    <a:p>
                      <a:pPr algn="l"/>
                      <a:r>
                        <a:rPr sz="1800" b="0">
                          <a:solidFill>
                            <a:srgbClr val="000000"/>
                          </a:solidFill>
                          <a:latin typeface="Arial"/>
                          <a:ea typeface="Arial"/>
                          <a:cs typeface="Arial"/>
                        </a:rPr>
                        <a:t>163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GP</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11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440</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519</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563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567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583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6</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586</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597</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603</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381000">
                <a:tc>
                  <a:txBody>
                    <a:bodyPr wrap="square" lIns="85725" tIns="85725" rIns="85725" bIns="85725">
                      <a:noAutofit/>
                    </a:bodyPr>
                    <a:lstStyle/>
                    <a:p>
                      <a:pPr algn="l"/>
                      <a:r>
                        <a:rPr sz="1800" b="0">
                          <a:solidFill>
                            <a:srgbClr val="000000"/>
                          </a:solidFill>
                          <a:latin typeface="Arial"/>
                          <a:ea typeface="Arial"/>
                          <a:cs typeface="Arial"/>
                        </a:rPr>
                        <a:t>605</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MS</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800" b="0">
                          <a:solidFill>
                            <a:srgbClr val="000000"/>
                          </a:solidFill>
                          <a:latin typeface="Arial"/>
                          <a:ea typeface="Arial"/>
                          <a:cs typeface="Arial"/>
                        </a:rPr>
                        <a:t>0–9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Selected columns shown; the full 37-column rows are in ">
            <a:extLst xmlns:a="http://schemas.openxmlformats.org/drawingml/2006/main">
              <a:ext uri="{FF2B5EF4-FFF2-40B4-BE49-F238E27FC236}">
                <a16:creationId xmlns:a16="http://schemas.microsoft.com/office/drawing/2014/main" id="{59157CD9-EEA8-4BC0-8C36-D9DD8C10785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Selected columns shown; the full 37-column rows are in the notebook and CSV.</a:t>
            </a:r>
          </a:p>
        </p:txBody>
      </p:sp>
    </p:spTree>
    <p:extLst>
      <p:ext uri="{BB962C8B-B14F-4D97-AF65-F5344CB8AC3E}">
        <p14:creationId xmlns:p14="http://schemas.microsoft.com/office/powerpoint/2010/main" val="74844554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9BFA1D8-5D2C-48EC-AFEF-34B76A86FDA8}"/>
              </a:ext>
            </a:extLst>
          </p:cNvPr>
          <p:cNvPicPr>
            <a:picLocks xmlns:a="http://schemas.openxmlformats.org/drawingml/2006/main" noChangeAspect="1"/>
          </p:cNvPicPr>
          <p:nvPr/>
        </p:nvPicPr>
        <p:blipFill>
          <a:blip xmlns:r="http://schemas.openxmlformats.org/officeDocument/2006/relationships" xmlns:a="http://schemas.openxmlformats.org/drawingml/2006/main" r:embed="R70f3359f69ca49cc"/>
          <a:stretch xmlns:a="http://schemas.openxmlformats.org/drawingml/2006/main"/>
        </p:blipFill>
        <p:spPr>
          <a:xfrm xmlns:a="http://schemas.openxmlformats.org/drawingml/2006/main">
            <a:off x="400050" y="190500"/>
            <a:ext cx="1504950" cy="838200"/>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2E7ECD0-CF47-42F7-9881-98A68DD92D0A}"/>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sensitivity and method checks</a:t>
            </a:r>
          </a:p>
        </p:txBody>
      </p:sp>
      <p:sp>
        <p:nvSpPr>
          <p:cNvPr id="3" name="Thin monochrome rule">
            <a:extLst xmlns:a="http://schemas.openxmlformats.org/drawingml/2006/main">
              <a:ext uri="{FF2B5EF4-FFF2-40B4-BE49-F238E27FC236}">
                <a16:creationId xmlns:a16="http://schemas.microsoft.com/office/drawing/2014/main" id="{64EAABE2-2320-4BF1-A1C2-936510C2946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25">
            <a:extLst xmlns:a="http://schemas.openxmlformats.org/drawingml/2006/main">
              <a:ext uri="{FF2B5EF4-FFF2-40B4-BE49-F238E27FC236}">
                <a16:creationId xmlns:a16="http://schemas.microsoft.com/office/drawing/2014/main" id="{59442D02-F1E7-4D1F-99D4-F9823364F94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25</a:t>
            </a:r>
          </a:p>
        </p:txBody>
      </p:sp>
      <p:graphicFrame>
        <p:nvGraphicFramePr>
          <p:cNvPr id="5" name="">
            <a:extLst xmlns:a="http://schemas.openxmlformats.org/drawingml/2006/main">
              <a:ext uri="{FF2B5EF4-FFF2-40B4-BE49-F238E27FC236}">
                <a16:creationId xmlns:a16="http://schemas.microsoft.com/office/drawing/2014/main" id="{B15D7C22-C28B-451C-84AD-6AE004093ED5}"/>
              </a:ext>
            </a:extLst>
          </p:cNvPr>
          <p:cNvGraphicFramePr/>
          <p:nvPr/>
        </p:nvGraphicFramePr>
        <p:xfrm>
          <a:off xmlns:a="http://schemas.openxmlformats.org/drawingml/2006/main" x="666750" y="1762125"/>
          <a:ext xmlns:a="http://schemas.openxmlformats.org/drawingml/2006/main" cx="10858500" cy="2381250"/>
        </p:xfrm>
        <a:graphic xmlns:a="http://schemas.openxmlformats.org/drawingml/2006/main">
          <a:graphicData uri="http://schemas.openxmlformats.org/drawingml/2006/table">
            <a:tbl>
              <a:tblPr firstRow="0" bandRow="0"/>
              <a:tblGrid>
                <a:gridCol w="3447143"/>
                <a:gridCol w="1206500"/>
                <a:gridCol w="2240643"/>
                <a:gridCol w="2240643"/>
                <a:gridCol w="1723571"/>
              </a:tblGrid>
              <a:tr h="595313">
                <a:tc>
                  <a:txBody>
                    <a:bodyPr wrap="square" lIns="85725" tIns="85725" rIns="85725" bIns="85725">
                      <a:noAutofit/>
                    </a:bodyPr>
                    <a:lstStyle/>
                    <a:p>
                      <a:pPr algn="l"/>
                      <a:r>
                        <a:rPr sz="1900" b="1">
                          <a:solidFill>
                            <a:srgbClr val="000000"/>
                          </a:solidFill>
                          <a:latin typeface="Arial"/>
                          <a:ea typeface="Arial"/>
                          <a:cs typeface="Arial"/>
                        </a:rPr>
                        <a:t>Variant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Absences SD</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ρ with G3</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1900" b="1">
                          <a:solidFill>
                            <a:srgbClr val="000000"/>
                          </a:solidFill>
                          <a:latin typeface="Arial"/>
                          <a:ea typeface="Arial"/>
                          <a:cs typeface="Arial"/>
                        </a:rPr>
                        <a:t>Filter n</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95313">
                <a:tc>
                  <a:txBody>
                    <a:bodyPr wrap="square" lIns="85725" tIns="85725" rIns="85725" bIns="85725">
                      <a:noAutofit/>
                    </a:bodyPr>
                    <a:lstStyle/>
                    <a:p>
                      <a:pPr algn="l"/>
                      <a:r>
                        <a:rPr sz="1900" b="0">
                          <a:solidFill>
                            <a:srgbClr val="000000"/>
                          </a:solidFill>
                          <a:latin typeface="Arial"/>
                          <a:ea typeface="Arial"/>
                          <a:cs typeface="Arial"/>
                        </a:rPr>
                        <a:t>Original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4.6408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-0.1585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334</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Mean imputation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649</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4.4940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-0.1628</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339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95313">
                <a:tc>
                  <a:txBody>
                    <a:bodyPr wrap="square" lIns="85725" tIns="85725" rIns="85725" bIns="85725">
                      <a:noAutofit/>
                    </a:bodyPr>
                    <a:lstStyle/>
                    <a:p>
                      <a:pPr algn="l"/>
                      <a:r>
                        <a:rPr sz="1900" b="0">
                          <a:solidFill>
                            <a:srgbClr val="000000"/>
                          </a:solidFill>
                          <a:latin typeface="Arial"/>
                          <a:ea typeface="Arial"/>
                          <a:cs typeface="Arial"/>
                        </a:rPr>
                        <a:t>Drop missing</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617</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4.6092</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-0.1671</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1900" b="0">
                          <a:solidFill>
                            <a:srgbClr val="000000"/>
                          </a:solidFill>
                          <a:latin typeface="Arial"/>
                          <a:ea typeface="Arial"/>
                          <a:cs typeface="Arial"/>
                        </a:rPr>
                        <a:t>319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Boundary checks: score bands, constant groups, zero-cou">
            <a:extLst xmlns:a="http://schemas.openxmlformats.org/drawingml/2006/main">
              <a:ext uri="{FF2B5EF4-FFF2-40B4-BE49-F238E27FC236}">
                <a16:creationId xmlns:a16="http://schemas.microsoft.com/office/drawing/2014/main" id="{BAE17B55-6F74-4CDB-A6D0-B6E9FB10EAC9}"/>
              </a:ext>
            </a:extLst>
          </p:cNvPr>
          <p:cNvSpPr>
            <a:spLocks xmlns:a="http://schemas.openxmlformats.org/drawingml/2006/main" noGrp="1"/>
          </p:cNvSpPr>
          <p:nvPr/>
        </p:nvSpPr>
        <p:spPr>
          <a:xfrm xmlns:a="http://schemas.openxmlformats.org/drawingml/2006/main">
            <a:off x="762000" y="46196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Boundary checks: score bands, constant groups, zero-count categories and stable ties.</a:t>
            </a:r>
          </a:p>
        </p:txBody>
      </p:sp>
      <p:sp>
        <p:nvSpPr>
          <p:cNvPr id="7" name="Actual failure codes are retained; the upper-code ambig">
            <a:extLst xmlns:a="http://schemas.openxmlformats.org/drawingml/2006/main">
              <a:ext uri="{FF2B5EF4-FFF2-40B4-BE49-F238E27FC236}">
                <a16:creationId xmlns:a16="http://schemas.microsoft.com/office/drawing/2014/main" id="{AB6E1BD0-7D96-4940-9449-56B7EB8A26B7}"/>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Actual failure codes are retained; the upper-code ambiguity is documented.</a:t>
            </a:r>
          </a:p>
        </p:txBody>
      </p:sp>
    </p:spTree>
    <p:extLst>
      <p:ext uri="{BB962C8B-B14F-4D97-AF65-F5344CB8AC3E}">
        <p14:creationId xmlns:p14="http://schemas.microsoft.com/office/powerpoint/2010/main" val="1269133440"/>
      </p:ext>
    </p:extLst>
  </p:cSld>
</p:sld>
</file>

<file path=ppt/theme/theme1.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2026-10-20T05:14:58.7760000Z</dcterms:created>
  <dcterms:modified xsi:type="dcterms:W3CDTF">2026-10-20T05:14:58.7760000Z</dcterms:modified>
</coreProperties>
</file>