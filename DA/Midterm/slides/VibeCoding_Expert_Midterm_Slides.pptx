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d52bc6-8879-5c64-e972-e078e54be480}">
          <p14:sldIdLst>
            <p14:sldId id="256"/>
          </p14:sldIdLst>
        </p14:section>
        <p14:section name="Problem" id="{eb656679-1130-2809-b2cb-e77df77047e8}">
          <p14:sldIdLst>
            <p14:sldId id="257"/>
            <p14:sldId id="258"/>
          </p14:sldIdLst>
        </p14:section>
        <p14:section name="Data" id="{86c7baac-09d9-a403-ec4c-fd009c304e65}">
          <p14:sldIdLst>
            <p14:sldId id="259"/>
            <p14:sldId id="260"/>
          </p14:sldIdLst>
        </p14:section>
        <p14:section name="Descriptive" id="{ea40e2e0-3111-d276-be5c-97e583cfffda}">
          <p14:sldIdLst>
            <p14:sldId id="261"/>
            <p14:sldId id="262"/>
          </p14:sldIdLst>
        </p14:section>
        <p14:section name="Diagnostic" id="{a0fde18e-8df2-03aa-9210-15576669f598}">
          <p14:sldIdLst>
            <p14:sldId id="263"/>
            <p14:sldId id="264"/>
          </p14:sldIdLst>
        </p14:section>
        <p14:section name="Predictive" id="{00e02838-6c92-dc1f-ad9f-fe3b75d9735d}">
          <p14:sldIdLst>
            <p14:sldId id="265"/>
            <p14:sldId id="266"/>
            <p14:sldId id="267"/>
          </p14:sldIdLst>
        </p14:section>
        <p14:section name="Prescriptive" id="{ea43ad14-a9ff-a1fa-8f5b-c63cdff74786}">
          <p14:sldIdLst>
            <p14:sldId id="268"/>
            <p14:sldId id="269"/>
            <p14:sldId id="270"/>
          </p14:sldIdLst>
        </p14:section>
        <p14:section name="Closing" id="{84f73bab-6ec4-47ba-965c-3f5c70e2c5e0}">
          <p14:sldIdLst>
            <p14:sldId id="271"/>
          </p14:sldIdLst>
        </p14:section>
        <p14:section name="Appendix" id="{e65378ad-8dde-7386-422d-e507bd0a9662}">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474C"/>
                </a:solidFill>
                <a:latin typeface="+mn-lt"/>
              </a:defRPr>
            </a:pPr>
            <a:r>
              <a:rPr sz="1300" b="0" i="0" u="none" strike="noStrike">
                <a:solidFill>
                  <a:srgbClr val="3A474C"/>
                </a:solidFill>
                <a:latin typeface="+mn-lt"/>
              </a:rPr>
              <a:t>Negative share by period</a:t>
            </a:r>
          </a:p>
        </c:rich>
      </c:tx>
      <c:layout/>
      <c:overlay val="0"/>
    </c:title>
    <c:autoTitleDeleted val="0"/>
    <c:plotArea>
      <c:layout/>
      <c:barChart>
        <c:barDir val="col"/>
        <c:grouping val="clustered"/>
        <c:varyColors val="0"/>
        <c:ser>
          <c:idx val="0"/>
          <c:order val="0"/>
          <c:tx>
            <c:strRef>
              <c:f>Sheet1!$B$1</c:f>
              <c:strCache>
                <c:ptCount val="1"/>
                <c:pt idx="0">
                  <c:v>All tweets</c:v>
                </c:pt>
              </c:strCache>
            </c:strRef>
          </c:tx>
          <c:spPr>
            <a:solidFill>
              <a:srgbClr val="898781"/>
            </a:solidFill>
            <a:effectLst/>
          </c:spPr>
          <c:invertIfNegative val="0"/>
          <c:dLbls>
            <c:numFmt formatCode="0.0" sourceLinked="0"/>
            <c:txPr>
              <a:bodyPr/>
              <a:lstStyle/>
              <a:p>
                <a:pPr>
                  <a:defRPr b="0" i="0" strike="noStrike" sz="1100" u="none">
                    <a:solidFill>
                      <a:srgbClr val="3A474C"/>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Launch week</c:v>
                  </c:pt>
                  <c:pt idx="2">
                    <c:v>Next week</c:v>
                  </c:pt>
                </c:lvl>
              </c:multiLvlStrCache>
            </c:multiLvlStrRef>
          </c:cat>
          <c:val>
            <c:numRef>
              <c:f>Sheet1!$B$2:$B$4</c:f>
              <c:numCache>
                <c:formatCode>General</c:formatCode>
                <c:ptCount val="3"/>
                <c:pt idx="0">
                  <c:v>39.601435688648415</c:v>
                </c:pt>
                <c:pt idx="1">
                  <c:v>39.90164973944203</c:v>
                </c:pt>
                <c:pt idx="2">
                  <c:v>40.93647171213247</c:v>
                </c:pt>
              </c:numCache>
            </c:numRef>
          </c:val>
        </c:ser>
        <c:ser>
          <c:idx val="1"/>
          <c:order val="1"/>
          <c:tx>
            <c:strRef>
              <c:f>Sheet1!$C$1</c:f>
              <c:strCache>
                <c:ptCount val="1"/>
                <c:pt idx="0">
                  <c:v>F&amp;B tweets</c:v>
                </c:pt>
              </c:strCache>
            </c:strRef>
          </c:tx>
          <c:spPr>
            <a:solidFill>
              <a:srgbClr val="1BAF7A"/>
            </a:solidFill>
            <a:effectLst/>
          </c:spPr>
          <c:invertIfNegative val="0"/>
          <c:dLbls>
            <c:numFmt formatCode="0.0" sourceLinked="0"/>
            <c:txPr>
              <a:bodyPr/>
              <a:lstStyle/>
              <a:p>
                <a:pPr>
                  <a:defRPr b="0" i="0" strike="noStrike" sz="1100" u="none">
                    <a:solidFill>
                      <a:srgbClr val="3A474C"/>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Launch week</c:v>
                  </c:pt>
                  <c:pt idx="2">
                    <c:v>Next week</c:v>
                  </c:pt>
                </c:lvl>
              </c:multiLvlStrCache>
            </c:multiLvlStrRef>
          </c:cat>
          <c:val>
            <c:numRef>
              <c:f>Sheet1!$C$2:$C$4</c:f>
              <c:numCache>
                <c:formatCode>General</c:formatCode>
                <c:ptCount val="3"/>
                <c:pt idx="0">
                  <c:v>34.53286257468767</c:v>
                </c:pt>
                <c:pt idx="1">
                  <c:v>34.50729277837068</c:v>
                </c:pt>
                <c:pt idx="2">
                  <c:v>36.758685840243515</c:v>
                </c:pt>
              </c:numCache>
            </c:numRef>
          </c:val>
        </c:ser>
        <c:dLbls>
          <c:numFmt formatCode="0.0" sourceLinked="0"/>
          <c:txPr>
            <a:bodyPr/>
            <a:lstStyle/>
            <a:p>
              <a:pPr>
                <a:defRPr b="0" i="0" strike="noStrike" sz="1100" u="none">
                  <a:solidFill>
                    <a:srgbClr val="3A474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B6A66"/>
                    </a:solidFill>
                    <a:latin typeface="Arial"/>
                  </a:defRPr>
                </a:pPr>
                <a:r>
                  <a:rPr sz="1100" b="0" i="0" u="none" strike="noStrike">
                    <a:solidFill>
                      <a:srgbClr val="6B6A66"/>
                    </a:solidFill>
                    <a:latin typeface="Arial"/>
                  </a:rPr>
                  <a:t>Period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74C"/>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1E0D9"/>
              </a:solidFill>
              <a:prstDash val="solid"/>
              <a:round/>
            </a:ln>
          </c:spPr>
        </c:majorGridlines>
        <c:title>
          <c:tx>
            <c:rich>
              <a:bodyPr/>
              <a:lstStyle/>
              <a:p>
                <a:pPr>
                  <a:defRPr sz="1100" b="0" i="0" u="none" strike="noStrike">
                    <a:solidFill>
                      <a:srgbClr val="6B6A66"/>
                    </a:solidFill>
                    <a:latin typeface="Arial"/>
                  </a:defRPr>
                </a:pPr>
                <a:r>
                  <a:rPr sz="1100" b="0" i="0" u="none" strike="noStrike">
                    <a:solidFill>
                      <a:srgbClr val="6B6A66"/>
                    </a:solidFill>
                    <a:latin typeface="Arial"/>
                  </a:rPr>
                  <a:t>Negative tweets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474C"/>
                </a:solidFill>
                <a:latin typeface="+mn-lt"/>
              </a:defRPr>
            </a:pPr>
            <a:r>
              <a:rPr sz="1300" b="0" i="0" u="none" strike="noStrike">
                <a:solidFill>
                  <a:srgbClr val="3A474C"/>
                </a:solidFill>
                <a:latin typeface="+mn-lt"/>
              </a:rPr>
              <a:t>Topics found by NMF: negative lift (pp)</a:t>
            </a:r>
          </a:p>
        </c:rich>
      </c:tx>
      <c:layout/>
      <c:overlay val="0"/>
    </c:title>
    <c:autoTitleDeleted val="0"/>
    <c:plotArea>
      <c:layout/>
      <c:barChart>
        <c:barDir val="bar"/>
        <c:grouping val="stacked"/>
        <c:varyColors val="0"/>
        <c:ser>
          <c:idx val="0"/>
          <c:order val="0"/>
          <c:tx>
            <c:strRef>
              <c:f>Sheet1!$B$1</c:f>
              <c:strCache>
                <c:ptCount val="1"/>
                <c:pt idx="0">
                  <c:v>More negative than the rest</c:v>
                </c:pt>
              </c:strCache>
            </c:strRef>
          </c:tx>
          <c:spPr>
            <a:solidFill>
              <a:srgbClr val="EB6834"/>
            </a:solidFill>
            <a:effectLst/>
          </c:spPr>
          <c:invertIfNegative val="0"/>
          <c:dLbls>
            <c:numFmt formatCode="+0.0;-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Work and breaks</c:v>
                  </c:pt>
                  <c:pt idx="1">
                    <c:v>Coming home and waiting</c:v>
                  </c:pt>
                  <c:pt idx="2">
                    <c:v>Late nights</c:v>
                  </c:pt>
                  <c:pt idx="3">
                    <c:v>Plans and anticipation</c:v>
                  </c:pt>
                  <c:pt idx="4">
                    <c:v>Morning start</c:v>
                  </c:pt>
                  <c:pt idx="5">
                    <c:v>Family and weekend fun</c:v>
                  </c:pt>
                  <c:pt idx="6">
                    <c:v>Cooking at home</c:v>
                  </c:pt>
                </c:lvl>
              </c:multiLvlStrCache>
            </c:multiLvlStrRef>
          </c:cat>
          <c:val>
            <c:numRef>
              <c:f>Sheet1!$B$2:$B$8</c:f>
              <c:numCache>
                <c:formatCode>General</c:formatCode>
                <c:ptCount val="7"/>
                <c:pt idx="0">
                  <c:v>13.747809804508965</c:v>
                </c:pt>
                <c:pt idx="1">
                  <c:v>3.6155788150567414</c:v>
                </c:pt>
                <c:pt idx="2">
                  <c:v>0</c:v>
                </c:pt>
                <c:pt idx="3">
                  <c:v>0</c:v>
                </c:pt>
                <c:pt idx="4">
                  <c:v>0</c:v>
                </c:pt>
                <c:pt idx="5">
                  <c:v>0</c:v>
                </c:pt>
                <c:pt idx="6">
                  <c:v>0</c:v>
                </c:pt>
              </c:numCache>
            </c:numRef>
          </c:val>
        </c:ser>
        <c:ser>
          <c:idx val="1"/>
          <c:order val="1"/>
          <c:tx>
            <c:strRef>
              <c:f>Sheet1!$C$1</c:f>
              <c:strCache>
                <c:ptCount val="1"/>
                <c:pt idx="0">
                  <c:v>Less negative than the rest</c:v>
                </c:pt>
              </c:strCache>
            </c:strRef>
          </c:tx>
          <c:spPr>
            <a:solidFill>
              <a:srgbClr val="2A78D6"/>
            </a:solidFill>
            <a:effectLst/>
          </c:spPr>
          <c:invertIfNegative val="0"/>
          <c:dLbls>
            <c:numFmt formatCode="+0.0;-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Work and breaks</c:v>
                  </c:pt>
                  <c:pt idx="1">
                    <c:v>Coming home and waiting</c:v>
                  </c:pt>
                  <c:pt idx="2">
                    <c:v>Late nights</c:v>
                  </c:pt>
                  <c:pt idx="3">
                    <c:v>Plans and anticipation</c:v>
                  </c:pt>
                  <c:pt idx="4">
                    <c:v>Morning start</c:v>
                  </c:pt>
                  <c:pt idx="5">
                    <c:v>Family and weekend fun</c:v>
                  </c:pt>
                  <c:pt idx="6">
                    <c:v>Cooking at home</c:v>
                  </c:pt>
                </c:lvl>
              </c:multiLvlStrCache>
            </c:multiLvlStrRef>
          </c:cat>
          <c:val>
            <c:numRef>
              <c:f>Sheet1!$C$2:$C$8</c:f>
              <c:numCache>
                <c:formatCode>General</c:formatCode>
                <c:ptCount val="7"/>
                <c:pt idx="0">
                  <c:v>0</c:v>
                </c:pt>
                <c:pt idx="1">
                  <c:v>0</c:v>
                </c:pt>
                <c:pt idx="2">
                  <c:v>-0.7817416988324832</c:v>
                </c:pt>
                <c:pt idx="3">
                  <c:v>-5.6606874426647416</c:v>
                </c:pt>
                <c:pt idx="4">
                  <c:v>-6.897231170408097</c:v>
                </c:pt>
                <c:pt idx="5">
                  <c:v>-7.307433515134948</c:v>
                </c:pt>
                <c:pt idx="6">
                  <c:v>-8.554149412703149</c:v>
                </c:pt>
              </c:numCache>
            </c:numRef>
          </c:val>
        </c:ser>
        <c:dLbls>
          <c:numFmt formatCode="+0.0;-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74C"/>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1E0D9"/>
              </a:solidFill>
              <a:prstDash val="solid"/>
              <a:round/>
            </a:ln>
          </c:spPr>
        </c:majorGridlines>
        <c:title>
          <c:tx>
            <c:rich>
              <a:bodyPr/>
              <a:lstStyle/>
              <a:p>
                <a:pPr>
                  <a:defRPr sz="1100" b="0" i="0" u="none" strike="noStrike">
                    <a:solidFill>
                      <a:srgbClr val="6B6A66"/>
                    </a:solidFill>
                    <a:latin typeface="Arial"/>
                  </a:defRPr>
                </a:pPr>
                <a:r>
                  <a:rPr sz="1100" b="0" i="0" u="none" strike="noStrike">
                    <a:solidFill>
                      <a:srgbClr val="6B6A66"/>
                    </a:solidFill>
                    <a:latin typeface="Arial"/>
                  </a:rPr>
                  <a:t>Negative lift vs rest of F&amp;B (pp)</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474C"/>
                </a:solidFill>
                <a:latin typeface="+mn-lt"/>
              </a:defRPr>
            </a:pPr>
            <a:r>
              <a:rPr sz="1300" b="0" i="0" u="none" strike="noStrike">
                <a:solidFill>
                  <a:srgbClr val="3A474C"/>
                </a:solidFill>
                <a:latin typeface="+mn-lt"/>
              </a:rPr>
              <a:t>Test week (14-16 June, 150,736 tweets)</a:t>
            </a:r>
          </a:p>
        </c:rich>
      </c:tx>
      <c:layout/>
      <c:overlay val="0"/>
    </c:title>
    <c:autoTitleDeleted val="0"/>
    <c:plotArea>
      <c:layout/>
      <c:barChart>
        <c:barDir val="col"/>
        <c:grouping val="clustered"/>
        <c:varyColors val="0"/>
        <c:ser>
          <c:idx val="0"/>
          <c:order val="0"/>
          <c:tx>
            <c:strRef>
              <c:f>Sheet1!$B$1</c:f>
              <c:strCache>
                <c:ptCount val="1"/>
                <c:pt idx="0">
                  <c:v>Naive Bayes (baseline)</c:v>
                </c:pt>
              </c:strCache>
            </c:strRef>
          </c:tx>
          <c:spPr>
            <a:solidFill>
              <a:srgbClr val="898781"/>
            </a:solidFill>
            <a:effectLst/>
          </c:spPr>
          <c:invertIfNegative val="0"/>
          <c:dLbls>
            <c:numFmt formatCode="0.000" sourceLinked="0"/>
            <c:txPr>
              <a:bodyPr/>
              <a:lstStyle/>
              <a:p>
                <a:pPr>
                  <a:defRPr b="0" i="0" strike="noStrike" sz="1100" u="none">
                    <a:solidFill>
                      <a:srgbClr val="3A474C"/>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Negative F1</c:v>
                  </c:pt>
                  <c:pt idx="2">
                    <c:v>Macro F1</c:v>
                  </c:pt>
                  <c:pt idx="3">
                    <c:v>ROC-AUC</c:v>
                  </c:pt>
                </c:lvl>
              </c:multiLvlStrCache>
            </c:multiLvlStrRef>
          </c:cat>
          <c:val>
            <c:numRef>
              <c:f>Sheet1!$B$2:$B$5</c:f>
              <c:numCache>
                <c:formatCode>General</c:formatCode>
                <c:ptCount val="4"/>
                <c:pt idx="0">
                  <c:v>0.7663464600360896</c:v>
                </c:pt>
                <c:pt idx="1">
                  <c:v>0.7370385855931191</c:v>
                </c:pt>
                <c:pt idx="2">
                  <c:v>0.7634075556176845</c:v>
                </c:pt>
                <c:pt idx="3">
                  <c:v>0.8459451764580365</c:v>
                </c:pt>
              </c:numCache>
            </c:numRef>
          </c:val>
        </c:ser>
        <c:ser>
          <c:idx val="1"/>
          <c:order val="1"/>
          <c:tx>
            <c:strRef>
              <c:f>Sheet1!$C$1</c:f>
              <c:strCache>
                <c:ptCount val="1"/>
                <c:pt idx="0">
                  <c:v>Logistic Regression (advanced)</c:v>
                </c:pt>
              </c:strCache>
            </c:strRef>
          </c:tx>
          <c:spPr>
            <a:solidFill>
              <a:srgbClr val="6250D6"/>
            </a:solidFill>
            <a:effectLst/>
          </c:spPr>
          <c:invertIfNegative val="0"/>
          <c:dLbls>
            <c:numFmt formatCode="0.000" sourceLinked="0"/>
            <c:txPr>
              <a:bodyPr/>
              <a:lstStyle/>
              <a:p>
                <a:pPr>
                  <a:defRPr b="0" i="0" strike="noStrike" sz="1100" u="none">
                    <a:solidFill>
                      <a:srgbClr val="3A474C"/>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Negative F1</c:v>
                  </c:pt>
                  <c:pt idx="2">
                    <c:v>Macro F1</c:v>
                  </c:pt>
                  <c:pt idx="3">
                    <c:v>ROC-AUC</c:v>
                  </c:pt>
                </c:lvl>
              </c:multiLvlStrCache>
            </c:multiLvlStrRef>
          </c:cat>
          <c:val>
            <c:numRef>
              <c:f>Sheet1!$C$2:$C$5</c:f>
              <c:numCache>
                <c:formatCode>General</c:formatCode>
                <c:ptCount val="4"/>
                <c:pt idx="0">
                  <c:v>0.8103306443052755</c:v>
                </c:pt>
                <c:pt idx="1">
                  <c:v>0.7845093989779459</c:v>
                </c:pt>
                <c:pt idx="2">
                  <c:v>0.8075676771308882</c:v>
                </c:pt>
                <c:pt idx="3">
                  <c:v>0.8955165264857787</c:v>
                </c:pt>
              </c:numCache>
            </c:numRef>
          </c:val>
        </c:ser>
        <c:dLbls>
          <c:numFmt formatCode="0.000" sourceLinked="0"/>
          <c:txPr>
            <a:bodyPr/>
            <a:lstStyle/>
            <a:p>
              <a:pPr>
                <a:defRPr b="0" i="0" strike="noStrike" sz="1100" u="none">
                  <a:solidFill>
                    <a:srgbClr val="3A474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B6A66"/>
                    </a:solidFill>
                    <a:latin typeface="Arial"/>
                  </a:defRPr>
                </a:pPr>
                <a:r>
                  <a:rPr sz="1100" b="0" i="0" u="none" strike="noStrike">
                    <a:solidFill>
                      <a:srgbClr val="6B6A66"/>
                    </a:solidFill>
                    <a:latin typeface="Arial"/>
                  </a:rPr>
                  <a:t>Metric (negative = the class we want to catch)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74C"/>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1E0D9"/>
              </a:solidFill>
              <a:prstDash val="solid"/>
              <a:round/>
            </a:ln>
          </c:spPr>
        </c:majorGridlines>
        <c:title>
          <c:tx>
            <c:rich>
              <a:bodyPr/>
              <a:lstStyle/>
              <a:p>
                <a:pPr>
                  <a:defRPr sz="1100" b="0" i="0" u="none" strike="noStrike">
                    <a:solidFill>
                      <a:srgbClr val="6B6A66"/>
                    </a:solidFill>
                    <a:latin typeface="Arial"/>
                  </a:defRPr>
                </a:pPr>
                <a:r>
                  <a:rPr sz="1100" b="0" i="0" u="none" strike="noStrike">
                    <a:solidFill>
                      <a:srgbClr val="6B6A66"/>
                    </a:solidFill>
                    <a:latin typeface="Arial"/>
                  </a:rPr>
                  <a:t>Score on the test week</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Lam Tien. Good morning. Our group played the social listening team of an F&amp;B brand that has just launched a new product. Reactions in launch week were mixed, and marketing asked one question: should we change the message next week? In the next twelve minutes we answer it with the four types of analytics from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Lam Tien. Following Chapter 1, we turned the broad question into four data questions, one per type of analytics. We also wrote four hypotheses down in advance and a practical threshold of five percentage points, because with this many tweets almost everything is statistically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Lam Tien. Here is the answer first. The F&amp;B conversation is about five points less negative than Twitter, launch week looks like any other week, and our model predicts next week with an AUC of 0.896. So we do not recommend rewriting the message. Instead we target three pain points. The rest of the talk shows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Cong Thanh. Sentiment140 is 1.6 million tweets labelled automatically by emoticons. It is not about one brand, so we use the 84,632 food-and-drink tweets as the category conversation in which a new product would be discussed. A manual review of 210 tweets, done with AI assistance, shows the keyword filter is right about 89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Cong Thanh. Before cleaning we plotted tweets per day and label. After 8:40 on 16 June the file only contains negative tweets: the collector simply stopped searching for happy emoticons. We removed that tail. This also tells us the overall positive-negative ratio is an artifact, so from here on we always compare groups, as Chapter 3 teaches with raw numbers versus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Cong Thanh. More than a third of the conversation is everyday meal talk, and only 7.5 percent names a brand, so a brand that listens only for its own name misses most of it. On the right, F&amp;B tweets are about five points less negative than all tweets, and launch week is no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Cong Thanh. Over time the F&amp;B line stays below the all-tweets line on 35 of 39 days. The few spikes happen on days with very few tweets, where the confidence band is wide, so we do not read them as events. Nothing special happens in launch week. Tam will now look for the reasons behind the negative tweets.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Le Nhat Tam. For each aspect we compared its negative share with the rest of F&amp;B, with 95 percent confidence intervals from Chapter 4. Availability problems are 45 points more negative. Price and service pass our 5-point threshold. Trying something new is actually more positive. H1 to H3 hold after the Holm correction; H4 does not, so launch week did not change the picture. The logistic regression confirms availability with an odds ratio of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Le Nhat Tam. Two views of when negativity happens. The heatmap shows service complaints are worst in the evening. The topic model, NMF on the tweets with food words removed, finds the moments people talk about: food around work and breaks is almost 14 points more negative, while cooking at home, family weekends and mornings are positive. Minh will now show whether we can predict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Binh Minh. The model will be used on tweets that do not exist yet, so we split by time: train on April and May, tune on launch week, and test once on the next week. A random split would mix tweets from the same days and overstate performance. We compare a Naive Bayes baseline with Logistic Regression on TF-IDF of words and word pairs, which can capture negation like 'not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Binh Minh. On the untouched test week, Logistic Regression reaches 81 percent accuracy and an AUC of 0.896, against 0.846 for Naive Bayes. Because both models label the same tweets, we used McNemar's test rather than a two-proportion test: the gain of 4.4 points is significant. The random split looks slightly better, which is exactly the optimism a time split protects us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Binh Minh. We read the coefficients like regression slopes in Chapter 7: emotion words such as sad or sucks push towards negative, while 'can't wait' and 'not bad' push towards positive. For one tweet, coefficient times TF-IDF gives each word's contribution, the linear version of SHAP. In the second example, the word pair 'not bad' cancels 'not' and 'bad', something a single-word model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Lam Tien. To stay honest we fixed the decision rule before looking at this chapter's results. A rewrite needed H4; it failed. Targeted adjustments needed a product aspect at least five points worse with its whole interval above zero; availability, service and price meet that. The priority matrix combines all three layers: share of voice, negative lift and the number of negative tweets the model expects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Lam Tien. Each recommendation quotes descriptive, diagnostic and predictive evidence, as the assignment asks. R1 keeps the message. R2 to R4 target the three pain points: tell people where to find the product, speed up service in the evening, and frame price as value. R5 builds creative around trying and sharing. R6 is daily monitoring, which Minh will show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Binh Minh. Two numbers keep expectations realistic. Fixing all three issues lowers overall negativity by only about 0.7 points, because they are small slices of the conversation, so the team should set targets per aspect. The alert limit of +1.5 points would have fired once in 23 baseline days and never in launch or next week. [Live demo: run 'streamlit run dashboard/app.py', filter Availability, then type a tweet in 'Try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Ngo Lam Tien. To conclude: launch week looked normal, so we keep the message, fix availability, service and price, build the creative around trying and sharing, and monitor daily. Our main limits are the proxy data and the emoticon labels; with real brand data the next step is an A/B test of the new messages.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the tests. Two-proportion z-tests (Chapter 5) with CIs for the difference of two proportions (Chapter 4); Holm correction across the four tests; H4 uses a difference-in-differences of the F&amp;B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random split overstates AUC slightly; the general model beats an F&amp;B-only model; no user memorisation.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every cleaning step and its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A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874520"/>
            <a:ext cx="10789920" cy="155448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685800" y="3520440"/>
            <a:ext cx="10058400" cy="822960"/>
          </a:xfrm>
          <a:prstGeom prst="rect">
            <a:avLst/>
          </a:prstGeom>
          <a:noFill/>
          <a:ln/>
        </p:spPr>
        <p:txBody>
          <a:bodyPr wrap="square" rtlCol="0"/>
          <a:lstStyle>
            <a:lvl1pPr algn="l" indent="0" marL="0">
              <a:buNone/>
              <a:defRPr lang="en-US" sz="2000" dirty="0">
                <a:solidFill>
                  <a:srgbClr val="C9D3D1"/>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VibeCoding_Expert  ·  Data Analysis and Visualization  ·  Midterm 2026</a:t>
            </a:r>
            <a:endParaRPr lang="en-US" sz="1000" dirty="0"/>
          </a:p>
        </p:txBody>
      </p:sp>
      <p:sp>
        <p:nvSpPr>
          <p:cNvPr id="3" name="Text 1"/>
          <p:cNvSpPr/>
          <p:nvPr>
            <p:ph idx="101" type="body" hasCustomPrompt="1"/>
          </p:nvPr>
        </p:nvSpPr>
        <p:spPr>
          <a:xfrm>
            <a:off x="548640" y="292608"/>
            <a:ext cx="8229600" cy="292608"/>
          </a:xfrm>
          <a:prstGeom prst="rect">
            <a:avLst/>
          </a:prstGeom>
          <a:noFill/>
          <a:ln/>
        </p:spPr>
        <p:txBody>
          <a:bodyPr wrap="square" rtlCol="0"/>
          <a:lstStyle>
            <a:lvl1pPr algn="l" indent="0" marL="0">
              <a:buNone/>
              <a:defRPr lang="en-US" sz="1200" b="1" spc="200" kern="0" dirty="0">
                <a:solidFill>
                  <a:srgbClr val="1BAF7A"/>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4" name="Text 1"/>
          <p:cNvSpPr/>
          <p:nvPr>
            <p:ph idx="102" type="title" hasCustomPrompt="1"/>
          </p:nvPr>
        </p:nvSpPr>
        <p:spPr>
          <a:xfrm>
            <a:off x="548640" y="603504"/>
            <a:ext cx="11064240" cy="731520"/>
          </a:xfrm>
          <a:prstGeom prst="rect">
            <a:avLst/>
          </a:prstGeom>
          <a:noFill/>
          <a:ln/>
        </p:spPr>
        <p:txBody>
          <a:bodyPr wrap="square" rtlCol="0"/>
          <a:lstStyle>
            <a:lvl1pPr algn="l" indent="0" marL="0">
              <a:buNone/>
              <a:defRPr lang="en-US" sz="3200" b="1" dirty="0">
                <a:solidFill>
                  <a:srgbClr val="1F2A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END">
    <p:bg>
      <p:bgPr>
        <a:solidFill>
          <a:srgbClr val="1F2A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A4"/>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_1"/>
          <p:cNvSpPr txBox="1"/>
          <p:nvPr/>
        </p:nvSpPr>
        <p:spPr>
          <a:xfrm>
            <a:off x="685800" y="1325880"/>
            <a:ext cx="10058400" cy="365760"/>
          </a:xfrm>
          <a:prstGeom prst="rect">
            <a:avLst/>
          </a:prstGeom>
          <a:noFill/>
          <a:ln/>
        </p:spPr>
        <p:txBody>
          <a:bodyPr wrap="square" lIns="0" tIns="0" rIns="0" bIns="0" rtlCol="0" anchor="ctr"/>
          <a:lstStyle/>
          <a:p>
            <a:pPr indent="0" marL="0">
              <a:buNone/>
            </a:pPr>
            <a:r>
              <a:rPr lang="en-US" sz="1400" b="1" spc="200" kern="0" dirty="0">
                <a:solidFill>
                  <a:srgbClr val="1BAF7A"/>
                </a:solidFill>
                <a:latin typeface="Calibri" pitchFamily="34" charset="0"/>
                <a:ea typeface="Calibri" pitchFamily="34" charset="-122"/>
                <a:cs typeface="Calibri" pitchFamily="34" charset="-120"/>
              </a:rPr>
              <a:t>DATA ANALYSIS AND VISUALIZATION  ·  MIDTERM PROJECT</a:t>
            </a:r>
            <a:endParaRPr lang="en-US" sz="1400" dirty="0"/>
          </a:p>
        </p:txBody>
      </p:sp>
      <p:sp>
        <p:nvSpPr>
          <p:cNvPr id="3" name="Text 0"/>
          <p:cNvSpPr/>
          <p:nvPr>
            <p:ph idx="100" type="title" hasCustomPrompt="1"/>
          </p:nvPr>
        </p:nvSpPr>
        <p:spPr>
          <a:xfrm>
            <a:off x="685800" y="1874520"/>
            <a:ext cx="10789920" cy="15544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Should we change the launch message next week?</a:t>
            </a:r>
            <a:endParaRPr lang="en-US" sz="4400" dirty="0"/>
          </a:p>
        </p:txBody>
      </p:sp>
      <p:sp>
        <p:nvSpPr>
          <p:cNvPr id="4" name="Text 0"/>
          <p:cNvSpPr/>
          <p:nvPr>
            <p:ph idx="101" type="body" hasCustomPrompt="1"/>
          </p:nvPr>
        </p:nvSpPr>
        <p:spPr>
          <a:xfrm>
            <a:off x="685800" y="3520440"/>
            <a:ext cx="10058400" cy="822960"/>
          </a:xfrm>
          <a:prstGeom prst="rect">
            <a:avLst/>
          </a:prstGeom>
          <a:noFill/>
          <a:ln/>
        </p:spPr>
        <p:txBody>
          <a:bodyPr wrap="square" lIns="0" tIns="0" rIns="0" bIns="0" rtlCol="0" anchor="t"/>
          <a:lstStyle/>
          <a:p>
            <a:pPr algn="l" indent="0" marL="0">
              <a:buNone/>
            </a:pPr>
            <a:r>
              <a:rPr lang="en-US" sz="2000" dirty="0">
                <a:solidFill>
                  <a:srgbClr val="C9D3D1"/>
                </a:solidFill>
                <a:latin typeface="Calibri" pitchFamily="34" charset="0"/>
                <a:ea typeface="Calibri" pitchFamily="34" charset="-122"/>
                <a:cs typeface="Calibri" pitchFamily="34" charset="-120"/>
              </a:rPr>
              <a:t>Social-media sentiment analysis for a new F&amp;B product launch, using 1.6 million tweets from Sentiment140</a:t>
            </a:r>
            <a:endParaRPr lang="en-US" sz="2000" dirty="0"/>
          </a:p>
        </p:txBody>
      </p:sp>
      <p:sp>
        <p:nvSpPr>
          <p:cNvPr id="5" name="text_2"/>
          <p:cNvSpPr txBox="1"/>
          <p:nvPr/>
        </p:nvSpPr>
        <p:spPr>
          <a:xfrm>
            <a:off x="685800" y="4983480"/>
            <a:ext cx="10515600" cy="1097280"/>
          </a:xfrm>
          <a:prstGeom prst="rect">
            <a:avLst/>
          </a:prstGeom>
          <a:noFill/>
          <a:ln/>
        </p:spPr>
        <p:txBody>
          <a:bodyPr wrap="square" lIns="0" tIns="0" rIns="0" bIns="0" rtlCol="0" anchor="ctr"/>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Group VibeCoding_Expert</a:t>
            </a:r>
            <a:endParaRPr lang="en-US" sz="1600" dirty="0"/>
          </a:p>
          <a:p>
            <a:pPr indent="0" marL="0">
              <a:spcAft>
                <a:spcPts val="400"/>
              </a:spcAft>
              <a:buNone/>
            </a:pPr>
            <a:r>
              <a:rPr lang="en-US" sz="1600" dirty="0">
                <a:solidFill>
                  <a:srgbClr val="C9D3D1"/>
                </a:solidFill>
                <a:latin typeface="Calibri" pitchFamily="34" charset="0"/>
                <a:ea typeface="Calibri" pitchFamily="34" charset="-122"/>
                <a:cs typeface="Calibri" pitchFamily="34" charset="-120"/>
              </a:rPr>
              <a:t>Ngo Lam Tien (leader)  ·  Nguyen Cong Thanh  ·  Nguyen Le Nhat Tam  ·  Ngo Binh Minh</a:t>
            </a:r>
            <a:endParaRPr lang="en-US" sz="1600" dirty="0"/>
          </a:p>
          <a:p>
            <a:pPr indent="0" marL="0">
              <a:spcAft>
                <a:spcPts val="400"/>
              </a:spcAft>
              <a:buNone/>
            </a:pPr>
            <a:r>
              <a:rPr lang="en-US" sz="1600" dirty="0">
                <a:solidFill>
                  <a:srgbClr val="9AA6A4"/>
                </a:solidFill>
                <a:latin typeface="Calibri" pitchFamily="34" charset="0"/>
                <a:ea typeface="Calibri" pitchFamily="34" charset="-122"/>
                <a:cs typeface="Calibri" pitchFamily="34" charset="-120"/>
              </a:rPr>
              <a:t>Lecturer: Ho Thi Linh, Ph.D.   ·   Ton Duc Thang University   ·   16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THE DECISION</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One business question, four analytical questions</a:t>
            </a:r>
            <a:endParaRPr lang="en-US" sz="3200" dirty="0"/>
          </a:p>
        </p:txBody>
      </p:sp>
      <p:sp>
        <p:nvSpPr>
          <p:cNvPr id="4" name="text_3"/>
          <p:cNvSpPr txBox="1"/>
          <p:nvPr/>
        </p:nvSpPr>
        <p:spPr>
          <a:xfrm>
            <a:off x="548640" y="1508760"/>
            <a:ext cx="11064240" cy="640080"/>
          </a:xfrm>
          <a:prstGeom prst="rect">
            <a:avLst/>
          </a:prstGeom>
          <a:noFill/>
          <a:ln/>
        </p:spPr>
        <p:txBody>
          <a:bodyPr wrap="square" lIns="0" tIns="0" rIns="0" bIns="0" rtlCol="0" anchor="ctr"/>
          <a:lstStyle/>
          <a:p>
            <a:pPr indent="0" marL="0">
              <a:buNone/>
            </a:pPr>
            <a:r>
              <a:rPr lang="en-US" sz="1600" dirty="0">
                <a:solidFill>
                  <a:srgbClr val="3A474C"/>
                </a:solidFill>
                <a:latin typeface="Calibri" pitchFamily="34" charset="0"/>
                <a:ea typeface="Calibri" pitchFamily="34" charset="-122"/>
                <a:cs typeface="Calibri" pitchFamily="34" charset="-120"/>
              </a:rPr>
              <a:t>Marketing needs a yes/no decision within days. We broke it down with the four types of analytics from Chapter 1, and fixed four hypotheses before looking at any result.</a:t>
            </a:r>
            <a:endParaRPr lang="en-US" sz="1600" dirty="0"/>
          </a:p>
        </p:txBody>
      </p:sp>
      <p:sp>
        <p:nvSpPr>
          <p:cNvPr id="5" name="card_4"/>
          <p:cNvSpPr/>
          <p:nvPr/>
        </p:nvSpPr>
        <p:spPr>
          <a:xfrm>
            <a:off x="548640" y="2286000"/>
            <a:ext cx="5440680" cy="1508760"/>
          </a:xfrm>
          <a:prstGeom prst="roundRect">
            <a:avLst>
              <a:gd name="adj" fmla="val 4848"/>
            </a:avLst>
          </a:prstGeom>
          <a:solidFill>
            <a:srgbClr val="F2F4F3"/>
          </a:solidFill>
          <a:ln w="12700">
            <a:solidFill>
              <a:srgbClr val="F2F4F3"/>
            </a:solidFill>
            <a:prstDash val="solid"/>
          </a:ln>
        </p:spPr>
      </p:sp>
      <p:sp>
        <p:nvSpPr>
          <p:cNvPr id="6" name="badge_5"/>
          <p:cNvSpPr/>
          <p:nvPr/>
        </p:nvSpPr>
        <p:spPr>
          <a:xfrm>
            <a:off x="822960" y="2578608"/>
            <a:ext cx="438912" cy="438912"/>
          </a:xfrm>
          <a:prstGeom prst="ellipse">
            <a:avLst/>
          </a:prstGeom>
          <a:solidFill>
            <a:srgbClr val="1BAF7A"/>
          </a:solidFill>
          <a:ln w="12700">
            <a:solidFill>
              <a:srgbClr val="1BAF7A"/>
            </a:solidFill>
            <a:prstDash val="solid"/>
          </a:ln>
        </p:spPr>
      </p:sp>
      <p:sp>
        <p:nvSpPr>
          <p:cNvPr id="7" name="text_6"/>
          <p:cNvSpPr txBox="1"/>
          <p:nvPr/>
        </p:nvSpPr>
        <p:spPr>
          <a:xfrm>
            <a:off x="822960" y="257860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_7"/>
          <p:cNvSpPr txBox="1"/>
          <p:nvPr/>
        </p:nvSpPr>
        <p:spPr>
          <a:xfrm>
            <a:off x="1463040" y="2542032"/>
            <a:ext cx="4343400" cy="365760"/>
          </a:xfrm>
          <a:prstGeom prst="rect">
            <a:avLst/>
          </a:prstGeom>
          <a:noFill/>
          <a:ln/>
        </p:spPr>
        <p:txBody>
          <a:bodyPr wrap="square" lIns="0" tIns="0" rIns="0" bIns="0" rtlCol="0" anchor="ctr"/>
          <a:lstStyle/>
          <a:p>
            <a:pPr indent="0" marL="0">
              <a:buNone/>
            </a:pPr>
            <a:r>
              <a:rPr lang="en-US" sz="1800" b="1" dirty="0">
                <a:solidFill>
                  <a:srgbClr val="1F2A2E"/>
                </a:solidFill>
                <a:latin typeface="Calibri" pitchFamily="34" charset="0"/>
                <a:ea typeface="Calibri" pitchFamily="34" charset="-122"/>
                <a:cs typeface="Calibri" pitchFamily="34" charset="-120"/>
              </a:rPr>
              <a:t>Descriptive  </a:t>
            </a:r>
            <a:pPr indent="0" marL="0">
              <a:buNone/>
            </a:pPr>
            <a:r>
              <a:rPr lang="en-US" sz="1800" b="1" dirty="0">
                <a:solidFill>
                  <a:srgbClr val="1BAF7A"/>
                </a:solidFill>
                <a:latin typeface="Calibri" pitchFamily="34" charset="0"/>
                <a:ea typeface="Calibri" pitchFamily="34" charset="-122"/>
                <a:cs typeface="Calibri" pitchFamily="34" charset="-120"/>
              </a:rPr>
              <a:t>What happened?</a:t>
            </a:r>
            <a:endParaRPr lang="en-US" sz="1800" dirty="0"/>
          </a:p>
        </p:txBody>
      </p:sp>
      <p:sp>
        <p:nvSpPr>
          <p:cNvPr id="9" name="text_8"/>
          <p:cNvSpPr txBox="1"/>
          <p:nvPr/>
        </p:nvSpPr>
        <p:spPr>
          <a:xfrm>
            <a:off x="1463040" y="2944368"/>
            <a:ext cx="434340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How big is the F&amp;B conversation, what is it about, and how negative is it compared with all tweets?</a:t>
            </a:r>
            <a:endParaRPr lang="en-US" sz="1400" dirty="0"/>
          </a:p>
        </p:txBody>
      </p:sp>
      <p:sp>
        <p:nvSpPr>
          <p:cNvPr id="10" name="card_9"/>
          <p:cNvSpPr/>
          <p:nvPr/>
        </p:nvSpPr>
        <p:spPr>
          <a:xfrm>
            <a:off x="6172200" y="2286000"/>
            <a:ext cx="5440680" cy="1508760"/>
          </a:xfrm>
          <a:prstGeom prst="roundRect">
            <a:avLst>
              <a:gd name="adj" fmla="val 4848"/>
            </a:avLst>
          </a:prstGeom>
          <a:solidFill>
            <a:srgbClr val="F2F4F3"/>
          </a:solidFill>
          <a:ln w="12700">
            <a:solidFill>
              <a:srgbClr val="F2F4F3"/>
            </a:solidFill>
            <a:prstDash val="solid"/>
          </a:ln>
        </p:spPr>
      </p:sp>
      <p:sp>
        <p:nvSpPr>
          <p:cNvPr id="11" name="badge_10"/>
          <p:cNvSpPr/>
          <p:nvPr/>
        </p:nvSpPr>
        <p:spPr>
          <a:xfrm>
            <a:off x="6446520" y="2578608"/>
            <a:ext cx="438912" cy="438912"/>
          </a:xfrm>
          <a:prstGeom prst="ellipse">
            <a:avLst/>
          </a:prstGeom>
          <a:solidFill>
            <a:srgbClr val="1BAF7A"/>
          </a:solidFill>
          <a:ln w="12700">
            <a:solidFill>
              <a:srgbClr val="1BAF7A"/>
            </a:solidFill>
            <a:prstDash val="solid"/>
          </a:ln>
        </p:spPr>
      </p:sp>
      <p:sp>
        <p:nvSpPr>
          <p:cNvPr id="12" name="text_11"/>
          <p:cNvSpPr txBox="1"/>
          <p:nvPr/>
        </p:nvSpPr>
        <p:spPr>
          <a:xfrm>
            <a:off x="6446520" y="257860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_12"/>
          <p:cNvSpPr txBox="1"/>
          <p:nvPr/>
        </p:nvSpPr>
        <p:spPr>
          <a:xfrm>
            <a:off x="7086600" y="2542032"/>
            <a:ext cx="4343400" cy="365760"/>
          </a:xfrm>
          <a:prstGeom prst="rect">
            <a:avLst/>
          </a:prstGeom>
          <a:noFill/>
          <a:ln/>
        </p:spPr>
        <p:txBody>
          <a:bodyPr wrap="square" lIns="0" tIns="0" rIns="0" bIns="0" rtlCol="0" anchor="ctr"/>
          <a:lstStyle/>
          <a:p>
            <a:pPr indent="0" marL="0">
              <a:buNone/>
            </a:pPr>
            <a:r>
              <a:rPr lang="en-US" sz="1800" b="1" dirty="0">
                <a:solidFill>
                  <a:srgbClr val="1F2A2E"/>
                </a:solidFill>
                <a:latin typeface="Calibri" pitchFamily="34" charset="0"/>
                <a:ea typeface="Calibri" pitchFamily="34" charset="-122"/>
                <a:cs typeface="Calibri" pitchFamily="34" charset="-120"/>
              </a:rPr>
              <a:t>Diagnostic  </a:t>
            </a:r>
            <a:pPr indent="0" marL="0">
              <a:buNone/>
            </a:pPr>
            <a:r>
              <a:rPr lang="en-US" sz="1800" b="1" dirty="0">
                <a:solidFill>
                  <a:srgbClr val="1BAF7A"/>
                </a:solidFill>
                <a:latin typeface="Calibri" pitchFamily="34" charset="0"/>
                <a:ea typeface="Calibri" pitchFamily="34" charset="-122"/>
                <a:cs typeface="Calibri" pitchFamily="34" charset="-120"/>
              </a:rPr>
              <a:t>Why did it happen?</a:t>
            </a:r>
            <a:endParaRPr lang="en-US" sz="1800" dirty="0"/>
          </a:p>
        </p:txBody>
      </p:sp>
      <p:sp>
        <p:nvSpPr>
          <p:cNvPr id="14" name="text_13"/>
          <p:cNvSpPr txBox="1"/>
          <p:nvPr/>
        </p:nvSpPr>
        <p:spPr>
          <a:xfrm>
            <a:off x="7086600" y="2944368"/>
            <a:ext cx="434340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Which aspects of the experience and which moments go together with negative tweets?</a:t>
            </a:r>
            <a:endParaRPr lang="en-US" sz="1400" dirty="0"/>
          </a:p>
        </p:txBody>
      </p:sp>
      <p:sp>
        <p:nvSpPr>
          <p:cNvPr id="15" name="card_14"/>
          <p:cNvSpPr/>
          <p:nvPr/>
        </p:nvSpPr>
        <p:spPr>
          <a:xfrm>
            <a:off x="548640" y="3977640"/>
            <a:ext cx="5440680" cy="1508760"/>
          </a:xfrm>
          <a:prstGeom prst="roundRect">
            <a:avLst>
              <a:gd name="adj" fmla="val 4848"/>
            </a:avLst>
          </a:prstGeom>
          <a:solidFill>
            <a:srgbClr val="F2F4F3"/>
          </a:solidFill>
          <a:ln w="12700">
            <a:solidFill>
              <a:srgbClr val="F2F4F3"/>
            </a:solidFill>
            <a:prstDash val="solid"/>
          </a:ln>
        </p:spPr>
      </p:sp>
      <p:sp>
        <p:nvSpPr>
          <p:cNvPr id="16" name="badge_15"/>
          <p:cNvSpPr/>
          <p:nvPr/>
        </p:nvSpPr>
        <p:spPr>
          <a:xfrm>
            <a:off x="822960" y="4270248"/>
            <a:ext cx="438912" cy="438912"/>
          </a:xfrm>
          <a:prstGeom prst="ellipse">
            <a:avLst/>
          </a:prstGeom>
          <a:solidFill>
            <a:srgbClr val="1BAF7A"/>
          </a:solidFill>
          <a:ln w="12700">
            <a:solidFill>
              <a:srgbClr val="1BAF7A"/>
            </a:solidFill>
            <a:prstDash val="solid"/>
          </a:ln>
        </p:spPr>
      </p:sp>
      <p:sp>
        <p:nvSpPr>
          <p:cNvPr id="17" name="text_16"/>
          <p:cNvSpPr txBox="1"/>
          <p:nvPr/>
        </p:nvSpPr>
        <p:spPr>
          <a:xfrm>
            <a:off x="822960" y="427024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_17"/>
          <p:cNvSpPr txBox="1"/>
          <p:nvPr/>
        </p:nvSpPr>
        <p:spPr>
          <a:xfrm>
            <a:off x="1463040" y="4233672"/>
            <a:ext cx="4343400" cy="365760"/>
          </a:xfrm>
          <a:prstGeom prst="rect">
            <a:avLst/>
          </a:prstGeom>
          <a:noFill/>
          <a:ln/>
        </p:spPr>
        <p:txBody>
          <a:bodyPr wrap="square" lIns="0" tIns="0" rIns="0" bIns="0" rtlCol="0" anchor="ctr"/>
          <a:lstStyle/>
          <a:p>
            <a:pPr indent="0" marL="0">
              <a:buNone/>
            </a:pPr>
            <a:r>
              <a:rPr lang="en-US" sz="1800" b="1" dirty="0">
                <a:solidFill>
                  <a:srgbClr val="1F2A2E"/>
                </a:solidFill>
                <a:latin typeface="Calibri" pitchFamily="34" charset="0"/>
                <a:ea typeface="Calibri" pitchFamily="34" charset="-122"/>
                <a:cs typeface="Calibri" pitchFamily="34" charset="-120"/>
              </a:rPr>
              <a:t>Predictive  </a:t>
            </a:r>
            <a:pPr indent="0" marL="0">
              <a:buNone/>
            </a:pPr>
            <a:r>
              <a:rPr lang="en-US" sz="1800" b="1" dirty="0">
                <a:solidFill>
                  <a:srgbClr val="1BAF7A"/>
                </a:solidFill>
                <a:latin typeface="Calibri" pitchFamily="34" charset="0"/>
                <a:ea typeface="Calibri" pitchFamily="34" charset="-122"/>
                <a:cs typeface="Calibri" pitchFamily="34" charset="-120"/>
              </a:rPr>
              <a:t>What will happen?</a:t>
            </a:r>
            <a:endParaRPr lang="en-US" sz="1800" dirty="0"/>
          </a:p>
        </p:txBody>
      </p:sp>
      <p:sp>
        <p:nvSpPr>
          <p:cNvPr id="19" name="text_18"/>
          <p:cNvSpPr txBox="1"/>
          <p:nvPr/>
        </p:nvSpPr>
        <p:spPr>
          <a:xfrm>
            <a:off x="1463040" y="4636008"/>
            <a:ext cx="434340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Can a model trained on past weeks label next week's tweets reliably?</a:t>
            </a:r>
            <a:endParaRPr lang="en-US" sz="1400" dirty="0"/>
          </a:p>
        </p:txBody>
      </p:sp>
      <p:sp>
        <p:nvSpPr>
          <p:cNvPr id="20" name="card_19"/>
          <p:cNvSpPr/>
          <p:nvPr/>
        </p:nvSpPr>
        <p:spPr>
          <a:xfrm>
            <a:off x="6172200" y="3977640"/>
            <a:ext cx="5440680" cy="1508760"/>
          </a:xfrm>
          <a:prstGeom prst="roundRect">
            <a:avLst>
              <a:gd name="adj" fmla="val 4848"/>
            </a:avLst>
          </a:prstGeom>
          <a:solidFill>
            <a:srgbClr val="F2F4F3"/>
          </a:solidFill>
          <a:ln w="12700">
            <a:solidFill>
              <a:srgbClr val="F2F4F3"/>
            </a:solidFill>
            <a:prstDash val="solid"/>
          </a:ln>
        </p:spPr>
      </p:sp>
      <p:sp>
        <p:nvSpPr>
          <p:cNvPr id="21" name="badge_20"/>
          <p:cNvSpPr/>
          <p:nvPr/>
        </p:nvSpPr>
        <p:spPr>
          <a:xfrm>
            <a:off x="6446520" y="4270248"/>
            <a:ext cx="438912" cy="438912"/>
          </a:xfrm>
          <a:prstGeom prst="ellipse">
            <a:avLst/>
          </a:prstGeom>
          <a:solidFill>
            <a:srgbClr val="1BAF7A"/>
          </a:solidFill>
          <a:ln w="12700">
            <a:solidFill>
              <a:srgbClr val="1BAF7A"/>
            </a:solidFill>
            <a:prstDash val="solid"/>
          </a:ln>
        </p:spPr>
      </p:sp>
      <p:sp>
        <p:nvSpPr>
          <p:cNvPr id="22" name="text_21"/>
          <p:cNvSpPr txBox="1"/>
          <p:nvPr/>
        </p:nvSpPr>
        <p:spPr>
          <a:xfrm>
            <a:off x="6446520" y="427024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_22"/>
          <p:cNvSpPr txBox="1"/>
          <p:nvPr/>
        </p:nvSpPr>
        <p:spPr>
          <a:xfrm>
            <a:off x="7086600" y="4233672"/>
            <a:ext cx="4343400" cy="365760"/>
          </a:xfrm>
          <a:prstGeom prst="rect">
            <a:avLst/>
          </a:prstGeom>
          <a:noFill/>
          <a:ln/>
        </p:spPr>
        <p:txBody>
          <a:bodyPr wrap="square" lIns="0" tIns="0" rIns="0" bIns="0" rtlCol="0" anchor="ctr"/>
          <a:lstStyle/>
          <a:p>
            <a:pPr indent="0" marL="0">
              <a:buNone/>
            </a:pPr>
            <a:r>
              <a:rPr lang="en-US" sz="1800" b="1" dirty="0">
                <a:solidFill>
                  <a:srgbClr val="1F2A2E"/>
                </a:solidFill>
                <a:latin typeface="Calibri" pitchFamily="34" charset="0"/>
                <a:ea typeface="Calibri" pitchFamily="34" charset="-122"/>
                <a:cs typeface="Calibri" pitchFamily="34" charset="-120"/>
              </a:rPr>
              <a:t>Prescriptive  </a:t>
            </a:r>
            <a:pPr indent="0" marL="0">
              <a:buNone/>
            </a:pPr>
            <a:r>
              <a:rPr lang="en-US" sz="1800" b="1" dirty="0">
                <a:solidFill>
                  <a:srgbClr val="1BAF7A"/>
                </a:solidFill>
                <a:latin typeface="Calibri" pitchFamily="34" charset="0"/>
                <a:ea typeface="Calibri" pitchFamily="34" charset="-122"/>
                <a:cs typeface="Calibri" pitchFamily="34" charset="-120"/>
              </a:rPr>
              <a:t>What should we do?</a:t>
            </a:r>
            <a:endParaRPr lang="en-US" sz="1800" dirty="0"/>
          </a:p>
        </p:txBody>
      </p:sp>
      <p:sp>
        <p:nvSpPr>
          <p:cNvPr id="24" name="text_23"/>
          <p:cNvSpPr txBox="1"/>
          <p:nvPr/>
        </p:nvSpPr>
        <p:spPr>
          <a:xfrm>
            <a:off x="7086600" y="4636008"/>
            <a:ext cx="434340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Which message changes, how much impact, and when should the team be alerted?</a:t>
            </a:r>
            <a:endParaRPr lang="en-US" sz="1400" dirty="0"/>
          </a:p>
        </p:txBody>
      </p:sp>
      <p:sp>
        <p:nvSpPr>
          <p:cNvPr id="25" name="text_24"/>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400" b="1" dirty="0">
                <a:solidFill>
                  <a:srgbClr val="6B6A66"/>
                </a:solidFill>
                <a:latin typeface="Calibri" pitchFamily="34" charset="0"/>
                <a:ea typeface="Calibri" pitchFamily="34" charset="-122"/>
                <a:cs typeface="Calibri" pitchFamily="34" charset="-120"/>
              </a:rPr>
              <a:t>Hypotheses: </a:t>
            </a:r>
            <a:pPr indent="0" marL="0">
              <a:buNone/>
            </a:pPr>
            <a:r>
              <a:rPr lang="en-US" sz="1400" dirty="0">
                <a:solidFill>
                  <a:srgbClr val="6B6A66"/>
                </a:solidFill>
                <a:latin typeface="Calibri" pitchFamily="34" charset="0"/>
                <a:ea typeface="Calibri" pitchFamily="34" charset="-122"/>
                <a:cs typeface="Calibri" pitchFamily="34" charset="-120"/>
              </a:rPr>
              <a:t>H1 service &amp; waiting · H2 price &amp; value · H3 morning caffeine differ from the rest of F&amp;B · H4 launch-week lift differs from baseline.  Practical threshold: ≥ 5 pp.</a:t>
            </a:r>
            <a:endParaRPr lang="en-US" sz="1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EXECUTIVE SUMMARY</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Keep the core message, fix three pain points</a:t>
            </a:r>
            <a:endParaRPr lang="en-US" sz="3200" dirty="0"/>
          </a:p>
        </p:txBody>
      </p:sp>
      <p:sp>
        <p:nvSpPr>
          <p:cNvPr id="4" name="card_25"/>
          <p:cNvSpPr/>
          <p:nvPr/>
        </p:nvSpPr>
        <p:spPr>
          <a:xfrm>
            <a:off x="548640" y="1645920"/>
            <a:ext cx="2651760" cy="2148840"/>
          </a:xfrm>
          <a:prstGeom prst="roundRect">
            <a:avLst>
              <a:gd name="adj" fmla="val 3404"/>
            </a:avLst>
          </a:prstGeom>
          <a:solidFill>
            <a:srgbClr val="F2F4F3"/>
          </a:solidFill>
          <a:ln w="12700">
            <a:solidFill>
              <a:srgbClr val="F2F4F3"/>
            </a:solidFill>
            <a:prstDash val="solid"/>
          </a:ln>
        </p:spPr>
      </p:sp>
      <p:sp>
        <p:nvSpPr>
          <p:cNvPr id="5" name="text_26"/>
          <p:cNvSpPr txBox="1"/>
          <p:nvPr/>
        </p:nvSpPr>
        <p:spPr>
          <a:xfrm>
            <a:off x="777240" y="1828800"/>
            <a:ext cx="2240280" cy="68580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−5.1 pp</a:t>
            </a:r>
            <a:endParaRPr lang="en-US" sz="4000" dirty="0"/>
          </a:p>
        </p:txBody>
      </p:sp>
      <p:sp>
        <p:nvSpPr>
          <p:cNvPr id="6" name="text_27"/>
          <p:cNvSpPr txBox="1"/>
          <p:nvPr/>
        </p:nvSpPr>
        <p:spPr>
          <a:xfrm>
            <a:off x="777240" y="2560320"/>
            <a:ext cx="224028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F&amp;B tweets are less negative than all tweets (negative lift)</a:t>
            </a:r>
            <a:endParaRPr lang="en-US" sz="1400" dirty="0"/>
          </a:p>
        </p:txBody>
      </p:sp>
      <p:sp>
        <p:nvSpPr>
          <p:cNvPr id="7" name="card_28"/>
          <p:cNvSpPr/>
          <p:nvPr/>
        </p:nvSpPr>
        <p:spPr>
          <a:xfrm>
            <a:off x="3383280" y="1645920"/>
            <a:ext cx="2651760" cy="2148840"/>
          </a:xfrm>
          <a:prstGeom prst="roundRect">
            <a:avLst>
              <a:gd name="adj" fmla="val 3404"/>
            </a:avLst>
          </a:prstGeom>
          <a:solidFill>
            <a:srgbClr val="F2F4F3"/>
          </a:solidFill>
          <a:ln w="12700">
            <a:solidFill>
              <a:srgbClr val="F2F4F3"/>
            </a:solidFill>
            <a:prstDash val="solid"/>
          </a:ln>
        </p:spPr>
      </p:sp>
      <p:sp>
        <p:nvSpPr>
          <p:cNvPr id="8" name="text_29"/>
          <p:cNvSpPr txBox="1"/>
          <p:nvPr/>
        </p:nvSpPr>
        <p:spPr>
          <a:xfrm>
            <a:off x="3611880" y="1828800"/>
            <a:ext cx="2240280" cy="685800"/>
          </a:xfrm>
          <a:prstGeom prst="rect">
            <a:avLst/>
          </a:prstGeom>
          <a:noFill/>
          <a:ln/>
        </p:spPr>
        <p:txBody>
          <a:bodyPr wrap="square" lIns="0" tIns="0" rIns="0" bIns="0" rtlCol="0" anchor="ctr"/>
          <a:lstStyle/>
          <a:p>
            <a:pPr indent="0" marL="0">
              <a:buNone/>
            </a:pPr>
            <a:r>
              <a:rPr lang="en-US" sz="4000" b="1" dirty="0">
                <a:solidFill>
                  <a:srgbClr val="3A474C"/>
                </a:solidFill>
                <a:latin typeface="Cambria" pitchFamily="34" charset="0"/>
                <a:ea typeface="Cambria" pitchFamily="34" charset="-122"/>
                <a:cs typeface="Cambria" pitchFamily="34" charset="-120"/>
              </a:rPr>
              <a:t>p = 0.37</a:t>
            </a:r>
            <a:endParaRPr lang="en-US" sz="4000" dirty="0"/>
          </a:p>
        </p:txBody>
      </p:sp>
      <p:sp>
        <p:nvSpPr>
          <p:cNvPr id="9" name="text_30"/>
          <p:cNvSpPr txBox="1"/>
          <p:nvPr/>
        </p:nvSpPr>
        <p:spPr>
          <a:xfrm>
            <a:off x="3611880" y="2560320"/>
            <a:ext cx="224028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Launch week is no different from the baseline weeks (H4)</a:t>
            </a:r>
            <a:endParaRPr lang="en-US" sz="1400" dirty="0"/>
          </a:p>
        </p:txBody>
      </p:sp>
      <p:sp>
        <p:nvSpPr>
          <p:cNvPr id="10" name="card_31"/>
          <p:cNvSpPr/>
          <p:nvPr/>
        </p:nvSpPr>
        <p:spPr>
          <a:xfrm>
            <a:off x="6217920" y="1645920"/>
            <a:ext cx="2651760" cy="2148840"/>
          </a:xfrm>
          <a:prstGeom prst="roundRect">
            <a:avLst>
              <a:gd name="adj" fmla="val 3404"/>
            </a:avLst>
          </a:prstGeom>
          <a:solidFill>
            <a:srgbClr val="F2F4F3"/>
          </a:solidFill>
          <a:ln w="12700">
            <a:solidFill>
              <a:srgbClr val="F2F4F3"/>
            </a:solidFill>
            <a:prstDash val="solid"/>
          </a:ln>
        </p:spPr>
      </p:sp>
      <p:sp>
        <p:nvSpPr>
          <p:cNvPr id="11" name="text_32"/>
          <p:cNvSpPr txBox="1"/>
          <p:nvPr/>
        </p:nvSpPr>
        <p:spPr>
          <a:xfrm>
            <a:off x="6446520" y="1828800"/>
            <a:ext cx="2240280" cy="685800"/>
          </a:xfrm>
          <a:prstGeom prst="rect">
            <a:avLst/>
          </a:prstGeom>
          <a:noFill/>
          <a:ln/>
        </p:spPr>
        <p:txBody>
          <a:bodyPr wrap="square" lIns="0" tIns="0" rIns="0" bIns="0" rtlCol="0" anchor="ctr"/>
          <a:lstStyle/>
          <a:p>
            <a:pPr indent="0" marL="0">
              <a:buNone/>
            </a:pPr>
            <a:r>
              <a:rPr lang="en-US" sz="4000" b="1" dirty="0">
                <a:solidFill>
                  <a:srgbClr val="6250D6"/>
                </a:solidFill>
                <a:latin typeface="Cambria" pitchFamily="34" charset="0"/>
                <a:ea typeface="Cambria" pitchFamily="34" charset="-122"/>
                <a:cs typeface="Cambria" pitchFamily="34" charset="-120"/>
              </a:rPr>
              <a:t>0.896</a:t>
            </a:r>
            <a:endParaRPr lang="en-US" sz="4000" dirty="0"/>
          </a:p>
        </p:txBody>
      </p:sp>
      <p:sp>
        <p:nvSpPr>
          <p:cNvPr id="12" name="text_33"/>
          <p:cNvSpPr txBox="1"/>
          <p:nvPr/>
        </p:nvSpPr>
        <p:spPr>
          <a:xfrm>
            <a:off x="6446520" y="2560320"/>
            <a:ext cx="224028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ROC-AUC of our model on the unseen next week</a:t>
            </a:r>
            <a:endParaRPr lang="en-US" sz="1400" dirty="0"/>
          </a:p>
        </p:txBody>
      </p:sp>
      <p:sp>
        <p:nvSpPr>
          <p:cNvPr id="13" name="card_34"/>
          <p:cNvSpPr/>
          <p:nvPr/>
        </p:nvSpPr>
        <p:spPr>
          <a:xfrm>
            <a:off x="9052560" y="1645920"/>
            <a:ext cx="2651760" cy="2148840"/>
          </a:xfrm>
          <a:prstGeom prst="roundRect">
            <a:avLst>
              <a:gd name="adj" fmla="val 3404"/>
            </a:avLst>
          </a:prstGeom>
          <a:solidFill>
            <a:srgbClr val="F2F4F3"/>
          </a:solidFill>
          <a:ln w="12700">
            <a:solidFill>
              <a:srgbClr val="F2F4F3"/>
            </a:solidFill>
            <a:prstDash val="solid"/>
          </a:ln>
        </p:spPr>
      </p:sp>
      <p:sp>
        <p:nvSpPr>
          <p:cNvPr id="14" name="text_35"/>
          <p:cNvSpPr txBox="1"/>
          <p:nvPr/>
        </p:nvSpPr>
        <p:spPr>
          <a:xfrm>
            <a:off x="9281160" y="1828800"/>
            <a:ext cx="2240280" cy="68580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3</a:t>
            </a:r>
            <a:endParaRPr lang="en-US" sz="4000" dirty="0"/>
          </a:p>
        </p:txBody>
      </p:sp>
      <p:sp>
        <p:nvSpPr>
          <p:cNvPr id="15" name="text_36"/>
          <p:cNvSpPr txBox="1"/>
          <p:nvPr/>
        </p:nvSpPr>
        <p:spPr>
          <a:xfrm>
            <a:off x="9281160" y="2560320"/>
            <a:ext cx="224028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product issues to fix: availability, service, price</a:t>
            </a:r>
            <a:endParaRPr lang="en-US" sz="1400" dirty="0"/>
          </a:p>
        </p:txBody>
      </p:sp>
      <p:sp>
        <p:nvSpPr>
          <p:cNvPr id="16" name="card_37"/>
          <p:cNvSpPr/>
          <p:nvPr/>
        </p:nvSpPr>
        <p:spPr>
          <a:xfrm>
            <a:off x="548640" y="4069080"/>
            <a:ext cx="11064240" cy="2057400"/>
          </a:xfrm>
          <a:prstGeom prst="roundRect">
            <a:avLst>
              <a:gd name="adj" fmla="val 3556"/>
            </a:avLst>
          </a:prstGeom>
          <a:solidFill>
            <a:srgbClr val="E3F5EE"/>
          </a:solidFill>
          <a:ln w="12700">
            <a:solidFill>
              <a:srgbClr val="E3F5EE"/>
            </a:solidFill>
            <a:prstDash val="solid"/>
          </a:ln>
        </p:spPr>
      </p:sp>
      <p:sp>
        <p:nvSpPr>
          <p:cNvPr id="17" name="text_38"/>
          <p:cNvSpPr txBox="1"/>
          <p:nvPr/>
        </p:nvSpPr>
        <p:spPr>
          <a:xfrm>
            <a:off x="822960" y="4251960"/>
            <a:ext cx="5486400" cy="365760"/>
          </a:xfrm>
          <a:prstGeom prst="rect">
            <a:avLst/>
          </a:prstGeom>
          <a:noFill/>
          <a:ln/>
        </p:spPr>
        <p:txBody>
          <a:bodyPr wrap="square" lIns="0" tIns="0" rIns="0" bIns="0" rtlCol="0" anchor="ctr"/>
          <a:lstStyle/>
          <a:p>
            <a:pPr indent="0" marL="0">
              <a:buNone/>
            </a:pPr>
            <a:r>
              <a:rPr lang="en-US" sz="1800" b="1" dirty="0">
                <a:solidFill>
                  <a:srgbClr val="1F2A2E"/>
                </a:solidFill>
                <a:latin typeface="Calibri" pitchFamily="34" charset="0"/>
                <a:ea typeface="Calibri" pitchFamily="34" charset="-122"/>
                <a:cs typeface="Calibri" pitchFamily="34" charset="-120"/>
              </a:rPr>
              <a:t>Recommendation</a:t>
            </a:r>
            <a:endParaRPr lang="en-US" sz="1800" dirty="0"/>
          </a:p>
        </p:txBody>
      </p:sp>
      <p:sp>
        <p:nvSpPr>
          <p:cNvPr id="18" name="text_39"/>
          <p:cNvSpPr txBox="1"/>
          <p:nvPr/>
        </p:nvSpPr>
        <p:spPr>
          <a:xfrm>
            <a:off x="822960" y="4663440"/>
            <a:ext cx="10515600" cy="13716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3A474C"/>
                </a:solidFill>
                <a:latin typeface="Calibri" pitchFamily="34" charset="0"/>
                <a:ea typeface="Calibri" pitchFamily="34" charset="-122"/>
                <a:cs typeface="Calibri" pitchFamily="34" charset="-120"/>
              </a:rPr>
              <a:t>No rewrite: the mixed reactions are the normal mix of the category, not a launch backlash.</a:t>
            </a:r>
            <a:endParaRPr lang="en-US" sz="1600" dirty="0"/>
          </a:p>
          <a:p>
            <a:pPr marL="342900" indent="-342900">
              <a:spcAft>
                <a:spcPts val="600"/>
              </a:spcAft>
              <a:buSzPct val="100000"/>
              <a:buChar char="•"/>
            </a:pPr>
            <a:r>
              <a:rPr lang="en-US" sz="1600" dirty="0">
                <a:solidFill>
                  <a:srgbClr val="3A474C"/>
                </a:solidFill>
                <a:latin typeface="Calibri" pitchFamily="34" charset="0"/>
                <a:ea typeface="Calibri" pitchFamily="34" charset="-122"/>
                <a:cs typeface="Calibri" pitchFamily="34" charset="-120"/>
              </a:rPr>
              <a:t>Targeted fixes where tweets are most negative: availability (+45.3 pp), price (+5.6 pp), service (+5.4 pp, evening +10.2 pp).</a:t>
            </a:r>
            <a:endParaRPr lang="en-US" sz="1600" dirty="0"/>
          </a:p>
          <a:p>
            <a:pPr marL="342900" indent="-342900">
              <a:spcAft>
                <a:spcPts val="600"/>
              </a:spcAft>
              <a:buSzPct val="100000"/>
              <a:buChar char="•"/>
            </a:pPr>
            <a:r>
              <a:rPr lang="en-US" sz="1600" dirty="0">
                <a:solidFill>
                  <a:srgbClr val="3A474C"/>
                </a:solidFill>
                <a:latin typeface="Calibri" pitchFamily="34" charset="0"/>
                <a:ea typeface="Calibri" pitchFamily="34" charset="-122"/>
                <a:cs typeface="Calibri" pitchFamily="34" charset="-120"/>
              </a:rPr>
              <a:t>Creative around trying and sharing; daily monitoring with an alert limit of +1.5 pp.</a:t>
            </a:r>
            <a:endParaRPr lang="en-US" sz="16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DATA</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1.6 million tweets, one usable F&amp;B stream</a:t>
            </a:r>
            <a:endParaRPr lang="en-US" sz="3200" dirty="0"/>
          </a:p>
        </p:txBody>
      </p:sp>
      <p:sp>
        <p:nvSpPr>
          <p:cNvPr id="4" name="text_40"/>
          <p:cNvSpPr txBox="1"/>
          <p:nvPr/>
        </p:nvSpPr>
        <p:spPr>
          <a:xfrm>
            <a:off x="548640" y="1600200"/>
            <a:ext cx="1325880" cy="731520"/>
          </a:xfrm>
          <a:prstGeom prst="rect">
            <a:avLst/>
          </a:prstGeom>
          <a:noFill/>
          <a:ln/>
        </p:spPr>
        <p:txBody>
          <a:bodyPr wrap="square" lIns="0" tIns="0" rIns="0" bIns="0" rtlCol="0" anchor="t"/>
          <a:lstStyle/>
          <a:p>
            <a:pPr indent="0" marL="0">
              <a:buNone/>
            </a:pPr>
            <a:r>
              <a:rPr lang="en-US" sz="1500" b="1" dirty="0">
                <a:solidFill>
                  <a:srgbClr val="1BAF7A"/>
                </a:solidFill>
                <a:latin typeface="Calibri" pitchFamily="34" charset="0"/>
                <a:ea typeface="Calibri" pitchFamily="34" charset="-122"/>
                <a:cs typeface="Calibri" pitchFamily="34" charset="-120"/>
              </a:rPr>
              <a:t>Source</a:t>
            </a:r>
            <a:endParaRPr lang="en-US" sz="1500" dirty="0"/>
          </a:p>
        </p:txBody>
      </p:sp>
      <p:sp>
        <p:nvSpPr>
          <p:cNvPr id="5" name="text_41"/>
          <p:cNvSpPr txBox="1"/>
          <p:nvPr/>
        </p:nvSpPr>
        <p:spPr>
          <a:xfrm>
            <a:off x="1874520" y="1600200"/>
            <a:ext cx="4206240" cy="77724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Sentiment140 (Go et al., 2009), Kaggle copy: 1,600,000 tweets, Apr-Jun 2009, 659,775 users</a:t>
            </a:r>
            <a:endParaRPr lang="en-US" sz="1400" dirty="0"/>
          </a:p>
        </p:txBody>
      </p:sp>
      <p:sp>
        <p:nvSpPr>
          <p:cNvPr id="6" name="text_42"/>
          <p:cNvSpPr txBox="1"/>
          <p:nvPr/>
        </p:nvSpPr>
        <p:spPr>
          <a:xfrm>
            <a:off x="548640" y="2468880"/>
            <a:ext cx="1325880" cy="731520"/>
          </a:xfrm>
          <a:prstGeom prst="rect">
            <a:avLst/>
          </a:prstGeom>
          <a:noFill/>
          <a:ln/>
        </p:spPr>
        <p:txBody>
          <a:bodyPr wrap="square" lIns="0" tIns="0" rIns="0" bIns="0" rtlCol="0" anchor="t"/>
          <a:lstStyle/>
          <a:p>
            <a:pPr indent="0" marL="0">
              <a:buNone/>
            </a:pPr>
            <a:r>
              <a:rPr lang="en-US" sz="1500" b="1" dirty="0">
                <a:solidFill>
                  <a:srgbClr val="1BAF7A"/>
                </a:solidFill>
                <a:latin typeface="Calibri" pitchFamily="34" charset="0"/>
                <a:ea typeface="Calibri" pitchFamily="34" charset="-122"/>
                <a:cs typeface="Calibri" pitchFamily="34" charset="-120"/>
              </a:rPr>
              <a:t>Labels</a:t>
            </a:r>
            <a:endParaRPr lang="en-US" sz="1500" dirty="0"/>
          </a:p>
        </p:txBody>
      </p:sp>
      <p:sp>
        <p:nvSpPr>
          <p:cNvPr id="7" name="text_43"/>
          <p:cNvSpPr txBox="1"/>
          <p:nvPr/>
        </p:nvSpPr>
        <p:spPr>
          <a:xfrm>
            <a:off x="1874520" y="2468880"/>
            <a:ext cx="4206240" cy="77724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From emoticons (0 = negative, 4 = positive); no neutral class; emoticons removed from the text</a:t>
            </a:r>
            <a:endParaRPr lang="en-US" sz="1400" dirty="0"/>
          </a:p>
        </p:txBody>
      </p:sp>
      <p:sp>
        <p:nvSpPr>
          <p:cNvPr id="8" name="text_44"/>
          <p:cNvSpPr txBox="1"/>
          <p:nvPr/>
        </p:nvSpPr>
        <p:spPr>
          <a:xfrm>
            <a:off x="548640" y="3337560"/>
            <a:ext cx="1325880" cy="731520"/>
          </a:xfrm>
          <a:prstGeom prst="rect">
            <a:avLst/>
          </a:prstGeom>
          <a:noFill/>
          <a:ln/>
        </p:spPr>
        <p:txBody>
          <a:bodyPr wrap="square" lIns="0" tIns="0" rIns="0" bIns="0" rtlCol="0" anchor="t"/>
          <a:lstStyle/>
          <a:p>
            <a:pPr indent="0" marL="0">
              <a:buNone/>
            </a:pPr>
            <a:r>
              <a:rPr lang="en-US" sz="1500" b="1" dirty="0">
                <a:solidFill>
                  <a:srgbClr val="1BAF7A"/>
                </a:solidFill>
                <a:latin typeface="Calibri" pitchFamily="34" charset="0"/>
                <a:ea typeface="Calibri" pitchFamily="34" charset="-122"/>
                <a:cs typeface="Calibri" pitchFamily="34" charset="-120"/>
              </a:rPr>
              <a:t>Coverage</a:t>
            </a:r>
            <a:endParaRPr lang="en-US" sz="1500" dirty="0"/>
          </a:p>
        </p:txBody>
      </p:sp>
      <p:sp>
        <p:nvSpPr>
          <p:cNvPr id="9" name="text_45"/>
          <p:cNvSpPr txBox="1"/>
          <p:nvPr/>
        </p:nvSpPr>
        <p:spPr>
          <a:xfrm>
            <a:off x="1874520" y="3337560"/>
            <a:ext cx="4206240" cy="77724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Only 48 of 81 days contain tweets; every timestamp is in Pacific time</a:t>
            </a:r>
            <a:endParaRPr lang="en-US" sz="1400" dirty="0"/>
          </a:p>
        </p:txBody>
      </p:sp>
      <p:sp>
        <p:nvSpPr>
          <p:cNvPr id="10" name="text_46"/>
          <p:cNvSpPr txBox="1"/>
          <p:nvPr/>
        </p:nvSpPr>
        <p:spPr>
          <a:xfrm>
            <a:off x="548640" y="4206240"/>
            <a:ext cx="1325880" cy="731520"/>
          </a:xfrm>
          <a:prstGeom prst="rect">
            <a:avLst/>
          </a:prstGeom>
          <a:noFill/>
          <a:ln/>
        </p:spPr>
        <p:txBody>
          <a:bodyPr wrap="square" lIns="0" tIns="0" rIns="0" bIns="0" rtlCol="0" anchor="t"/>
          <a:lstStyle/>
          <a:p>
            <a:pPr indent="0" marL="0">
              <a:buNone/>
            </a:pPr>
            <a:r>
              <a:rPr lang="en-US" sz="1500" b="1" dirty="0">
                <a:solidFill>
                  <a:srgbClr val="1BAF7A"/>
                </a:solidFill>
                <a:latin typeface="Calibri" pitchFamily="34" charset="0"/>
                <a:ea typeface="Calibri" pitchFamily="34" charset="-122"/>
                <a:cs typeface="Calibri" pitchFamily="34" charset="-120"/>
              </a:rPr>
              <a:t>Proxy</a:t>
            </a:r>
            <a:endParaRPr lang="en-US" sz="1500" dirty="0"/>
          </a:p>
        </p:txBody>
      </p:sp>
      <p:sp>
        <p:nvSpPr>
          <p:cNvPr id="11" name="text_47"/>
          <p:cNvSpPr txBox="1"/>
          <p:nvPr/>
        </p:nvSpPr>
        <p:spPr>
          <a:xfrm>
            <a:off x="1874520" y="4206240"/>
            <a:ext cx="4206240" cy="77724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Food &amp; drink tweets stand in for the brand's category conversation: 6 categories, 41 brands</a:t>
            </a:r>
            <a:endParaRPr lang="en-US" sz="1400" dirty="0"/>
          </a:p>
        </p:txBody>
      </p:sp>
      <p:sp>
        <p:nvSpPr>
          <p:cNvPr id="12" name="text_48"/>
          <p:cNvSpPr txBox="1"/>
          <p:nvPr/>
        </p:nvSpPr>
        <p:spPr>
          <a:xfrm>
            <a:off x="548640" y="5074920"/>
            <a:ext cx="1325880" cy="731520"/>
          </a:xfrm>
          <a:prstGeom prst="rect">
            <a:avLst/>
          </a:prstGeom>
          <a:noFill/>
          <a:ln/>
        </p:spPr>
        <p:txBody>
          <a:bodyPr wrap="square" lIns="0" tIns="0" rIns="0" bIns="0" rtlCol="0" anchor="t"/>
          <a:lstStyle/>
          <a:p>
            <a:pPr indent="0" marL="0">
              <a:buNone/>
            </a:pPr>
            <a:r>
              <a:rPr lang="en-US" sz="1500" b="1" dirty="0">
                <a:solidFill>
                  <a:srgbClr val="1BAF7A"/>
                </a:solidFill>
                <a:latin typeface="Calibri" pitchFamily="34" charset="0"/>
                <a:ea typeface="Calibri" pitchFamily="34" charset="-122"/>
                <a:cs typeface="Calibri" pitchFamily="34" charset="-120"/>
              </a:rPr>
              <a:t>Check</a:t>
            </a:r>
            <a:endParaRPr lang="en-US" sz="1500" dirty="0"/>
          </a:p>
        </p:txBody>
      </p:sp>
      <p:sp>
        <p:nvSpPr>
          <p:cNvPr id="13" name="text_49"/>
          <p:cNvSpPr txBox="1"/>
          <p:nvPr/>
        </p:nvSpPr>
        <p:spPr>
          <a:xfrm>
            <a:off x="1874520" y="5074920"/>
            <a:ext cx="4206240" cy="77724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210-tweet stratified review: dictionary precision 89.0% (95% CI 84.8-93.3%), AI-assisted</a:t>
            </a:r>
            <a:endParaRPr lang="en-US" sz="1400" dirty="0"/>
          </a:p>
        </p:txBody>
      </p:sp>
      <p:pic>
        <p:nvPicPr>
          <p:cNvPr id="14" name="figure_50" descr="D:\hoctap\Phân tích và trực quan hoá dữ liệu\Midterm\figures\fig2_2_cleaning_funnel.png">    </p:cNvPr>
          <p:cNvPicPr>
            <a:picLocks noChangeAspect="1"/>
          </p:cNvPicPr>
          <p:nvPr/>
        </p:nvPicPr>
        <p:blipFill>
          <a:blip r:embed="rId1"/>
          <a:stretch>
            <a:fillRect/>
          </a:stretch>
        </p:blipFill>
        <p:spPr>
          <a:xfrm>
            <a:off x="6172200" y="1554480"/>
            <a:ext cx="5486400" cy="2357120"/>
          </a:xfrm>
          <a:prstGeom prst="rect">
            <a:avLst/>
          </a:prstGeom>
        </p:spPr>
      </p:pic>
      <p:sp>
        <p:nvSpPr>
          <p:cNvPr id="15" name="text_51"/>
          <p:cNvSpPr txBox="1"/>
          <p:nvPr/>
        </p:nvSpPr>
        <p:spPr>
          <a:xfrm>
            <a:off x="6309360" y="5897880"/>
            <a:ext cx="5394960" cy="365760"/>
          </a:xfrm>
          <a:prstGeom prst="rect">
            <a:avLst/>
          </a:prstGeom>
          <a:noFill/>
          <a:ln/>
        </p:spPr>
        <p:txBody>
          <a:bodyPr wrap="square" lIns="0" tIns="0" rIns="0" bIns="0" rtlCol="0" anchor="ctr"/>
          <a:lstStyle/>
          <a:p>
            <a:pPr indent="0" marL="0">
              <a:buNone/>
            </a:pPr>
            <a:r>
              <a:rPr lang="en-US" sz="1300" i="1" dirty="0">
                <a:solidFill>
                  <a:srgbClr val="6B6A66"/>
                </a:solidFill>
                <a:latin typeface="Calibri" pitchFamily="34" charset="0"/>
                <a:ea typeface="Calibri" pitchFamily="34" charset="-122"/>
                <a:cs typeface="Calibri" pitchFamily="34" charset="-120"/>
              </a:rPr>
              <a:t>Cleaning keeps 1,274,034 tweets (79.6%); 84,632 of them are about food or drink.</a:t>
            </a:r>
            <a:endParaRPr lang="en-US" sz="13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DATA QUALITY</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A trap in the file: positive tweets stop on 16 June</a:t>
            </a:r>
            <a:endParaRPr lang="en-US" sz="3200" dirty="0"/>
          </a:p>
        </p:txBody>
      </p:sp>
      <p:pic>
        <p:nvPicPr>
          <p:cNvPr id="4" name="figure_52" descr="D:\hoctap\Phân tích và trực quan hoá dữ liệu\Midterm\figures\fig2_1_daily_volume_by_label.png">    </p:cNvPr>
          <p:cNvPicPr>
            <a:picLocks noChangeAspect="1"/>
          </p:cNvPicPr>
          <p:nvPr/>
        </p:nvPicPr>
        <p:blipFill>
          <a:blip r:embed="rId1"/>
          <a:stretch>
            <a:fillRect/>
          </a:stretch>
        </p:blipFill>
        <p:spPr>
          <a:xfrm>
            <a:off x="548640" y="1508760"/>
            <a:ext cx="7406640" cy="4094277"/>
          </a:xfrm>
          <a:prstGeom prst="rect">
            <a:avLst/>
          </a:prstGeom>
        </p:spPr>
      </p:pic>
      <p:sp>
        <p:nvSpPr>
          <p:cNvPr id="5" name="card_53"/>
          <p:cNvSpPr/>
          <p:nvPr/>
        </p:nvSpPr>
        <p:spPr>
          <a:xfrm>
            <a:off x="8183880" y="1600200"/>
            <a:ext cx="3429000" cy="4526280"/>
          </a:xfrm>
          <a:prstGeom prst="roundRect">
            <a:avLst>
              <a:gd name="adj" fmla="val 2133"/>
            </a:avLst>
          </a:prstGeom>
          <a:solidFill>
            <a:srgbClr val="FCE9E1"/>
          </a:solidFill>
          <a:ln w="12700">
            <a:solidFill>
              <a:srgbClr val="FCE9E1"/>
            </a:solidFill>
            <a:prstDash val="solid"/>
          </a:ln>
        </p:spPr>
      </p:sp>
      <p:sp>
        <p:nvSpPr>
          <p:cNvPr id="6" name="text_54"/>
          <p:cNvSpPr txBox="1"/>
          <p:nvPr/>
        </p:nvSpPr>
        <p:spPr>
          <a:xfrm>
            <a:off x="8412480" y="1783080"/>
            <a:ext cx="3017520" cy="685800"/>
          </a:xfrm>
          <a:prstGeom prst="rect">
            <a:avLst/>
          </a:prstGeom>
          <a:noFill/>
          <a:ln/>
        </p:spPr>
        <p:txBody>
          <a:bodyPr wrap="square" lIns="0" tIns="0" rIns="0" bIns="0" rtlCol="0" anchor="ctr"/>
          <a:lstStyle/>
          <a:p>
            <a:pPr indent="0" marL="0">
              <a:buNone/>
            </a:pPr>
            <a:r>
              <a:rPr lang="en-US" sz="3600" b="1" dirty="0">
                <a:solidFill>
                  <a:srgbClr val="EB6834"/>
                </a:solidFill>
                <a:latin typeface="Cambria" pitchFamily="34" charset="0"/>
                <a:ea typeface="Cambria" pitchFamily="34" charset="-122"/>
                <a:cs typeface="Cambria" pitchFamily="34" charset="-120"/>
              </a:rPr>
              <a:t>275,225</a:t>
            </a:r>
            <a:endParaRPr lang="en-US" sz="3600" dirty="0"/>
          </a:p>
        </p:txBody>
      </p:sp>
      <p:sp>
        <p:nvSpPr>
          <p:cNvPr id="7" name="text_55"/>
          <p:cNvSpPr txBox="1"/>
          <p:nvPr/>
        </p:nvSpPr>
        <p:spPr>
          <a:xfrm>
            <a:off x="8412480" y="2514600"/>
            <a:ext cx="301752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tweets after 16 June 08:40 PDT, and 100% of them are negative</a:t>
            </a:r>
            <a:endParaRPr lang="en-US" sz="1400" dirty="0"/>
          </a:p>
        </p:txBody>
      </p:sp>
      <p:sp>
        <p:nvSpPr>
          <p:cNvPr id="8" name="text_56"/>
          <p:cNvSpPr txBox="1"/>
          <p:nvPr/>
        </p:nvSpPr>
        <p:spPr>
          <a:xfrm>
            <a:off x="8412480" y="3337560"/>
            <a:ext cx="301752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Removed from every analysis: keeping them would fake a sentiment collapse.</a:t>
            </a:r>
            <a:endParaRPr lang="en-US" sz="1400" dirty="0"/>
          </a:p>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Also removed: 1,685 contradictory ids and 30,053 repeated texts (bots).</a:t>
            </a:r>
            <a:endParaRPr lang="en-US" sz="1400" dirty="0"/>
          </a:p>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Positive and negative were collected separately, so we compare groups (lift, odds ratios), never absolute shares.</a:t>
            </a:r>
            <a:endParaRPr lang="en-US" sz="1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DESCRIPTIVE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F&amp;B talk is everyday, and less negative than Twitter</a:t>
            </a:r>
            <a:endParaRPr lang="en-US" sz="3200" dirty="0"/>
          </a:p>
        </p:txBody>
      </p:sp>
      <p:pic>
        <p:nvPicPr>
          <p:cNvPr id="4" name="figure_57" descr="D:\hoctap\Phân tích và trực quan hoá dữ liệu\Midterm\figures\fig3_1_share_of_voice_donut.png">    </p:cNvPr>
          <p:cNvPicPr>
            <a:picLocks noChangeAspect="1"/>
          </p:cNvPicPr>
          <p:nvPr/>
        </p:nvPicPr>
        <p:blipFill>
          <a:blip r:embed="rId1"/>
          <a:stretch>
            <a:fillRect/>
          </a:stretch>
        </p:blipFill>
        <p:spPr>
          <a:xfrm>
            <a:off x="365760" y="1463040"/>
            <a:ext cx="6035040" cy="2984451"/>
          </a:xfrm>
          <a:prstGeom prst="rect">
            <a:avLst/>
          </a:prstGeom>
        </p:spPr>
      </p:pic>
      <p:graphicFrame>
        <p:nvGraphicFramePr>
          <p:cNvPr id="5" name="chart_58" descr=""/>
          <p:cNvGraphicFramePr/>
          <p:nvPr/>
        </p:nvGraphicFramePr>
        <p:xfrm>
          <a:off x="6583680" y="1463040"/>
          <a:ext cx="5029200" cy="4114800"/>
        </p:xfrm>
        <a:graphic xmlns:a="http://schemas.openxmlformats.org/drawingml/2006/main">
          <a:graphicData uri="http://schemas.openxmlformats.org/drawingml/2006/chart">
            <c:chart xmlns:c="http://schemas.openxmlformats.org/drawingml/2006/chart" r:id="rId2"/>
          </a:graphicData>
        </a:graphic>
      </p:graphicFrame>
      <p:sp>
        <p:nvSpPr>
          <p:cNvPr id="6" name="text_59"/>
          <p:cNvSpPr txBox="1"/>
          <p:nvPr/>
        </p:nvSpPr>
        <p:spPr>
          <a:xfrm>
            <a:off x="548640" y="5760720"/>
            <a:ext cx="11064240" cy="502920"/>
          </a:xfrm>
          <a:prstGeom prst="rect">
            <a:avLst/>
          </a:prstGeom>
          <a:noFill/>
          <a:ln/>
        </p:spPr>
        <p:txBody>
          <a:bodyPr wrap="square" lIns="0" tIns="0" rIns="0" bIns="0" rtlCol="0" anchor="ctr"/>
          <a:lstStyle/>
          <a:p>
            <a:pPr indent="0" marL="0">
              <a:buNone/>
            </a:pPr>
            <a:r>
              <a:rPr lang="en-US" sz="1400" i="1" dirty="0">
                <a:solidFill>
                  <a:srgbClr val="6B6A66"/>
                </a:solidFill>
                <a:latin typeface="Calibri" pitchFamily="34" charset="0"/>
                <a:ea typeface="Calibri" pitchFamily="34" charset="-122"/>
                <a:cs typeface="Calibri" pitchFamily="34" charset="-120"/>
              </a:rPr>
              <a:t>Only 7.5% of F&amp;B tweets name a brand. The F&amp;B lift stays near −5 pp in every period (launch week −5.4 pp, baseline −5.1 pp).</a:t>
            </a:r>
            <a:endParaRPr lang="en-US" sz="1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DESCRIPTIVE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Launch week looks like any other week</a:t>
            </a:r>
            <a:endParaRPr lang="en-US" sz="3200" dirty="0"/>
          </a:p>
        </p:txBody>
      </p:sp>
      <p:pic>
        <p:nvPicPr>
          <p:cNvPr id="4" name="figure_60" descr="D:\hoctap\Phân tích và trực quan hoá dữ liệu\Midterm\figures\fig3_4_daily_negative_share.png">    </p:cNvPr>
          <p:cNvPicPr>
            <a:picLocks noChangeAspect="1"/>
          </p:cNvPicPr>
          <p:nvPr/>
        </p:nvPicPr>
        <p:blipFill>
          <a:blip r:embed="rId1"/>
          <a:stretch>
            <a:fillRect/>
          </a:stretch>
        </p:blipFill>
        <p:spPr>
          <a:xfrm>
            <a:off x="548640" y="1463040"/>
            <a:ext cx="6722060" cy="4800600"/>
          </a:xfrm>
          <a:prstGeom prst="rect">
            <a:avLst/>
          </a:prstGeom>
        </p:spPr>
      </p:pic>
      <p:sp>
        <p:nvSpPr>
          <p:cNvPr id="5" name="card_61"/>
          <p:cNvSpPr/>
          <p:nvPr/>
        </p:nvSpPr>
        <p:spPr>
          <a:xfrm>
            <a:off x="8366760" y="1600200"/>
            <a:ext cx="3246120" cy="4526280"/>
          </a:xfrm>
          <a:prstGeom prst="roundRect">
            <a:avLst>
              <a:gd name="adj" fmla="val 2254"/>
            </a:avLst>
          </a:prstGeom>
          <a:solidFill>
            <a:srgbClr val="F2F4F3"/>
          </a:solidFill>
          <a:ln w="12700">
            <a:solidFill>
              <a:srgbClr val="F2F4F3"/>
            </a:solidFill>
            <a:prstDash val="solid"/>
          </a:ln>
        </p:spPr>
      </p:sp>
      <p:sp>
        <p:nvSpPr>
          <p:cNvPr id="6" name="text_62"/>
          <p:cNvSpPr txBox="1"/>
          <p:nvPr/>
        </p:nvSpPr>
        <p:spPr>
          <a:xfrm>
            <a:off x="8595360" y="1783080"/>
            <a:ext cx="2834640" cy="685800"/>
          </a:xfrm>
          <a:prstGeom prst="rect">
            <a:avLst/>
          </a:prstGeom>
          <a:noFill/>
          <a:ln/>
        </p:spPr>
        <p:txBody>
          <a:bodyPr wrap="square" lIns="0" tIns="0" rIns="0" bIns="0" rtlCol="0" anchor="ctr"/>
          <a:lstStyle/>
          <a:p>
            <a:pPr indent="0" marL="0">
              <a:buNone/>
            </a:pPr>
            <a:r>
              <a:rPr lang="en-US" sz="3400" b="1" dirty="0">
                <a:solidFill>
                  <a:srgbClr val="1BAF7A"/>
                </a:solidFill>
                <a:latin typeface="Cambria" pitchFamily="34" charset="0"/>
                <a:ea typeface="Cambria" pitchFamily="34" charset="-122"/>
                <a:cs typeface="Cambria" pitchFamily="34" charset="-120"/>
              </a:rPr>
              <a:t>35 of 39</a:t>
            </a:r>
            <a:endParaRPr lang="en-US" sz="3400" dirty="0"/>
          </a:p>
        </p:txBody>
      </p:sp>
      <p:sp>
        <p:nvSpPr>
          <p:cNvPr id="7" name="text_63"/>
          <p:cNvSpPr txBox="1"/>
          <p:nvPr/>
        </p:nvSpPr>
        <p:spPr>
          <a:xfrm>
            <a:off x="8595360" y="2514600"/>
            <a:ext cx="283464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observed days with F&amp;B less negative than all tweets</a:t>
            </a:r>
            <a:endParaRPr lang="en-US" sz="1400" dirty="0"/>
          </a:p>
        </p:txBody>
      </p:sp>
      <p:sp>
        <p:nvSpPr>
          <p:cNvPr id="8" name="text_64"/>
          <p:cNvSpPr txBox="1"/>
          <p:nvPr/>
        </p:nvSpPr>
        <p:spPr>
          <a:xfrm>
            <a:off x="8595360" y="3337560"/>
            <a:ext cx="283464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The spikes are days with fewer than 200 F&amp;B tweets: wide CIs, not events.</a:t>
            </a:r>
            <a:endParaRPr lang="en-US" sz="1400" dirty="0"/>
          </a:p>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Brands: 20 of 41 make up 80% of mentions; Starbucks alone 20%.</a:t>
            </a:r>
            <a:endParaRPr lang="en-US" sz="1400" dirty="0"/>
          </a:p>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Negative tweets are 1.3 words longer, but Cohen's d = 0.20 (small).</a:t>
            </a:r>
            <a:endParaRPr lang="en-US" sz="1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DIAGNOSTIC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Availability, price and service drive negative talk</a:t>
            </a:r>
            <a:endParaRPr lang="en-US" sz="3200" dirty="0"/>
          </a:p>
        </p:txBody>
      </p:sp>
      <p:pic>
        <p:nvPicPr>
          <p:cNvPr id="4" name="figure_65" descr="D:\hoctap\Phân tích và trực quan hoá dữ liệu\Midterm\figures\fig4_1_aspect_negative_share_ci.png">    </p:cNvPr>
          <p:cNvPicPr>
            <a:picLocks noChangeAspect="1"/>
          </p:cNvPicPr>
          <p:nvPr/>
        </p:nvPicPr>
        <p:blipFill>
          <a:blip r:embed="rId1"/>
          <a:stretch>
            <a:fillRect/>
          </a:stretch>
        </p:blipFill>
        <p:spPr>
          <a:xfrm>
            <a:off x="548640" y="1463040"/>
            <a:ext cx="6949440" cy="3865626"/>
          </a:xfrm>
          <a:prstGeom prst="rect">
            <a:avLst/>
          </a:prstGeom>
        </p:spPr>
      </p:pic>
      <p:sp>
        <p:nvSpPr>
          <p:cNvPr id="5" name="text_66"/>
          <p:cNvSpPr txBox="1"/>
          <p:nvPr/>
        </p:nvSpPr>
        <p:spPr>
          <a:xfrm>
            <a:off x="7818120" y="1508760"/>
            <a:ext cx="3840480" cy="36576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Hypotheses (Holm-corrected)</a:t>
            </a:r>
            <a:endParaRPr lang="en-US" sz="1600" dirty="0"/>
          </a:p>
        </p:txBody>
      </p:sp>
      <p:sp>
        <p:nvSpPr>
          <p:cNvPr id="6" name="card_67"/>
          <p:cNvSpPr/>
          <p:nvPr/>
        </p:nvSpPr>
        <p:spPr>
          <a:xfrm>
            <a:off x="7818120" y="1965960"/>
            <a:ext cx="3794760" cy="640080"/>
          </a:xfrm>
          <a:prstGeom prst="roundRect">
            <a:avLst>
              <a:gd name="adj" fmla="val 11429"/>
            </a:avLst>
          </a:prstGeom>
          <a:solidFill>
            <a:srgbClr val="E3F5EE"/>
          </a:solidFill>
          <a:ln w="12700">
            <a:solidFill>
              <a:srgbClr val="E3F5EE"/>
            </a:solidFill>
            <a:prstDash val="solid"/>
          </a:ln>
        </p:spPr>
      </p:sp>
      <p:sp>
        <p:nvSpPr>
          <p:cNvPr id="7" name="text_68"/>
          <p:cNvSpPr txBox="1"/>
          <p:nvPr/>
        </p:nvSpPr>
        <p:spPr>
          <a:xfrm>
            <a:off x="7955280" y="1965960"/>
            <a:ext cx="548640" cy="640080"/>
          </a:xfrm>
          <a:prstGeom prst="rect">
            <a:avLst/>
          </a:prstGeom>
          <a:noFill/>
          <a:ln/>
        </p:spPr>
        <p:txBody>
          <a:bodyPr wrap="square" lIns="0" tIns="0" rIns="0" bIns="0" rtlCol="0" anchor="ctr"/>
          <a:lstStyle/>
          <a:p>
            <a:pPr indent="0" marL="0">
              <a:buNone/>
            </a:pPr>
            <a:r>
              <a:rPr lang="en-US" sz="1600" b="1" dirty="0">
                <a:solidFill>
                  <a:srgbClr val="1BAF7A"/>
                </a:solidFill>
                <a:latin typeface="Calibri" pitchFamily="34" charset="0"/>
                <a:ea typeface="Calibri" pitchFamily="34" charset="-122"/>
                <a:cs typeface="Calibri" pitchFamily="34" charset="-120"/>
              </a:rPr>
              <a:t>H1</a:t>
            </a:r>
            <a:endParaRPr lang="en-US" sz="1600" dirty="0"/>
          </a:p>
        </p:txBody>
      </p:sp>
      <p:sp>
        <p:nvSpPr>
          <p:cNvPr id="8" name="text_69"/>
          <p:cNvSpPr txBox="1"/>
          <p:nvPr/>
        </p:nvSpPr>
        <p:spPr>
          <a:xfrm>
            <a:off x="8503920" y="2002536"/>
            <a:ext cx="3063240" cy="566928"/>
          </a:xfrm>
          <a:prstGeom prst="rect">
            <a:avLst/>
          </a:prstGeom>
          <a:noFill/>
          <a:ln/>
        </p:spPr>
        <p:txBody>
          <a:bodyPr wrap="square" lIns="0" tIns="0" rIns="0" bIns="0" rtlCol="0" anchor="ctr"/>
          <a:lstStyle/>
          <a:p>
            <a:pPr indent="0" marL="0">
              <a:buNone/>
            </a:pPr>
            <a:r>
              <a:rPr lang="en-US" sz="1300" b="1" dirty="0">
                <a:solidFill>
                  <a:srgbClr val="3A474C"/>
                </a:solidFill>
                <a:latin typeface="Calibri" pitchFamily="34" charset="0"/>
                <a:ea typeface="Calibri" pitchFamily="34" charset="-122"/>
                <a:cs typeface="Calibri" pitchFamily="34" charset="-120"/>
              </a:rPr>
              <a:t>Service &amp; wait</a:t>
            </a:r>
            <a:endParaRPr lang="en-US" sz="1300" dirty="0"/>
          </a:p>
          <a:p>
            <a:pPr indent="0" marL="0">
              <a:buNone/>
            </a:pPr>
            <a:r>
              <a:rPr lang="en-US" sz="1300" dirty="0">
                <a:solidFill>
                  <a:srgbClr val="6B6A66"/>
                </a:solidFill>
                <a:latin typeface="Calibri" pitchFamily="34" charset="0"/>
                <a:ea typeface="Calibri" pitchFamily="34" charset="-122"/>
                <a:cs typeface="Calibri" pitchFamily="34" charset="-120"/>
              </a:rPr>
              <a:t>+5.4 pp  supported</a:t>
            </a:r>
            <a:endParaRPr lang="en-US" sz="1300" dirty="0"/>
          </a:p>
        </p:txBody>
      </p:sp>
      <p:sp>
        <p:nvSpPr>
          <p:cNvPr id="9" name="card_70"/>
          <p:cNvSpPr/>
          <p:nvPr/>
        </p:nvSpPr>
        <p:spPr>
          <a:xfrm>
            <a:off x="7818120" y="2715768"/>
            <a:ext cx="3794760" cy="640080"/>
          </a:xfrm>
          <a:prstGeom prst="roundRect">
            <a:avLst>
              <a:gd name="adj" fmla="val 11429"/>
            </a:avLst>
          </a:prstGeom>
          <a:solidFill>
            <a:srgbClr val="E3F5EE"/>
          </a:solidFill>
          <a:ln w="12700">
            <a:solidFill>
              <a:srgbClr val="E3F5EE"/>
            </a:solidFill>
            <a:prstDash val="solid"/>
          </a:ln>
        </p:spPr>
      </p:sp>
      <p:sp>
        <p:nvSpPr>
          <p:cNvPr id="10" name="text_71"/>
          <p:cNvSpPr txBox="1"/>
          <p:nvPr/>
        </p:nvSpPr>
        <p:spPr>
          <a:xfrm>
            <a:off x="7955280" y="2715768"/>
            <a:ext cx="548640" cy="640080"/>
          </a:xfrm>
          <a:prstGeom prst="rect">
            <a:avLst/>
          </a:prstGeom>
          <a:noFill/>
          <a:ln/>
        </p:spPr>
        <p:txBody>
          <a:bodyPr wrap="square" lIns="0" tIns="0" rIns="0" bIns="0" rtlCol="0" anchor="ctr"/>
          <a:lstStyle/>
          <a:p>
            <a:pPr indent="0" marL="0">
              <a:buNone/>
            </a:pPr>
            <a:r>
              <a:rPr lang="en-US" sz="1600" b="1" dirty="0">
                <a:solidFill>
                  <a:srgbClr val="1BAF7A"/>
                </a:solidFill>
                <a:latin typeface="Calibri" pitchFamily="34" charset="0"/>
                <a:ea typeface="Calibri" pitchFamily="34" charset="-122"/>
                <a:cs typeface="Calibri" pitchFamily="34" charset="-120"/>
              </a:rPr>
              <a:t>H2</a:t>
            </a:r>
            <a:endParaRPr lang="en-US" sz="1600" dirty="0"/>
          </a:p>
        </p:txBody>
      </p:sp>
      <p:sp>
        <p:nvSpPr>
          <p:cNvPr id="11" name="text_72"/>
          <p:cNvSpPr txBox="1"/>
          <p:nvPr/>
        </p:nvSpPr>
        <p:spPr>
          <a:xfrm>
            <a:off x="8503920" y="2752344"/>
            <a:ext cx="3063240" cy="566928"/>
          </a:xfrm>
          <a:prstGeom prst="rect">
            <a:avLst/>
          </a:prstGeom>
          <a:noFill/>
          <a:ln/>
        </p:spPr>
        <p:txBody>
          <a:bodyPr wrap="square" lIns="0" tIns="0" rIns="0" bIns="0" rtlCol="0" anchor="ctr"/>
          <a:lstStyle/>
          <a:p>
            <a:pPr indent="0" marL="0">
              <a:buNone/>
            </a:pPr>
            <a:r>
              <a:rPr lang="en-US" sz="1300" b="1" dirty="0">
                <a:solidFill>
                  <a:srgbClr val="3A474C"/>
                </a:solidFill>
                <a:latin typeface="Calibri" pitchFamily="34" charset="0"/>
                <a:ea typeface="Calibri" pitchFamily="34" charset="-122"/>
                <a:cs typeface="Calibri" pitchFamily="34" charset="-120"/>
              </a:rPr>
              <a:t>Price &amp; value</a:t>
            </a:r>
            <a:endParaRPr lang="en-US" sz="1300" dirty="0"/>
          </a:p>
          <a:p>
            <a:pPr indent="0" marL="0">
              <a:buNone/>
            </a:pPr>
            <a:r>
              <a:rPr lang="en-US" sz="1300" dirty="0">
                <a:solidFill>
                  <a:srgbClr val="6B6A66"/>
                </a:solidFill>
                <a:latin typeface="Calibri" pitchFamily="34" charset="0"/>
                <a:ea typeface="Calibri" pitchFamily="34" charset="-122"/>
                <a:cs typeface="Calibri" pitchFamily="34" charset="-120"/>
              </a:rPr>
              <a:t>+5.6 pp  supported</a:t>
            </a:r>
            <a:endParaRPr lang="en-US" sz="1300" dirty="0"/>
          </a:p>
        </p:txBody>
      </p:sp>
      <p:sp>
        <p:nvSpPr>
          <p:cNvPr id="12" name="card_73"/>
          <p:cNvSpPr/>
          <p:nvPr/>
        </p:nvSpPr>
        <p:spPr>
          <a:xfrm>
            <a:off x="7818120" y="3465576"/>
            <a:ext cx="3794760" cy="640080"/>
          </a:xfrm>
          <a:prstGeom prst="roundRect">
            <a:avLst>
              <a:gd name="adj" fmla="val 11429"/>
            </a:avLst>
          </a:prstGeom>
          <a:solidFill>
            <a:srgbClr val="E3F5EE"/>
          </a:solidFill>
          <a:ln w="12700">
            <a:solidFill>
              <a:srgbClr val="E3F5EE"/>
            </a:solidFill>
            <a:prstDash val="solid"/>
          </a:ln>
        </p:spPr>
      </p:sp>
      <p:sp>
        <p:nvSpPr>
          <p:cNvPr id="13" name="text_74"/>
          <p:cNvSpPr txBox="1"/>
          <p:nvPr/>
        </p:nvSpPr>
        <p:spPr>
          <a:xfrm>
            <a:off x="7955280" y="3465576"/>
            <a:ext cx="548640" cy="640080"/>
          </a:xfrm>
          <a:prstGeom prst="rect">
            <a:avLst/>
          </a:prstGeom>
          <a:noFill/>
          <a:ln/>
        </p:spPr>
        <p:txBody>
          <a:bodyPr wrap="square" lIns="0" tIns="0" rIns="0" bIns="0" rtlCol="0" anchor="ctr"/>
          <a:lstStyle/>
          <a:p>
            <a:pPr indent="0" marL="0">
              <a:buNone/>
            </a:pPr>
            <a:r>
              <a:rPr lang="en-US" sz="1600" b="1" dirty="0">
                <a:solidFill>
                  <a:srgbClr val="1BAF7A"/>
                </a:solidFill>
                <a:latin typeface="Calibri" pitchFamily="34" charset="0"/>
                <a:ea typeface="Calibri" pitchFamily="34" charset="-122"/>
                <a:cs typeface="Calibri" pitchFamily="34" charset="-120"/>
              </a:rPr>
              <a:t>H3</a:t>
            </a:r>
            <a:endParaRPr lang="en-US" sz="1600" dirty="0"/>
          </a:p>
        </p:txBody>
      </p:sp>
      <p:sp>
        <p:nvSpPr>
          <p:cNvPr id="14" name="text_75"/>
          <p:cNvSpPr txBox="1"/>
          <p:nvPr/>
        </p:nvSpPr>
        <p:spPr>
          <a:xfrm>
            <a:off x="8503920" y="3502152"/>
            <a:ext cx="3063240" cy="566928"/>
          </a:xfrm>
          <a:prstGeom prst="rect">
            <a:avLst/>
          </a:prstGeom>
          <a:noFill/>
          <a:ln/>
        </p:spPr>
        <p:txBody>
          <a:bodyPr wrap="square" lIns="0" tIns="0" rIns="0" bIns="0" rtlCol="0" anchor="ctr"/>
          <a:lstStyle/>
          <a:p>
            <a:pPr indent="0" marL="0">
              <a:buNone/>
            </a:pPr>
            <a:r>
              <a:rPr lang="en-US" sz="1300" b="1" dirty="0">
                <a:solidFill>
                  <a:srgbClr val="3A474C"/>
                </a:solidFill>
                <a:latin typeface="Calibri" pitchFamily="34" charset="0"/>
                <a:ea typeface="Calibri" pitchFamily="34" charset="-122"/>
                <a:cs typeface="Calibri" pitchFamily="34" charset="-120"/>
              </a:rPr>
              <a:t>Morning caffeine</a:t>
            </a:r>
            <a:endParaRPr lang="en-US" sz="1300" dirty="0"/>
          </a:p>
          <a:p>
            <a:pPr indent="0" marL="0">
              <a:buNone/>
            </a:pPr>
            <a:r>
              <a:rPr lang="en-US" sz="1300" dirty="0">
                <a:solidFill>
                  <a:srgbClr val="6B6A66"/>
                </a:solidFill>
                <a:latin typeface="Calibri" pitchFamily="34" charset="0"/>
                <a:ea typeface="Calibri" pitchFamily="34" charset="-122"/>
                <a:cs typeface="Calibri" pitchFamily="34" charset="-120"/>
              </a:rPr>
              <a:t>−6.6 pp  supported</a:t>
            </a:r>
            <a:endParaRPr lang="en-US" sz="1300" dirty="0"/>
          </a:p>
        </p:txBody>
      </p:sp>
      <p:sp>
        <p:nvSpPr>
          <p:cNvPr id="15" name="card_76"/>
          <p:cNvSpPr/>
          <p:nvPr/>
        </p:nvSpPr>
        <p:spPr>
          <a:xfrm>
            <a:off x="7818120" y="4215384"/>
            <a:ext cx="3794760" cy="640080"/>
          </a:xfrm>
          <a:prstGeom prst="roundRect">
            <a:avLst>
              <a:gd name="adj" fmla="val 11429"/>
            </a:avLst>
          </a:prstGeom>
          <a:solidFill>
            <a:srgbClr val="F2F4F3"/>
          </a:solidFill>
          <a:ln w="12700">
            <a:solidFill>
              <a:srgbClr val="F2F4F3"/>
            </a:solidFill>
            <a:prstDash val="solid"/>
          </a:ln>
        </p:spPr>
      </p:sp>
      <p:sp>
        <p:nvSpPr>
          <p:cNvPr id="16" name="text_77"/>
          <p:cNvSpPr txBox="1"/>
          <p:nvPr/>
        </p:nvSpPr>
        <p:spPr>
          <a:xfrm>
            <a:off x="7955280" y="4215384"/>
            <a:ext cx="548640" cy="640080"/>
          </a:xfrm>
          <a:prstGeom prst="rect">
            <a:avLst/>
          </a:prstGeom>
          <a:noFill/>
          <a:ln/>
        </p:spPr>
        <p:txBody>
          <a:bodyPr wrap="square" lIns="0" tIns="0" rIns="0" bIns="0" rtlCol="0" anchor="ctr"/>
          <a:lstStyle/>
          <a:p>
            <a:pPr indent="0" marL="0">
              <a:buNone/>
            </a:pPr>
            <a:r>
              <a:rPr lang="en-US" sz="1600" b="1" dirty="0">
                <a:solidFill>
                  <a:srgbClr val="898781"/>
                </a:solidFill>
                <a:latin typeface="Calibri" pitchFamily="34" charset="0"/>
                <a:ea typeface="Calibri" pitchFamily="34" charset="-122"/>
                <a:cs typeface="Calibri" pitchFamily="34" charset="-120"/>
              </a:rPr>
              <a:t>H4</a:t>
            </a:r>
            <a:endParaRPr lang="en-US" sz="1600" dirty="0"/>
          </a:p>
        </p:txBody>
      </p:sp>
      <p:sp>
        <p:nvSpPr>
          <p:cNvPr id="17" name="text_78"/>
          <p:cNvSpPr txBox="1"/>
          <p:nvPr/>
        </p:nvSpPr>
        <p:spPr>
          <a:xfrm>
            <a:off x="8503920" y="4251960"/>
            <a:ext cx="3063240" cy="566928"/>
          </a:xfrm>
          <a:prstGeom prst="rect">
            <a:avLst/>
          </a:prstGeom>
          <a:noFill/>
          <a:ln/>
        </p:spPr>
        <p:txBody>
          <a:bodyPr wrap="square" lIns="0" tIns="0" rIns="0" bIns="0" rtlCol="0" anchor="ctr"/>
          <a:lstStyle/>
          <a:p>
            <a:pPr indent="0" marL="0">
              <a:buNone/>
            </a:pPr>
            <a:r>
              <a:rPr lang="en-US" sz="1300" b="1" dirty="0">
                <a:solidFill>
                  <a:srgbClr val="3A474C"/>
                </a:solidFill>
                <a:latin typeface="Calibri" pitchFamily="34" charset="0"/>
                <a:ea typeface="Calibri" pitchFamily="34" charset="-122"/>
                <a:cs typeface="Calibri" pitchFamily="34" charset="-120"/>
              </a:rPr>
              <a:t>Launch vs baseline</a:t>
            </a:r>
            <a:endParaRPr lang="en-US" sz="1300" dirty="0"/>
          </a:p>
          <a:p>
            <a:pPr indent="0" marL="0">
              <a:buNone/>
            </a:pPr>
            <a:r>
              <a:rPr lang="en-US" sz="1300" dirty="0">
                <a:solidFill>
                  <a:srgbClr val="6B6A66"/>
                </a:solidFill>
                <a:latin typeface="Calibri" pitchFamily="34" charset="0"/>
                <a:ea typeface="Calibri" pitchFamily="34" charset="-122"/>
                <a:cs typeface="Calibri" pitchFamily="34" charset="-120"/>
              </a:rPr>
              <a:t>−0.3 pp, p = 0.37  not supported</a:t>
            </a:r>
            <a:endParaRPr lang="en-US" sz="1300" dirty="0"/>
          </a:p>
        </p:txBody>
      </p:sp>
      <p:sp>
        <p:nvSpPr>
          <p:cNvPr id="18" name="text_79"/>
          <p:cNvSpPr txBox="1"/>
          <p:nvPr/>
        </p:nvSpPr>
        <p:spPr>
          <a:xfrm>
            <a:off x="7818120" y="5074920"/>
            <a:ext cx="3794760" cy="914400"/>
          </a:xfrm>
          <a:prstGeom prst="rect">
            <a:avLst/>
          </a:prstGeom>
          <a:noFill/>
          <a:ln/>
        </p:spPr>
        <p:txBody>
          <a:bodyPr wrap="square" lIns="0" tIns="0" rIns="0" bIns="0" rtlCol="0" anchor="t"/>
          <a:lstStyle/>
          <a:p>
            <a:pPr indent="0" marL="0">
              <a:buNone/>
            </a:pPr>
            <a:r>
              <a:rPr lang="en-US" sz="1300" i="1" dirty="0">
                <a:solidFill>
                  <a:srgbClr val="3A474C"/>
                </a:solidFill>
                <a:latin typeface="Calibri" pitchFamily="34" charset="0"/>
                <a:ea typeface="Calibri" pitchFamily="34" charset="-122"/>
                <a:cs typeface="Calibri" pitchFamily="34" charset="-120"/>
              </a:rPr>
              <a:t>Logistic regression (holding other factors and the day fixed): availability OR 7.2, novelty OR 0.66.</a:t>
            </a:r>
            <a:endParaRPr lang="en-US" sz="13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DIAGNOSTIC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Complaints depend on the moment, not only the product</a:t>
            </a:r>
            <a:endParaRPr lang="en-US" sz="3200" dirty="0"/>
          </a:p>
        </p:txBody>
      </p:sp>
      <p:pic>
        <p:nvPicPr>
          <p:cNvPr id="4" name="figure_80" descr="D:\hoctap\Phân tích và trực quan hoá dữ liệu\Midterm\figures\fig4_2_aspect_daypart_heatmap.png">    </p:cNvPr>
          <p:cNvPicPr>
            <a:picLocks noChangeAspect="1"/>
          </p:cNvPicPr>
          <p:nvPr/>
        </p:nvPicPr>
        <p:blipFill>
          <a:blip r:embed="rId1"/>
          <a:stretch>
            <a:fillRect/>
          </a:stretch>
        </p:blipFill>
        <p:spPr>
          <a:xfrm>
            <a:off x="365760" y="1417320"/>
            <a:ext cx="6035040" cy="3378938"/>
          </a:xfrm>
          <a:prstGeom prst="rect">
            <a:avLst/>
          </a:prstGeom>
        </p:spPr>
      </p:pic>
      <p:graphicFrame>
        <p:nvGraphicFramePr>
          <p:cNvPr id="5" name="chart_81" descr=""/>
          <p:cNvGraphicFramePr/>
          <p:nvPr/>
        </p:nvGraphicFramePr>
        <p:xfrm>
          <a:off x="6583680" y="1417320"/>
          <a:ext cx="5074920" cy="4206240"/>
        </p:xfrm>
        <a:graphic xmlns:a="http://schemas.openxmlformats.org/drawingml/2006/main">
          <a:graphicData uri="http://schemas.openxmlformats.org/drawingml/2006/chart">
            <c:chart xmlns:c="http://schemas.openxmlformats.org/drawingml/2006/chart" r:id="rId2"/>
          </a:graphicData>
        </a:graphic>
      </p:graphicFrame>
      <p:sp>
        <p:nvSpPr>
          <p:cNvPr id="6" name="text_82"/>
          <p:cNvSpPr txBox="1"/>
          <p:nvPr/>
        </p:nvSpPr>
        <p:spPr>
          <a:xfrm>
            <a:off x="548640" y="5760720"/>
            <a:ext cx="11064240" cy="502920"/>
          </a:xfrm>
          <a:prstGeom prst="rect">
            <a:avLst/>
          </a:prstGeom>
          <a:noFill/>
          <a:ln/>
        </p:spPr>
        <p:txBody>
          <a:bodyPr wrap="square" lIns="0" tIns="0" rIns="0" bIns="0" rtlCol="0" anchor="ctr"/>
          <a:lstStyle/>
          <a:p>
            <a:pPr indent="0" marL="0">
              <a:buNone/>
            </a:pPr>
            <a:r>
              <a:rPr lang="en-US" sz="1400" i="1" dirty="0">
                <a:solidFill>
                  <a:srgbClr val="6B6A66"/>
                </a:solidFill>
                <a:latin typeface="Calibri" pitchFamily="34" charset="0"/>
                <a:ea typeface="Calibri" pitchFamily="34" charset="-122"/>
                <a:cs typeface="Calibri" pitchFamily="34" charset="-120"/>
              </a:rPr>
              <a:t>Service complaints peak in the evening (+10.2 pp); food around work and breaks is +13.7 pp, while home, family and morning moments are clearly positive.</a:t>
            </a:r>
            <a:endParaRPr lang="en-US" sz="1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PREDICTIVE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Trained on the past, tested on next week</a:t>
            </a:r>
            <a:endParaRPr lang="en-US" sz="3200" dirty="0"/>
          </a:p>
        </p:txBody>
      </p:sp>
      <p:sp>
        <p:nvSpPr>
          <p:cNvPr id="4" name="timeline_83"/>
          <p:cNvSpPr/>
          <p:nvPr/>
        </p:nvSpPr>
        <p:spPr>
          <a:xfrm>
            <a:off x="548640" y="1600200"/>
            <a:ext cx="4297680" cy="868680"/>
          </a:xfrm>
          <a:prstGeom prst="roundRect">
            <a:avLst>
              <a:gd name="adj" fmla="val 6316"/>
            </a:avLst>
          </a:prstGeom>
          <a:solidFill>
            <a:srgbClr val="1BAF7A"/>
          </a:solidFill>
          <a:ln w="12700">
            <a:solidFill>
              <a:srgbClr val="1BAF7A"/>
            </a:solidFill>
            <a:prstDash val="solid"/>
          </a:ln>
        </p:spPr>
      </p:sp>
      <p:sp>
        <p:nvSpPr>
          <p:cNvPr id="5" name="text_84"/>
          <p:cNvSpPr txBox="1"/>
          <p:nvPr/>
        </p:nvSpPr>
        <p:spPr>
          <a:xfrm>
            <a:off x="685800" y="1645920"/>
            <a:ext cx="402336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Train</a:t>
            </a:r>
            <a:endParaRPr lang="en-US" sz="1500" dirty="0"/>
          </a:p>
          <a:p>
            <a:pPr indent="0" marL="0">
              <a:buNone/>
            </a:pPr>
            <a:r>
              <a:rPr lang="en-US" sz="1200" dirty="0">
                <a:solidFill>
                  <a:srgbClr val="FFFFFF"/>
                </a:solidFill>
                <a:latin typeface="Calibri" pitchFamily="34" charset="0"/>
                <a:ea typeface="Calibri" pitchFamily="34" charset="-122"/>
                <a:cs typeface="Calibri" pitchFamily="34" charset="-120"/>
              </a:rPr>
              <a:t>6 Apr - 31 May  ·  653,345 tweets</a:t>
            </a:r>
            <a:endParaRPr lang="en-US" sz="1500" dirty="0"/>
          </a:p>
        </p:txBody>
      </p:sp>
      <p:sp>
        <p:nvSpPr>
          <p:cNvPr id="6" name="timeline_85"/>
          <p:cNvSpPr/>
          <p:nvPr/>
        </p:nvSpPr>
        <p:spPr>
          <a:xfrm>
            <a:off x="4937760" y="1600200"/>
            <a:ext cx="2743200" cy="868680"/>
          </a:xfrm>
          <a:prstGeom prst="roundRect">
            <a:avLst>
              <a:gd name="adj" fmla="val 6316"/>
            </a:avLst>
          </a:prstGeom>
          <a:solidFill>
            <a:srgbClr val="6250D6"/>
          </a:solidFill>
          <a:ln w="12700">
            <a:solidFill>
              <a:srgbClr val="6250D6"/>
            </a:solidFill>
            <a:prstDash val="solid"/>
          </a:ln>
        </p:spPr>
      </p:sp>
      <p:sp>
        <p:nvSpPr>
          <p:cNvPr id="7" name="text_86"/>
          <p:cNvSpPr txBox="1"/>
          <p:nvPr/>
        </p:nvSpPr>
        <p:spPr>
          <a:xfrm>
            <a:off x="5074920" y="1645920"/>
            <a:ext cx="246888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Validation</a:t>
            </a:r>
            <a:endParaRPr lang="en-US" sz="1500" dirty="0"/>
          </a:p>
          <a:p>
            <a:pPr indent="0" marL="0">
              <a:buNone/>
            </a:pPr>
            <a:r>
              <a:rPr lang="en-US" sz="1200" dirty="0">
                <a:solidFill>
                  <a:srgbClr val="FFFFFF"/>
                </a:solidFill>
                <a:latin typeface="Calibri" pitchFamily="34" charset="0"/>
                <a:ea typeface="Calibri" pitchFamily="34" charset="-122"/>
                <a:cs typeface="Calibri" pitchFamily="34" charset="-120"/>
              </a:rPr>
              <a:t>1 - 7 Jun (launch week)  ·  469,953 tweets</a:t>
            </a:r>
            <a:endParaRPr lang="en-US" sz="1500" dirty="0"/>
          </a:p>
        </p:txBody>
      </p:sp>
      <p:sp>
        <p:nvSpPr>
          <p:cNvPr id="8" name="timeline_87"/>
          <p:cNvSpPr/>
          <p:nvPr/>
        </p:nvSpPr>
        <p:spPr>
          <a:xfrm>
            <a:off x="7772400" y="1600200"/>
            <a:ext cx="1234440" cy="868680"/>
          </a:xfrm>
          <a:prstGeom prst="roundRect">
            <a:avLst>
              <a:gd name="adj" fmla="val 6316"/>
            </a:avLst>
          </a:prstGeom>
          <a:solidFill>
            <a:srgbClr val="D9DCD9"/>
          </a:solidFill>
          <a:ln w="12700">
            <a:solidFill>
              <a:srgbClr val="D9DCD9"/>
            </a:solidFill>
            <a:prstDash val="solid"/>
          </a:ln>
        </p:spPr>
      </p:sp>
      <p:sp>
        <p:nvSpPr>
          <p:cNvPr id="9" name="text_88"/>
          <p:cNvSpPr txBox="1"/>
          <p:nvPr/>
        </p:nvSpPr>
        <p:spPr>
          <a:xfrm>
            <a:off x="7909560" y="1645920"/>
            <a:ext cx="960120" cy="777240"/>
          </a:xfrm>
          <a:prstGeom prst="rect">
            <a:avLst/>
          </a:prstGeom>
          <a:noFill/>
          <a:ln/>
        </p:spPr>
        <p:txBody>
          <a:bodyPr wrap="square" lIns="0" tIns="0" rIns="0" bIns="0" rtlCol="0" anchor="ctr"/>
          <a:lstStyle/>
          <a:p>
            <a:pPr indent="0" marL="0">
              <a:buNone/>
            </a:pPr>
            <a:r>
              <a:rPr lang="en-US" sz="1500" b="1" dirty="0">
                <a:solidFill>
                  <a:srgbClr val="3A474C"/>
                </a:solidFill>
                <a:latin typeface="Calibri" pitchFamily="34" charset="0"/>
                <a:ea typeface="Calibri" pitchFamily="34" charset="-122"/>
                <a:cs typeface="Calibri" pitchFamily="34" charset="-120"/>
              </a:rPr>
              <a:t>Gap</a:t>
            </a:r>
            <a:endParaRPr lang="en-US" sz="1500" dirty="0"/>
          </a:p>
          <a:p>
            <a:pPr indent="0" marL="0">
              <a:buNone/>
            </a:pPr>
            <a:r>
              <a:rPr lang="en-US" sz="1200" dirty="0">
                <a:solidFill>
                  <a:srgbClr val="3A474C"/>
                </a:solidFill>
                <a:latin typeface="Calibri" pitchFamily="34" charset="0"/>
                <a:ea typeface="Calibri" pitchFamily="34" charset="-122"/>
                <a:cs typeface="Calibri" pitchFamily="34" charset="-120"/>
              </a:rPr>
              <a:t>8 - 13 Jun  ·  no data</a:t>
            </a:r>
            <a:endParaRPr lang="en-US" sz="1500" dirty="0"/>
          </a:p>
        </p:txBody>
      </p:sp>
      <p:sp>
        <p:nvSpPr>
          <p:cNvPr id="10" name="timeline_89"/>
          <p:cNvSpPr/>
          <p:nvPr/>
        </p:nvSpPr>
        <p:spPr>
          <a:xfrm>
            <a:off x="9098280" y="1600200"/>
            <a:ext cx="2514600" cy="868680"/>
          </a:xfrm>
          <a:prstGeom prst="roundRect">
            <a:avLst>
              <a:gd name="adj" fmla="val 6316"/>
            </a:avLst>
          </a:prstGeom>
          <a:solidFill>
            <a:srgbClr val="EB6834"/>
          </a:solidFill>
          <a:ln w="12700">
            <a:solidFill>
              <a:srgbClr val="EB6834"/>
            </a:solidFill>
            <a:prstDash val="solid"/>
          </a:ln>
        </p:spPr>
      </p:sp>
      <p:sp>
        <p:nvSpPr>
          <p:cNvPr id="11" name="text_90"/>
          <p:cNvSpPr txBox="1"/>
          <p:nvPr/>
        </p:nvSpPr>
        <p:spPr>
          <a:xfrm>
            <a:off x="9235440" y="1645920"/>
            <a:ext cx="224028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p>
          <a:p>
            <a:pPr indent="0" marL="0">
              <a:buNone/>
            </a:pPr>
            <a:r>
              <a:rPr lang="en-US" sz="1200" dirty="0">
                <a:solidFill>
                  <a:srgbClr val="FFFFFF"/>
                </a:solidFill>
                <a:latin typeface="Calibri" pitchFamily="34" charset="0"/>
                <a:ea typeface="Calibri" pitchFamily="34" charset="-122"/>
                <a:cs typeface="Calibri" pitchFamily="34" charset="-120"/>
              </a:rPr>
              <a:t>14 - 16 Jun (next week)  ·  150,736, used once</a:t>
            </a:r>
            <a:endParaRPr lang="en-US" sz="1500" dirty="0"/>
          </a:p>
        </p:txBody>
      </p:sp>
      <p:sp>
        <p:nvSpPr>
          <p:cNvPr id="12" name="text_91"/>
          <p:cNvSpPr txBox="1"/>
          <p:nvPr/>
        </p:nvSpPr>
        <p:spPr>
          <a:xfrm>
            <a:off x="548640" y="2697480"/>
            <a:ext cx="5486400" cy="365760"/>
          </a:xfrm>
          <a:prstGeom prst="rect">
            <a:avLst/>
          </a:prstGeom>
          <a:noFill/>
          <a:ln/>
        </p:spPr>
        <p:txBody>
          <a:bodyPr wrap="square" lIns="0" tIns="0" rIns="0" bIns="0" rtlCol="0" anchor="ctr"/>
          <a:lstStyle/>
          <a:p>
            <a:pPr indent="0" marL="0">
              <a:buNone/>
            </a:pPr>
            <a:r>
              <a:rPr lang="en-US" sz="1700" b="1" dirty="0">
                <a:solidFill>
                  <a:srgbClr val="1F2A2E"/>
                </a:solidFill>
                <a:latin typeface="Calibri" pitchFamily="34" charset="0"/>
                <a:ea typeface="Calibri" pitchFamily="34" charset="-122"/>
                <a:cs typeface="Calibri" pitchFamily="34" charset="-120"/>
              </a:rPr>
              <a:t>Why split by time and not at random?</a:t>
            </a:r>
            <a:endParaRPr lang="en-US" sz="1700" dirty="0"/>
          </a:p>
        </p:txBody>
      </p:sp>
      <p:sp>
        <p:nvSpPr>
          <p:cNvPr id="13" name="text_92"/>
          <p:cNvSpPr txBox="1"/>
          <p:nvPr/>
        </p:nvSpPr>
        <p:spPr>
          <a:xfrm>
            <a:off x="548640" y="3108960"/>
            <a:ext cx="54864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Matches real use: the model is trained on the past and applied to next week.</a:t>
            </a:r>
            <a:endParaRPr lang="en-US" sz="1400" dirty="0"/>
          </a:p>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No leakage between days that share topics and conversations.</a:t>
            </a:r>
            <a:endParaRPr lang="en-US" sz="1400" dirty="0"/>
          </a:p>
          <a:p>
            <a:pPr marL="342900" indent="-342900">
              <a:spcAft>
                <a:spcPts val="600"/>
              </a:spcAft>
              <a:buSzPct val="100000"/>
              <a:buChar char="•"/>
            </a:pPr>
            <a:r>
              <a:rPr lang="en-US" sz="1400" dirty="0">
                <a:solidFill>
                  <a:srgbClr val="3A474C"/>
                </a:solidFill>
                <a:latin typeface="Calibri" pitchFamily="34" charset="0"/>
                <a:ea typeface="Calibri" pitchFamily="34" charset="-122"/>
                <a:cs typeface="Calibri" pitchFamily="34" charset="-120"/>
              </a:rPr>
              <a:t>Reveals drift; a random split hides it (Chapter 7: prediction refers to future values).</a:t>
            </a:r>
            <a:endParaRPr lang="en-US" sz="1400" dirty="0"/>
          </a:p>
        </p:txBody>
      </p:sp>
      <p:sp>
        <p:nvSpPr>
          <p:cNvPr id="14" name="card_93"/>
          <p:cNvSpPr/>
          <p:nvPr/>
        </p:nvSpPr>
        <p:spPr>
          <a:xfrm>
            <a:off x="6309360" y="2697480"/>
            <a:ext cx="2560320" cy="3429000"/>
          </a:xfrm>
          <a:prstGeom prst="roundRect">
            <a:avLst>
              <a:gd name="adj" fmla="val 2857"/>
            </a:avLst>
          </a:prstGeom>
          <a:solidFill>
            <a:srgbClr val="F2F4F3"/>
          </a:solidFill>
          <a:ln w="12700">
            <a:solidFill>
              <a:srgbClr val="F2F4F3"/>
            </a:solidFill>
            <a:prstDash val="solid"/>
          </a:ln>
        </p:spPr>
      </p:sp>
      <p:sp>
        <p:nvSpPr>
          <p:cNvPr id="15" name="text_94"/>
          <p:cNvSpPr txBox="1"/>
          <p:nvPr/>
        </p:nvSpPr>
        <p:spPr>
          <a:xfrm>
            <a:off x="6492240" y="2834640"/>
            <a:ext cx="2194560" cy="274320"/>
          </a:xfrm>
          <a:prstGeom prst="rect">
            <a:avLst/>
          </a:prstGeom>
          <a:noFill/>
          <a:ln/>
        </p:spPr>
        <p:txBody>
          <a:bodyPr wrap="square" lIns="0" tIns="0" rIns="0" bIns="0" rtlCol="0" anchor="ctr"/>
          <a:lstStyle/>
          <a:p>
            <a:pPr indent="0" marL="0">
              <a:buNone/>
            </a:pPr>
            <a:r>
              <a:rPr lang="en-US" sz="1200" b="1" spc="200" kern="0" dirty="0">
                <a:solidFill>
                  <a:srgbClr val="898781"/>
                </a:solidFill>
                <a:latin typeface="Calibri" pitchFamily="34" charset="0"/>
                <a:ea typeface="Calibri" pitchFamily="34" charset="-122"/>
                <a:cs typeface="Calibri" pitchFamily="34" charset="-120"/>
              </a:rPr>
              <a:t>BASELINE</a:t>
            </a:r>
            <a:endParaRPr lang="en-US" sz="1200" dirty="0"/>
          </a:p>
        </p:txBody>
      </p:sp>
      <p:sp>
        <p:nvSpPr>
          <p:cNvPr id="16" name="text_95"/>
          <p:cNvSpPr txBox="1"/>
          <p:nvPr/>
        </p:nvSpPr>
        <p:spPr>
          <a:xfrm>
            <a:off x="6492240" y="3154680"/>
            <a:ext cx="2240280" cy="640080"/>
          </a:xfrm>
          <a:prstGeom prst="rect">
            <a:avLst/>
          </a:prstGeom>
          <a:noFill/>
          <a:ln/>
        </p:spPr>
        <p:txBody>
          <a:bodyPr wrap="square" lIns="0" tIns="0" rIns="0" bIns="0" rtlCol="0" anchor="t"/>
          <a:lstStyle/>
          <a:p>
            <a:pPr indent="0" marL="0">
              <a:buNone/>
            </a:pPr>
            <a:r>
              <a:rPr lang="en-US" sz="1700" b="1" dirty="0">
                <a:solidFill>
                  <a:srgbClr val="1F2A2E"/>
                </a:solidFill>
                <a:latin typeface="Calibri" pitchFamily="34" charset="0"/>
                <a:ea typeface="Calibri" pitchFamily="34" charset="-122"/>
                <a:cs typeface="Calibri" pitchFamily="34" charset="-120"/>
              </a:rPr>
              <a:t>Multinomial Naive Bayes</a:t>
            </a:r>
            <a:endParaRPr lang="en-US" sz="1700" dirty="0"/>
          </a:p>
        </p:txBody>
      </p:sp>
      <p:sp>
        <p:nvSpPr>
          <p:cNvPr id="17" name="text_96"/>
          <p:cNvSpPr txBox="1"/>
          <p:nvPr/>
        </p:nvSpPr>
        <p:spPr>
          <a:xfrm>
            <a:off x="6492240" y="3886200"/>
            <a:ext cx="2240280" cy="21031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Word counts, 47,118 words, alpha tuned on validation (3.0). The classic baseline for this dataset.</a:t>
            </a:r>
            <a:endParaRPr lang="en-US" sz="1300" dirty="0"/>
          </a:p>
        </p:txBody>
      </p:sp>
      <p:sp>
        <p:nvSpPr>
          <p:cNvPr id="18" name="card_97"/>
          <p:cNvSpPr/>
          <p:nvPr/>
        </p:nvSpPr>
        <p:spPr>
          <a:xfrm>
            <a:off x="9006840" y="2697480"/>
            <a:ext cx="2560320" cy="3429000"/>
          </a:xfrm>
          <a:prstGeom prst="roundRect">
            <a:avLst>
              <a:gd name="adj" fmla="val 2857"/>
            </a:avLst>
          </a:prstGeom>
          <a:solidFill>
            <a:srgbClr val="F2F4F3"/>
          </a:solidFill>
          <a:ln w="12700">
            <a:solidFill>
              <a:srgbClr val="F2F4F3"/>
            </a:solidFill>
            <a:prstDash val="solid"/>
          </a:ln>
        </p:spPr>
      </p:sp>
      <p:sp>
        <p:nvSpPr>
          <p:cNvPr id="19" name="text_98"/>
          <p:cNvSpPr txBox="1"/>
          <p:nvPr/>
        </p:nvSpPr>
        <p:spPr>
          <a:xfrm>
            <a:off x="9189720" y="2834640"/>
            <a:ext cx="2194560" cy="274320"/>
          </a:xfrm>
          <a:prstGeom prst="rect">
            <a:avLst/>
          </a:prstGeom>
          <a:noFill/>
          <a:ln/>
        </p:spPr>
        <p:txBody>
          <a:bodyPr wrap="square" lIns="0" tIns="0" rIns="0" bIns="0" rtlCol="0" anchor="ctr"/>
          <a:lstStyle/>
          <a:p>
            <a:pPr indent="0" marL="0">
              <a:buNone/>
            </a:pPr>
            <a:r>
              <a:rPr lang="en-US" sz="1200" b="1" spc="200" kern="0" dirty="0">
                <a:solidFill>
                  <a:srgbClr val="6250D6"/>
                </a:solidFill>
                <a:latin typeface="Calibri" pitchFamily="34" charset="0"/>
                <a:ea typeface="Calibri" pitchFamily="34" charset="-122"/>
                <a:cs typeface="Calibri" pitchFamily="34" charset="-120"/>
              </a:rPr>
              <a:t>ADVANCED</a:t>
            </a:r>
            <a:endParaRPr lang="en-US" sz="1200" dirty="0"/>
          </a:p>
        </p:txBody>
      </p:sp>
      <p:sp>
        <p:nvSpPr>
          <p:cNvPr id="20" name="text_99"/>
          <p:cNvSpPr txBox="1"/>
          <p:nvPr/>
        </p:nvSpPr>
        <p:spPr>
          <a:xfrm>
            <a:off x="9189720" y="3154680"/>
            <a:ext cx="2240280" cy="640080"/>
          </a:xfrm>
          <a:prstGeom prst="rect">
            <a:avLst/>
          </a:prstGeom>
          <a:noFill/>
          <a:ln/>
        </p:spPr>
        <p:txBody>
          <a:bodyPr wrap="square" lIns="0" tIns="0" rIns="0" bIns="0" rtlCol="0" anchor="t"/>
          <a:lstStyle/>
          <a:p>
            <a:pPr indent="0" marL="0">
              <a:buNone/>
            </a:pPr>
            <a:r>
              <a:rPr lang="en-US" sz="1700" b="1" dirty="0">
                <a:solidFill>
                  <a:srgbClr val="1F2A2E"/>
                </a:solidFill>
                <a:latin typeface="Calibri" pitchFamily="34" charset="0"/>
                <a:ea typeface="Calibri" pitchFamily="34" charset="-122"/>
                <a:cs typeface="Calibri" pitchFamily="34" charset="-120"/>
              </a:rPr>
              <a:t>Logistic Regression</a:t>
            </a:r>
            <a:endParaRPr lang="en-US" sz="1700" dirty="0"/>
          </a:p>
        </p:txBody>
      </p:sp>
      <p:sp>
        <p:nvSpPr>
          <p:cNvPr id="21" name="text_100"/>
          <p:cNvSpPr txBox="1"/>
          <p:nvPr/>
        </p:nvSpPr>
        <p:spPr>
          <a:xfrm>
            <a:off x="9189720" y="3886200"/>
            <a:ext cx="2240280" cy="21031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TF-IDF of words and word pairs (300,000 terms), C tuned (2.0), class weights, threshold 0.44 chosen on validation.</a:t>
            </a:r>
            <a:endParaRPr lang="en-US" sz="13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PREDICTIVE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Logistic Regression wins on every metric</a:t>
            </a:r>
            <a:endParaRPr lang="en-US" sz="3200" dirty="0"/>
          </a:p>
        </p:txBody>
      </p:sp>
      <p:graphicFrame>
        <p:nvGraphicFramePr>
          <p:cNvPr id="4" name="chart_101" descr=""/>
          <p:cNvGraphicFramePr/>
          <p:nvPr/>
        </p:nvGraphicFramePr>
        <p:xfrm>
          <a:off x="548640" y="146304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5" name="card_102"/>
          <p:cNvSpPr/>
          <p:nvPr/>
        </p:nvSpPr>
        <p:spPr>
          <a:xfrm>
            <a:off x="7589520" y="1600200"/>
            <a:ext cx="4023360" cy="1828800"/>
          </a:xfrm>
          <a:prstGeom prst="roundRect">
            <a:avLst>
              <a:gd name="adj" fmla="val 4000"/>
            </a:avLst>
          </a:prstGeom>
          <a:solidFill>
            <a:srgbClr val="E2EDFA"/>
          </a:solidFill>
          <a:ln w="12700">
            <a:solidFill>
              <a:srgbClr val="E2EDFA"/>
            </a:solidFill>
            <a:prstDash val="solid"/>
          </a:ln>
        </p:spPr>
      </p:sp>
      <p:sp>
        <p:nvSpPr>
          <p:cNvPr id="6" name="text_103"/>
          <p:cNvSpPr txBox="1"/>
          <p:nvPr/>
        </p:nvSpPr>
        <p:spPr>
          <a:xfrm>
            <a:off x="7818120" y="1737360"/>
            <a:ext cx="3566160" cy="685800"/>
          </a:xfrm>
          <a:prstGeom prst="rect">
            <a:avLst/>
          </a:prstGeom>
          <a:noFill/>
          <a:ln/>
        </p:spPr>
        <p:txBody>
          <a:bodyPr wrap="square" lIns="0" tIns="0" rIns="0" bIns="0" rtlCol="0" anchor="ctr"/>
          <a:lstStyle/>
          <a:p>
            <a:pPr indent="0" marL="0">
              <a:buNone/>
            </a:pPr>
            <a:r>
              <a:rPr lang="en-US" sz="3400" b="1" dirty="0">
                <a:solidFill>
                  <a:srgbClr val="6250D6"/>
                </a:solidFill>
                <a:latin typeface="Cambria" pitchFamily="34" charset="0"/>
                <a:ea typeface="Cambria" pitchFamily="34" charset="-122"/>
                <a:cs typeface="Cambria" pitchFamily="34" charset="-120"/>
              </a:rPr>
              <a:t>+4.4 pp</a:t>
            </a:r>
            <a:endParaRPr lang="en-US" sz="3400" dirty="0"/>
          </a:p>
        </p:txBody>
      </p:sp>
      <p:sp>
        <p:nvSpPr>
          <p:cNvPr id="7" name="text_104"/>
          <p:cNvSpPr txBox="1"/>
          <p:nvPr/>
        </p:nvSpPr>
        <p:spPr>
          <a:xfrm>
            <a:off x="7818120" y="2468880"/>
            <a:ext cx="356616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accuracy gain (McNemar, p &lt; 0.001): about 440 fewer mislabelled tweets per 10,000</a:t>
            </a:r>
            <a:endParaRPr lang="en-US" sz="1400" dirty="0"/>
          </a:p>
        </p:txBody>
      </p:sp>
      <p:sp>
        <p:nvSpPr>
          <p:cNvPr id="8" name="text_105"/>
          <p:cNvSpPr txBox="1"/>
          <p:nvPr/>
        </p:nvSpPr>
        <p:spPr>
          <a:xfrm>
            <a:off x="7589520" y="3657600"/>
            <a:ext cx="4023360" cy="36576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Robustness</a:t>
            </a:r>
            <a:endParaRPr lang="en-US" sz="1600" dirty="0"/>
          </a:p>
        </p:txBody>
      </p:sp>
      <p:sp>
        <p:nvSpPr>
          <p:cNvPr id="9" name="text_106"/>
          <p:cNvSpPr txBox="1"/>
          <p:nvPr/>
        </p:nvSpPr>
        <p:spPr>
          <a:xfrm>
            <a:off x="7589520" y="4069080"/>
            <a:ext cx="402336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A474C"/>
                </a:solidFill>
                <a:latin typeface="Calibri" pitchFamily="34" charset="0"/>
                <a:ea typeface="Calibri" pitchFamily="34" charset="-122"/>
                <a:cs typeface="Calibri" pitchFamily="34" charset="-120"/>
              </a:rPr>
              <a:t>Random 80/20 split: AUC 0.903, a little optimistic.</a:t>
            </a:r>
            <a:endParaRPr lang="en-US" sz="1400" dirty="0"/>
          </a:p>
          <a:p>
            <a:pPr marL="342900" indent="-342900">
              <a:spcAft>
                <a:spcPts val="500"/>
              </a:spcAft>
              <a:buSzPct val="100000"/>
              <a:buChar char="•"/>
            </a:pPr>
            <a:r>
              <a:rPr lang="en-US" sz="1400" dirty="0">
                <a:solidFill>
                  <a:srgbClr val="3A474C"/>
                </a:solidFill>
                <a:latin typeface="Calibri" pitchFamily="34" charset="0"/>
                <a:ea typeface="Calibri" pitchFamily="34" charset="-122"/>
                <a:cs typeface="Calibri" pitchFamily="34" charset="-120"/>
              </a:rPr>
              <a:t>F&amp;B tweets only: AUC 0.886.</a:t>
            </a:r>
            <a:endParaRPr lang="en-US" sz="1400" dirty="0"/>
          </a:p>
          <a:p>
            <a:pPr marL="342900" indent="-342900">
              <a:spcAft>
                <a:spcPts val="500"/>
              </a:spcAft>
              <a:buSzPct val="100000"/>
              <a:buChar char="•"/>
            </a:pPr>
            <a:r>
              <a:rPr lang="en-US" sz="1400" dirty="0">
                <a:solidFill>
                  <a:srgbClr val="3A474C"/>
                </a:solidFill>
                <a:latin typeface="Calibri" pitchFamily="34" charset="0"/>
                <a:ea typeface="Calibri" pitchFamily="34" charset="-122"/>
                <a:cs typeface="Calibri" pitchFamily="34" charset="-120"/>
              </a:rPr>
              <a:t>Model trained on F&amp;B only: 0.862, so the general model is better.</a:t>
            </a:r>
            <a:endParaRPr lang="en-US" sz="1400" dirty="0"/>
          </a:p>
          <a:p>
            <a:pPr marL="342900" indent="-342900">
              <a:spcAft>
                <a:spcPts val="500"/>
              </a:spcAft>
              <a:buSzPct val="100000"/>
              <a:buChar char="•"/>
            </a:pPr>
            <a:r>
              <a:rPr lang="en-US" sz="1400" dirty="0">
                <a:solidFill>
                  <a:srgbClr val="3A474C"/>
                </a:solidFill>
                <a:latin typeface="Calibri" pitchFamily="34" charset="0"/>
                <a:ea typeface="Calibri" pitchFamily="34" charset="-122"/>
                <a:cs typeface="Calibri" pitchFamily="34" charset="-120"/>
              </a:rPr>
              <a:t>New users score the same as known users (0.895 vs 0.896).</a:t>
            </a:r>
            <a:endParaRPr lang="en-US" sz="1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MODEL INTERPRETATION</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The model is readable, not a black box</a:t>
            </a:r>
            <a:endParaRPr lang="en-US" sz="3200" dirty="0"/>
          </a:p>
        </p:txBody>
      </p:sp>
      <p:pic>
        <p:nvPicPr>
          <p:cNvPr id="4" name="figure_107" descr="D:\hoctap\Phân tích và trực quan hoá dữ liệu\Midterm\figures\fig5_4_lr_coefficients.png">    </p:cNvPr>
          <p:cNvPicPr>
            <a:picLocks noChangeAspect="1"/>
          </p:cNvPicPr>
          <p:nvPr/>
        </p:nvPicPr>
        <p:blipFill>
          <a:blip r:embed="rId1"/>
          <a:stretch>
            <a:fillRect/>
          </a:stretch>
        </p:blipFill>
        <p:spPr>
          <a:xfrm>
            <a:off x="365760" y="1417320"/>
            <a:ext cx="6309360" cy="4545679"/>
          </a:xfrm>
          <a:prstGeom prst="rect">
            <a:avLst/>
          </a:prstGeom>
        </p:spPr>
      </p:pic>
      <p:sp>
        <p:nvSpPr>
          <p:cNvPr id="5" name="card_108"/>
          <p:cNvSpPr/>
          <p:nvPr/>
        </p:nvSpPr>
        <p:spPr>
          <a:xfrm>
            <a:off x="6903720" y="1554480"/>
            <a:ext cx="4709160" cy="2194560"/>
          </a:xfrm>
          <a:prstGeom prst="roundRect">
            <a:avLst>
              <a:gd name="adj" fmla="val 3333"/>
            </a:avLst>
          </a:prstGeom>
          <a:solidFill>
            <a:srgbClr val="F2F4F3"/>
          </a:solidFill>
          <a:ln w="12700">
            <a:solidFill>
              <a:srgbClr val="F2F4F3"/>
            </a:solidFill>
            <a:prstDash val="solid"/>
          </a:ln>
        </p:spPr>
      </p:sp>
      <p:sp>
        <p:nvSpPr>
          <p:cNvPr id="6" name="text_109"/>
          <p:cNvSpPr txBox="1"/>
          <p:nvPr/>
        </p:nvSpPr>
        <p:spPr>
          <a:xfrm>
            <a:off x="7132320" y="1691640"/>
            <a:ext cx="4297680" cy="32004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Example 1: availability complaint</a:t>
            </a:r>
            <a:endParaRPr lang="en-US" sz="1300" dirty="0"/>
          </a:p>
        </p:txBody>
      </p:sp>
      <p:sp>
        <p:nvSpPr>
          <p:cNvPr id="7" name="text_110"/>
          <p:cNvSpPr txBox="1"/>
          <p:nvPr/>
        </p:nvSpPr>
        <p:spPr>
          <a:xfrm>
            <a:off x="7132320" y="2057400"/>
            <a:ext cx="4297680" cy="640080"/>
          </a:xfrm>
          <a:prstGeom prst="rect">
            <a:avLst/>
          </a:prstGeom>
          <a:noFill/>
          <a:ln/>
        </p:spPr>
        <p:txBody>
          <a:bodyPr wrap="square" lIns="0" tIns="0" rIns="0" bIns="0" rtlCol="0" anchor="ctr"/>
          <a:lstStyle/>
          <a:p>
            <a:pPr indent="0" marL="0">
              <a:buNone/>
            </a:pPr>
            <a:r>
              <a:rPr lang="en-US" sz="1500" i="1" dirty="0">
                <a:solidFill>
                  <a:srgbClr val="1F2A2E"/>
                </a:solidFill>
                <a:latin typeface="Calibri" pitchFamily="34" charset="0"/>
                <a:ea typeface="Calibri" pitchFamily="34" charset="-122"/>
                <a:cs typeface="Calibri" pitchFamily="34" charset="-120"/>
              </a:rPr>
              <a:t>“i am so sad!! i ran out of orange juice boohoo!”</a:t>
            </a:r>
            <a:endParaRPr lang="en-US" sz="1500" dirty="0"/>
          </a:p>
        </p:txBody>
      </p:sp>
      <p:sp>
        <p:nvSpPr>
          <p:cNvPr id="8" name="text_111"/>
          <p:cNvSpPr txBox="1"/>
          <p:nvPr/>
        </p:nvSpPr>
        <p:spPr>
          <a:xfrm>
            <a:off x="7132320" y="2788920"/>
            <a:ext cx="4297680" cy="731520"/>
          </a:xfrm>
          <a:prstGeom prst="rect">
            <a:avLst/>
          </a:prstGeom>
          <a:noFill/>
          <a:ln/>
        </p:spPr>
        <p:txBody>
          <a:bodyPr wrap="square" lIns="0" tIns="0" rIns="0" bIns="0" rtlCol="0" anchor="ctr"/>
          <a:lstStyle/>
          <a:p>
            <a:pPr indent="0" marL="0">
              <a:buNone/>
            </a:pPr>
            <a:r>
              <a:rPr lang="en-US" sz="1300" dirty="0">
                <a:solidFill>
                  <a:srgbClr val="3A474C"/>
                </a:solidFill>
                <a:latin typeface="Calibri" pitchFamily="34" charset="0"/>
                <a:ea typeface="Calibri" pitchFamily="34" charset="-122"/>
                <a:cs typeface="Calibri" pitchFamily="34" charset="-120"/>
              </a:rPr>
              <a:t>sad, boohoo, so sad, ran out push towards negative.  P(negative) = 1.00</a:t>
            </a:r>
            <a:endParaRPr lang="en-US" sz="1300" dirty="0"/>
          </a:p>
        </p:txBody>
      </p:sp>
      <p:sp>
        <p:nvSpPr>
          <p:cNvPr id="9" name="card_112"/>
          <p:cNvSpPr/>
          <p:nvPr/>
        </p:nvSpPr>
        <p:spPr>
          <a:xfrm>
            <a:off x="6903720" y="3931920"/>
            <a:ext cx="4709160" cy="2194560"/>
          </a:xfrm>
          <a:prstGeom prst="roundRect">
            <a:avLst>
              <a:gd name="adj" fmla="val 3333"/>
            </a:avLst>
          </a:prstGeom>
          <a:solidFill>
            <a:srgbClr val="F2F4F3"/>
          </a:solidFill>
          <a:ln w="12700">
            <a:solidFill>
              <a:srgbClr val="F2F4F3"/>
            </a:solidFill>
            <a:prstDash val="solid"/>
          </a:ln>
        </p:spPr>
      </p:sp>
      <p:sp>
        <p:nvSpPr>
          <p:cNvPr id="10" name="text_113"/>
          <p:cNvSpPr txBox="1"/>
          <p:nvPr/>
        </p:nvSpPr>
        <p:spPr>
          <a:xfrm>
            <a:off x="7132320" y="4069080"/>
            <a:ext cx="4297680" cy="32004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Example 2: negation handled by word pairs</a:t>
            </a:r>
            <a:endParaRPr lang="en-US" sz="1300" dirty="0"/>
          </a:p>
        </p:txBody>
      </p:sp>
      <p:sp>
        <p:nvSpPr>
          <p:cNvPr id="11" name="text_114"/>
          <p:cNvSpPr txBox="1"/>
          <p:nvPr/>
        </p:nvSpPr>
        <p:spPr>
          <a:xfrm>
            <a:off x="7132320" y="4434840"/>
            <a:ext cx="4297680" cy="640080"/>
          </a:xfrm>
          <a:prstGeom prst="rect">
            <a:avLst/>
          </a:prstGeom>
          <a:noFill/>
          <a:ln/>
        </p:spPr>
        <p:txBody>
          <a:bodyPr wrap="square" lIns="0" tIns="0" rIns="0" bIns="0" rtlCol="0" anchor="ctr"/>
          <a:lstStyle/>
          <a:p>
            <a:pPr indent="0" marL="0">
              <a:buNone/>
            </a:pPr>
            <a:r>
              <a:rPr lang="en-US" sz="1500" i="1" dirty="0">
                <a:solidFill>
                  <a:srgbClr val="1F2A2E"/>
                </a:solidFill>
                <a:latin typeface="Calibri" pitchFamily="34" charset="0"/>
                <a:ea typeface="Calibri" pitchFamily="34" charset="-122"/>
                <a:cs typeface="Calibri" pitchFamily="34" charset="-120"/>
              </a:rPr>
              <a:t>“that's not bad at all, as long as there's a smash cake…”</a:t>
            </a:r>
            <a:endParaRPr lang="en-US" sz="1500" dirty="0"/>
          </a:p>
        </p:txBody>
      </p:sp>
      <p:sp>
        <p:nvSpPr>
          <p:cNvPr id="12" name="text_115"/>
          <p:cNvSpPr txBox="1"/>
          <p:nvPr/>
        </p:nvSpPr>
        <p:spPr>
          <a:xfrm>
            <a:off x="7132320" y="5166360"/>
            <a:ext cx="4297680" cy="731520"/>
          </a:xfrm>
          <a:prstGeom prst="rect">
            <a:avLst/>
          </a:prstGeom>
          <a:noFill/>
          <a:ln/>
        </p:spPr>
        <p:txBody>
          <a:bodyPr wrap="square" lIns="0" tIns="0" rIns="0" bIns="0" rtlCol="0" anchor="ctr"/>
          <a:lstStyle/>
          <a:p>
            <a:pPr indent="0" marL="0">
              <a:buNone/>
            </a:pPr>
            <a:r>
              <a:rPr lang="en-US" sz="1300" dirty="0">
                <a:solidFill>
                  <a:srgbClr val="3A474C"/>
                </a:solidFill>
                <a:latin typeface="Calibri" pitchFamily="34" charset="0"/>
                <a:ea typeface="Calibri" pitchFamily="34" charset="-122"/>
                <a:cs typeface="Calibri" pitchFamily="34" charset="-120"/>
              </a:rPr>
              <a:t>The pair “not bad” outweighs “not” and “bad”.  P(negative) = 0.06</a:t>
            </a:r>
            <a:endParaRPr lang="en-US" sz="13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PRESCRIPTIVE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Decision rule: targeted adjustments, not a rewrite</a:t>
            </a:r>
            <a:endParaRPr lang="en-US" sz="3200" dirty="0"/>
          </a:p>
        </p:txBody>
      </p:sp>
      <p:sp>
        <p:nvSpPr>
          <p:cNvPr id="4" name="text_116"/>
          <p:cNvSpPr txBox="1"/>
          <p:nvPr/>
        </p:nvSpPr>
        <p:spPr>
          <a:xfrm>
            <a:off x="548640" y="1508760"/>
            <a:ext cx="4572000" cy="36576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Rule written before the results</a:t>
            </a:r>
            <a:endParaRPr lang="en-US" sz="1600" dirty="0"/>
          </a:p>
        </p:txBody>
      </p:sp>
      <p:sp>
        <p:nvSpPr>
          <p:cNvPr id="5" name="card_117"/>
          <p:cNvSpPr/>
          <p:nvPr/>
        </p:nvSpPr>
        <p:spPr>
          <a:xfrm>
            <a:off x="548640" y="1965960"/>
            <a:ext cx="4526280" cy="1143000"/>
          </a:xfrm>
          <a:prstGeom prst="roundRect">
            <a:avLst>
              <a:gd name="adj" fmla="val 6400"/>
            </a:avLst>
          </a:prstGeom>
          <a:solidFill>
            <a:srgbClr val="F2F4F3"/>
          </a:solidFill>
          <a:ln w="12700">
            <a:solidFill>
              <a:srgbClr val="F2F4F3"/>
            </a:solidFill>
            <a:prstDash val="solid"/>
          </a:ln>
        </p:spPr>
      </p:sp>
      <p:sp>
        <p:nvSpPr>
          <p:cNvPr id="6" name="text_118"/>
          <p:cNvSpPr txBox="1"/>
          <p:nvPr/>
        </p:nvSpPr>
        <p:spPr>
          <a:xfrm>
            <a:off x="777240" y="2039112"/>
            <a:ext cx="4114800" cy="10058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Rewrite the message</a:t>
            </a:r>
            <a:endParaRPr lang="en-US" sz="1600" dirty="0"/>
          </a:p>
          <a:p>
            <a:pPr indent="0" marL="0">
              <a:buNone/>
            </a:pPr>
            <a:r>
              <a:rPr lang="en-US" sz="1300" dirty="0">
                <a:solidFill>
                  <a:srgbClr val="3A474C"/>
                </a:solidFill>
                <a:latin typeface="Calibri" pitchFamily="34" charset="0"/>
                <a:ea typeface="Calibri" pitchFamily="34" charset="-122"/>
                <a:cs typeface="Calibri" pitchFamily="34" charset="-120"/>
              </a:rPr>
              <a:t>if launch week is significantly and practically more negative (H4)</a:t>
            </a:r>
            <a:endParaRPr lang="en-US" sz="1600" dirty="0"/>
          </a:p>
          <a:p>
            <a:pPr indent="0" marL="0">
              <a:buNone/>
            </a:pPr>
            <a:r>
              <a:rPr lang="en-US" sz="1300" b="1" dirty="0">
                <a:solidFill>
                  <a:srgbClr val="6B6A66"/>
                </a:solidFill>
                <a:latin typeface="Calibri" pitchFamily="34" charset="0"/>
                <a:ea typeface="Calibri" pitchFamily="34" charset="-122"/>
                <a:cs typeface="Calibri" pitchFamily="34" charset="-120"/>
              </a:rPr>
              <a:t>Not met: H4 −0.3 pp, p = 0.37</a:t>
            </a:r>
            <a:endParaRPr lang="en-US" sz="1600" dirty="0"/>
          </a:p>
        </p:txBody>
      </p:sp>
      <p:sp>
        <p:nvSpPr>
          <p:cNvPr id="7" name="card_119"/>
          <p:cNvSpPr/>
          <p:nvPr/>
        </p:nvSpPr>
        <p:spPr>
          <a:xfrm>
            <a:off x="548640" y="3291840"/>
            <a:ext cx="4526280" cy="1143000"/>
          </a:xfrm>
          <a:prstGeom prst="roundRect">
            <a:avLst>
              <a:gd name="adj" fmla="val 6400"/>
            </a:avLst>
          </a:prstGeom>
          <a:solidFill>
            <a:srgbClr val="E3F5EE"/>
          </a:solidFill>
          <a:ln w="12700">
            <a:solidFill>
              <a:srgbClr val="E3F5EE"/>
            </a:solidFill>
            <a:prstDash val="solid"/>
          </a:ln>
        </p:spPr>
      </p:sp>
      <p:sp>
        <p:nvSpPr>
          <p:cNvPr id="8" name="text_120"/>
          <p:cNvSpPr txBox="1"/>
          <p:nvPr/>
        </p:nvSpPr>
        <p:spPr>
          <a:xfrm>
            <a:off x="777240" y="3364992"/>
            <a:ext cx="4114800" cy="1005840"/>
          </a:xfrm>
          <a:prstGeom prst="rect">
            <a:avLst/>
          </a:prstGeom>
          <a:noFill/>
          <a:ln/>
        </p:spPr>
        <p:txBody>
          <a:bodyPr wrap="square" lIns="0" tIns="0" rIns="0" bIns="0" rtlCol="0" anchor="ctr"/>
          <a:lstStyle/>
          <a:p>
            <a:pPr indent="0" marL="0">
              <a:buNone/>
            </a:pPr>
            <a:r>
              <a:rPr lang="en-US" sz="1600" b="1" dirty="0">
                <a:solidFill>
                  <a:srgbClr val="1BAF7A"/>
                </a:solidFill>
                <a:latin typeface="Calibri" pitchFamily="34" charset="0"/>
                <a:ea typeface="Calibri" pitchFamily="34" charset="-122"/>
                <a:cs typeface="Calibri" pitchFamily="34" charset="-120"/>
              </a:rPr>
              <a:t>Targeted adjustments</a:t>
            </a:r>
            <a:endParaRPr lang="en-US" sz="1600" dirty="0"/>
          </a:p>
          <a:p>
            <a:pPr indent="0" marL="0">
              <a:buNone/>
            </a:pPr>
            <a:r>
              <a:rPr lang="en-US" sz="1300" dirty="0">
                <a:solidFill>
                  <a:srgbClr val="3A474C"/>
                </a:solidFill>
                <a:latin typeface="Calibri" pitchFamily="34" charset="0"/>
                <a:ea typeface="Calibri" pitchFamily="34" charset="-122"/>
                <a:cs typeface="Calibri" pitchFamily="34" charset="-120"/>
              </a:rPr>
              <a:t>if a product aspect is ≥ 5 pp more negative, whole CI above 0</a:t>
            </a:r>
            <a:endParaRPr lang="en-US" sz="1600" dirty="0"/>
          </a:p>
          <a:p>
            <a:pPr indent="0" marL="0">
              <a:buNone/>
            </a:pPr>
            <a:r>
              <a:rPr lang="en-US" sz="1300" b="1" dirty="0">
                <a:solidFill>
                  <a:srgbClr val="1BAF7A"/>
                </a:solidFill>
                <a:latin typeface="Calibri" pitchFamily="34" charset="0"/>
                <a:ea typeface="Calibri" pitchFamily="34" charset="-122"/>
                <a:cs typeface="Calibri" pitchFamily="34" charset="-120"/>
              </a:rPr>
              <a:t>Met: availability, service, price</a:t>
            </a:r>
            <a:endParaRPr lang="en-US" sz="1600" dirty="0"/>
          </a:p>
        </p:txBody>
      </p:sp>
      <p:sp>
        <p:nvSpPr>
          <p:cNvPr id="9" name="card_121"/>
          <p:cNvSpPr/>
          <p:nvPr/>
        </p:nvSpPr>
        <p:spPr>
          <a:xfrm>
            <a:off x="548640" y="4617720"/>
            <a:ext cx="4526280" cy="1143000"/>
          </a:xfrm>
          <a:prstGeom prst="roundRect">
            <a:avLst>
              <a:gd name="adj" fmla="val 6400"/>
            </a:avLst>
          </a:prstGeom>
          <a:solidFill>
            <a:srgbClr val="F2F4F3"/>
          </a:solidFill>
          <a:ln w="12700">
            <a:solidFill>
              <a:srgbClr val="F2F4F3"/>
            </a:solidFill>
            <a:prstDash val="solid"/>
          </a:ln>
        </p:spPr>
      </p:sp>
      <p:sp>
        <p:nvSpPr>
          <p:cNvPr id="10" name="text_122"/>
          <p:cNvSpPr txBox="1"/>
          <p:nvPr/>
        </p:nvSpPr>
        <p:spPr>
          <a:xfrm>
            <a:off x="777240" y="4690872"/>
            <a:ext cx="4114800" cy="10058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Keep and monitor</a:t>
            </a:r>
            <a:endParaRPr lang="en-US" sz="1600" dirty="0"/>
          </a:p>
          <a:p>
            <a:pPr indent="0" marL="0">
              <a:buNone/>
            </a:pPr>
            <a:r>
              <a:rPr lang="en-US" sz="1300" dirty="0">
                <a:solidFill>
                  <a:srgbClr val="3A474C"/>
                </a:solidFill>
                <a:latin typeface="Calibri" pitchFamily="34" charset="0"/>
                <a:ea typeface="Calibri" pitchFamily="34" charset="-122"/>
                <a:cs typeface="Calibri" pitchFamily="34" charset="-120"/>
              </a:rPr>
              <a:t>otherwise</a:t>
            </a:r>
            <a:endParaRPr lang="en-US" sz="1600" dirty="0"/>
          </a:p>
        </p:txBody>
      </p:sp>
      <p:pic>
        <p:nvPicPr>
          <p:cNvPr id="11" name="figure_123" descr="D:\hoctap\Phân tích và trực quan hoá dữ liệu\Midterm\figures\fig6_1_priority_matrix.png">    </p:cNvPr>
          <p:cNvPicPr>
            <a:picLocks noChangeAspect="1"/>
          </p:cNvPicPr>
          <p:nvPr/>
        </p:nvPicPr>
        <p:blipFill>
          <a:blip r:embed="rId1"/>
          <a:stretch>
            <a:fillRect/>
          </a:stretch>
        </p:blipFill>
        <p:spPr>
          <a:xfrm>
            <a:off x="5349240" y="1463040"/>
            <a:ext cx="6309360" cy="3734771"/>
          </a:xfrm>
          <a:prstGeom prst="rect">
            <a:avLst/>
          </a:prstGeom>
        </p:spPr>
      </p:pic>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PRESCRIPTIVE ANALYTICS</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Six recommendations, each backed by numbers</a:t>
            </a:r>
            <a:endParaRPr lang="en-US" sz="3200" dirty="0"/>
          </a:p>
        </p:txBody>
      </p:sp>
      <p:sp>
        <p:nvSpPr>
          <p:cNvPr id="4" name="card_124"/>
          <p:cNvSpPr/>
          <p:nvPr/>
        </p:nvSpPr>
        <p:spPr>
          <a:xfrm>
            <a:off x="548640" y="1554480"/>
            <a:ext cx="3566160" cy="2194560"/>
          </a:xfrm>
          <a:prstGeom prst="roundRect">
            <a:avLst>
              <a:gd name="adj" fmla="val 3333"/>
            </a:avLst>
          </a:prstGeom>
          <a:solidFill>
            <a:srgbClr val="E3F5EE"/>
          </a:solidFill>
          <a:ln w="12700">
            <a:solidFill>
              <a:srgbClr val="E3F5EE"/>
            </a:solidFill>
            <a:prstDash val="solid"/>
          </a:ln>
        </p:spPr>
      </p:sp>
      <p:sp>
        <p:nvSpPr>
          <p:cNvPr id="5" name="badge_125"/>
          <p:cNvSpPr/>
          <p:nvPr/>
        </p:nvSpPr>
        <p:spPr>
          <a:xfrm>
            <a:off x="777240" y="1783080"/>
            <a:ext cx="548640" cy="548640"/>
          </a:xfrm>
          <a:prstGeom prst="ellipse">
            <a:avLst/>
          </a:prstGeom>
          <a:solidFill>
            <a:srgbClr val="1BAF7A"/>
          </a:solidFill>
          <a:ln w="12700">
            <a:solidFill>
              <a:srgbClr val="1BAF7A"/>
            </a:solidFill>
            <a:prstDash val="solid"/>
          </a:ln>
        </p:spPr>
      </p:sp>
      <p:sp>
        <p:nvSpPr>
          <p:cNvPr id="6" name="text_126"/>
          <p:cNvSpPr txBox="1"/>
          <p:nvPr/>
        </p:nvSpPr>
        <p:spPr>
          <a:xfrm>
            <a:off x="777240"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R1</a:t>
            </a:r>
            <a:endParaRPr lang="en-US" sz="1600" dirty="0"/>
          </a:p>
        </p:txBody>
      </p:sp>
      <p:sp>
        <p:nvSpPr>
          <p:cNvPr id="7" name="text_127"/>
          <p:cNvSpPr txBox="1"/>
          <p:nvPr/>
        </p:nvSpPr>
        <p:spPr>
          <a:xfrm>
            <a:off x="1463040" y="1783080"/>
            <a:ext cx="2514600" cy="5486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Keep the core message</a:t>
            </a:r>
            <a:endParaRPr lang="en-US" sz="1600" dirty="0"/>
          </a:p>
        </p:txBody>
      </p:sp>
      <p:sp>
        <p:nvSpPr>
          <p:cNvPr id="8" name="text_128"/>
          <p:cNvSpPr txBox="1"/>
          <p:nvPr/>
        </p:nvSpPr>
        <p:spPr>
          <a:xfrm>
            <a:off x="777240" y="2468880"/>
            <a:ext cx="3154680" cy="11887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Launch lift −5.4 pp ≈ baseline; H4 p = 0.37; next week estimated 38.2% (true 36.8%)</a:t>
            </a:r>
            <a:endParaRPr lang="en-US" sz="1300" dirty="0"/>
          </a:p>
        </p:txBody>
      </p:sp>
      <p:sp>
        <p:nvSpPr>
          <p:cNvPr id="9" name="card_129"/>
          <p:cNvSpPr/>
          <p:nvPr/>
        </p:nvSpPr>
        <p:spPr>
          <a:xfrm>
            <a:off x="4279392" y="1554480"/>
            <a:ext cx="3566160" cy="2194560"/>
          </a:xfrm>
          <a:prstGeom prst="roundRect">
            <a:avLst>
              <a:gd name="adj" fmla="val 3333"/>
            </a:avLst>
          </a:prstGeom>
          <a:solidFill>
            <a:srgbClr val="F2F4F3"/>
          </a:solidFill>
          <a:ln w="12700">
            <a:solidFill>
              <a:srgbClr val="F2F4F3"/>
            </a:solidFill>
            <a:prstDash val="solid"/>
          </a:ln>
        </p:spPr>
      </p:sp>
      <p:sp>
        <p:nvSpPr>
          <p:cNvPr id="10" name="badge_130"/>
          <p:cNvSpPr/>
          <p:nvPr/>
        </p:nvSpPr>
        <p:spPr>
          <a:xfrm>
            <a:off x="4507992" y="1783080"/>
            <a:ext cx="548640" cy="548640"/>
          </a:xfrm>
          <a:prstGeom prst="ellipse">
            <a:avLst/>
          </a:prstGeom>
          <a:solidFill>
            <a:srgbClr val="1F2A2E"/>
          </a:solidFill>
          <a:ln w="12700">
            <a:solidFill>
              <a:srgbClr val="1F2A2E"/>
            </a:solidFill>
            <a:prstDash val="solid"/>
          </a:ln>
        </p:spPr>
      </p:sp>
      <p:sp>
        <p:nvSpPr>
          <p:cNvPr id="11" name="text_131"/>
          <p:cNvSpPr txBox="1"/>
          <p:nvPr/>
        </p:nvSpPr>
        <p:spPr>
          <a:xfrm>
            <a:off x="4507992"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R2</a:t>
            </a:r>
            <a:endParaRPr lang="en-US" sz="1600" dirty="0"/>
          </a:p>
        </p:txBody>
      </p:sp>
      <p:sp>
        <p:nvSpPr>
          <p:cNvPr id="12" name="text_132"/>
          <p:cNvSpPr txBox="1"/>
          <p:nvPr/>
        </p:nvSpPr>
        <p:spPr>
          <a:xfrm>
            <a:off x="5193792" y="1783080"/>
            <a:ext cx="2514600" cy="5486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Add an availability message</a:t>
            </a:r>
            <a:endParaRPr lang="en-US" sz="1600" dirty="0"/>
          </a:p>
        </p:txBody>
      </p:sp>
      <p:sp>
        <p:nvSpPr>
          <p:cNvPr id="13" name="text_133"/>
          <p:cNvSpPr txBox="1"/>
          <p:nvPr/>
        </p:nvSpPr>
        <p:spPr>
          <a:xfrm>
            <a:off x="4507992" y="2468880"/>
            <a:ext cx="3154680" cy="11887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1.0% of tweets but 79.6% negative (+45.3 pp), OR 7.2; ~108 negative per 10k next week</a:t>
            </a:r>
            <a:endParaRPr lang="en-US" sz="1300" dirty="0"/>
          </a:p>
        </p:txBody>
      </p:sp>
      <p:sp>
        <p:nvSpPr>
          <p:cNvPr id="14" name="card_134"/>
          <p:cNvSpPr/>
          <p:nvPr/>
        </p:nvSpPr>
        <p:spPr>
          <a:xfrm>
            <a:off x="8010144" y="1554480"/>
            <a:ext cx="3566160" cy="2194560"/>
          </a:xfrm>
          <a:prstGeom prst="roundRect">
            <a:avLst>
              <a:gd name="adj" fmla="val 3333"/>
            </a:avLst>
          </a:prstGeom>
          <a:solidFill>
            <a:srgbClr val="F2F4F3"/>
          </a:solidFill>
          <a:ln w="12700">
            <a:solidFill>
              <a:srgbClr val="F2F4F3"/>
            </a:solidFill>
            <a:prstDash val="solid"/>
          </a:ln>
        </p:spPr>
      </p:sp>
      <p:sp>
        <p:nvSpPr>
          <p:cNvPr id="15" name="badge_135"/>
          <p:cNvSpPr/>
          <p:nvPr/>
        </p:nvSpPr>
        <p:spPr>
          <a:xfrm>
            <a:off x="8238744" y="1783080"/>
            <a:ext cx="548640" cy="548640"/>
          </a:xfrm>
          <a:prstGeom prst="ellipse">
            <a:avLst/>
          </a:prstGeom>
          <a:solidFill>
            <a:srgbClr val="1F2A2E"/>
          </a:solidFill>
          <a:ln w="12700">
            <a:solidFill>
              <a:srgbClr val="1F2A2E"/>
            </a:solidFill>
            <a:prstDash val="solid"/>
          </a:ln>
        </p:spPr>
      </p:sp>
      <p:sp>
        <p:nvSpPr>
          <p:cNvPr id="16" name="text_136"/>
          <p:cNvSpPr txBox="1"/>
          <p:nvPr/>
        </p:nvSpPr>
        <p:spPr>
          <a:xfrm>
            <a:off x="8238744" y="17830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R3</a:t>
            </a:r>
            <a:endParaRPr lang="en-US" sz="1600" dirty="0"/>
          </a:p>
        </p:txBody>
      </p:sp>
      <p:sp>
        <p:nvSpPr>
          <p:cNvPr id="17" name="text_137"/>
          <p:cNvSpPr txBox="1"/>
          <p:nvPr/>
        </p:nvSpPr>
        <p:spPr>
          <a:xfrm>
            <a:off x="8924544" y="1783080"/>
            <a:ext cx="2514600" cy="5486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Fix service, evenings first</a:t>
            </a:r>
            <a:endParaRPr lang="en-US" sz="1600" dirty="0"/>
          </a:p>
        </p:txBody>
      </p:sp>
      <p:sp>
        <p:nvSpPr>
          <p:cNvPr id="18" name="text_138"/>
          <p:cNvSpPr txBox="1"/>
          <p:nvPr/>
        </p:nvSpPr>
        <p:spPr>
          <a:xfrm>
            <a:off x="8238744" y="2468880"/>
            <a:ext cx="3154680" cy="11887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+5.4 pp (CI +3.3 to +7.4), evening +10.2 pp; ~129 negative per 10k next week</a:t>
            </a:r>
            <a:endParaRPr lang="en-US" sz="1300" dirty="0"/>
          </a:p>
        </p:txBody>
      </p:sp>
      <p:sp>
        <p:nvSpPr>
          <p:cNvPr id="19" name="card_139"/>
          <p:cNvSpPr/>
          <p:nvPr/>
        </p:nvSpPr>
        <p:spPr>
          <a:xfrm>
            <a:off x="548640" y="3931920"/>
            <a:ext cx="3566160" cy="2194560"/>
          </a:xfrm>
          <a:prstGeom prst="roundRect">
            <a:avLst>
              <a:gd name="adj" fmla="val 3333"/>
            </a:avLst>
          </a:prstGeom>
          <a:solidFill>
            <a:srgbClr val="F2F4F3"/>
          </a:solidFill>
          <a:ln w="12700">
            <a:solidFill>
              <a:srgbClr val="F2F4F3"/>
            </a:solidFill>
            <a:prstDash val="solid"/>
          </a:ln>
        </p:spPr>
      </p:sp>
      <p:sp>
        <p:nvSpPr>
          <p:cNvPr id="20" name="badge_140"/>
          <p:cNvSpPr/>
          <p:nvPr/>
        </p:nvSpPr>
        <p:spPr>
          <a:xfrm>
            <a:off x="777240" y="4160520"/>
            <a:ext cx="548640" cy="548640"/>
          </a:xfrm>
          <a:prstGeom prst="ellipse">
            <a:avLst/>
          </a:prstGeom>
          <a:solidFill>
            <a:srgbClr val="1F2A2E"/>
          </a:solidFill>
          <a:ln w="12700">
            <a:solidFill>
              <a:srgbClr val="1F2A2E"/>
            </a:solidFill>
            <a:prstDash val="solid"/>
          </a:ln>
        </p:spPr>
      </p:sp>
      <p:sp>
        <p:nvSpPr>
          <p:cNvPr id="21" name="text_141"/>
          <p:cNvSpPr txBox="1"/>
          <p:nvPr/>
        </p:nvSpPr>
        <p:spPr>
          <a:xfrm>
            <a:off x="777240" y="41605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R4</a:t>
            </a:r>
            <a:endParaRPr lang="en-US" sz="1600" dirty="0"/>
          </a:p>
        </p:txBody>
      </p:sp>
      <p:sp>
        <p:nvSpPr>
          <p:cNvPr id="22" name="text_142"/>
          <p:cNvSpPr txBox="1"/>
          <p:nvPr/>
        </p:nvSpPr>
        <p:spPr>
          <a:xfrm>
            <a:off x="1463040" y="4160520"/>
            <a:ext cx="2514600" cy="5486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Reframe price as value</a:t>
            </a:r>
            <a:endParaRPr lang="en-US" sz="1600" dirty="0"/>
          </a:p>
        </p:txBody>
      </p:sp>
      <p:sp>
        <p:nvSpPr>
          <p:cNvPr id="23" name="text_143"/>
          <p:cNvSpPr txBox="1"/>
          <p:nvPr/>
        </p:nvSpPr>
        <p:spPr>
          <a:xfrm>
            <a:off x="777240" y="4846320"/>
            <a:ext cx="3154680" cy="11887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+5.6 pp (CI +3.2 to +8.0), OR 1.21; trial offer, bundle or coupon</a:t>
            </a:r>
            <a:endParaRPr lang="en-US" sz="1300" dirty="0"/>
          </a:p>
        </p:txBody>
      </p:sp>
      <p:sp>
        <p:nvSpPr>
          <p:cNvPr id="24" name="card_144"/>
          <p:cNvSpPr/>
          <p:nvPr/>
        </p:nvSpPr>
        <p:spPr>
          <a:xfrm>
            <a:off x="4279392" y="3931920"/>
            <a:ext cx="3566160" cy="2194560"/>
          </a:xfrm>
          <a:prstGeom prst="roundRect">
            <a:avLst>
              <a:gd name="adj" fmla="val 3333"/>
            </a:avLst>
          </a:prstGeom>
          <a:solidFill>
            <a:srgbClr val="F2F4F3"/>
          </a:solidFill>
          <a:ln w="12700">
            <a:solidFill>
              <a:srgbClr val="F2F4F3"/>
            </a:solidFill>
            <a:prstDash val="solid"/>
          </a:ln>
        </p:spPr>
      </p:sp>
      <p:sp>
        <p:nvSpPr>
          <p:cNvPr id="25" name="badge_145"/>
          <p:cNvSpPr/>
          <p:nvPr/>
        </p:nvSpPr>
        <p:spPr>
          <a:xfrm>
            <a:off x="4507992" y="4160520"/>
            <a:ext cx="548640" cy="548640"/>
          </a:xfrm>
          <a:prstGeom prst="ellipse">
            <a:avLst/>
          </a:prstGeom>
          <a:solidFill>
            <a:srgbClr val="1F2A2E"/>
          </a:solidFill>
          <a:ln w="12700">
            <a:solidFill>
              <a:srgbClr val="1F2A2E"/>
            </a:solidFill>
            <a:prstDash val="solid"/>
          </a:ln>
        </p:spPr>
      </p:sp>
      <p:sp>
        <p:nvSpPr>
          <p:cNvPr id="26" name="text_146"/>
          <p:cNvSpPr txBox="1"/>
          <p:nvPr/>
        </p:nvSpPr>
        <p:spPr>
          <a:xfrm>
            <a:off x="4507992" y="41605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R5</a:t>
            </a:r>
            <a:endParaRPr lang="en-US" sz="1600" dirty="0"/>
          </a:p>
        </p:txBody>
      </p:sp>
      <p:sp>
        <p:nvSpPr>
          <p:cNvPr id="27" name="text_147"/>
          <p:cNvSpPr txBox="1"/>
          <p:nvPr/>
        </p:nvSpPr>
        <p:spPr>
          <a:xfrm>
            <a:off x="5193792" y="4160520"/>
            <a:ext cx="2514600" cy="5486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Creative on trying and sharing</a:t>
            </a:r>
            <a:endParaRPr lang="en-US" sz="1600" dirty="0"/>
          </a:p>
        </p:txBody>
      </p:sp>
      <p:sp>
        <p:nvSpPr>
          <p:cNvPr id="28" name="text_148"/>
          <p:cNvSpPr txBox="1"/>
          <p:nvPr/>
        </p:nvSpPr>
        <p:spPr>
          <a:xfrm>
            <a:off x="4507992" y="4846320"/>
            <a:ext cx="3154680" cy="11887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Novelty −7.2 pp, social −8.6 pp, morning −6.6 pp; avoid work-stress framing (+13.7 pp)</a:t>
            </a:r>
            <a:endParaRPr lang="en-US" sz="1300" dirty="0"/>
          </a:p>
        </p:txBody>
      </p:sp>
      <p:sp>
        <p:nvSpPr>
          <p:cNvPr id="29" name="card_149"/>
          <p:cNvSpPr/>
          <p:nvPr/>
        </p:nvSpPr>
        <p:spPr>
          <a:xfrm>
            <a:off x="8010144" y="3931920"/>
            <a:ext cx="3566160" cy="2194560"/>
          </a:xfrm>
          <a:prstGeom prst="roundRect">
            <a:avLst>
              <a:gd name="adj" fmla="val 3333"/>
            </a:avLst>
          </a:prstGeom>
          <a:solidFill>
            <a:srgbClr val="F2F4F3"/>
          </a:solidFill>
          <a:ln w="12700">
            <a:solidFill>
              <a:srgbClr val="F2F4F3"/>
            </a:solidFill>
            <a:prstDash val="solid"/>
          </a:ln>
        </p:spPr>
      </p:sp>
      <p:sp>
        <p:nvSpPr>
          <p:cNvPr id="30" name="badge_150"/>
          <p:cNvSpPr/>
          <p:nvPr/>
        </p:nvSpPr>
        <p:spPr>
          <a:xfrm>
            <a:off x="8238744" y="4160520"/>
            <a:ext cx="548640" cy="548640"/>
          </a:xfrm>
          <a:prstGeom prst="ellipse">
            <a:avLst/>
          </a:prstGeom>
          <a:solidFill>
            <a:srgbClr val="1F2A2E"/>
          </a:solidFill>
          <a:ln w="12700">
            <a:solidFill>
              <a:srgbClr val="1F2A2E"/>
            </a:solidFill>
            <a:prstDash val="solid"/>
          </a:ln>
        </p:spPr>
      </p:sp>
      <p:sp>
        <p:nvSpPr>
          <p:cNvPr id="31" name="text_151"/>
          <p:cNvSpPr txBox="1"/>
          <p:nvPr/>
        </p:nvSpPr>
        <p:spPr>
          <a:xfrm>
            <a:off x="8238744" y="41605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R6</a:t>
            </a:r>
            <a:endParaRPr lang="en-US" sz="1600" dirty="0"/>
          </a:p>
        </p:txBody>
      </p:sp>
      <p:sp>
        <p:nvSpPr>
          <p:cNvPr id="32" name="text_152"/>
          <p:cNvSpPr txBox="1"/>
          <p:nvPr/>
        </p:nvSpPr>
        <p:spPr>
          <a:xfrm>
            <a:off x="8924544" y="4160520"/>
            <a:ext cx="2514600" cy="548640"/>
          </a:xfrm>
          <a:prstGeom prst="rect">
            <a:avLst/>
          </a:prstGeom>
          <a:noFill/>
          <a:ln/>
        </p:spPr>
        <p:txBody>
          <a:bodyPr wrap="square" lIns="0" tIns="0" rIns="0" bIns="0" rtlCol="0" anchor="ctr"/>
          <a:lstStyle/>
          <a:p>
            <a:pPr indent="0" marL="0">
              <a:buNone/>
            </a:pPr>
            <a:r>
              <a:rPr lang="en-US" sz="1600" b="1" dirty="0">
                <a:solidFill>
                  <a:srgbClr val="1F2A2E"/>
                </a:solidFill>
                <a:latin typeface="Calibri" pitchFamily="34" charset="0"/>
                <a:ea typeface="Calibri" pitchFamily="34" charset="-122"/>
                <a:cs typeface="Calibri" pitchFamily="34" charset="-120"/>
              </a:rPr>
              <a:t>Monitor daily</a:t>
            </a:r>
            <a:endParaRPr lang="en-US" sz="1600" dirty="0"/>
          </a:p>
        </p:txBody>
      </p:sp>
      <p:sp>
        <p:nvSpPr>
          <p:cNvPr id="33" name="text_153"/>
          <p:cNvSpPr txBox="1"/>
          <p:nvPr/>
        </p:nvSpPr>
        <p:spPr>
          <a:xfrm>
            <a:off x="8238744" y="4846320"/>
            <a:ext cx="3154680" cy="1188720"/>
          </a:xfrm>
          <a:prstGeom prst="rect">
            <a:avLst/>
          </a:prstGeom>
          <a:noFill/>
          <a:ln/>
        </p:spPr>
        <p:txBody>
          <a:bodyPr wrap="square" lIns="0" tIns="0" rIns="0" bIns="0" rtlCol="0" anchor="t"/>
          <a:lstStyle/>
          <a:p>
            <a:pPr indent="0" marL="0">
              <a:buNone/>
            </a:pPr>
            <a:r>
              <a:rPr lang="en-US" sz="1300" dirty="0">
                <a:solidFill>
                  <a:srgbClr val="3A474C"/>
                </a:solidFill>
                <a:latin typeface="Calibri" pitchFamily="34" charset="0"/>
                <a:ea typeface="Calibri" pitchFamily="34" charset="-122"/>
                <a:cs typeface="Calibri" pitchFamily="34" charset="-120"/>
              </a:rPr>
              <a:t>Classifier AUC 0.896, catches 84% of complaints; alert if daily lift &gt; +1.5 pp</a:t>
            </a:r>
            <a:endParaRPr lang="en-US" sz="13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MONITORING</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What-if, alert rule and a live dashboard</a:t>
            </a:r>
            <a:endParaRPr lang="en-US" sz="3200" dirty="0"/>
          </a:p>
        </p:txBody>
      </p:sp>
      <p:pic>
        <p:nvPicPr>
          <p:cNvPr id="4" name="figure_154" descr="D:\hoctap\Phân tích và trực quan hoá dữ liệu\Midterm\figures\fig6_3_dashboard_overview.png">    </p:cNvPr>
          <p:cNvPicPr>
            <a:picLocks noChangeAspect="1"/>
          </p:cNvPicPr>
          <p:nvPr/>
        </p:nvPicPr>
        <p:blipFill>
          <a:blip r:embed="rId1"/>
          <a:stretch>
            <a:fillRect/>
          </a:stretch>
        </p:blipFill>
        <p:spPr>
          <a:xfrm>
            <a:off x="548640" y="1463040"/>
            <a:ext cx="6675120" cy="4799411"/>
          </a:xfrm>
          <a:prstGeom prst="rect">
            <a:avLst/>
          </a:prstGeom>
        </p:spPr>
      </p:pic>
      <p:sp>
        <p:nvSpPr>
          <p:cNvPr id="5" name="card_155"/>
          <p:cNvSpPr/>
          <p:nvPr/>
        </p:nvSpPr>
        <p:spPr>
          <a:xfrm>
            <a:off x="7498080" y="1554480"/>
            <a:ext cx="4114800" cy="1463040"/>
          </a:xfrm>
          <a:prstGeom prst="roundRect">
            <a:avLst>
              <a:gd name="adj" fmla="val 5000"/>
            </a:avLst>
          </a:prstGeom>
          <a:solidFill>
            <a:srgbClr val="F2F4F3"/>
          </a:solidFill>
          <a:ln w="12700">
            <a:solidFill>
              <a:srgbClr val="F2F4F3"/>
            </a:solidFill>
            <a:prstDash val="solid"/>
          </a:ln>
        </p:spPr>
      </p:sp>
      <p:sp>
        <p:nvSpPr>
          <p:cNvPr id="6" name="text_156"/>
          <p:cNvSpPr txBox="1"/>
          <p:nvPr/>
        </p:nvSpPr>
        <p:spPr>
          <a:xfrm>
            <a:off x="7726680" y="1645920"/>
            <a:ext cx="3657600" cy="685800"/>
          </a:xfrm>
          <a:prstGeom prst="rect">
            <a:avLst/>
          </a:prstGeom>
          <a:noFill/>
          <a:ln/>
        </p:spPr>
        <p:txBody>
          <a:bodyPr wrap="square" lIns="0" tIns="0" rIns="0" bIns="0" rtlCol="0" anchor="ctr"/>
          <a:lstStyle/>
          <a:p>
            <a:pPr indent="0" marL="0">
              <a:buNone/>
            </a:pPr>
            <a:r>
              <a:rPr lang="en-US" sz="3000" b="1" dirty="0">
                <a:solidFill>
                  <a:srgbClr val="EB6834"/>
                </a:solidFill>
                <a:latin typeface="Cambria" pitchFamily="34" charset="0"/>
                <a:ea typeface="Cambria" pitchFamily="34" charset="-122"/>
                <a:cs typeface="Cambria" pitchFamily="34" charset="-120"/>
              </a:rPr>
              <a:t>−0.7 pp</a:t>
            </a:r>
            <a:endParaRPr lang="en-US" sz="3000" dirty="0"/>
          </a:p>
        </p:txBody>
      </p:sp>
      <p:sp>
        <p:nvSpPr>
          <p:cNvPr id="7" name="text_157"/>
          <p:cNvSpPr txBox="1"/>
          <p:nvPr/>
        </p:nvSpPr>
        <p:spPr>
          <a:xfrm>
            <a:off x="7726680" y="2377440"/>
            <a:ext cx="365760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overall negativity if all three gaps were closed: act locally, set targets per aspect</a:t>
            </a:r>
            <a:endParaRPr lang="en-US" sz="1400" dirty="0"/>
          </a:p>
        </p:txBody>
      </p:sp>
      <p:sp>
        <p:nvSpPr>
          <p:cNvPr id="8" name="card_158"/>
          <p:cNvSpPr/>
          <p:nvPr/>
        </p:nvSpPr>
        <p:spPr>
          <a:xfrm>
            <a:off x="7498080" y="3154680"/>
            <a:ext cx="4114800" cy="1463040"/>
          </a:xfrm>
          <a:prstGeom prst="roundRect">
            <a:avLst>
              <a:gd name="adj" fmla="val 5000"/>
            </a:avLst>
          </a:prstGeom>
          <a:solidFill>
            <a:srgbClr val="F2F4F3"/>
          </a:solidFill>
          <a:ln w="12700">
            <a:solidFill>
              <a:srgbClr val="F2F4F3"/>
            </a:solidFill>
            <a:prstDash val="solid"/>
          </a:ln>
        </p:spPr>
      </p:sp>
      <p:sp>
        <p:nvSpPr>
          <p:cNvPr id="9" name="text_159"/>
          <p:cNvSpPr txBox="1"/>
          <p:nvPr/>
        </p:nvSpPr>
        <p:spPr>
          <a:xfrm>
            <a:off x="7726680" y="3246120"/>
            <a:ext cx="3657600" cy="685800"/>
          </a:xfrm>
          <a:prstGeom prst="rect">
            <a:avLst/>
          </a:prstGeom>
          <a:noFill/>
          <a:ln/>
        </p:spPr>
        <p:txBody>
          <a:bodyPr wrap="square" lIns="0" tIns="0" rIns="0" bIns="0" rtlCol="0" anchor="ctr"/>
          <a:lstStyle/>
          <a:p>
            <a:pPr indent="0" marL="0">
              <a:buNone/>
            </a:pPr>
            <a:r>
              <a:rPr lang="en-US" sz="3000" b="1" dirty="0">
                <a:solidFill>
                  <a:srgbClr val="6250D6"/>
                </a:solidFill>
                <a:latin typeface="Cambria" pitchFamily="34" charset="0"/>
                <a:ea typeface="Cambria" pitchFamily="34" charset="-122"/>
                <a:cs typeface="Cambria" pitchFamily="34" charset="-120"/>
              </a:rPr>
              <a:t>+1.5 pp</a:t>
            </a:r>
            <a:endParaRPr lang="en-US" sz="3000" dirty="0"/>
          </a:p>
        </p:txBody>
      </p:sp>
      <p:sp>
        <p:nvSpPr>
          <p:cNvPr id="10" name="text_160"/>
          <p:cNvSpPr txBox="1"/>
          <p:nvPr/>
        </p:nvSpPr>
        <p:spPr>
          <a:xfrm>
            <a:off x="7726680" y="3977640"/>
            <a:ext cx="3657600" cy="731520"/>
          </a:xfrm>
          <a:prstGeom prst="rect">
            <a:avLst/>
          </a:prstGeom>
          <a:noFill/>
          <a:ln/>
        </p:spPr>
        <p:txBody>
          <a:bodyPr wrap="square" lIns="0" tIns="0" rIns="0" bIns="0" rtlCol="0" anchor="t"/>
          <a:lstStyle/>
          <a:p>
            <a:pPr indent="0" marL="0">
              <a:buNone/>
            </a:pPr>
            <a:r>
              <a:rPr lang="en-US" sz="1400" dirty="0">
                <a:solidFill>
                  <a:srgbClr val="3A474C"/>
                </a:solidFill>
                <a:latin typeface="Calibri" pitchFamily="34" charset="0"/>
                <a:ea typeface="Calibri" pitchFamily="34" charset="-122"/>
                <a:cs typeface="Calibri" pitchFamily="34" charset="-120"/>
              </a:rPr>
              <a:t>alert limit (baseline mean + 2 SD): 1 false alarm in 23 days, 0 in launch or next week</a:t>
            </a:r>
            <a:endParaRPr lang="en-US" sz="1400" dirty="0"/>
          </a:p>
        </p:txBody>
      </p:sp>
      <p:sp>
        <p:nvSpPr>
          <p:cNvPr id="11" name="card_161"/>
          <p:cNvSpPr/>
          <p:nvPr/>
        </p:nvSpPr>
        <p:spPr>
          <a:xfrm>
            <a:off x="7498080" y="4754880"/>
            <a:ext cx="4114800" cy="1463040"/>
          </a:xfrm>
          <a:prstGeom prst="roundRect">
            <a:avLst>
              <a:gd name="adj" fmla="val 5000"/>
            </a:avLst>
          </a:prstGeom>
          <a:solidFill>
            <a:srgbClr val="E3F5EE"/>
          </a:solidFill>
          <a:ln w="12700">
            <a:solidFill>
              <a:srgbClr val="E3F5EE"/>
            </a:solidFill>
            <a:prstDash val="solid"/>
          </a:ln>
        </p:spPr>
      </p:sp>
      <p:sp>
        <p:nvSpPr>
          <p:cNvPr id="12" name="text_162"/>
          <p:cNvSpPr txBox="1"/>
          <p:nvPr/>
        </p:nvSpPr>
        <p:spPr>
          <a:xfrm>
            <a:off x="7726680" y="4846320"/>
            <a:ext cx="3657600" cy="1280160"/>
          </a:xfrm>
          <a:prstGeom prst="rect">
            <a:avLst/>
          </a:prstGeom>
          <a:noFill/>
          <a:ln/>
        </p:spPr>
        <p:txBody>
          <a:bodyPr wrap="square" lIns="0" tIns="0" rIns="0" bIns="0" rtlCol="0" anchor="t"/>
          <a:lstStyle/>
          <a:p>
            <a:pPr indent="0" marL="0">
              <a:buNone/>
            </a:pPr>
            <a:r>
              <a:rPr lang="en-US" sz="1500" b="1" dirty="0">
                <a:solidFill>
                  <a:srgbClr val="1F2A2E"/>
                </a:solidFill>
                <a:latin typeface="Calibri" pitchFamily="34" charset="0"/>
                <a:ea typeface="Calibri" pitchFamily="34" charset="-122"/>
                <a:cs typeface="Calibri" pitchFamily="34" charset="-120"/>
              </a:rPr>
              <a:t>Streamlit dashboard</a:t>
            </a:r>
            <a:endParaRPr lang="en-US" sz="1500" dirty="0"/>
          </a:p>
          <a:p>
            <a:pPr indent="0" marL="0">
              <a:buNone/>
            </a:pPr>
            <a:r>
              <a:rPr lang="en-US" sz="1300" dirty="0">
                <a:solidFill>
                  <a:srgbClr val="3A474C"/>
                </a:solidFill>
                <a:latin typeface="Calibri" pitchFamily="34" charset="0"/>
                <a:ea typeface="Calibri" pitchFamily="34" charset="-122"/>
                <a:cs typeface="Calibri" pitchFamily="34" charset="-120"/>
              </a:rPr>
              <a:t>Filters, KPI tiles, trend, aspects, brands, tweet explorer and a live “try the model” tab.</a:t>
            </a:r>
            <a:endParaRPr lang="en-US" sz="15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Keep the message, fix the moments that hurt</a:t>
            </a:r>
            <a:endParaRPr lang="en-US" sz="3400" dirty="0"/>
          </a:p>
        </p:txBody>
      </p:sp>
      <p:sp>
        <p:nvSpPr>
          <p:cNvPr id="3" name="badge_163"/>
          <p:cNvSpPr/>
          <p:nvPr/>
        </p:nvSpPr>
        <p:spPr>
          <a:xfrm>
            <a:off x="548640" y="1600200"/>
            <a:ext cx="457200" cy="457200"/>
          </a:xfrm>
          <a:prstGeom prst="ellipse">
            <a:avLst/>
          </a:prstGeom>
          <a:solidFill>
            <a:srgbClr val="1BAF7A"/>
          </a:solidFill>
          <a:ln w="12700">
            <a:solidFill>
              <a:srgbClr val="1BAF7A"/>
            </a:solidFill>
            <a:prstDash val="solid"/>
          </a:ln>
        </p:spPr>
      </p:sp>
      <p:sp>
        <p:nvSpPr>
          <p:cNvPr id="4" name="text_164"/>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_165"/>
          <p:cNvSpPr txBox="1"/>
          <p:nvPr/>
        </p:nvSpPr>
        <p:spPr>
          <a:xfrm>
            <a:off x="1188720" y="1554480"/>
            <a:ext cx="6035040" cy="777240"/>
          </a:xfrm>
          <a:prstGeom prst="rect">
            <a:avLst/>
          </a:prstGeom>
          <a:noFill/>
          <a:ln/>
        </p:spPr>
        <p:txBody>
          <a:bodyPr wrap="square" lIns="0" tIns="0" rIns="0" bIns="0" rtlCol="0" anchor="ctr"/>
          <a:lstStyle/>
          <a:p>
            <a:pPr indent="0" marL="0">
              <a:buNone/>
            </a:pPr>
            <a:r>
              <a:rPr lang="en-US" sz="1500" b="1" dirty="0">
                <a:solidFill>
                  <a:srgbClr val="1BAF7A"/>
                </a:solidFill>
                <a:latin typeface="Calibri" pitchFamily="34" charset="0"/>
                <a:ea typeface="Calibri" pitchFamily="34" charset="-122"/>
                <a:cs typeface="Calibri" pitchFamily="34" charset="-120"/>
              </a:rPr>
              <a:t>Descriptive  </a:t>
            </a:r>
            <a:pPr indent="0" marL="0">
              <a:buNone/>
            </a:pPr>
            <a:r>
              <a:rPr lang="en-US" sz="1500" dirty="0">
                <a:solidFill>
                  <a:srgbClr val="FFFFFF"/>
                </a:solidFill>
                <a:latin typeface="Calibri" pitchFamily="34" charset="0"/>
                <a:ea typeface="Calibri" pitchFamily="34" charset="-122"/>
                <a:cs typeface="Calibri" pitchFamily="34" charset="-120"/>
              </a:rPr>
              <a:t>F&amp;B talk is everyday and 5.1 pp less negative than Twitter; launch week is normal.</a:t>
            </a:r>
            <a:endParaRPr lang="en-US" sz="1500" dirty="0"/>
          </a:p>
        </p:txBody>
      </p:sp>
      <p:sp>
        <p:nvSpPr>
          <p:cNvPr id="6" name="badge_166"/>
          <p:cNvSpPr/>
          <p:nvPr/>
        </p:nvSpPr>
        <p:spPr>
          <a:xfrm>
            <a:off x="548640" y="2514600"/>
            <a:ext cx="457200" cy="457200"/>
          </a:xfrm>
          <a:prstGeom prst="ellipse">
            <a:avLst/>
          </a:prstGeom>
          <a:solidFill>
            <a:srgbClr val="1BAF7A"/>
          </a:solidFill>
          <a:ln w="12700">
            <a:solidFill>
              <a:srgbClr val="1BAF7A"/>
            </a:solidFill>
            <a:prstDash val="solid"/>
          </a:ln>
        </p:spPr>
      </p:sp>
      <p:sp>
        <p:nvSpPr>
          <p:cNvPr id="7" name="text_167"/>
          <p:cNvSpPr txBox="1"/>
          <p:nvPr/>
        </p:nvSpPr>
        <p:spPr>
          <a:xfrm>
            <a:off x="54864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_168"/>
          <p:cNvSpPr txBox="1"/>
          <p:nvPr/>
        </p:nvSpPr>
        <p:spPr>
          <a:xfrm>
            <a:off x="1188720" y="2468880"/>
            <a:ext cx="6035040" cy="777240"/>
          </a:xfrm>
          <a:prstGeom prst="rect">
            <a:avLst/>
          </a:prstGeom>
          <a:noFill/>
          <a:ln/>
        </p:spPr>
        <p:txBody>
          <a:bodyPr wrap="square" lIns="0" tIns="0" rIns="0" bIns="0" rtlCol="0" anchor="ctr"/>
          <a:lstStyle/>
          <a:p>
            <a:pPr indent="0" marL="0">
              <a:buNone/>
            </a:pPr>
            <a:r>
              <a:rPr lang="en-US" sz="1500" b="1" dirty="0">
                <a:solidFill>
                  <a:srgbClr val="1BAF7A"/>
                </a:solidFill>
                <a:latin typeface="Calibri" pitchFamily="34" charset="0"/>
                <a:ea typeface="Calibri" pitchFamily="34" charset="-122"/>
                <a:cs typeface="Calibri" pitchFamily="34" charset="-120"/>
              </a:rPr>
              <a:t>Diagnostic  </a:t>
            </a:r>
            <a:pPr indent="0" marL="0">
              <a:buNone/>
            </a:pPr>
            <a:r>
              <a:rPr lang="en-US" sz="1500" dirty="0">
                <a:solidFill>
                  <a:srgbClr val="FFFFFF"/>
                </a:solidFill>
                <a:latin typeface="Calibri" pitchFamily="34" charset="0"/>
                <a:ea typeface="Calibri" pitchFamily="34" charset="-122"/>
                <a:cs typeface="Calibri" pitchFamily="34" charset="-120"/>
              </a:rPr>
              <a:t>Availability, price and service drive complaints; trying and sharing are positive.</a:t>
            </a:r>
            <a:endParaRPr lang="en-US" sz="1500" dirty="0"/>
          </a:p>
        </p:txBody>
      </p:sp>
      <p:sp>
        <p:nvSpPr>
          <p:cNvPr id="9" name="badge_169"/>
          <p:cNvSpPr/>
          <p:nvPr/>
        </p:nvSpPr>
        <p:spPr>
          <a:xfrm>
            <a:off x="548640" y="3429000"/>
            <a:ext cx="457200" cy="457200"/>
          </a:xfrm>
          <a:prstGeom prst="ellipse">
            <a:avLst/>
          </a:prstGeom>
          <a:solidFill>
            <a:srgbClr val="1BAF7A"/>
          </a:solidFill>
          <a:ln w="12700">
            <a:solidFill>
              <a:srgbClr val="1BAF7A"/>
            </a:solidFill>
            <a:prstDash val="solid"/>
          </a:ln>
        </p:spPr>
      </p:sp>
      <p:sp>
        <p:nvSpPr>
          <p:cNvPr id="10" name="text_170"/>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_171"/>
          <p:cNvSpPr txBox="1"/>
          <p:nvPr/>
        </p:nvSpPr>
        <p:spPr>
          <a:xfrm>
            <a:off x="1188720" y="3383280"/>
            <a:ext cx="6035040" cy="777240"/>
          </a:xfrm>
          <a:prstGeom prst="rect">
            <a:avLst/>
          </a:prstGeom>
          <a:noFill/>
          <a:ln/>
        </p:spPr>
        <p:txBody>
          <a:bodyPr wrap="square" lIns="0" tIns="0" rIns="0" bIns="0" rtlCol="0" anchor="ctr"/>
          <a:lstStyle/>
          <a:p>
            <a:pPr indent="0" marL="0">
              <a:buNone/>
            </a:pPr>
            <a:r>
              <a:rPr lang="en-US" sz="1500" b="1" dirty="0">
                <a:solidFill>
                  <a:srgbClr val="1BAF7A"/>
                </a:solidFill>
                <a:latin typeface="Calibri" pitchFamily="34" charset="0"/>
                <a:ea typeface="Calibri" pitchFamily="34" charset="-122"/>
                <a:cs typeface="Calibri" pitchFamily="34" charset="-120"/>
              </a:rPr>
              <a:t>Predictive  </a:t>
            </a:r>
            <a:pPr indent="0" marL="0">
              <a:buNone/>
            </a:pPr>
            <a:r>
              <a:rPr lang="en-US" sz="1500" dirty="0">
                <a:solidFill>
                  <a:srgbClr val="FFFFFF"/>
                </a:solidFill>
                <a:latin typeface="Calibri" pitchFamily="34" charset="0"/>
                <a:ea typeface="Calibri" pitchFamily="34" charset="-122"/>
                <a:cs typeface="Calibri" pitchFamily="34" charset="-120"/>
              </a:rPr>
              <a:t>Logistic Regression beats Naive Bayes on an unseen week: AUC 0.896 vs 0.846.</a:t>
            </a:r>
            <a:endParaRPr lang="en-US" sz="1500" dirty="0"/>
          </a:p>
        </p:txBody>
      </p:sp>
      <p:sp>
        <p:nvSpPr>
          <p:cNvPr id="12" name="badge_172"/>
          <p:cNvSpPr/>
          <p:nvPr/>
        </p:nvSpPr>
        <p:spPr>
          <a:xfrm>
            <a:off x="548640" y="4343400"/>
            <a:ext cx="457200" cy="457200"/>
          </a:xfrm>
          <a:prstGeom prst="ellipse">
            <a:avLst/>
          </a:prstGeom>
          <a:solidFill>
            <a:srgbClr val="1BAF7A"/>
          </a:solidFill>
          <a:ln w="12700">
            <a:solidFill>
              <a:srgbClr val="1BAF7A"/>
            </a:solidFill>
            <a:prstDash val="solid"/>
          </a:ln>
        </p:spPr>
      </p:sp>
      <p:sp>
        <p:nvSpPr>
          <p:cNvPr id="13" name="text_173"/>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4" name="text_174"/>
          <p:cNvSpPr txBox="1"/>
          <p:nvPr/>
        </p:nvSpPr>
        <p:spPr>
          <a:xfrm>
            <a:off x="1188720" y="4297680"/>
            <a:ext cx="6035040" cy="777240"/>
          </a:xfrm>
          <a:prstGeom prst="rect">
            <a:avLst/>
          </a:prstGeom>
          <a:noFill/>
          <a:ln/>
        </p:spPr>
        <p:txBody>
          <a:bodyPr wrap="square" lIns="0" tIns="0" rIns="0" bIns="0" rtlCol="0" anchor="ctr"/>
          <a:lstStyle/>
          <a:p>
            <a:pPr indent="0" marL="0">
              <a:buNone/>
            </a:pPr>
            <a:r>
              <a:rPr lang="en-US" sz="1500" b="1" dirty="0">
                <a:solidFill>
                  <a:srgbClr val="1BAF7A"/>
                </a:solidFill>
                <a:latin typeface="Calibri" pitchFamily="34" charset="0"/>
                <a:ea typeface="Calibri" pitchFamily="34" charset="-122"/>
                <a:cs typeface="Calibri" pitchFamily="34" charset="-120"/>
              </a:rPr>
              <a:t>Prescriptive  </a:t>
            </a:r>
            <a:pPr indent="0" marL="0">
              <a:buNone/>
            </a:pPr>
            <a:r>
              <a:rPr lang="en-US" sz="1500" dirty="0">
                <a:solidFill>
                  <a:srgbClr val="FFFFFF"/>
                </a:solidFill>
                <a:latin typeface="Calibri" pitchFamily="34" charset="0"/>
                <a:ea typeface="Calibri" pitchFamily="34" charset="-122"/>
                <a:cs typeface="Calibri" pitchFamily="34" charset="-120"/>
              </a:rPr>
              <a:t>Targeted adjustments R2-R5 and daily monitoring with a +1.5 pp alert limit.</a:t>
            </a:r>
            <a:endParaRPr lang="en-US" sz="1500" dirty="0"/>
          </a:p>
        </p:txBody>
      </p:sp>
      <p:sp>
        <p:nvSpPr>
          <p:cNvPr id="15" name="card_175"/>
          <p:cNvSpPr/>
          <p:nvPr/>
        </p:nvSpPr>
        <p:spPr>
          <a:xfrm>
            <a:off x="7589520" y="1554480"/>
            <a:ext cx="4023360" cy="3520440"/>
          </a:xfrm>
          <a:prstGeom prst="roundRect">
            <a:avLst>
              <a:gd name="adj" fmla="val 2078"/>
            </a:avLst>
          </a:prstGeom>
          <a:solidFill>
            <a:srgbClr val="2B383D"/>
          </a:solidFill>
          <a:ln w="12700">
            <a:solidFill>
              <a:srgbClr val="2B383D"/>
            </a:solidFill>
            <a:prstDash val="solid"/>
          </a:ln>
        </p:spPr>
      </p:sp>
      <p:sp>
        <p:nvSpPr>
          <p:cNvPr id="16" name="text_176"/>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Limitations</a:t>
            </a:r>
            <a:endParaRPr lang="en-US" sz="1600" dirty="0"/>
          </a:p>
        </p:txBody>
      </p:sp>
      <p:sp>
        <p:nvSpPr>
          <p:cNvPr id="17" name="text_177"/>
          <p:cNvSpPr txBox="1"/>
          <p:nvPr/>
        </p:nvSpPr>
        <p:spPr>
          <a:xfrm>
            <a:off x="7818120" y="2103120"/>
            <a:ext cx="3657600" cy="28346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D5DEDC"/>
                </a:solidFill>
                <a:latin typeface="Calibri" pitchFamily="34" charset="0"/>
                <a:ea typeface="Calibri" pitchFamily="34" charset="-122"/>
                <a:cs typeface="Calibri" pitchFamily="34" charset="-120"/>
              </a:rPr>
              <a:t>Proxy data from 2009, not one real launch</a:t>
            </a:r>
            <a:endParaRPr lang="en-US" sz="1400" dirty="0"/>
          </a:p>
          <a:p>
            <a:pPr marL="342900" indent="-342900">
              <a:spcAft>
                <a:spcPts val="500"/>
              </a:spcAft>
              <a:buSzPct val="100000"/>
              <a:buChar char="•"/>
            </a:pPr>
            <a:r>
              <a:rPr lang="en-US" sz="1400" dirty="0">
                <a:solidFill>
                  <a:srgbClr val="D5DEDC"/>
                </a:solidFill>
                <a:latin typeface="Calibri" pitchFamily="34" charset="0"/>
                <a:ea typeface="Calibri" pitchFamily="34" charset="-122"/>
                <a:cs typeface="Calibri" pitchFamily="34" charset="-120"/>
              </a:rPr>
              <a:t>Emoticon labels, no neutral class</a:t>
            </a:r>
            <a:endParaRPr lang="en-US" sz="1400" dirty="0"/>
          </a:p>
          <a:p>
            <a:pPr marL="342900" indent="-342900">
              <a:spcAft>
                <a:spcPts val="500"/>
              </a:spcAft>
              <a:buSzPct val="100000"/>
              <a:buChar char="•"/>
            </a:pPr>
            <a:r>
              <a:rPr lang="en-US" sz="1400" dirty="0">
                <a:solidFill>
                  <a:srgbClr val="D5DEDC"/>
                </a:solidFill>
                <a:latin typeface="Calibri" pitchFamily="34" charset="0"/>
                <a:ea typeface="Calibri" pitchFamily="34" charset="-122"/>
                <a:cs typeface="Calibri" pitchFamily="34" charset="-120"/>
              </a:rPr>
              <a:t>Collection gaps; Pacific-time stamps</a:t>
            </a:r>
            <a:endParaRPr lang="en-US" sz="1400" dirty="0"/>
          </a:p>
          <a:p>
            <a:pPr marL="342900" indent="-342900">
              <a:spcAft>
                <a:spcPts val="500"/>
              </a:spcAft>
              <a:buSzPct val="100000"/>
              <a:buChar char="•"/>
            </a:pPr>
            <a:r>
              <a:rPr lang="en-US" sz="1400" dirty="0">
                <a:solidFill>
                  <a:srgbClr val="D5DEDC"/>
                </a:solidFill>
                <a:latin typeface="Calibri" pitchFamily="34" charset="0"/>
                <a:ea typeface="Calibri" pitchFamily="34" charset="-122"/>
                <a:cs typeface="Calibri" pitchFamily="34" charset="-120"/>
              </a:rPr>
              <a:t>Filter precision 89% (AI-assisted check)</a:t>
            </a:r>
            <a:endParaRPr lang="en-US" sz="1400" dirty="0"/>
          </a:p>
          <a:p>
            <a:pPr marL="342900" indent="-342900">
              <a:spcAft>
                <a:spcPts val="500"/>
              </a:spcAft>
              <a:buSzPct val="100000"/>
              <a:buChar char="•"/>
            </a:pPr>
            <a:r>
              <a:rPr lang="en-US" sz="1400" dirty="0">
                <a:solidFill>
                  <a:srgbClr val="D5DEDC"/>
                </a:solidFill>
                <a:latin typeface="Calibri" pitchFamily="34" charset="0"/>
                <a:ea typeface="Calibri" pitchFamily="34" charset="-122"/>
                <a:cs typeface="Calibri" pitchFamily="34" charset="-120"/>
              </a:rPr>
              <a:t>Associations, not causes: confirm with an A/B test</a:t>
            </a:r>
            <a:endParaRPr lang="en-US" sz="1400" dirty="0"/>
          </a:p>
        </p:txBody>
      </p:sp>
      <p:sp>
        <p:nvSpPr>
          <p:cNvPr id="18" name="text_178"/>
          <p:cNvSpPr txBox="1"/>
          <p:nvPr/>
        </p:nvSpPr>
        <p:spPr>
          <a:xfrm>
            <a:off x="548640" y="5394960"/>
            <a:ext cx="11064240" cy="411480"/>
          </a:xfrm>
          <a:prstGeom prst="rect">
            <a:avLst/>
          </a:prstGeom>
          <a:noFill/>
          <a:ln/>
        </p:spPr>
        <p:txBody>
          <a:bodyPr wrap="square" lIns="0" tIns="0" rIns="0" bIns="0" rtlCol="0" anchor="ctr"/>
          <a:lstStyle/>
          <a:p>
            <a:pPr indent="0" marL="0">
              <a:buNone/>
            </a:pPr>
            <a:r>
              <a:rPr lang="en-US" sz="1300" b="1" dirty="0">
                <a:solidFill>
                  <a:srgbClr val="1BAF7A"/>
                </a:solidFill>
                <a:latin typeface="Calibri" pitchFamily="34" charset="0"/>
                <a:ea typeface="Calibri" pitchFamily="34" charset="-122"/>
                <a:cs typeface="Calibri" pitchFamily="34" charset="-120"/>
              </a:rPr>
              <a:t>Team  </a:t>
            </a:r>
            <a:pPr indent="0" marL="0">
              <a:buNone/>
            </a:pPr>
            <a:r>
              <a:rPr lang="en-US" sz="1300" dirty="0">
                <a:solidFill>
                  <a:srgbClr val="C9D3D1"/>
                </a:solidFill>
                <a:latin typeface="Calibri" pitchFamily="34" charset="0"/>
                <a:ea typeface="Calibri" pitchFamily="34" charset="-122"/>
                <a:cs typeface="Calibri" pitchFamily="34" charset="-120"/>
              </a:rPr>
              <a:t>Tien: problem, prescriptive, slides  ·  Thanh: data, descriptive  ·  Tam: diagnostic, conclusion  ·  Minh: predictive, dashboard</a:t>
            </a:r>
            <a:endParaRPr lang="en-US" sz="1300" dirty="0"/>
          </a:p>
        </p:txBody>
      </p:sp>
      <p:sp>
        <p:nvSpPr>
          <p:cNvPr id="19" name="text_179"/>
          <p:cNvSpPr txBox="1"/>
          <p:nvPr/>
        </p:nvSpPr>
        <p:spPr>
          <a:xfrm>
            <a:off x="548640" y="58978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 Questions?</a:t>
            </a:r>
            <a:endParaRPr lang="en-US" sz="2400" dirty="0"/>
          </a:p>
        </p:txBody>
      </p:sp>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A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APPENDIX A</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Hypothesis tests H1-H4</a:t>
            </a:r>
            <a:endParaRPr lang="en-US" sz="3200" dirty="0"/>
          </a:p>
        </p:txBody>
      </p:sp>
      <p:graphicFrame>
        <p:nvGraphicFramePr>
          <p:cNvPr id="18" name="table_180"/>
          <p:cNvGraphicFramePr>
            <a:graphicFrameLocks noGrp="1"/>
          </p:cNvGraphicFramePr>
          <p:nvPr>
            <p:extLst>
              <p:ext uri="{D42A27DB-BD31-4B8C-83A1-F6EECF244321}">
                <p14:modId xmlns:p14="http://schemas.microsoft.com/office/powerpoint/2010/main" val="1579011935"/>
              </p:ext>
            </p:extLst>
          </p:nvPr>
        </p:nvGraphicFramePr>
        <p:xfrm>
          <a:off x="548640" y="1554480"/>
          <a:ext cx="11704320" cy="914400"/>
        </p:xfrm>
        <a:graphic>
          <a:graphicData uri="http://schemas.openxmlformats.org/drawingml/2006/table">
            <a:tbl>
              <a:tblPr/>
              <a:tblGrid>
                <a:gridCol w="640080"/>
                <a:gridCol w="3931920"/>
                <a:gridCol w="1371600"/>
                <a:gridCol w="1828800"/>
                <a:gridCol w="1097280"/>
                <a:gridCol w="1188720"/>
                <a:gridCol w="1645920"/>
              </a:tblGrid>
              <a:tr h="0">
                <a:tc>
                  <a:txBody>
                    <a:bodyPr/>
                    <a:lstStyle/>
                    <a:p>
                      <a:pPr indent="0" marL="0">
                        <a:buNone/>
                      </a:pP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Comparison</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Difference</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95% CI (pp)</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Holm p</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Cohen's h</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H1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Service &amp; wait vs rest of F&amp;B</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+5.4 pp</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+3.3 to +7.4</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H2</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Price &amp; value vs rest of F&amp;B</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+5.6 pp</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+3.2 to +8.0</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+0.12</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H3</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Morning caffeine vs rest of F&amp;B</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−6.6 pp</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-9.0 to -4.3</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−0.14</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H4</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Launch-week lift vs baseline (diff-in-diff)</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−0.3 pp</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-1.0 to +0.4</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0.37</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Not supported</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APPENDIX B</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Robustness of Logistic Regression</a:t>
            </a:r>
            <a:endParaRPr lang="en-US" sz="3200" dirty="0"/>
          </a:p>
        </p:txBody>
      </p:sp>
      <p:graphicFrame>
        <p:nvGraphicFramePr>
          <p:cNvPr id="19" name="table_181"/>
          <p:cNvGraphicFramePr>
            <a:graphicFrameLocks noGrp="1"/>
          </p:cNvGraphicFramePr>
          <p:nvPr>
            <p:extLst>
              <p:ext uri="{D42A27DB-BD31-4B8C-83A1-F6EECF244321}">
                <p14:modId xmlns:p14="http://schemas.microsoft.com/office/powerpoint/2010/main" val="1579011935"/>
              </p:ext>
            </p:extLst>
          </p:nvPr>
        </p:nvGraphicFramePr>
        <p:xfrm>
          <a:off x="548640" y="1554480"/>
          <a:ext cx="10881360" cy="914400"/>
        </p:xfrm>
        <a:graphic>
          <a:graphicData uri="http://schemas.openxmlformats.org/drawingml/2006/table">
            <a:tbl>
              <a:tblPr/>
              <a:tblGrid>
                <a:gridCol w="4937760"/>
                <a:gridCol w="1463040"/>
                <a:gridCol w="1463040"/>
                <a:gridCol w="1554480"/>
                <a:gridCol w="1463040"/>
              </a:tblGrid>
              <a:tr h="0">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Evaluation</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Tweets</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Negative F1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Main result: time split, all test tweets</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150,736</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0.810</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0.785</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Random 80/20 split (comparison only)</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254,807</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0.820</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0.789</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0.903</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Time split, F&amp;B test tweets only</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9,527</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0.811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0.758</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0.886</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Users already seen in training</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88,298</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0.811</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0.778</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Users never seen in training</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62,438</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0.809</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0.793</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0.895</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Model trained on F&amp;B tweets only</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9,527</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0.774</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0.726</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0.862</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8229600" cy="292608"/>
          </a:xfrm>
          <a:prstGeom prst="rect">
            <a:avLst/>
          </a:prstGeom>
          <a:noFill/>
          <a:ln/>
        </p:spPr>
        <p:txBody>
          <a:bodyPr wrap="square" lIns="0" tIns="0" rIns="0" bIns="0" rtlCol="0"/>
          <a:lstStyle/>
          <a:p>
            <a:pPr algn="l" indent="0" marL="0">
              <a:buNone/>
            </a:pPr>
            <a:r>
              <a:rPr lang="en-US" sz="1200" b="1" spc="200" kern="0" dirty="0">
                <a:solidFill>
                  <a:srgbClr val="1BAF7A"/>
                </a:solidFill>
                <a:latin typeface="Calibri" pitchFamily="34" charset="0"/>
                <a:ea typeface="Calibri" pitchFamily="34" charset="-122"/>
                <a:cs typeface="Calibri" pitchFamily="34" charset="-120"/>
              </a:rPr>
              <a:t>APPENDIX C</a:t>
            </a:r>
            <a:endParaRPr lang="en-US" sz="1200" dirty="0"/>
          </a:p>
        </p:txBody>
      </p:sp>
      <p:sp>
        <p:nvSpPr>
          <p:cNvPr id="3" name="Text 1"/>
          <p:cNvSpPr/>
          <p:nvPr>
            <p:ph idx="102"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200" b="1" dirty="0">
                <a:solidFill>
                  <a:srgbClr val="1F2A2E"/>
                </a:solidFill>
                <a:latin typeface="Cambria" pitchFamily="34" charset="0"/>
                <a:ea typeface="Cambria" pitchFamily="34" charset="-122"/>
                <a:cs typeface="Cambria" pitchFamily="34" charset="-120"/>
              </a:rPr>
              <a:t>Cleaning log</a:t>
            </a:r>
            <a:endParaRPr lang="en-US" sz="3200" dirty="0"/>
          </a:p>
        </p:txBody>
      </p:sp>
      <p:graphicFrame>
        <p:nvGraphicFramePr>
          <p:cNvPr id="20" name="table_182"/>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94560"/>
                <a:gridCol w="1463040"/>
                <a:gridCol w="1188720"/>
                <a:gridCol w="1463040"/>
                <a:gridCol w="4754880"/>
              </a:tblGrid>
              <a:tr h="0">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Rows before</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Removed</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Rows after</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c>
                  <a:txBody>
                    <a:bodyPr/>
                    <a:lstStyle/>
                    <a:p>
                      <a:pPr indent="0" marL="0">
                        <a:buNone/>
                      </a:pPr>
                      <a:r>
                        <a:rPr lang="en-US" sz="1400" b="1" dirty="0">
                          <a:solidFill>
                            <a:srgbClr val="1F2A2E"/>
                          </a:solidFill>
                          <a:latin typeface="Calibri" pitchFamily="34" charset="0"/>
                          <a:ea typeface="Calibri" pitchFamily="34" charset="-122"/>
                          <a:cs typeface="Calibri" pitchFamily="34" charset="-120"/>
                        </a:rPr>
                        <a:t>Reason</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solidFill>
                      <a:srgbClr val="E8E7E3"/>
                    </a:solidFill>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Consistent labels</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1,600,000</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3,370</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1,596,630</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Same id labelled positive and negative</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Collection window</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1,596,630</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275,225</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1,321,405</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After 16 Jun 08:40 only negatives were collected</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Readable text</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1,321,405</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3,179</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1,318,226</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No words left after removing links and users</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Unambiguous text</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1,318,226</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14,139</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1,304,087</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Same normalised text with both labels</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r h="0">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Unique texts</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1,304,087</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30,053</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1,274,034</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c>
                  <a:txBody>
                    <a:bodyPr/>
                    <a:lstStyle/>
                    <a:p>
                      <a:pPr indent="0" marL="0">
                        <a:buNone/>
                      </a:pPr>
                      <a:r>
                        <a:rPr lang="en-US" sz="1400" dirty="0">
                          <a:solidFill>
                            <a:srgbClr val="3A474C"/>
                          </a:solidFill>
                          <a:latin typeface="Calibri" pitchFamily="34" charset="0"/>
                          <a:ea typeface="Calibri" pitchFamily="34" charset="-122"/>
                          <a:cs typeface="Calibri" pitchFamily="34" charset="-120"/>
                        </a:rPr>
                        <a:t>Repeated texts (bots, spam)</a:t>
                      </a:r>
                      <a:endParaRPr lang="en-US" sz="1400" dirty="0">
                        <a:latin typeface="Calibri" charset="0"/>
                        <a:ea typeface="Calibri" charset="0"/>
                        <a:cs typeface="Calibri" charset="0"/>
                      </a:endParaRPr>
                    </a:p>
                  </a:txBody>
                  <a:tcPr marL="54864" marR="54864" marT="54864" marB="54864" anchor="ctr">
                    <a:lnL w="9525" cap="flat" cmpd="sng" algn="ctr">
                      <a:solidFill>
                        <a:srgbClr val="C3C2B7"/>
                      </a:solidFill>
                      <a:prstDash val="solid"/>
                      <a:round/>
                      <a:headEnd type="none" w="med" len="med"/>
                      <a:tailEnd type="none" w="med" len="med"/>
                    </a:lnL>
                    <a:lnR w="9525" cap="flat" cmpd="sng" algn="ctr">
                      <a:solidFill>
                        <a:srgbClr val="C3C2B7"/>
                      </a:solidFill>
                      <a:prstDash val="solid"/>
                      <a:round/>
                      <a:headEnd type="none" w="med" len="med"/>
                      <a:tailEnd type="none" w="med" len="med"/>
                    </a:lnR>
                    <a:lnT w="9525" cap="flat" cmpd="sng" algn="ctr">
                      <a:solidFill>
                        <a:srgbClr val="C3C2B7"/>
                      </a:solidFill>
                      <a:prstDash val="solid"/>
                      <a:round/>
                      <a:headEnd type="none" w="med" len="med"/>
                      <a:tailEnd type="none" w="med" len="med"/>
                    </a:lnT>
                    <a:lnB w="9525" cap="flat" cmpd="sng" algn="ctr">
                      <a:solidFill>
                        <a:srgbClr val="C3C2B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VibeCoding Listening">
  <a:themeElements>
    <a:clrScheme name="VibeCoding Listening">
      <a:dk1>
        <a:srgbClr val="1F2A2E"/>
      </a:dk1>
      <a:lt1>
        <a:srgbClr val="FFFFFF"/>
      </a:lt1>
      <a:dk2>
        <a:srgbClr val="3A474C"/>
      </a:dk2>
      <a:lt2>
        <a:srgbClr val="F2F4F3"/>
      </a:lt2>
      <a:accent1>
        <a:srgbClr val="1BAF7A"/>
      </a:accent1>
      <a:accent2>
        <a:srgbClr val="EB6834"/>
      </a:accent2>
      <a:accent3>
        <a:srgbClr val="2A78D6"/>
      </a:accent3>
      <a:accent4>
        <a:srgbClr val="EDA100"/>
      </a:accent4>
      <a:accent5>
        <a:srgbClr val="6250D6"/>
      </a:accent5>
      <a:accent6>
        <a:srgbClr val="898781"/>
      </a:accent6>
      <a:hlink>
        <a:srgbClr val="2A78D6"/>
      </a:hlink>
      <a:folHlink>
        <a:srgbClr val="6250D6"/>
      </a:folHlink>
    </a:clrScheme>
    <a:fontScheme name="VibeCoding Liste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we change the launch message next week?</dc:title>
  <dc:subject>Data Analysis and Visualization - Midterm 2026</dc:subject>
  <dc:creator>Group VibeCoding_Expert</dc:creator>
  <cp:lastModifiedBy>Group VibeCoding_Expert</cp:lastModifiedBy>
  <cp:revision>1</cp:revision>
  <dcterms:created xsi:type="dcterms:W3CDTF">2026-10-13T15:18:11Z</dcterms:created>
  <dcterms:modified xsi:type="dcterms:W3CDTF">2026-10-13T15:18:11Z</dcterms:modified>
</cp:coreProperties>
</file>