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0" y="0"/>
            <a:ext cx="3962095" cy="1371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20840"/>
            <a:ext cx="4572000" cy="137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731520"/>
            <a:ext cx="5486400" cy="45720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777240"/>
            <a:ext cx="5303520" cy="365760"/>
          </a:xfrm>
          <a:prstGeom prst="rect">
            <a:avLst/>
          </a:prstGeom>
          <a:noFill/>
        </p:spPr>
        <p:txBody>
          <a:bodyPr wrap="none">
            <a:spAutoFit/>
          </a:bodyPr>
          <a:lstStyle/>
          <a:p>
            <a:r>
              <a:rPr b="1" sz="1100">
                <a:solidFill>
                  <a:srgbClr val="38BDF8"/>
                </a:solidFill>
              </a:rPr>
              <a:t>TDTU • SOFTWARE ENGINEERING • CHAPTER 5 ACTIVITY</a:t>
            </a:r>
          </a:p>
        </p:txBody>
      </p:sp>
      <p:sp>
        <p:nvSpPr>
          <p:cNvPr id="7" name="TextBox 6"/>
          <p:cNvSpPr txBox="1"/>
          <p:nvPr/>
        </p:nvSpPr>
        <p:spPr>
          <a:xfrm>
            <a:off x="914400" y="1371600"/>
            <a:ext cx="10332720" cy="2011680"/>
          </a:xfrm>
          <a:prstGeom prst="rect">
            <a:avLst/>
          </a:prstGeom>
          <a:noFill/>
        </p:spPr>
        <p:txBody>
          <a:bodyPr wrap="square">
            <a:spAutoFit/>
          </a:bodyPr>
          <a:lstStyle/>
          <a:p>
            <a:r>
              <a:rPr b="1" sz="3600">
                <a:solidFill>
                  <a:srgbClr val="FFFFFF"/>
                </a:solidFill>
              </a:rPr>
              <a:t>System Modelling — Mentcare Case Study</a:t>
            </a:r>
          </a:p>
          <a:p>
            <a:pPr>
              <a:spcBef>
                <a:spcPts val="800"/>
              </a:spcBef>
            </a:pPr>
            <a:r>
              <a:rPr sz="1800">
                <a:solidFill>
                  <a:srgbClr val="94A3B8"/>
                </a:solidFill>
              </a:rPr>
              <a:t>Day in the Life of a Systems Analyst &amp; DevOps Engineer (5 Phases of System Modelling)</a:t>
            </a:r>
          </a:p>
        </p:txBody>
      </p:sp>
      <p:sp>
        <p:nvSpPr>
          <p:cNvPr id="8" name="Rounded Rectangle 7"/>
          <p:cNvSpPr/>
          <p:nvPr/>
        </p:nvSpPr>
        <p:spPr>
          <a:xfrm>
            <a:off x="914400" y="3566160"/>
            <a:ext cx="10332720" cy="2834640"/>
          </a:xfrm>
          <a:prstGeom prst="roundRect">
            <a:avLst/>
          </a:prstGeom>
          <a:solidFill>
            <a:srgbClr val="13233D"/>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3703320"/>
            <a:ext cx="9784080" cy="2560320"/>
          </a:xfrm>
          <a:prstGeom prst="rect">
            <a:avLst/>
          </a:prstGeom>
          <a:noFill/>
        </p:spPr>
        <p:txBody>
          <a:bodyPr wrap="square">
            <a:spAutoFit/>
          </a:bodyPr>
          <a:lstStyle/>
          <a:p>
            <a:r>
              <a:rPr b="1" sz="1300">
                <a:solidFill>
                  <a:srgbClr val="06B6D4"/>
                </a:solidFill>
              </a:rPr>
              <a:t>DANH SÁCH THÀNH VIÊN NHÓM (GROUP MEMBERS — 4 STUDENTS):</a:t>
            </a:r>
          </a:p>
          <a:p>
            <a:pPr>
              <a:spcBef>
                <a:spcPts val="400"/>
              </a:spcBef>
            </a:pPr>
            <a:r>
              <a:rPr b="1" sz="1600">
                <a:solidFill>
                  <a:srgbClr val="FFFFFF"/>
                </a:solidFill>
              </a:rPr>
              <a:t>1. Ngô Lâm Tiến </a:t>
            </a:r>
            <a:r>
              <a:rPr sz="1500">
                <a:solidFill>
                  <a:srgbClr val="38BDF8"/>
                </a:solidFill>
              </a:rPr>
              <a:t>— MSSV: 524H0195 (Người đại diện nộp bài — Lead Submitter)</a:t>
            </a:r>
          </a:p>
          <a:p>
            <a:pPr>
              <a:spcBef>
                <a:spcPts val="400"/>
              </a:spcBef>
            </a:pPr>
            <a:r>
              <a:rPr b="1" sz="1600">
                <a:solidFill>
                  <a:srgbClr val="FFFFFF"/>
                </a:solidFill>
              </a:rPr>
              <a:t>2. Ngô Bình Minh </a:t>
            </a:r>
            <a:r>
              <a:rPr sz="1500">
                <a:solidFill>
                  <a:srgbClr val="38BDF8"/>
                </a:solidFill>
              </a:rPr>
              <a:t>— MSSV: 524H0169</a:t>
            </a:r>
          </a:p>
          <a:p>
            <a:pPr>
              <a:spcBef>
                <a:spcPts val="400"/>
              </a:spcBef>
            </a:pPr>
            <a:r>
              <a:rPr b="1" sz="1600">
                <a:solidFill>
                  <a:srgbClr val="FFFFFF"/>
                </a:solidFill>
              </a:rPr>
              <a:t>3. Lê Xuân Khánh </a:t>
            </a:r>
            <a:r>
              <a:rPr sz="1500">
                <a:solidFill>
                  <a:srgbClr val="38BDF8"/>
                </a:solidFill>
              </a:rPr>
              <a:t>— MSSV: 524H0055</a:t>
            </a:r>
          </a:p>
          <a:p>
            <a:pPr>
              <a:spcBef>
                <a:spcPts val="400"/>
              </a:spcBef>
            </a:pPr>
            <a:r>
              <a:rPr b="1" sz="1600">
                <a:solidFill>
                  <a:srgbClr val="FFFFFF"/>
                </a:solidFill>
              </a:rPr>
              <a:t>4. Nguyễn Công Thành </a:t>
            </a:r>
            <a:r>
              <a:rPr sz="1500">
                <a:solidFill>
                  <a:srgbClr val="38BDF8"/>
                </a:solidFill>
              </a:rPr>
              <a:t>— MSSV: 524H0191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091672" cy="868680"/>
          </a:xfrm>
          <a:prstGeom prst="rect">
            <a:avLst/>
          </a:prstGeom>
          <a:noFill/>
        </p:spPr>
        <p:txBody>
          <a:bodyPr wrap="square">
            <a:spAutoFit/>
          </a:bodyPr>
          <a:lstStyle/>
          <a:p>
            <a:r>
              <a:rPr sz="1000" b="1">
                <a:solidFill>
                  <a:srgbClr val="38BDF8"/>
                </a:solidFill>
              </a:rPr>
              <a:t>LEAD SYSTEMS ANALYST ROLE</a:t>
            </a:r>
          </a:p>
          <a:p>
            <a:r>
              <a:rPr sz="2200" b="1">
                <a:solidFill>
                  <a:srgbClr val="FFFFFF"/>
                </a:solidFill>
              </a:rPr>
              <a:t>Phase 1: Context &amp; System Boundaries</a:t>
            </a:r>
          </a:p>
        </p:txBody>
      </p:sp>
      <p:sp>
        <p:nvSpPr>
          <p:cNvPr id="5" name="Rounded Rectangle 4"/>
          <p:cNvSpPr/>
          <p:nvPr/>
        </p:nvSpPr>
        <p:spPr>
          <a:xfrm>
            <a:off x="548640" y="1234440"/>
            <a:ext cx="5349240" cy="51663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71600"/>
            <a:ext cx="4983480" cy="320040"/>
          </a:xfrm>
          <a:prstGeom prst="rect">
            <a:avLst/>
          </a:prstGeom>
          <a:noFill/>
        </p:spPr>
        <p:txBody>
          <a:bodyPr wrap="square">
            <a:spAutoFit/>
          </a:bodyPr>
          <a:lstStyle/>
          <a:p>
            <a:r>
              <a:rPr sz="1400" b="1">
                <a:solidFill>
                  <a:srgbClr val="1E3A5F"/>
                </a:solidFill>
              </a:rPr>
              <a:t>1. MENTCARE SYSTEM BOUNDARY DEFINITION</a:t>
            </a:r>
          </a:p>
        </p:txBody>
      </p:sp>
      <p:sp>
        <p:nvSpPr>
          <p:cNvPr id="7" name="TextBox 6"/>
          <p:cNvSpPr txBox="1"/>
          <p:nvPr/>
        </p:nvSpPr>
        <p:spPr>
          <a:xfrm>
            <a:off x="731520" y="1737360"/>
            <a:ext cx="4983480" cy="4480560"/>
          </a:xfrm>
          <a:prstGeom prst="rect">
            <a:avLst/>
          </a:prstGeom>
          <a:noFill/>
        </p:spPr>
        <p:txBody>
          <a:bodyPr wrap="square">
            <a:spAutoFit/>
          </a:bodyPr>
          <a:lstStyle/>
          <a:p>
            <a:pPr>
              <a:spcBef>
                <a:spcPts val="300"/>
              </a:spcBef>
            </a:pPr>
            <a:r>
              <a:rPr b="1" sz="1050">
                <a:solidFill>
                  <a:srgbClr val="1E3A5F"/>
                </a:solidFill>
              </a:rPr>
              <a:t>🏛️ Phạm vi kiểm soát nội bộ (INSIDE Boundary): </a:t>
            </a:r>
            <a:r>
              <a:rPr sz="1050">
                <a:solidFill>
                  <a:srgbClr val="0F172A"/>
                </a:solidFill>
              </a:rPr>
              <a:t>Các phân hệ thuộc quyền quản lý trực tiếp của Mentcare:
• Cơ sở dữ liệu hồ sơ bệnh án tâm thần (Consultation Notes, Risk Assessments, Mental Health Treatment Plans).
• Phân hệ lịch hẹn nội bộ (Internal Clinic Scheduling) &amp; Ghi nhận phiên điều trị.
• Module phân quyền bác sĩ, giám sát cảnh báo hành vi nguy cơ bệnh nhân và nhật ký bảo mật (Security Audit Logs).</a:t>
            </a:r>
          </a:p>
          <a:p>
            <a:pPr>
              <a:spcBef>
                <a:spcPts val="300"/>
              </a:spcBef>
            </a:pPr>
            <a:r>
              <a:rPr b="1" sz="1050">
                <a:solidFill>
                  <a:srgbClr val="1E3A5F"/>
                </a:solidFill>
              </a:rPr>
              <a:t>🏛️ Hệ thống độc lập bên ngoài (OUTSIDE Boundary): </a:t>
            </a:r>
            <a:r>
              <a:rPr sz="1050">
                <a:solidFill>
                  <a:srgbClr val="0F172A"/>
                </a:solidFill>
              </a:rPr>
              <a:t>Các hệ thống dùng chung của toàn bệnh viện kết nối qua API/HL7:
• Patient Record System (PRS): Hệ thống hồ sơ thông tin hành chính &amp; bệnh sử tổng quát dùng chung.
• Admissions System: Quản lý giường bệnh và tiếp nhận bệnh nhân nội trú/ngoại trú toàn viện.
• Prescription System: Quản lý kho dược, xuất thuốc, kiểm tra tương tác thuốc và quy định dược lý.</a:t>
            </a:r>
          </a:p>
        </p:txBody>
      </p:sp>
      <p:sp>
        <p:nvSpPr>
          <p:cNvPr id="8" name="Rounded Rectangle 7"/>
          <p:cNvSpPr/>
          <p:nvPr/>
        </p:nvSpPr>
        <p:spPr>
          <a:xfrm>
            <a:off x="6291072" y="1234440"/>
            <a:ext cx="5349240" cy="51663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3952" y="1371600"/>
            <a:ext cx="4983480" cy="320040"/>
          </a:xfrm>
          <a:prstGeom prst="rect">
            <a:avLst/>
          </a:prstGeom>
          <a:noFill/>
        </p:spPr>
        <p:txBody>
          <a:bodyPr wrap="square">
            <a:spAutoFit/>
          </a:bodyPr>
          <a:lstStyle/>
          <a:p>
            <a:r>
              <a:rPr sz="1400" b="1">
                <a:solidFill>
                  <a:srgbClr val="2563EB"/>
                </a:solidFill>
              </a:rPr>
              <a:t>2. CONTEXT MODEL &amp; BILLING GATEWAY ANALYSIS</a:t>
            </a:r>
          </a:p>
        </p:txBody>
      </p:sp>
      <p:sp>
        <p:nvSpPr>
          <p:cNvPr id="10" name="TextBox 9"/>
          <p:cNvSpPr txBox="1"/>
          <p:nvPr/>
        </p:nvSpPr>
        <p:spPr>
          <a:xfrm>
            <a:off x="6473952" y="1737360"/>
            <a:ext cx="4983480" cy="4480560"/>
          </a:xfrm>
          <a:prstGeom prst="rect">
            <a:avLst/>
          </a:prstGeom>
          <a:noFill/>
        </p:spPr>
        <p:txBody>
          <a:bodyPr wrap="square">
            <a:spAutoFit/>
          </a:bodyPr>
          <a:lstStyle/>
          <a:p>
            <a:pPr>
              <a:spcBef>
                <a:spcPts val="300"/>
              </a:spcBef>
            </a:pPr>
            <a:r>
              <a:rPr b="1" sz="1000">
                <a:solidFill>
                  <a:srgbClr val="1E3A5F"/>
                </a:solidFill>
              </a:rPr>
              <a:t>🌐 Mô hình bối cảnh (Context Model): </a:t>
            </a:r>
            <a:r>
              <a:rPr sz="1000">
                <a:solidFill>
                  <a:srgbClr val="0F172A"/>
                </a:solidFill>
              </a:rPr>
              <a:t>Hệ thống Mentcare nằm ở vị trí trung tâm, tương tác với 3 thực thể ngoài:
  [Central PRS] &lt;──(HL7/FHIR: Tra cứu hồ sơ/Đồng bộ)──&gt; [ MENTCARE ]
  [Admissions]  &lt;──(REST API: Báo nhập viện/Giường)────&gt; [ MENTCARE ]
  [Prescription]&lt;──(e-Prescription Order)───────────────&gt; [ MENTCARE ]</a:t>
            </a:r>
          </a:p>
          <a:p>
            <a:pPr>
              <a:spcBef>
                <a:spcPts val="300"/>
              </a:spcBef>
            </a:pPr>
            <a:r>
              <a:rPr b="1" sz="1000">
                <a:solidFill>
                  <a:srgbClr val="1E3A5F"/>
                </a:solidFill>
              </a:rPr>
              <a:t>🌐 Câu hỏi 3: Cổng Thanh toán (Billing Gateway) nằm TRONG hay NGOÀI?: </a:t>
            </a:r>
            <a:r>
              <a:rPr sz="1000">
                <a:solidFill>
                  <a:srgbClr val="0F172A"/>
                </a:solidFill>
              </a:rPr>
              <a:t>👉 Cổng thanh toán BẮT BUỘC NẰM NGOÀI (OUTSIDE) ranh giới hệ thống Mentcare.</a:t>
            </a:r>
          </a:p>
          <a:p>
            <a:pPr>
              <a:spcBef>
                <a:spcPts val="300"/>
              </a:spcBef>
            </a:pPr>
            <a:r>
              <a:rPr b="1" sz="1000">
                <a:solidFill>
                  <a:srgbClr val="1E3A5F"/>
                </a:solidFill>
              </a:rPr>
              <a:t>🌐 Lý do 1: Tách biệt trách nhiệm (Separation of Concerns): </a:t>
            </a:r>
            <a:r>
              <a:rPr sz="1000">
                <a:solidFill>
                  <a:srgbClr val="0F172A"/>
                </a:solidFill>
              </a:rPr>
              <a:t>Mentcare là hệ thống quản lý lâm sàng tâm thần. Các nghiệp vụ tài chính, kết nối cổng ngân hàng, đối soát thẻ tín dụng là nghiệp vụ chuyên biệt của khối tài chính bệnh viện.</a:t>
            </a:r>
          </a:p>
          <a:p>
            <a:pPr>
              <a:spcBef>
                <a:spcPts val="300"/>
              </a:spcBef>
            </a:pPr>
            <a:r>
              <a:rPr b="1" sz="1000">
                <a:solidFill>
                  <a:srgbClr val="1E3A5F"/>
                </a:solidFill>
              </a:rPr>
              <a:t>🌐 Lý do 2: Tiêu chuẩn bảo mật (PCI-DSS Compliance): </a:t>
            </a:r>
            <a:r>
              <a:rPr sz="1000">
                <a:solidFill>
                  <a:srgbClr val="0F172A"/>
                </a:solidFill>
              </a:rPr>
              <a:t>Tách riêng Billing Gateway giúp cách ly dữ liệu thẻ thanh toán, giảm phạm vi kiểm toán bảo mật khắt khe cho Mentcare.</a:t>
            </a:r>
          </a:p>
          <a:p>
            <a:pPr>
              <a:spcBef>
                <a:spcPts val="300"/>
              </a:spcBef>
            </a:pPr>
            <a:r>
              <a:rPr b="1" sz="1000">
                <a:solidFill>
                  <a:srgbClr val="1E3A5F"/>
                </a:solidFill>
              </a:rPr>
              <a:t>🌐 Lý do 3: Tái sử dụng viện phí (Reusability): </a:t>
            </a:r>
            <a:r>
              <a:rPr sz="1000">
                <a:solidFill>
                  <a:srgbClr val="0F172A"/>
                </a:solidFill>
              </a:rPr>
              <a:t>Bệnh viện sử dụng một cổng thanh toán chung cho tất cả các khoa (Tim mạch, Ung bướu, Tâm thần), Mentcare chỉ gọi API tích hợp.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091672" cy="868680"/>
          </a:xfrm>
          <a:prstGeom prst="rect">
            <a:avLst/>
          </a:prstGeom>
          <a:noFill/>
        </p:spPr>
        <p:txBody>
          <a:bodyPr wrap="square">
            <a:spAutoFit/>
          </a:bodyPr>
          <a:lstStyle/>
          <a:p>
            <a:r>
              <a:rPr sz="1000" b="1">
                <a:solidFill>
                  <a:srgbClr val="38BDF8"/>
                </a:solidFill>
              </a:rPr>
              <a:t>IT BUSINESS ANALYST ROLE</a:t>
            </a:r>
          </a:p>
          <a:p>
            <a:r>
              <a:rPr sz="2200" b="1">
                <a:solidFill>
                  <a:srgbClr val="FFFFFF"/>
                </a:solidFill>
              </a:rPr>
              <a:t>Phase 2: Interaction Modeling (Use Cases)</a:t>
            </a:r>
          </a:p>
        </p:txBody>
      </p:sp>
      <p:sp>
        <p:nvSpPr>
          <p:cNvPr id="5" name="Rounded Rectangle 4"/>
          <p:cNvSpPr/>
          <p:nvPr/>
        </p:nvSpPr>
        <p:spPr>
          <a:xfrm>
            <a:off x="548640" y="1188720"/>
            <a:ext cx="11091672" cy="155448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25880"/>
            <a:ext cx="10725912" cy="320040"/>
          </a:xfrm>
          <a:prstGeom prst="rect">
            <a:avLst/>
          </a:prstGeom>
          <a:noFill/>
        </p:spPr>
        <p:txBody>
          <a:bodyPr wrap="square">
            <a:spAutoFit/>
          </a:bodyPr>
          <a:lstStyle/>
          <a:p>
            <a:r>
              <a:rPr sz="1400" b="1">
                <a:solidFill>
                  <a:srgbClr val="1E3A5F"/>
                </a:solidFill>
              </a:rPr>
              <a:t>1. THREE DISTINCT USE CASES INITIATED BY MEDICAL RECEPTIONIST</a:t>
            </a:r>
          </a:p>
        </p:txBody>
      </p:sp>
      <p:sp>
        <p:nvSpPr>
          <p:cNvPr id="7" name="TextBox 6"/>
          <p:cNvSpPr txBox="1"/>
          <p:nvPr/>
        </p:nvSpPr>
        <p:spPr>
          <a:xfrm>
            <a:off x="731520" y="1600200"/>
            <a:ext cx="10698480" cy="1051560"/>
          </a:xfrm>
          <a:prstGeom prst="rect">
            <a:avLst/>
          </a:prstGeom>
          <a:noFill/>
        </p:spPr>
        <p:txBody>
          <a:bodyPr wrap="square">
            <a:spAutoFit/>
          </a:bodyPr>
          <a:lstStyle/>
          <a:p>
            <a:pPr>
              <a:spcBef>
                <a:spcPts val="300"/>
              </a:spcBef>
            </a:pPr>
            <a:r>
              <a:rPr b="1" sz="1050">
                <a:solidFill>
                  <a:srgbClr val="1E3A5F"/>
                </a:solidFill>
              </a:rPr>
              <a:t>📋 UC-01: Đăng ký hồ sơ bệnh nhân mới (Register New Patient Profile): </a:t>
            </a:r>
            <a:r>
              <a:rPr sz="1050">
                <a:solidFill>
                  <a:srgbClr val="0F172A"/>
                </a:solidFill>
              </a:rPr>
              <a:t>Tiếp nhận thông tin hành chính ban đầu của bệnh nhân, xác thực định danh và liên kết đồng bộ sang Central Patient Record System.</a:t>
            </a:r>
          </a:p>
          <a:p>
            <a:pPr>
              <a:spcBef>
                <a:spcPts val="300"/>
              </a:spcBef>
            </a:pPr>
            <a:r>
              <a:rPr b="1" sz="1050">
                <a:solidFill>
                  <a:srgbClr val="1E3A5F"/>
                </a:solidFill>
              </a:rPr>
              <a:t>📋 UC-02: Tiếp đón &amp; Điểm danh bệnh nhân đến khám (Check-in Arriving Patient): </a:t>
            </a:r>
            <a:r>
              <a:rPr sz="1050">
                <a:solidFill>
                  <a:srgbClr val="0F172A"/>
                </a:solidFill>
              </a:rPr>
              <a:t>Xác nhận sự có mặt của bệnh nhân cho ca hẹn, đưa vào hàng đợi phòng khám (Queue) và kích hoạt thông báo cho Bác sĩ điều trị.</a:t>
            </a:r>
          </a:p>
          <a:p>
            <a:pPr>
              <a:spcBef>
                <a:spcPts val="300"/>
              </a:spcBef>
            </a:pPr>
            <a:r>
              <a:rPr b="1" sz="1050">
                <a:solidFill>
                  <a:srgbClr val="1E3A5F"/>
                </a:solidFill>
              </a:rPr>
              <a:t>📋 UC-03: Đặt lịch hẹn tái khám (Schedule Follow-up Appointment): </a:t>
            </a:r>
            <a:r>
              <a:rPr sz="1050">
                <a:solidFill>
                  <a:srgbClr val="0F172A"/>
                </a:solidFill>
              </a:rPr>
              <a:t>Tìm kiếm khung giờ trống của Bác sĩ chuyên khoa, đặt phòng tư vấn và phát hành giấy hẹn tái khám / gửi SMS nhắc hẹn.</a:t>
            </a:r>
          </a:p>
        </p:txBody>
      </p:sp>
      <p:graphicFrame>
        <p:nvGraphicFramePr>
          <p:cNvPr id="8" name="Table 7"/>
          <p:cNvGraphicFramePr>
            <a:graphicFrameLocks noGrp="1"/>
          </p:cNvGraphicFramePr>
          <p:nvPr/>
        </p:nvGraphicFramePr>
        <p:xfrm>
          <a:off x="548640" y="2880360"/>
          <a:ext cx="11091672" cy="3566160"/>
        </p:xfrm>
        <a:graphic>
          <a:graphicData uri="http://schemas.openxmlformats.org/drawingml/2006/table">
            <a:tbl>
              <a:tblPr firstRow="1" bandRow="1">
                <a:tableStyleId>{5C22544A-7EE6-4342-B048-85BDC9FD1C3A}</a:tableStyleId>
              </a:tblPr>
              <a:tblGrid>
                <a:gridCol w="2926080"/>
                <a:gridCol w="8165592"/>
              </a:tblGrid>
              <a:tr h="509451">
                <a:tc>
                  <a:txBody>
                    <a:bodyPr wrap="square"/>
                    <a:lstStyle/>
                    <a:p>
                      <a:pPr algn="l"/>
                      <a:r>
                        <a:rPr b="1" sz="1100">
                          <a:solidFill>
                            <a:srgbClr val="FFFFFF"/>
                          </a:solidFill>
                        </a:rPr>
                        <a:t>Thuộc tính (Element)</a:t>
                      </a:r>
                    </a:p>
                  </a:txBody>
                  <a:tcPr>
                    <a:solidFill>
                      <a:srgbClr val="1E3A5F"/>
                    </a:solidFill>
                  </a:tcPr>
                </a:tc>
                <a:tc>
                  <a:txBody>
                    <a:bodyPr wrap="square"/>
                    <a:lstStyle/>
                    <a:p>
                      <a:pPr algn="l"/>
                      <a:r>
                        <a:rPr b="1" sz="1100">
                          <a:solidFill>
                            <a:srgbClr val="FFFFFF"/>
                          </a:solidFill>
                        </a:rPr>
                        <a:t>Đặc tả chi tiết (Specification for 'Schedule Follow-up Appointment')</a:t>
                      </a:r>
                    </a:p>
                  </a:txBody>
                  <a:tcPr>
                    <a:solidFill>
                      <a:srgbClr val="1E3A5F"/>
                    </a:solidFill>
                  </a:tcPr>
                </a:tc>
              </a:tr>
              <a:tr h="509451">
                <a:tc>
                  <a:txBody>
                    <a:bodyPr wrap="square"/>
                    <a:lstStyle/>
                    <a:p>
                      <a:pPr algn="l"/>
                      <a:r>
                        <a:rPr sz="1000">
                          <a:solidFill>
                            <a:srgbClr val="0F172A"/>
                          </a:solidFill>
                        </a:rPr>
                        <a:t>Tác nhân (Actors)</a:t>
                      </a:r>
                    </a:p>
                  </a:txBody>
                  <a:tcPr>
                    <a:solidFill>
                      <a:srgbClr val="F8FAFC"/>
                    </a:solidFill>
                  </a:tcPr>
                </a:tc>
                <a:tc>
                  <a:txBody>
                    <a:bodyPr wrap="square"/>
                    <a:lstStyle/>
                    <a:p>
                      <a:pPr algn="l"/>
                      <a:r>
                        <a:rPr sz="1000">
                          <a:solidFill>
                            <a:srgbClr val="0F172A"/>
                          </a:solidFill>
                        </a:rPr>
                        <a:t>Nhân viên Lễ tân y tế (Medical Receptionist - Primary Initiator), Bệnh nhân (Patient), Bác sĩ tâm thần (Attending Doctor).</a:t>
                      </a:r>
                    </a:p>
                  </a:txBody>
                  <a:tcPr>
                    <a:solidFill>
                      <a:srgbClr val="F8FAFC"/>
                    </a:solidFill>
                  </a:tcPr>
                </a:tc>
              </a:tr>
              <a:tr h="509451">
                <a:tc>
                  <a:txBody>
                    <a:bodyPr wrap="square"/>
                    <a:lstStyle/>
                    <a:p>
                      <a:pPr algn="l"/>
                      <a:r>
                        <a:rPr sz="1000">
                          <a:solidFill>
                            <a:srgbClr val="0F172A"/>
                          </a:solidFill>
                        </a:rPr>
                        <a:t>Mô tả (Description)</a:t>
                      </a:r>
                    </a:p>
                  </a:txBody>
                  <a:tcPr>
                    <a:solidFill>
                      <a:srgbClr val="F1F5F9"/>
                    </a:solidFill>
                  </a:tcPr>
                </a:tc>
                <a:tc>
                  <a:txBody>
                    <a:bodyPr wrap="square"/>
                    <a:lstStyle/>
                    <a:p>
                      <a:pPr algn="l"/>
                      <a:r>
                        <a:rPr sz="1000">
                          <a:solidFill>
                            <a:srgbClr val="0F172A"/>
                          </a:solidFill>
                        </a:rPr>
                        <a:t>Xếp lịch hẹn tái khám chuyên khoa tâm thần theo chỉ định sau phiên khám của bác sĩ hoặc theo yêu cầu bệnh nhân, đảm bảo lịch trống và không trùng phòng.</a:t>
                      </a:r>
                    </a:p>
                  </a:txBody>
                  <a:tcPr>
                    <a:solidFill>
                      <a:srgbClr val="F1F5F9"/>
                    </a:solidFill>
                  </a:tcPr>
                </a:tc>
              </a:tr>
              <a:tr h="509451">
                <a:tc>
                  <a:txBody>
                    <a:bodyPr wrap="square"/>
                    <a:lstStyle/>
                    <a:p>
                      <a:pPr algn="l"/>
                      <a:r>
                        <a:rPr sz="1000">
                          <a:solidFill>
                            <a:srgbClr val="0F172A"/>
                          </a:solidFill>
                        </a:rPr>
                        <a:t>Dữ liệu (Data)</a:t>
                      </a:r>
                    </a:p>
                  </a:txBody>
                  <a:tcPr>
                    <a:solidFill>
                      <a:srgbClr val="F8FAFC"/>
                    </a:solidFill>
                  </a:tcPr>
                </a:tc>
                <a:tc>
                  <a:txBody>
                    <a:bodyPr wrap="square"/>
                    <a:lstStyle/>
                    <a:p>
                      <a:pPr algn="l"/>
                      <a:r>
                        <a:rPr sz="1000">
                          <a:solidFill>
                            <a:srgbClr val="0F172A"/>
                          </a:solidFill>
                        </a:rPr>
                        <a:t>Mã bệnh nhân (Patient ID), Mã bác sĩ (Doctor ID), Khoảng thời gian yêu cầu (Date &amp; Time slot), Loại hình khám (Tái khám định kỳ, Đánh giá thuốc, Khẩn cấp), Mã phòng tư vấn.</a:t>
                      </a:r>
                    </a:p>
                  </a:txBody>
                  <a:tcPr>
                    <a:solidFill>
                      <a:srgbClr val="F8FAFC"/>
                    </a:solidFill>
                  </a:tcPr>
                </a:tc>
              </a:tr>
              <a:tr h="509451">
                <a:tc>
                  <a:txBody>
                    <a:bodyPr wrap="square"/>
                    <a:lstStyle/>
                    <a:p>
                      <a:pPr algn="l"/>
                      <a:r>
                        <a:rPr sz="1000">
                          <a:solidFill>
                            <a:srgbClr val="0F172A"/>
                          </a:solidFill>
                        </a:rPr>
                        <a:t>Kích hoạt (Stimulus)</a:t>
                      </a:r>
                    </a:p>
                  </a:txBody>
                  <a:tcPr>
                    <a:solidFill>
                      <a:srgbClr val="F1F5F9"/>
                    </a:solidFill>
                  </a:tcPr>
                </a:tc>
                <a:tc>
                  <a:txBody>
                    <a:bodyPr wrap="square"/>
                    <a:lstStyle/>
                    <a:p>
                      <a:pPr algn="l"/>
                      <a:r>
                        <a:rPr sz="1000">
                          <a:solidFill>
                            <a:srgbClr val="0F172A"/>
                          </a:solidFill>
                        </a:rPr>
                        <a:t>Lễ tân nhấp chọn chức năng 'Lập lịch tái khám' trên Mentcare sau khi bệnh nhân hoàn tất ca khám hiện tại hoặc gọi điện đặt lịch.</a:t>
                      </a:r>
                    </a:p>
                  </a:txBody>
                  <a:tcPr>
                    <a:solidFill>
                      <a:srgbClr val="F1F5F9"/>
                    </a:solidFill>
                  </a:tcPr>
                </a:tc>
              </a:tr>
              <a:tr h="509451">
                <a:tc>
                  <a:txBody>
                    <a:bodyPr wrap="square"/>
                    <a:lstStyle/>
                    <a:p>
                      <a:pPr algn="l"/>
                      <a:r>
                        <a:rPr sz="1000">
                          <a:solidFill>
                            <a:srgbClr val="0F172A"/>
                          </a:solidFill>
                        </a:rPr>
                        <a:t>Phản hồi (Response)</a:t>
                      </a:r>
                    </a:p>
                  </a:txBody>
                  <a:tcPr>
                    <a:solidFill>
                      <a:srgbClr val="F8FAFC"/>
                    </a:solidFill>
                  </a:tcPr>
                </a:tc>
                <a:tc>
                  <a:txBody>
                    <a:bodyPr wrap="square"/>
                    <a:lstStyle/>
                    <a:p>
                      <a:pPr algn="l"/>
                      <a:r>
                        <a:rPr sz="1000">
                          <a:solidFill>
                            <a:srgbClr val="0F172A"/>
                          </a:solidFill>
                        </a:rPr>
                        <a:t>Hệ thống hiển thị lịch trống thời gian thực; sau khi xác nhận, Mentcare khóa lịch khám, gửi lời mời lịch đến Bác sĩ và tự động gửi tin nhắn SMS/Email nhắc lịch cho Bệnh nhân.</a:t>
                      </a:r>
                    </a:p>
                  </a:txBody>
                  <a:tcPr>
                    <a:solidFill>
                      <a:srgbClr val="F8FAFC"/>
                    </a:solidFill>
                  </a:tcPr>
                </a:tc>
              </a:tr>
              <a:tr h="509454">
                <a:tc>
                  <a:txBody>
                    <a:bodyPr wrap="square"/>
                    <a:lstStyle/>
                    <a:p>
                      <a:pPr algn="l"/>
                      <a:r>
                        <a:rPr sz="1000">
                          <a:solidFill>
                            <a:srgbClr val="0F172A"/>
                          </a:solidFill>
                        </a:rPr>
                        <a:t>Ghi chú an ninh (Security)</a:t>
                      </a:r>
                    </a:p>
                  </a:txBody>
                  <a:tcPr>
                    <a:solidFill>
                      <a:srgbClr val="F1F5F9"/>
                    </a:solidFill>
                  </a:tcPr>
                </a:tc>
                <a:tc>
                  <a:txBody>
                    <a:bodyPr wrap="square"/>
                    <a:lstStyle/>
                    <a:p>
                      <a:pPr algn="l"/>
                      <a:r>
                        <a:rPr sz="1000">
                          <a:solidFill>
                            <a:srgbClr val="0F172A"/>
                          </a:solidFill>
                        </a:rPr>
                        <a:t>Quyền hạn RBAC nghiêm ngặt: Lễ tân CHỈ ĐƯỢC XEM thông tin hành chính &amp; lịch rảnh của bác sĩ, TUYỆT ĐỐI KHÔNG ĐƯỢC XEM bệnh án tâm thần, chẩn đoán hay ghi chú lâm sàng nhạy cảm của bệnh nhân.</a:t>
                      </a:r>
                    </a:p>
                  </a:txBody>
                  <a:tcPr>
                    <a:solidFill>
                      <a:srgbClr val="F1F5F9"/>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091672" cy="868680"/>
          </a:xfrm>
          <a:prstGeom prst="rect">
            <a:avLst/>
          </a:prstGeom>
          <a:noFill/>
        </p:spPr>
        <p:txBody>
          <a:bodyPr wrap="square">
            <a:spAutoFit/>
          </a:bodyPr>
          <a:lstStyle/>
          <a:p>
            <a:r>
              <a:rPr sz="1000" b="1">
                <a:solidFill>
                  <a:srgbClr val="38BDF8"/>
                </a:solidFill>
              </a:rPr>
              <a:t>SYSTEM ARCHITECT ROLE</a:t>
            </a:r>
          </a:p>
          <a:p>
            <a:r>
              <a:rPr sz="2200" b="1">
                <a:solidFill>
                  <a:srgbClr val="FFFFFF"/>
                </a:solidFill>
              </a:rPr>
              <a:t>Phase 3: Structural Modeling (Class &amp; Generalization)</a:t>
            </a:r>
          </a:p>
        </p:txBody>
      </p:sp>
      <p:sp>
        <p:nvSpPr>
          <p:cNvPr id="5" name="Rounded Rectangle 4"/>
          <p:cNvSpPr/>
          <p:nvPr/>
        </p:nvSpPr>
        <p:spPr>
          <a:xfrm>
            <a:off x="548640" y="1234440"/>
            <a:ext cx="5760720" cy="51663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71600"/>
            <a:ext cx="5394960" cy="320040"/>
          </a:xfrm>
          <a:prstGeom prst="rect">
            <a:avLst/>
          </a:prstGeom>
          <a:noFill/>
        </p:spPr>
        <p:txBody>
          <a:bodyPr wrap="square">
            <a:spAutoFit/>
          </a:bodyPr>
          <a:lstStyle/>
          <a:p>
            <a:r>
              <a:rPr sz="1400" b="1">
                <a:solidFill>
                  <a:srgbClr val="1E3A5F"/>
                </a:solidFill>
              </a:rPr>
              <a:t>1. GENERALIZATION HIERARCHY FOR 'DOCTOR'</a:t>
            </a:r>
          </a:p>
        </p:txBody>
      </p:sp>
      <p:sp>
        <p:nvSpPr>
          <p:cNvPr id="7" name="TextBox 6"/>
          <p:cNvSpPr txBox="1"/>
          <p:nvPr/>
        </p:nvSpPr>
        <p:spPr>
          <a:xfrm>
            <a:off x="731520" y="1737360"/>
            <a:ext cx="5394960" cy="4480560"/>
          </a:xfrm>
          <a:prstGeom prst="rect">
            <a:avLst/>
          </a:prstGeom>
          <a:noFill/>
        </p:spPr>
        <p:txBody>
          <a:bodyPr wrap="square">
            <a:spAutoFit/>
          </a:bodyPr>
          <a:lstStyle/>
          <a:p>
            <a:pPr>
              <a:spcBef>
                <a:spcPts val="300"/>
              </a:spcBef>
            </a:pPr>
            <a:r>
              <a:rPr b="1" sz="1050">
                <a:solidFill>
                  <a:srgbClr val="1E3A5F"/>
                </a:solidFill>
              </a:rPr>
              <a:t>🏛️ Lớp cha (Superclass): Doctor: </a:t>
            </a:r>
            <a:r>
              <a:rPr sz="1050">
                <a:solidFill>
                  <a:srgbClr val="0F172A"/>
                </a:solidFill>
              </a:rPr>
              <a:t>Chứa các thuộc tính và hành vi cốt lõi của mọi bác sĩ trong hệ thống:
• Thuộc tính 1: doctorId: String (Mã định danh duy nhất của bác sĩ)
• Thuộc tính 2: fullName: String (Họ và tên bác sĩ)
• Thuộc tính bổ sung: licenseNumber: String, phone: String, email: String
• Phương thức chung: scheduleAppointment(), viewSchedule(), getContactInfo()</a:t>
            </a:r>
          </a:p>
          <a:p>
            <a:pPr>
              <a:spcBef>
                <a:spcPts val="300"/>
              </a:spcBef>
            </a:pPr>
            <a:r>
              <a:rPr b="1" sz="1050">
                <a:solidFill>
                  <a:srgbClr val="1E3A5F"/>
                </a:solidFill>
              </a:rPr>
              <a:t>🏛️ Lớp con 1 (Subclass): HospitalDoctor (Bác sĩ nội viện): </a:t>
            </a:r>
            <a:r>
              <a:rPr sz="1050">
                <a:solidFill>
                  <a:srgbClr val="0F172A"/>
                </a:solidFill>
              </a:rPr>
              <a:t>Kế thừa toàn bộ thuộc tính từ Doctor và có thuộc tính đặc thù:
• Thuộc tính riêng: departmentId: String (Khoa/Phòng nội trú phụ trách)
• Thuộc tính riêng: onCallShift: String, pagerNumber: String (Số máy nhắn tin cấp cứu)
• Phương thức riêng: admitPatientToWard(), emergencyConsultation()</a:t>
            </a:r>
          </a:p>
          <a:p>
            <a:pPr>
              <a:spcBef>
                <a:spcPts val="300"/>
              </a:spcBef>
            </a:pPr>
            <a:r>
              <a:rPr b="1" sz="1050">
                <a:solidFill>
                  <a:srgbClr val="1E3A5F"/>
                </a:solidFill>
              </a:rPr>
              <a:t>🏛️ Lớp con 2 (Subclass): GeneralPractitioner (Bác sĩ đa khoa / Cộng đồng): </a:t>
            </a:r>
            <a:r>
              <a:rPr sz="1050">
                <a:solidFill>
                  <a:srgbClr val="0F172A"/>
                </a:solidFill>
              </a:rPr>
              <a:t>Kế thừa từ Doctor và phục vụ mạng lưới chăm sóc ngoại viện:
• Thuộc tính riêng: clinicAddress: String (Địa chỉ phòng khám gia đình tư nhân)
• Thuộc tính riêng: practiceRegistrationNumber: String, referralNetworkId: String
• Phương thức riêng: issueMentalHealthReferral(), shareCommunityCarePlan()</a:t>
            </a:r>
          </a:p>
        </p:txBody>
      </p:sp>
      <p:sp>
        <p:nvSpPr>
          <p:cNvPr id="8" name="Rounded Rectangle 7"/>
          <p:cNvSpPr/>
          <p:nvPr/>
        </p:nvSpPr>
        <p:spPr>
          <a:xfrm>
            <a:off x="6492240" y="1234440"/>
            <a:ext cx="5148072" cy="51663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1371600"/>
            <a:ext cx="4782312" cy="320040"/>
          </a:xfrm>
          <a:prstGeom prst="rect">
            <a:avLst/>
          </a:prstGeom>
          <a:noFill/>
        </p:spPr>
        <p:txBody>
          <a:bodyPr wrap="square">
            <a:spAutoFit/>
          </a:bodyPr>
          <a:lstStyle/>
          <a:p>
            <a:r>
              <a:rPr sz="1400" b="1">
                <a:solidFill>
                  <a:srgbClr val="059669"/>
                </a:solidFill>
              </a:rPr>
              <a:t>2. TẠI SAO DÙNG KẾ THỪA (GENERALIZATION)?</a:t>
            </a:r>
          </a:p>
        </p:txBody>
      </p:sp>
      <p:sp>
        <p:nvSpPr>
          <p:cNvPr id="10" name="TextBox 9"/>
          <p:cNvSpPr txBox="1"/>
          <p:nvPr/>
        </p:nvSpPr>
        <p:spPr>
          <a:xfrm>
            <a:off x="6675120" y="1737360"/>
            <a:ext cx="4782312" cy="4480560"/>
          </a:xfrm>
          <a:prstGeom prst="rect">
            <a:avLst/>
          </a:prstGeom>
          <a:noFill/>
        </p:spPr>
        <p:txBody>
          <a:bodyPr wrap="square">
            <a:spAutoFit/>
          </a:bodyPr>
          <a:lstStyle/>
          <a:p>
            <a:pPr>
              <a:spcBef>
                <a:spcPts val="300"/>
              </a:spcBef>
            </a:pPr>
            <a:r>
              <a:rPr b="1" sz="1000">
                <a:solidFill>
                  <a:srgbClr val="1E3A5F"/>
                </a:solidFill>
              </a:rPr>
              <a:t>💡 Câu hỏi 4: </a:t>
            </a:r>
            <a:r>
              <a:rPr sz="1000">
                <a:solidFill>
                  <a:srgbClr val="0F172A"/>
                </a:solidFill>
              </a:rPr>
              <a:t>Tại sao dùng Kế thừa (Generalization) thay vì định nghĩa các lớp riêng biệt từ đầu?</a:t>
            </a:r>
          </a:p>
          <a:p>
            <a:pPr>
              <a:spcBef>
                <a:spcPts val="300"/>
              </a:spcBef>
            </a:pPr>
            <a:r>
              <a:rPr b="1" sz="1000">
                <a:solidFill>
                  <a:srgbClr val="1E3A5F"/>
                </a:solidFill>
              </a:rPr>
              <a:t>💡 1. Tái sử dụng mã nguồn &amp; Nguyên lý DRY (Don't Repeat Yourself): </a:t>
            </a:r>
            <a:r>
              <a:rPr sz="1000">
                <a:solidFill>
                  <a:srgbClr val="0F172A"/>
                </a:solidFill>
              </a:rPr>
              <a:t>Các thông tin cơ bản (ID, Tên, Số chứng chỉ hành nghề, SĐT, Email) chỉ cần định nghĩa duy nhất tại lớp Doctor, tránh lặp lại mã nguồn nhiều lần.</a:t>
            </a:r>
          </a:p>
          <a:p>
            <a:pPr>
              <a:spcBef>
                <a:spcPts val="300"/>
              </a:spcBef>
            </a:pPr>
            <a:r>
              <a:rPr b="1" sz="1000">
                <a:solidFill>
                  <a:srgbClr val="1E3A5F"/>
                </a:solidFill>
              </a:rPr>
              <a:t>💡 2. Tính Đa hình (Polymorphism) &amp; Mở rộng linh hoạt: </a:t>
            </a:r>
            <a:r>
              <a:rPr sz="1000">
                <a:solidFill>
                  <a:srgbClr val="0F172A"/>
                </a:solidFill>
              </a:rPr>
              <a:t>Phân hệ Lập lịch hẹn của Mentcare chỉ cần làm việc với giao diện tổng quát `Doctor` (ví dụ `appointment.assignDoctor(Doctor doc)`). Hệ thống có thể tiếp nhận cả HospitalDoctor hoặc GP một cách đồng nhất mà không cần viết lại mã nguồn.</a:t>
            </a:r>
          </a:p>
          <a:p>
            <a:pPr>
              <a:spcBef>
                <a:spcPts val="300"/>
              </a:spcBef>
            </a:pPr>
            <a:r>
              <a:rPr b="1" sz="1000">
                <a:solidFill>
                  <a:srgbClr val="1E3A5F"/>
                </a:solidFill>
              </a:rPr>
              <a:t>💡 3. Bảo trì tập trung &amp; Tính nhất quán dữ liệu (Data Integrity): </a:t>
            </a:r>
            <a:r>
              <a:rPr sz="1000">
                <a:solidFill>
                  <a:srgbClr val="0F172A"/>
                </a:solidFill>
              </a:rPr>
              <a:t>Khi bệnh viện bổ sung quy định mới về định danh y tế (ví dụ thêm trường `nationalProviderIdentifier`), ta chỉ cần sửa đúng 1 nơi tại lớp cha `Doctor`, toàn bộ các lớp con lập tức được cập nhật đồng bộ.</a:t>
            </a:r>
          </a:p>
          <a:p>
            <a:pPr>
              <a:spcBef>
                <a:spcPts val="300"/>
              </a:spcBef>
            </a:pPr>
            <a:r>
              <a:rPr b="1" sz="1000">
                <a:solidFill>
                  <a:srgbClr val="1E3A5F"/>
                </a:solidFill>
              </a:rPr>
              <a:t>💡 4. Ánh xạ cơ sở dữ liệu tối ưu (ORM Mapping): </a:t>
            </a:r>
            <a:r>
              <a:rPr sz="1000">
                <a:solidFill>
                  <a:srgbClr val="0F172A"/>
                </a:solidFill>
              </a:rPr>
              <a:t>Hỗ trợ ánh xạ cơ sở dữ liệu trực quan theo mô hình Single Table Inheritance hoặc Joined Table Inheritance, tối ưu hóa truy vấn bảng quan hệ.</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091672" cy="868680"/>
          </a:xfrm>
          <a:prstGeom prst="rect">
            <a:avLst/>
          </a:prstGeom>
          <a:noFill/>
        </p:spPr>
        <p:txBody>
          <a:bodyPr wrap="square">
            <a:spAutoFit/>
          </a:bodyPr>
          <a:lstStyle/>
          <a:p>
            <a:r>
              <a:rPr sz="1000" b="1">
                <a:solidFill>
                  <a:srgbClr val="38BDF8"/>
                </a:solidFill>
              </a:rPr>
              <a:t>DEVOPS / INTEGRATION ENGINEER ROLE</a:t>
            </a:r>
          </a:p>
          <a:p>
            <a:r>
              <a:rPr sz="2200" b="1">
                <a:solidFill>
                  <a:srgbClr val="FFFFFF"/>
                </a:solidFill>
              </a:rPr>
              <a:t>Phase 4: Behavioral Modeling (State Machine)</a:t>
            </a:r>
          </a:p>
        </p:txBody>
      </p:sp>
      <p:sp>
        <p:nvSpPr>
          <p:cNvPr id="5" name="Rounded Rectangle 4"/>
          <p:cNvSpPr/>
          <p:nvPr/>
        </p:nvSpPr>
        <p:spPr>
          <a:xfrm>
            <a:off x="548640" y="1188720"/>
            <a:ext cx="11091672" cy="164592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25880"/>
            <a:ext cx="10725912" cy="320040"/>
          </a:xfrm>
          <a:prstGeom prst="rect">
            <a:avLst/>
          </a:prstGeom>
          <a:noFill/>
        </p:spPr>
        <p:txBody>
          <a:bodyPr wrap="square">
            <a:spAutoFit/>
          </a:bodyPr>
          <a:lstStyle/>
          <a:p>
            <a:r>
              <a:rPr sz="1400" b="1">
                <a:solidFill>
                  <a:srgbClr val="1E3A5F"/>
                </a:solidFill>
              </a:rPr>
              <a:t>SMART HARDWARE PHARMACY DOOR LOCK — 4 TRẠNG THÁI BẮT BUỘC</a:t>
            </a:r>
          </a:p>
        </p:txBody>
      </p:sp>
      <p:sp>
        <p:nvSpPr>
          <p:cNvPr id="7" name="TextBox 6"/>
          <p:cNvSpPr txBox="1"/>
          <p:nvPr/>
        </p:nvSpPr>
        <p:spPr>
          <a:xfrm>
            <a:off x="731520" y="1600200"/>
            <a:ext cx="10698480" cy="1143000"/>
          </a:xfrm>
          <a:prstGeom prst="rect">
            <a:avLst/>
          </a:prstGeom>
          <a:noFill/>
        </p:spPr>
        <p:txBody>
          <a:bodyPr wrap="square">
            <a:spAutoFit/>
          </a:bodyPr>
          <a:lstStyle/>
          <a:p>
            <a:pPr>
              <a:spcBef>
                <a:spcPts val="300"/>
              </a:spcBef>
            </a:pPr>
            <a:r>
              <a:rPr b="1" sz="1050">
                <a:solidFill>
                  <a:srgbClr val="1E3A5F"/>
                </a:solidFill>
              </a:rPr>
              <a:t>🔒 1. Locked (Khóa an toàn — Default): </a:t>
            </a:r>
            <a:r>
              <a:rPr sz="1050">
                <a:solidFill>
                  <a:srgbClr val="0F172A"/>
                </a:solidFill>
              </a:rPr>
              <a:t>Chốt khóa cơ điện đang đóng chặt, đèn LED hiển thị màu đỏ; hệ thống ở trạng thái chờ thẻ nhân viên quẹt.</a:t>
            </a:r>
          </a:p>
          <a:p>
            <a:pPr>
              <a:spcBef>
                <a:spcPts val="300"/>
              </a:spcBef>
            </a:pPr>
            <a:r>
              <a:rPr b="1" sz="1050">
                <a:solidFill>
                  <a:srgbClr val="1E3A5F"/>
                </a:solidFill>
              </a:rPr>
              <a:t>🔒 2. Authenticating (Đang xác thực quyền): </a:t>
            </a:r>
            <a:r>
              <a:rPr sz="1050">
                <a:solidFill>
                  <a:srgbClr val="0F172A"/>
                </a:solidFill>
              </a:rPr>
              <a:t>Thẻ nhân viên vừa được quét; đầu đọc gửi mã RFID qua Mentcare để kiểm tra danh tính, quyền hạn và ca trực.</a:t>
            </a:r>
          </a:p>
          <a:p>
            <a:pPr>
              <a:spcBef>
                <a:spcPts val="300"/>
              </a:spcBef>
            </a:pPr>
            <a:r>
              <a:rPr b="1" sz="1050">
                <a:solidFill>
                  <a:srgbClr val="1E3A5F"/>
                </a:solidFill>
              </a:rPr>
              <a:t>🔒 3. Unlocked (Đã mở khóa an toàn): </a:t>
            </a:r>
            <a:r>
              <a:rPr sz="1050">
                <a:solidFill>
                  <a:srgbClr val="0F172A"/>
                </a:solidFill>
              </a:rPr>
              <a:t>Xác thực thành công, chốt điện từ thụt lại, đèn LED chuyển xanh; cho phép nhân viên đẩy cửa bước vào kho thuốc.</a:t>
            </a:r>
          </a:p>
          <a:p>
            <a:pPr>
              <a:spcBef>
                <a:spcPts val="300"/>
              </a:spcBef>
            </a:pPr>
            <a:r>
              <a:rPr b="1" sz="1050">
                <a:solidFill>
                  <a:srgbClr val="1E3A5F"/>
                </a:solidFill>
              </a:rPr>
              <a:t>🔒 4. Alarm / Disabled (Báo động / Khóa khẩn cấp): </a:t>
            </a:r>
            <a:r>
              <a:rPr sz="1050">
                <a:solidFill>
                  <a:srgbClr val="0F172A"/>
                </a:solidFill>
              </a:rPr>
              <a:t>Phát hiện cố tình cạy cửa (Door Forced) hoặc cửa mở quá lâu (Door Ajar Timeout); còi báo động hú, gửi tín hiệu khẩn cấp về Phòng An ninh.</a:t>
            </a:r>
          </a:p>
        </p:txBody>
      </p:sp>
      <p:graphicFrame>
        <p:nvGraphicFramePr>
          <p:cNvPr id="8" name="Table 7"/>
          <p:cNvGraphicFramePr>
            <a:graphicFrameLocks noGrp="1"/>
          </p:cNvGraphicFramePr>
          <p:nvPr/>
        </p:nvGraphicFramePr>
        <p:xfrm>
          <a:off x="548640" y="2971800"/>
          <a:ext cx="11091672" cy="3474720"/>
        </p:xfrm>
        <a:graphic>
          <a:graphicData uri="http://schemas.openxmlformats.org/drawingml/2006/table">
            <a:tbl>
              <a:tblPr firstRow="1" bandRow="1">
                <a:tableStyleId>{5C22544A-7EE6-4342-B048-85BDC9FD1C3A}</a:tableStyleId>
              </a:tblPr>
              <a:tblGrid>
                <a:gridCol w="1828800"/>
                <a:gridCol w="4114800"/>
                <a:gridCol w="2011680"/>
                <a:gridCol w="3136392"/>
              </a:tblGrid>
              <a:tr h="386080">
                <a:tc>
                  <a:txBody>
                    <a:bodyPr wrap="square"/>
                    <a:lstStyle/>
                    <a:p>
                      <a:pPr algn="l"/>
                      <a:r>
                        <a:rPr b="1" sz="1050">
                          <a:solidFill>
                            <a:srgbClr val="FFFFFF"/>
                          </a:solidFill>
                        </a:rPr>
                        <a:t>Trạng thái bắt đầu (From)</a:t>
                      </a:r>
                    </a:p>
                  </a:txBody>
                  <a:tcPr>
                    <a:solidFill>
                      <a:srgbClr val="1E3A5F"/>
                    </a:solidFill>
                  </a:tcPr>
                </a:tc>
                <a:tc>
                  <a:txBody>
                    <a:bodyPr wrap="square"/>
                    <a:lstStyle/>
                    <a:p>
                      <a:pPr algn="l"/>
                      <a:r>
                        <a:rPr b="1" sz="1050">
                          <a:solidFill>
                            <a:srgbClr val="FFFFFF"/>
                          </a:solidFill>
                        </a:rPr>
                        <a:t>Sự kiện kích hoạt (Event / Stimulus) &amp; Điều kiện (Guard)</a:t>
                      </a:r>
                    </a:p>
                  </a:txBody>
                  <a:tcPr>
                    <a:solidFill>
                      <a:srgbClr val="1E3A5F"/>
                    </a:solidFill>
                  </a:tcPr>
                </a:tc>
                <a:tc>
                  <a:txBody>
                    <a:bodyPr wrap="square"/>
                    <a:lstStyle/>
                    <a:p>
                      <a:pPr algn="l"/>
                      <a:r>
                        <a:rPr b="1" sz="1050">
                          <a:solidFill>
                            <a:srgbClr val="FFFFFF"/>
                          </a:solidFill>
                        </a:rPr>
                        <a:t>Trạng thái đích (To)</a:t>
                      </a:r>
                    </a:p>
                  </a:txBody>
                  <a:tcPr>
                    <a:solidFill>
                      <a:srgbClr val="1E3A5F"/>
                    </a:solidFill>
                  </a:tcPr>
                </a:tc>
                <a:tc>
                  <a:txBody>
                    <a:bodyPr wrap="square"/>
                    <a:lstStyle/>
                    <a:p>
                      <a:pPr algn="l"/>
                      <a:r>
                        <a:rPr b="1" sz="1050">
                          <a:solidFill>
                            <a:srgbClr val="FFFFFF"/>
                          </a:solidFill>
                        </a:rPr>
                        <a:t>Hành động thực hiện (Action)</a:t>
                      </a:r>
                    </a:p>
                  </a:txBody>
                  <a:tcPr>
                    <a:solidFill>
                      <a:srgbClr val="1E3A5F"/>
                    </a:solidFill>
                  </a:tcPr>
                </a:tc>
              </a:tr>
              <a:tr h="386080">
                <a:tc>
                  <a:txBody>
                    <a:bodyPr wrap="square"/>
                    <a:lstStyle/>
                    <a:p>
                      <a:pPr algn="l"/>
                      <a:r>
                        <a:rPr sz="950">
                          <a:solidFill>
                            <a:srgbClr val="0F172A"/>
                          </a:solidFill>
                        </a:rPr>
                        <a:t>Locked</a:t>
                      </a:r>
                    </a:p>
                  </a:txBody>
                  <a:tcPr>
                    <a:solidFill>
                      <a:srgbClr val="F8FAFC"/>
                    </a:solidFill>
                  </a:tcPr>
                </a:tc>
                <a:tc>
                  <a:txBody>
                    <a:bodyPr wrap="square"/>
                    <a:lstStyle/>
                    <a:p>
                      <a:pPr algn="l"/>
                      <a:r>
                        <a:rPr sz="950">
                          <a:solidFill>
                            <a:srgbClr val="0F172A"/>
                          </a:solidFill>
                        </a:rPr>
                        <a:t>Badge Scanned (Nhân viên quẹt thẻ vào đầu đọc RFID)</a:t>
                      </a:r>
                    </a:p>
                  </a:txBody>
                  <a:tcPr>
                    <a:solidFill>
                      <a:srgbClr val="F8FAFC"/>
                    </a:solidFill>
                  </a:tcPr>
                </a:tc>
                <a:tc>
                  <a:txBody>
                    <a:bodyPr wrap="square"/>
                    <a:lstStyle/>
                    <a:p>
                      <a:pPr algn="l"/>
                      <a:r>
                        <a:rPr sz="950">
                          <a:solidFill>
                            <a:srgbClr val="0F172A"/>
                          </a:solidFill>
                        </a:rPr>
                        <a:t>Authenticating</a:t>
                      </a:r>
                    </a:p>
                  </a:txBody>
                  <a:tcPr>
                    <a:solidFill>
                      <a:srgbClr val="F8FAFC"/>
                    </a:solidFill>
                  </a:tcPr>
                </a:tc>
                <a:tc>
                  <a:txBody>
                    <a:bodyPr wrap="square"/>
                    <a:lstStyle/>
                    <a:p>
                      <a:pPr algn="l"/>
                      <a:r>
                        <a:rPr sz="950">
                          <a:solidFill>
                            <a:srgbClr val="0F172A"/>
                          </a:solidFill>
                        </a:rPr>
                        <a:t>Đọc mã RFID thẻ, bật đèn LED vàng nhấp nháy.</a:t>
                      </a:r>
                    </a:p>
                  </a:txBody>
                  <a:tcPr>
                    <a:solidFill>
                      <a:srgbClr val="F8FAFC"/>
                    </a:solidFill>
                  </a:tcPr>
                </a:tc>
              </a:tr>
              <a:tr h="386080">
                <a:tc>
                  <a:txBody>
                    <a:bodyPr wrap="square"/>
                    <a:lstStyle/>
                    <a:p>
                      <a:pPr algn="l"/>
                      <a:r>
                        <a:rPr sz="950">
                          <a:solidFill>
                            <a:srgbClr val="0F172A"/>
                          </a:solidFill>
                        </a:rPr>
                        <a:t>Authenticating</a:t>
                      </a:r>
                    </a:p>
                  </a:txBody>
                  <a:tcPr>
                    <a:solidFill>
                      <a:srgbClr val="F1F5F9"/>
                    </a:solidFill>
                  </a:tcPr>
                </a:tc>
                <a:tc>
                  <a:txBody>
                    <a:bodyPr wrap="square"/>
                    <a:lstStyle/>
                    <a:p>
                      <a:pPr algn="l"/>
                      <a:r>
                        <a:rPr sz="950">
                          <a:solidFill>
                            <a:srgbClr val="0F172A"/>
                          </a:solidFill>
                        </a:rPr>
                        <a:t>Auth Success [Role ∈ {Pharmacist, HeadDoctor} &amp; OnDuty]</a:t>
                      </a:r>
                    </a:p>
                  </a:txBody>
                  <a:tcPr>
                    <a:solidFill>
                      <a:srgbClr val="F1F5F9"/>
                    </a:solidFill>
                  </a:tcPr>
                </a:tc>
                <a:tc>
                  <a:txBody>
                    <a:bodyPr wrap="square"/>
                    <a:lstStyle/>
                    <a:p>
                      <a:pPr algn="l"/>
                      <a:r>
                        <a:rPr sz="950">
                          <a:solidFill>
                            <a:srgbClr val="0F172A"/>
                          </a:solidFill>
                        </a:rPr>
                        <a:t>Unlocked</a:t>
                      </a:r>
                    </a:p>
                  </a:txBody>
                  <a:tcPr>
                    <a:solidFill>
                      <a:srgbClr val="F1F5F9"/>
                    </a:solidFill>
                  </a:tcPr>
                </a:tc>
                <a:tc>
                  <a:txBody>
                    <a:bodyPr wrap="square"/>
                    <a:lstStyle/>
                    <a:p>
                      <a:pPr algn="l"/>
                      <a:r>
                        <a:rPr sz="950">
                          <a:solidFill>
                            <a:srgbClr val="0F172A"/>
                          </a:solidFill>
                        </a:rPr>
                        <a:t>Kích hoạt nam châm điện nhả chốt, bật LED xanh, kích hoạt bộ đếm thời gian 10s.</a:t>
                      </a:r>
                    </a:p>
                  </a:txBody>
                  <a:tcPr>
                    <a:solidFill>
                      <a:srgbClr val="F1F5F9"/>
                    </a:solidFill>
                  </a:tcPr>
                </a:tc>
              </a:tr>
              <a:tr h="386080">
                <a:tc>
                  <a:txBody>
                    <a:bodyPr wrap="square"/>
                    <a:lstStyle/>
                    <a:p>
                      <a:pPr algn="l"/>
                      <a:r>
                        <a:rPr sz="950">
                          <a:solidFill>
                            <a:srgbClr val="0F172A"/>
                          </a:solidFill>
                        </a:rPr>
                        <a:t>Authenticating</a:t>
                      </a:r>
                    </a:p>
                  </a:txBody>
                  <a:tcPr>
                    <a:solidFill>
                      <a:srgbClr val="F8FAFC"/>
                    </a:solidFill>
                  </a:tcPr>
                </a:tc>
                <a:tc>
                  <a:txBody>
                    <a:bodyPr wrap="square"/>
                    <a:lstStyle/>
                    <a:p>
                      <a:pPr algn="l"/>
                      <a:r>
                        <a:rPr sz="950">
                          <a:solidFill>
                            <a:srgbClr val="0F172A"/>
                          </a:solidFill>
                        </a:rPr>
                        <a:t>Auth Failure [Sai thẻ / Không có quyền / Không trong ca]</a:t>
                      </a:r>
                    </a:p>
                  </a:txBody>
                  <a:tcPr>
                    <a:solidFill>
                      <a:srgbClr val="F8FAFC"/>
                    </a:solidFill>
                  </a:tcPr>
                </a:tc>
                <a:tc>
                  <a:txBody>
                    <a:bodyPr wrap="square"/>
                    <a:lstStyle/>
                    <a:p>
                      <a:pPr algn="l"/>
                      <a:r>
                        <a:rPr sz="950">
                          <a:solidFill>
                            <a:srgbClr val="0F172A"/>
                          </a:solidFill>
                        </a:rPr>
                        <a:t>Locked</a:t>
                      </a:r>
                    </a:p>
                  </a:txBody>
                  <a:tcPr>
                    <a:solidFill>
                      <a:srgbClr val="F8FAFC"/>
                    </a:solidFill>
                  </a:tcPr>
                </a:tc>
                <a:tc>
                  <a:txBody>
                    <a:bodyPr wrap="square"/>
                    <a:lstStyle/>
                    <a:p>
                      <a:pPr algn="l"/>
                      <a:r>
                        <a:rPr sz="950">
                          <a:solidFill>
                            <a:srgbClr val="0F172A"/>
                          </a:solidFill>
                        </a:rPr>
                        <a:t>Phát 3 tiếng bip cảnh báo, ghi log bảo mật thất bại, giữ nguyên chốt khóa.</a:t>
                      </a:r>
                    </a:p>
                  </a:txBody>
                  <a:tcPr>
                    <a:solidFill>
                      <a:srgbClr val="F8FAFC"/>
                    </a:solidFill>
                  </a:tcPr>
                </a:tc>
              </a:tr>
              <a:tr h="386080">
                <a:tc>
                  <a:txBody>
                    <a:bodyPr wrap="square"/>
                    <a:lstStyle/>
                    <a:p>
                      <a:pPr algn="l"/>
                      <a:r>
                        <a:rPr sz="950">
                          <a:solidFill>
                            <a:srgbClr val="0F172A"/>
                          </a:solidFill>
                        </a:rPr>
                        <a:t>Authenticating</a:t>
                      </a:r>
                    </a:p>
                  </a:txBody>
                  <a:tcPr>
                    <a:solidFill>
                      <a:srgbClr val="F1F5F9"/>
                    </a:solidFill>
                  </a:tcPr>
                </a:tc>
                <a:tc>
                  <a:txBody>
                    <a:bodyPr wrap="square"/>
                    <a:lstStyle/>
                    <a:p>
                      <a:pPr algn="l"/>
                      <a:r>
                        <a:rPr sz="950">
                          <a:solidFill>
                            <a:srgbClr val="0F172A"/>
                          </a:solidFill>
                        </a:rPr>
                        <a:t>Timeout [Mạng nội bộ chậm &gt; 3s]</a:t>
                      </a:r>
                    </a:p>
                  </a:txBody>
                  <a:tcPr>
                    <a:solidFill>
                      <a:srgbClr val="F1F5F9"/>
                    </a:solidFill>
                  </a:tcPr>
                </a:tc>
                <a:tc>
                  <a:txBody>
                    <a:bodyPr wrap="square"/>
                    <a:lstStyle/>
                    <a:p>
                      <a:pPr algn="l"/>
                      <a:r>
                        <a:rPr sz="950">
                          <a:solidFill>
                            <a:srgbClr val="0F172A"/>
                          </a:solidFill>
                        </a:rPr>
                        <a:t>Locked</a:t>
                      </a:r>
                    </a:p>
                  </a:txBody>
                  <a:tcPr>
                    <a:solidFill>
                      <a:srgbClr val="F1F5F9"/>
                    </a:solidFill>
                  </a:tcPr>
                </a:tc>
                <a:tc>
                  <a:txBody>
                    <a:bodyPr wrap="square"/>
                    <a:lstStyle/>
                    <a:p>
                      <a:pPr algn="l"/>
                      <a:r>
                        <a:rPr sz="950">
                          <a:solidFill>
                            <a:srgbClr val="0F172A"/>
                          </a:solidFill>
                        </a:rPr>
                        <a:t>Ghi log timeout, chuyển về trạng thái Locked để đảm bảo an toàn.</a:t>
                      </a:r>
                    </a:p>
                  </a:txBody>
                  <a:tcPr>
                    <a:solidFill>
                      <a:srgbClr val="F1F5F9"/>
                    </a:solidFill>
                  </a:tcPr>
                </a:tc>
              </a:tr>
              <a:tr h="386080">
                <a:tc>
                  <a:txBody>
                    <a:bodyPr wrap="square"/>
                    <a:lstStyle/>
                    <a:p>
                      <a:pPr algn="l"/>
                      <a:r>
                        <a:rPr sz="950">
                          <a:solidFill>
                            <a:srgbClr val="0F172A"/>
                          </a:solidFill>
                        </a:rPr>
                        <a:t>Unlocked</a:t>
                      </a:r>
                    </a:p>
                  </a:txBody>
                  <a:tcPr>
                    <a:solidFill>
                      <a:srgbClr val="F8FAFC"/>
                    </a:solidFill>
                  </a:tcPr>
                </a:tc>
                <a:tc>
                  <a:txBody>
                    <a:bodyPr wrap="square"/>
                    <a:lstStyle/>
                    <a:p>
                      <a:pPr algn="l"/>
                      <a:r>
                        <a:rPr sz="950">
                          <a:solidFill>
                            <a:srgbClr val="0F172A"/>
                          </a:solidFill>
                        </a:rPr>
                        <a:t>Door Closed &amp; Latched [Cảm biến từ nhận diện đóng cửa]</a:t>
                      </a:r>
                    </a:p>
                  </a:txBody>
                  <a:tcPr>
                    <a:solidFill>
                      <a:srgbClr val="F8FAFC"/>
                    </a:solidFill>
                  </a:tcPr>
                </a:tc>
                <a:tc>
                  <a:txBody>
                    <a:bodyPr wrap="square"/>
                    <a:lstStyle/>
                    <a:p>
                      <a:pPr algn="l"/>
                      <a:r>
                        <a:rPr sz="950">
                          <a:solidFill>
                            <a:srgbClr val="0F172A"/>
                          </a:solidFill>
                        </a:rPr>
                        <a:t>Locked</a:t>
                      </a:r>
                    </a:p>
                  </a:txBody>
                  <a:tcPr>
                    <a:solidFill>
                      <a:srgbClr val="F8FAFC"/>
                    </a:solidFill>
                  </a:tcPr>
                </a:tc>
                <a:tc>
                  <a:txBody>
                    <a:bodyPr wrap="square"/>
                    <a:lstStyle/>
                    <a:p>
                      <a:pPr algn="l"/>
                      <a:r>
                        <a:rPr sz="950">
                          <a:solidFill>
                            <a:srgbClr val="0F172A"/>
                          </a:solidFill>
                        </a:rPr>
                        <a:t>Đóng chốt điện từ, đổi LED đỏ, tắt timer.</a:t>
                      </a:r>
                    </a:p>
                  </a:txBody>
                  <a:tcPr>
                    <a:solidFill>
                      <a:srgbClr val="F8FAFC"/>
                    </a:solidFill>
                  </a:tcPr>
                </a:tc>
              </a:tr>
              <a:tr h="386080">
                <a:tc>
                  <a:txBody>
                    <a:bodyPr wrap="square"/>
                    <a:lstStyle/>
                    <a:p>
                      <a:pPr algn="l"/>
                      <a:r>
                        <a:rPr sz="950">
                          <a:solidFill>
                            <a:srgbClr val="0F172A"/>
                          </a:solidFill>
                        </a:rPr>
                        <a:t>Unlocked</a:t>
                      </a:r>
                    </a:p>
                  </a:txBody>
                  <a:tcPr>
                    <a:solidFill>
                      <a:srgbClr val="F1F5F9"/>
                    </a:solidFill>
                  </a:tcPr>
                </a:tc>
                <a:tc>
                  <a:txBody>
                    <a:bodyPr wrap="square"/>
                    <a:lstStyle/>
                    <a:p>
                      <a:pPr algn="l"/>
                      <a:r>
                        <a:rPr sz="950">
                          <a:solidFill>
                            <a:srgbClr val="0F172A"/>
                          </a:solidFill>
                        </a:rPr>
                        <a:t>Timeout [Cửa bị giữ mở &gt; 30s]</a:t>
                      </a:r>
                    </a:p>
                  </a:txBody>
                  <a:tcPr>
                    <a:solidFill>
                      <a:srgbClr val="F1F5F9"/>
                    </a:solidFill>
                  </a:tcPr>
                </a:tc>
                <a:tc>
                  <a:txBody>
                    <a:bodyPr wrap="square"/>
                    <a:lstStyle/>
                    <a:p>
                      <a:pPr algn="l"/>
                      <a:r>
                        <a:rPr sz="950">
                          <a:solidFill>
                            <a:srgbClr val="0F172A"/>
                          </a:solidFill>
                        </a:rPr>
                        <a:t>Alarm / Disabled</a:t>
                      </a:r>
                    </a:p>
                  </a:txBody>
                  <a:tcPr>
                    <a:solidFill>
                      <a:srgbClr val="F1F5F9"/>
                    </a:solidFill>
                  </a:tcPr>
                </a:tc>
                <a:tc>
                  <a:txBody>
                    <a:bodyPr wrap="square"/>
                    <a:lstStyle/>
                    <a:p>
                      <a:pPr algn="l"/>
                      <a:r>
                        <a:rPr sz="950">
                          <a:solidFill>
                            <a:srgbClr val="0F172A"/>
                          </a:solidFill>
                        </a:rPr>
                        <a:t>Hú còi báo động tại chỗ, gửi cảnh báo vi phạm về trung tâm bảo vệ.</a:t>
                      </a:r>
                    </a:p>
                  </a:txBody>
                  <a:tcPr>
                    <a:solidFill>
                      <a:srgbClr val="F1F5F9"/>
                    </a:solidFill>
                  </a:tcPr>
                </a:tc>
              </a:tr>
              <a:tr h="386080">
                <a:tc>
                  <a:txBody>
                    <a:bodyPr wrap="square"/>
                    <a:lstStyle/>
                    <a:p>
                      <a:pPr algn="l"/>
                      <a:r>
                        <a:rPr sz="950">
                          <a:solidFill>
                            <a:srgbClr val="0F172A"/>
                          </a:solidFill>
                        </a:rPr>
                        <a:t>Locked</a:t>
                      </a:r>
                    </a:p>
                  </a:txBody>
                  <a:tcPr>
                    <a:solidFill>
                      <a:srgbClr val="F8FAFC"/>
                    </a:solidFill>
                  </a:tcPr>
                </a:tc>
                <a:tc>
                  <a:txBody>
                    <a:bodyPr wrap="square"/>
                    <a:lstStyle/>
                    <a:p>
                      <a:pPr algn="l"/>
                      <a:r>
                        <a:rPr sz="950">
                          <a:solidFill>
                            <a:srgbClr val="0F172A"/>
                          </a:solidFill>
                        </a:rPr>
                        <a:t>Door Forced [Cảm biến phát hiện cửa bị cạy phá trái phép]</a:t>
                      </a:r>
                    </a:p>
                  </a:txBody>
                  <a:tcPr>
                    <a:solidFill>
                      <a:srgbClr val="F8FAFC"/>
                    </a:solidFill>
                  </a:tcPr>
                </a:tc>
                <a:tc>
                  <a:txBody>
                    <a:bodyPr wrap="square"/>
                    <a:lstStyle/>
                    <a:p>
                      <a:pPr algn="l"/>
                      <a:r>
                        <a:rPr sz="950">
                          <a:solidFill>
                            <a:srgbClr val="0F172A"/>
                          </a:solidFill>
                        </a:rPr>
                        <a:t>Alarm / Disabled</a:t>
                      </a:r>
                    </a:p>
                  </a:txBody>
                  <a:tcPr>
                    <a:solidFill>
                      <a:srgbClr val="F8FAFC"/>
                    </a:solidFill>
                  </a:tcPr>
                </a:tc>
                <a:tc>
                  <a:txBody>
                    <a:bodyPr wrap="square"/>
                    <a:lstStyle/>
                    <a:p>
                      <a:pPr algn="l"/>
                      <a:r>
                        <a:rPr sz="950">
                          <a:solidFill>
                            <a:srgbClr val="0F172A"/>
                          </a:solidFill>
                        </a:rPr>
                        <a:t>Bật còi hú công suất lớn, kích hoạt chốt khóa vật lý khẩn cấp, gọi Cảnh sát viện.</a:t>
                      </a:r>
                    </a:p>
                  </a:txBody>
                  <a:tcPr>
                    <a:solidFill>
                      <a:srgbClr val="F8FAFC"/>
                    </a:solidFill>
                  </a:tcPr>
                </a:tc>
              </a:tr>
              <a:tr h="386080">
                <a:tc>
                  <a:txBody>
                    <a:bodyPr wrap="square"/>
                    <a:lstStyle/>
                    <a:p>
                      <a:pPr algn="l"/>
                      <a:r>
                        <a:rPr sz="950">
                          <a:solidFill>
                            <a:srgbClr val="0F172A"/>
                          </a:solidFill>
                        </a:rPr>
                        <a:t>Alarm / Disabled</a:t>
                      </a:r>
                    </a:p>
                  </a:txBody>
                  <a:tcPr>
                    <a:solidFill>
                      <a:srgbClr val="F1F5F9"/>
                    </a:solidFill>
                  </a:tcPr>
                </a:tc>
                <a:tc>
                  <a:txBody>
                    <a:bodyPr wrap="square"/>
                    <a:lstStyle/>
                    <a:p>
                      <a:pPr algn="l"/>
                      <a:r>
                        <a:rPr sz="950">
                          <a:solidFill>
                            <a:srgbClr val="0F172A"/>
                          </a:solidFill>
                        </a:rPr>
                        <a:t>Security Reset [Quản lý dùng Master Key + Nhập PIN an ninh]</a:t>
                      </a:r>
                    </a:p>
                  </a:txBody>
                  <a:tcPr>
                    <a:solidFill>
                      <a:srgbClr val="F1F5F9"/>
                    </a:solidFill>
                  </a:tcPr>
                </a:tc>
                <a:tc>
                  <a:txBody>
                    <a:bodyPr wrap="square"/>
                    <a:lstStyle/>
                    <a:p>
                      <a:pPr algn="l"/>
                      <a:r>
                        <a:rPr sz="950">
                          <a:solidFill>
                            <a:srgbClr val="0F172A"/>
                          </a:solidFill>
                        </a:rPr>
                        <a:t>Locked</a:t>
                      </a:r>
                    </a:p>
                  </a:txBody>
                  <a:tcPr>
                    <a:solidFill>
                      <a:srgbClr val="F1F5F9"/>
                    </a:solidFill>
                  </a:tcPr>
                </a:tc>
                <a:tc>
                  <a:txBody>
                    <a:bodyPr wrap="square"/>
                    <a:lstStyle/>
                    <a:p>
                      <a:pPr algn="l"/>
                      <a:r>
                        <a:rPr sz="950">
                          <a:solidFill>
                            <a:srgbClr val="0F172A"/>
                          </a:solidFill>
                        </a:rPr>
                        <a:t>Tắt còi báo động, lưu báo cáo sự cố an ninh, đưa khóa về hoạt động bình thường.</a:t>
                      </a:r>
                    </a:p>
                  </a:txBody>
                  <a:tcPr>
                    <a:solidFill>
                      <a:srgbClr val="F1F5F9"/>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091672" cy="868680"/>
          </a:xfrm>
          <a:prstGeom prst="rect">
            <a:avLst/>
          </a:prstGeom>
          <a:noFill/>
        </p:spPr>
        <p:txBody>
          <a:bodyPr wrap="square">
            <a:spAutoFit/>
          </a:bodyPr>
          <a:lstStyle/>
          <a:p>
            <a:r>
              <a:rPr sz="1000" b="1">
                <a:solidFill>
                  <a:srgbClr val="38BDF8"/>
                </a:solidFill>
              </a:rPr>
              <a:t>FORWARD-THINKING DEVELOPER ROLE</a:t>
            </a:r>
          </a:p>
          <a:p>
            <a:r>
              <a:rPr sz="2200" b="1">
                <a:solidFill>
                  <a:srgbClr val="FFFFFF"/>
                </a:solidFill>
              </a:rPr>
              <a:t>Phase 5: GenAI Workflow Integration</a:t>
            </a:r>
          </a:p>
        </p:txBody>
      </p:sp>
      <p:sp>
        <p:nvSpPr>
          <p:cNvPr id="5" name="Rounded Rectangle 4"/>
          <p:cNvSpPr/>
          <p:nvPr/>
        </p:nvSpPr>
        <p:spPr>
          <a:xfrm>
            <a:off x="548640" y="1234440"/>
            <a:ext cx="5760720" cy="51663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71600"/>
            <a:ext cx="5394960" cy="320040"/>
          </a:xfrm>
          <a:prstGeom prst="rect">
            <a:avLst/>
          </a:prstGeom>
          <a:noFill/>
        </p:spPr>
        <p:txBody>
          <a:bodyPr wrap="square">
            <a:spAutoFit/>
          </a:bodyPr>
          <a:lstStyle/>
          <a:p>
            <a:r>
              <a:rPr sz="1400" b="1">
                <a:solidFill>
                  <a:srgbClr val="1E3A5F"/>
                </a:solidFill>
              </a:rPr>
              <a:t>1. KỸ THUẬT THIẾT KẾ PROMPT CHUYỂN UML THÀNH MÃ NGUỒN</a:t>
            </a:r>
          </a:p>
        </p:txBody>
      </p:sp>
      <p:sp>
        <p:nvSpPr>
          <p:cNvPr id="7" name="TextBox 6"/>
          <p:cNvSpPr txBox="1"/>
          <p:nvPr/>
        </p:nvSpPr>
        <p:spPr>
          <a:xfrm>
            <a:off x="731520" y="1691640"/>
            <a:ext cx="5394960" cy="4572000"/>
          </a:xfrm>
          <a:prstGeom prst="rect">
            <a:avLst/>
          </a:prstGeom>
          <a:noFill/>
        </p:spPr>
        <p:txBody>
          <a:bodyPr wrap="square">
            <a:spAutoFit/>
          </a:bodyPr>
          <a:lstStyle/>
          <a:p>
            <a:r>
              <a:rPr sz="950">
                <a:solidFill>
                  <a:srgbClr val="0F172A"/>
                </a:solidFill>
              </a:rPr>
              <a:t>PROMPT MẪU CHUẨN KỸ THUẬT CHO LLM:
"Act as a Senior Python/Java Software Architect. Based on the following UML Class Diagram specification for the Mentcare Medical Staff system:
1. Superclass: Doctor (ABC)
   - Attributes: doctor_id: str, full_name: str, license_number: str, email: str, phone: str
   - Abstract/Common Methods: schedule_appointment(patient_id: str, slot: datetime) -&gt; bool, get_profile() -&gt; dict
2. Subclass: HospitalDoctor (inherits Doctor)
   - Unique Attributes: department_id: str, on_call_shift: str, pager_number: str
   - Specific Methods: admit_patient(patient_id: str, ward_id: str) -&gt; None
3. Subclass: GeneralPractitioner (inherits Doctor)
   - Unique Attributes: clinic_address: str, practice_reg_num: str, referral_network_id: str
   - Specific Methods: issue_referral(patient_id: str, specialist_id: str) -&gt; dict
Task: Generate a production-ready Python 3.12 implementation using dataclasses, complete Type Hints, full Google-style docstrings, strict input validation in __post_init__, and unit tests with pytest demonstrating polymorphic usage."</a:t>
            </a:r>
          </a:p>
        </p:txBody>
      </p:sp>
      <p:sp>
        <p:nvSpPr>
          <p:cNvPr id="8" name="Rounded Rectangle 7"/>
          <p:cNvSpPr/>
          <p:nvPr/>
        </p:nvSpPr>
        <p:spPr>
          <a:xfrm>
            <a:off x="6492240" y="1234440"/>
            <a:ext cx="5148072" cy="5166360"/>
          </a:xfrm>
          <a:prstGeom prst="roundRect">
            <a:avLst/>
          </a:prstGeom>
          <a:solidFill>
            <a:srgbClr val="F8FAFC"/>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1371600"/>
            <a:ext cx="4782312" cy="320040"/>
          </a:xfrm>
          <a:prstGeom prst="rect">
            <a:avLst/>
          </a:prstGeom>
          <a:noFill/>
        </p:spPr>
        <p:txBody>
          <a:bodyPr wrap="square">
            <a:spAutoFit/>
          </a:bodyPr>
          <a:lstStyle/>
          <a:p>
            <a:r>
              <a:rPr sz="1400" b="1">
                <a:solidFill>
                  <a:srgbClr val="059669"/>
                </a:solidFill>
              </a:rPr>
              <a:t>2. TẠI SAO CẤU TRÚC UML AN TOÀN &amp; CHÍNH XÁC HƠN VĂN BẢN?</a:t>
            </a:r>
          </a:p>
        </p:txBody>
      </p:sp>
      <p:sp>
        <p:nvSpPr>
          <p:cNvPr id="10" name="TextBox 9"/>
          <p:cNvSpPr txBox="1"/>
          <p:nvPr/>
        </p:nvSpPr>
        <p:spPr>
          <a:xfrm>
            <a:off x="6675120" y="1737360"/>
            <a:ext cx="4782312" cy="4480560"/>
          </a:xfrm>
          <a:prstGeom prst="rect">
            <a:avLst/>
          </a:prstGeom>
          <a:noFill/>
        </p:spPr>
        <p:txBody>
          <a:bodyPr wrap="square">
            <a:spAutoFit/>
          </a:bodyPr>
          <a:lstStyle/>
          <a:p>
            <a:pPr>
              <a:spcBef>
                <a:spcPts val="300"/>
              </a:spcBef>
            </a:pPr>
            <a:r>
              <a:rPr b="1" sz="1000">
                <a:solidFill>
                  <a:srgbClr val="1E3A5F"/>
                </a:solidFill>
              </a:rPr>
              <a:t>🛡️ 1. Triệt tiêu tính mơ hồ (Elimination of Ambiguity): </a:t>
            </a:r>
            <a:r>
              <a:rPr sz="1000">
                <a:solidFill>
                  <a:srgbClr val="0F172A"/>
                </a:solidFill>
              </a:rPr>
              <a:t>Văn bản tự nhiên tiếng Anh/tiếng Việt chứa đầy từ đa nghĩa và cấu trúc câu lỏng lẻo. UML cung cấp cú pháp hình thức toán học rõ ràng (tên lớp, kiểu dữ liệu, quan hệ `is-a`, tầm vực `+`/`-`), giúp LLM hiểu chính xác 100% mà không phải phỏng đoán.</a:t>
            </a:r>
          </a:p>
          <a:p>
            <a:pPr>
              <a:spcBef>
                <a:spcPts val="300"/>
              </a:spcBef>
            </a:pPr>
            <a:r>
              <a:rPr b="1" sz="1000">
                <a:solidFill>
                  <a:srgbClr val="1E3A5F"/>
                </a:solidFill>
              </a:rPr>
              <a:t>🛡️ 2. Ngăn chặn hiện tượng 'Ảo giác' (Hallucination Control): </a:t>
            </a:r>
            <a:r>
              <a:rPr sz="1000">
                <a:solidFill>
                  <a:srgbClr val="0F172A"/>
                </a:solidFill>
              </a:rPr>
              <a:t>Khi cung cấp cấu trúc thực thể tường minh, không gian tìm kiếm xác suất của LLM bị thu hẹp vào các lớp đã định nghĩa. AI sẽ không tự ý bịa ra các thuộc tính tùy tiện hay tạo thêm các hàm không mong muốn.</a:t>
            </a:r>
          </a:p>
          <a:p>
            <a:pPr>
              <a:spcBef>
                <a:spcPts val="300"/>
              </a:spcBef>
            </a:pPr>
            <a:r>
              <a:rPr b="1" sz="1000">
                <a:solidFill>
                  <a:srgbClr val="1E3A5F"/>
                </a:solidFill>
              </a:rPr>
              <a:t>🛡️ 3. Đảm bảo an toàn kiểu dữ liệu (Strict Type Safety): </a:t>
            </a:r>
            <a:r>
              <a:rPr sz="1000">
                <a:solidFill>
                  <a:srgbClr val="0F172A"/>
                </a:solidFill>
              </a:rPr>
              <a:t>UML chỉ rõ kiểu dữ liệu (`String`, `DateTime`, `Boolean`) và quan hệ bao hàm (Inheritance, Multiplicity), đảm bảo mã nguồn sinh ra có Type Hinting chuẩn, giảm thiểu tối đa lỗi Runtime Type Errors trong y tế.</a:t>
            </a:r>
          </a:p>
          <a:p>
            <a:pPr>
              <a:spcBef>
                <a:spcPts val="300"/>
              </a:spcBef>
            </a:pPr>
            <a:r>
              <a:rPr b="1" sz="1000">
                <a:solidFill>
                  <a:srgbClr val="1E3A5F"/>
                </a:solidFill>
              </a:rPr>
              <a:t>🛡️ 4. Nhất quán kiến trúc doanh nghiệp (Architectural Invariants): </a:t>
            </a:r>
            <a:r>
              <a:rPr sz="1000">
                <a:solidFill>
                  <a:srgbClr val="0F172A"/>
                </a:solidFill>
              </a:rPr>
              <a:t>UML đóng vai trò là bản hợp đồng thiết kế (Design Contract). Mã nguồn do AI sinh ra bắt buộc phải tuân thủ đúng kiến trúc do Kiến trúc sư trưởng vạch 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