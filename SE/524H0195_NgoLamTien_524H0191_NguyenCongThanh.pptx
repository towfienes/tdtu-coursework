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0" y="0"/>
            <a:ext cx="3047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20840"/>
            <a:ext cx="4572000" cy="1371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097280"/>
            <a:ext cx="4754880" cy="502920"/>
          </a:xfrm>
          <a:prstGeom prst="roundRect">
            <a:avLst/>
          </a:prstGeom>
          <a:solidFill>
            <a:srgbClr val="1E293B"/>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1143000"/>
            <a:ext cx="4572000" cy="365760"/>
          </a:xfrm>
          <a:prstGeom prst="rect">
            <a:avLst/>
          </a:prstGeom>
          <a:noFill/>
        </p:spPr>
        <p:txBody>
          <a:bodyPr wrap="none">
            <a:spAutoFit/>
          </a:bodyPr>
          <a:lstStyle/>
          <a:p>
            <a:r>
              <a:rPr b="1" sz="1100">
                <a:solidFill>
                  <a:srgbClr val="38BDF8"/>
                </a:solidFill>
              </a:rPr>
              <a:t>TON DUC THANG UNIVERSITY • SOFTWARE ENGINEERING</a:t>
            </a:r>
          </a:p>
        </p:txBody>
      </p:sp>
      <p:sp>
        <p:nvSpPr>
          <p:cNvPr id="7" name="TextBox 6"/>
          <p:cNvSpPr txBox="1"/>
          <p:nvPr/>
        </p:nvSpPr>
        <p:spPr>
          <a:xfrm>
            <a:off x="914400" y="1828800"/>
            <a:ext cx="10332720" cy="2011680"/>
          </a:xfrm>
          <a:prstGeom prst="rect">
            <a:avLst/>
          </a:prstGeom>
          <a:noFill/>
        </p:spPr>
        <p:txBody>
          <a:bodyPr wrap="square">
            <a:spAutoFit/>
          </a:bodyPr>
          <a:lstStyle/>
          <a:p>
            <a:r>
              <a:rPr b="1" sz="3600">
                <a:solidFill>
                  <a:srgbClr val="FFFFFF"/>
                </a:solidFill>
              </a:rPr>
              <a:t>Tutorial 1 — User Tasks &amp; Quality Attributes</a:t>
            </a:r>
          </a:p>
          <a:p>
            <a:pPr>
              <a:spcBef>
                <a:spcPts val="800"/>
              </a:spcBef>
            </a:pPr>
            <a:r>
              <a:rPr sz="1800">
                <a:solidFill>
                  <a:srgbClr val="94A3B8"/>
                </a:solidFill>
              </a:rPr>
              <a:t>Hotel Information System Requirements, Task &amp; Support Analysis &amp; Architectural Quality Attributes</a:t>
            </a:r>
          </a:p>
        </p:txBody>
      </p:sp>
      <p:sp>
        <p:nvSpPr>
          <p:cNvPr id="8" name="Rounded Rectangle 7"/>
          <p:cNvSpPr/>
          <p:nvPr/>
        </p:nvSpPr>
        <p:spPr>
          <a:xfrm>
            <a:off x="914400" y="4114800"/>
            <a:ext cx="10332720" cy="1920240"/>
          </a:xfrm>
          <a:prstGeom prst="roundRect">
            <a:avLst/>
          </a:prstGeom>
          <a:solidFill>
            <a:srgbClr val="13233D"/>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4251960"/>
            <a:ext cx="9784080" cy="1645920"/>
          </a:xfrm>
          <a:prstGeom prst="rect">
            <a:avLst/>
          </a:prstGeom>
          <a:noFill/>
        </p:spPr>
        <p:txBody>
          <a:bodyPr wrap="square">
            <a:spAutoFit/>
          </a:bodyPr>
          <a:lstStyle/>
          <a:p>
            <a:r>
              <a:rPr b="1" sz="1300">
                <a:solidFill>
                  <a:srgbClr val="06B6D4"/>
                </a:solidFill>
              </a:rPr>
              <a:t>NHÓM THỰC HIỆN BÀI TẬP (GROUP MEMBERS):</a:t>
            </a:r>
          </a:p>
          <a:p>
            <a:pPr>
              <a:spcBef>
                <a:spcPts val="800"/>
              </a:spcBef>
            </a:pPr>
            <a:r>
              <a:rPr b="1" sz="1800">
                <a:solidFill>
                  <a:srgbClr val="FFFFFF"/>
                </a:solidFill>
              </a:rPr>
              <a:t>1. 524H0195 — Ngô Lâm Tiên</a:t>
            </a:r>
          </a:p>
          <a:p>
            <a:pPr>
              <a:spcBef>
                <a:spcPts val="400"/>
              </a:spcBef>
            </a:pPr>
            <a:r>
              <a:rPr b="1" sz="1800">
                <a:solidFill>
                  <a:srgbClr val="FFFFFF"/>
                </a:solidFill>
              </a:rPr>
              <a:t>2. 524H0191 — Nguyễn Công Thành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EXECUTIVE SUMMARY</a:t>
            </a:r>
          </a:p>
          <a:p>
            <a:r>
              <a:rPr sz="2200" b="1">
                <a:solidFill>
                  <a:srgbClr val="FFFFFF"/>
                </a:solidFill>
              </a:rPr>
              <a:t>Tổng Quan Nội Dung Báo Cáo (Agenda)</a:t>
            </a:r>
          </a:p>
        </p:txBody>
      </p:sp>
      <p:sp>
        <p:nvSpPr>
          <p:cNvPr id="5" name="Rounded Rectangle 4"/>
          <p:cNvSpPr/>
          <p:nvPr/>
        </p:nvSpPr>
        <p:spPr>
          <a:xfrm>
            <a:off x="548640"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1A355E"/>
                </a:solidFill>
              </a:rPr>
              <a:t>PART 1: HOTEL INFORMATION SYSTEM (HIS)</a:t>
            </a:r>
          </a:p>
        </p:txBody>
      </p:sp>
      <p:sp>
        <p:nvSpPr>
          <p:cNvPr id="7" name="TextBox 6"/>
          <p:cNvSpPr txBox="1"/>
          <p:nvPr/>
        </p:nvSpPr>
        <p:spPr>
          <a:xfrm>
            <a:off x="731520" y="1828800"/>
            <a:ext cx="4983480" cy="4389120"/>
          </a:xfrm>
          <a:prstGeom prst="rect">
            <a:avLst/>
          </a:prstGeom>
          <a:noFill/>
        </p:spPr>
        <p:txBody>
          <a:bodyPr wrap="square">
            <a:spAutoFit/>
          </a:bodyPr>
          <a:lstStyle/>
          <a:p>
            <a:pPr>
              <a:spcBef>
                <a:spcPts val="300"/>
              </a:spcBef>
            </a:pPr>
            <a:r>
              <a:rPr b="1" sz="1200">
                <a:solidFill>
                  <a:srgbClr val="1A355E"/>
                </a:solidFill>
              </a:rPr>
              <a:t>🔹 Câu 1: </a:t>
            </a:r>
            <a:r>
              <a:rPr sz="1200">
                <a:solidFill>
                  <a:srgbClr val="0F172A"/>
                </a:solidFill>
              </a:rPr>
              <a:t>Mô tả tác vụ Check-Out theo phong cách Task &amp; Support (Soren Lauesen).</a:t>
            </a:r>
          </a:p>
          <a:p>
            <a:pPr>
              <a:spcBef>
                <a:spcPts val="300"/>
              </a:spcBef>
            </a:pPr>
            <a:r>
              <a:rPr b="1" sz="1200">
                <a:solidFill>
                  <a:srgbClr val="1A355E"/>
                </a:solidFill>
              </a:rPr>
              <a:t>🔹 Câu 2: </a:t>
            </a:r>
            <a:r>
              <a:rPr sz="1200">
                <a:solidFill>
                  <a:srgbClr val="0F172A"/>
                </a:solidFill>
              </a:rPr>
              <a:t>Xác định 6 tác vụ điển hình của HIS và vẽ luồng công việc (End-to-End Workflow).</a:t>
            </a:r>
          </a:p>
          <a:p>
            <a:pPr>
              <a:spcBef>
                <a:spcPts val="300"/>
              </a:spcBef>
            </a:pPr>
            <a:r>
              <a:rPr b="1" sz="1200">
                <a:solidFill>
                  <a:srgbClr val="1A355E"/>
                </a:solidFill>
              </a:rPr>
              <a:t>🔹 Câu 3: </a:t>
            </a:r>
            <a:r>
              <a:rPr sz="1200">
                <a:solidFill>
                  <a:srgbClr val="0F172A"/>
                </a:solidFill>
              </a:rPr>
              <a:t>Định nghĩa Yêu cầu ngầm định (Tacit Requirements) và phương pháp thẩm định (Validation).</a:t>
            </a:r>
          </a:p>
          <a:p>
            <a:pPr>
              <a:spcBef>
                <a:spcPts val="300"/>
              </a:spcBef>
            </a:pPr>
            <a:r>
              <a:rPr b="1" sz="1200">
                <a:solidFill>
                  <a:srgbClr val="1A355E"/>
                </a:solidFill>
              </a:rPr>
              <a:t>🔹 Câu 5: </a:t>
            </a:r>
            <a:r>
              <a:rPr sz="1200">
                <a:solidFill>
                  <a:srgbClr val="0F172A"/>
                </a:solidFill>
              </a:rPr>
              <a:t>Phân tích khiếm khuyết của Domain Model mẫu &amp; Mở rộng mô hình miền (Room Type, Overbooking).</a:t>
            </a:r>
          </a:p>
          <a:p>
            <a:pPr>
              <a:spcBef>
                <a:spcPts val="300"/>
              </a:spcBef>
            </a:pPr>
            <a:r>
              <a:rPr b="1" sz="1200">
                <a:solidFill>
                  <a:srgbClr val="1A355E"/>
                </a:solidFill>
              </a:rPr>
              <a:t>🔹 Câu 6: </a:t>
            </a:r>
            <a:r>
              <a:rPr sz="1200">
                <a:solidFill>
                  <a:srgbClr val="0F172A"/>
                </a:solidFill>
              </a:rPr>
              <a:t>Phân rã tác vụ Check-In: Khách đã đặt (Booked) vs Khách vãng lai (Walk-In).</a:t>
            </a:r>
          </a:p>
          <a:p>
            <a:pPr>
              <a:spcBef>
                <a:spcPts val="300"/>
              </a:spcBef>
            </a:pPr>
            <a:r>
              <a:rPr b="1" sz="1200">
                <a:solidFill>
                  <a:srgbClr val="1A355E"/>
                </a:solidFill>
              </a:rPr>
              <a:t>🔹 Câu 7: </a:t>
            </a:r>
            <a:r>
              <a:rPr sz="1200">
                <a:solidFill>
                  <a:srgbClr val="0F172A"/>
                </a:solidFill>
              </a:rPr>
              <a:t>Mở rộng tác vụ Check-In xử lý tình huống khẩn cấp vượt hạn mức phòng (Overbooking Crisis).</a:t>
            </a:r>
          </a:p>
        </p:txBody>
      </p:sp>
      <p:sp>
        <p:nvSpPr>
          <p:cNvPr id="8" name="Rounded Rectangle 7"/>
          <p:cNvSpPr/>
          <p:nvPr/>
        </p:nvSpPr>
        <p:spPr>
          <a:xfrm>
            <a:off x="6291072"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2563EB"/>
                </a:solidFill>
              </a:rPr>
              <a:t>PART 2: SOFTWARE QUALITY ATTRIBUTES</a:t>
            </a:r>
          </a:p>
        </p:txBody>
      </p:sp>
      <p:sp>
        <p:nvSpPr>
          <p:cNvPr id="10" name="TextBox 9"/>
          <p:cNvSpPr txBox="1"/>
          <p:nvPr/>
        </p:nvSpPr>
        <p:spPr>
          <a:xfrm>
            <a:off x="6473952" y="1828800"/>
            <a:ext cx="4983480" cy="4389120"/>
          </a:xfrm>
          <a:prstGeom prst="rect">
            <a:avLst/>
          </a:prstGeom>
          <a:noFill/>
        </p:spPr>
        <p:txBody>
          <a:bodyPr wrap="square">
            <a:spAutoFit/>
          </a:bodyPr>
          <a:lstStyle/>
          <a:p>
            <a:pPr>
              <a:spcBef>
                <a:spcPts val="300"/>
              </a:spcBef>
            </a:pPr>
            <a:r>
              <a:rPr b="1" sz="1200">
                <a:solidFill>
                  <a:srgbClr val="1A355E"/>
                </a:solidFill>
              </a:rPr>
              <a:t>🔸 Câu 1: </a:t>
            </a:r>
            <a:r>
              <a:rPr sz="1200">
                <a:solidFill>
                  <a:srgbClr val="0F172A"/>
                </a:solidFill>
              </a:rPr>
              <a:t>Hệ thống các thuộc tính chất lượng phần mềm tổng quát (ISO/IEC 25010 &amp; Architecture).</a:t>
            </a:r>
          </a:p>
          <a:p>
            <a:pPr>
              <a:spcBef>
                <a:spcPts val="300"/>
              </a:spcBef>
            </a:pPr>
            <a:r>
              <a:rPr b="1" sz="1200">
                <a:solidFill>
                  <a:srgbClr val="1A355E"/>
                </a:solidFill>
              </a:rPr>
              <a:t>🔸 Câu 2: </a:t>
            </a:r>
            <a:r>
              <a:rPr sz="1200">
                <a:solidFill>
                  <a:srgbClr val="0F172A"/>
                </a:solidFill>
              </a:rPr>
              <a:t>Các hình thức mở rộng quy mô (Scalability: Vertical, Horizontal, Structural, Geo...).</a:t>
            </a:r>
          </a:p>
          <a:p>
            <a:pPr>
              <a:spcBef>
                <a:spcPts val="300"/>
              </a:spcBef>
            </a:pPr>
            <a:r>
              <a:rPr b="1" sz="1200">
                <a:solidFill>
                  <a:srgbClr val="1A355E"/>
                </a:solidFill>
              </a:rPr>
              <a:t>🔸 Câu 3: </a:t>
            </a:r>
            <a:r>
              <a:rPr sz="1200">
                <a:solidFill>
                  <a:srgbClr val="0F172A"/>
                </a:solidFill>
              </a:rPr>
              <a:t>Phân tích Thông lượng (Throughput): So sánh Thông lượng trung bình vs Thông lượng đỉnh.</a:t>
            </a:r>
          </a:p>
          <a:p>
            <a:pPr>
              <a:spcBef>
                <a:spcPts val="300"/>
              </a:spcBef>
            </a:pPr>
            <a:r>
              <a:rPr b="1" sz="1200">
                <a:solidFill>
                  <a:srgbClr val="1A355E"/>
                </a:solidFill>
              </a:rPr>
              <a:t>🔸 Câu 4: </a:t>
            </a:r>
            <a:r>
              <a:rPr sz="1200">
                <a:solidFill>
                  <a:srgbClr val="0F172A"/>
                </a:solidFill>
              </a:rPr>
              <a:t>Mối quan hệ đánh đổi giữa An ninh (Security: AuthN &amp; AuthZ) và Tính khả dụng (Availability).</a:t>
            </a:r>
          </a:p>
          <a:p>
            <a:pPr>
              <a:spcBef>
                <a:spcPts val="300"/>
              </a:spcBef>
            </a:pPr>
            <a:r>
              <a:rPr b="1" sz="1200">
                <a:solidFill>
                  <a:srgbClr val="1A355E"/>
                </a:solidFill>
              </a:rPr>
              <a:t>🔸 Câu 5a-b: </a:t>
            </a:r>
            <a:r>
              <a:rPr sz="1200">
                <a:solidFill>
                  <a:srgbClr val="0F172A"/>
                </a:solidFill>
              </a:rPr>
              <a:t>Yêu cầu chất lượng cho Check-In &amp; Check-Out: Điểm tương đồng và khác biệt cốt lõi.</a:t>
            </a:r>
          </a:p>
          <a:p>
            <a:pPr>
              <a:spcBef>
                <a:spcPts val="300"/>
              </a:spcBef>
            </a:pPr>
            <a:r>
              <a:rPr b="1" sz="1200">
                <a:solidFill>
                  <a:srgbClr val="1A355E"/>
                </a:solidFill>
              </a:rPr>
              <a:t>🔸 Câu 5c-d: </a:t>
            </a:r>
            <a:r>
              <a:rPr sz="1200">
                <a:solidFill>
                  <a:srgbClr val="0F172A"/>
                </a:solidFill>
              </a:rPr>
              <a:t>Đặc tả yêu cầu chất lượng có thể kiểm chứng (Verifiable Scenarios) &amp; Top 5 thuộc tính cho HIS.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HOTEL INFORMATION SYSTEM</a:t>
            </a:r>
          </a:p>
          <a:p>
            <a:r>
              <a:rPr sz="2200" b="1">
                <a:solidFill>
                  <a:srgbClr val="FFFFFF"/>
                </a:solidFill>
              </a:rPr>
              <a:t>Part 1 — Câu 1: Tác Vụ Check-Out (Task &amp; Support Style)</a:t>
            </a:r>
          </a:p>
        </p:txBody>
      </p:sp>
      <p:sp>
        <p:nvSpPr>
          <p:cNvPr id="5" name="Rounded Rectangle 4"/>
          <p:cNvSpPr/>
          <p:nvPr/>
        </p:nvSpPr>
        <p:spPr>
          <a:xfrm>
            <a:off x="548640" y="1188720"/>
            <a:ext cx="11091672" cy="10972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725912" cy="320040"/>
          </a:xfrm>
          <a:prstGeom prst="rect">
            <a:avLst/>
          </a:prstGeom>
          <a:noFill/>
        </p:spPr>
        <p:txBody>
          <a:bodyPr wrap="square">
            <a:spAutoFit/>
          </a:bodyPr>
          <a:lstStyle/>
          <a:p>
            <a:r>
              <a:rPr sz="1400" b="1">
                <a:solidFill>
                  <a:srgbClr val="1A355E"/>
                </a:solidFill>
              </a:rPr>
              <a:t>TASK 1.3: CHECKOUT (TRẢ PHÒNG &amp; QUYẾT TOÁN)</a:t>
            </a:r>
          </a:p>
        </p:txBody>
      </p:sp>
      <p:sp>
        <p:nvSpPr>
          <p:cNvPr id="7" name="TextBox 6"/>
          <p:cNvSpPr txBox="1"/>
          <p:nvPr/>
        </p:nvSpPr>
        <p:spPr>
          <a:xfrm>
            <a:off x="731520" y="1508760"/>
            <a:ext cx="10698480" cy="731520"/>
          </a:xfrm>
          <a:prstGeom prst="rect">
            <a:avLst/>
          </a:prstGeom>
          <a:noFill/>
        </p:spPr>
        <p:txBody>
          <a:bodyPr wrap="square">
            <a:spAutoFit/>
          </a:bodyPr>
          <a:lstStyle/>
          <a:p>
            <a:pPr>
              <a:spcBef>
                <a:spcPts val="300"/>
              </a:spcBef>
            </a:pPr>
            <a:r>
              <a:rPr b="1" sz="1100">
                <a:solidFill>
                  <a:srgbClr val="1A355E"/>
                </a:solidFill>
              </a:rPr>
              <a:t>📌 Mục đích (Purpose): </a:t>
            </a:r>
            <a:r>
              <a:rPr sz="1100">
                <a:solidFill>
                  <a:srgbClr val="0F172A"/>
                </a:solidFill>
              </a:rPr>
              <a:t>Giải phóng phòng, thanh toán toàn bộ chi phí khách lưu trú, khóa tài khoản phòng, tiễn khách.</a:t>
            </a:r>
          </a:p>
          <a:p>
            <a:pPr>
              <a:spcBef>
                <a:spcPts val="300"/>
              </a:spcBef>
            </a:pPr>
            <a:r>
              <a:rPr b="1" sz="1100">
                <a:solidFill>
                  <a:srgbClr val="1A355E"/>
                </a:solidFill>
              </a:rPr>
              <a:t>📌 Kích hoạt (Trigger): </a:t>
            </a:r>
            <a:r>
              <a:rPr sz="1100">
                <a:solidFill>
                  <a:srgbClr val="0F172A"/>
                </a:solidFill>
              </a:rPr>
              <a:t>Khách yêu cầu trả phòng tại quầy lễ tân hoặc thao tác trên Kiosk tự phục vụ.</a:t>
            </a:r>
          </a:p>
          <a:p>
            <a:pPr>
              <a:spcBef>
                <a:spcPts val="300"/>
              </a:spcBef>
            </a:pPr>
            <a:r>
              <a:rPr b="1" sz="1100">
                <a:solidFill>
                  <a:srgbClr val="1A355E"/>
                </a:solidFill>
              </a:rPr>
              <a:t>📌 Tần suất &amp; Tới hạn: </a:t>
            </a:r>
            <a:r>
              <a:rPr sz="1100">
                <a:solidFill>
                  <a:srgbClr val="0F172A"/>
                </a:solidFill>
              </a:rPr>
              <a:t>Trung bình ~0.5 lượt/phòng/ngày; Cao điểm 07:00–11:00 AM (đoàn 30–50 khách trả phòng cùng lúc; cổng thanh toán thẻ bị nghẽn).</a:t>
            </a:r>
          </a:p>
        </p:txBody>
      </p:sp>
      <p:graphicFrame>
        <p:nvGraphicFramePr>
          <p:cNvPr id="8" name="Table 7"/>
          <p:cNvGraphicFramePr>
            <a:graphicFrameLocks noGrp="1"/>
          </p:cNvGraphicFramePr>
          <p:nvPr/>
        </p:nvGraphicFramePr>
        <p:xfrm>
          <a:off x="548640" y="2377440"/>
          <a:ext cx="11091672" cy="4114800"/>
        </p:xfrm>
        <a:graphic>
          <a:graphicData uri="http://schemas.openxmlformats.org/drawingml/2006/table">
            <a:tbl>
              <a:tblPr firstRow="1" bandRow="1">
                <a:tableStyleId>{5C22544A-7EE6-4342-B048-85BDC9FD1C3A}</a:tableStyleId>
              </a:tblPr>
              <a:tblGrid>
                <a:gridCol w="4572000"/>
                <a:gridCol w="6519672"/>
              </a:tblGrid>
              <a:tr h="685800">
                <a:tc>
                  <a:txBody>
                    <a:bodyPr wrap="square"/>
                    <a:lstStyle/>
                    <a:p>
                      <a:pPr algn="l"/>
                      <a:r>
                        <a:rPr b="1" sz="1100">
                          <a:solidFill>
                            <a:srgbClr val="FFFFFF"/>
                          </a:solidFill>
                        </a:rPr>
                        <a:t>Sub-tasks (Tác vụ con) &amp; Vấn đề (Problems)</a:t>
                      </a:r>
                    </a:p>
                  </a:txBody>
                  <a:tcPr>
                    <a:solidFill>
                      <a:srgbClr val="1A355E"/>
                    </a:solidFill>
                  </a:tcPr>
                </a:tc>
                <a:tc>
                  <a:txBody>
                    <a:bodyPr wrap="square"/>
                    <a:lstStyle/>
                    <a:p>
                      <a:pPr algn="l"/>
                      <a:r>
                        <a:rPr b="1" sz="1100">
                          <a:solidFill>
                            <a:srgbClr val="FFFFFF"/>
                          </a:solidFill>
                        </a:rPr>
                        <a:t>Example Solution (Hệ thống máy tính hỗ trợ)</a:t>
                      </a:r>
                    </a:p>
                  </a:txBody>
                  <a:tcPr>
                    <a:solidFill>
                      <a:srgbClr val="1A355E"/>
                    </a:solidFill>
                  </a:tcPr>
                </a:tc>
              </a:tr>
              <a:tr h="685800">
                <a:tc>
                  <a:txBody>
                    <a:bodyPr wrap="square"/>
                    <a:lstStyle/>
                    <a:p>
                      <a:pPr algn="l"/>
                      <a:r>
                        <a:rPr sz="1000">
                          <a:solidFill>
                            <a:srgbClr val="0F172A"/>
                          </a:solidFill>
                        </a:rPr>
                        <a:t>1. Xác định phòng &amp; khách hàng
- Vấn đề: Khách quên số phòng, phát âm tên khó tìm.</a:t>
                      </a:r>
                    </a:p>
                  </a:txBody>
                  <a:tcPr>
                    <a:solidFill>
                      <a:srgbClr val="F8FAFC"/>
                    </a:solidFill>
                  </a:tcPr>
                </a:tc>
                <a:tc>
                  <a:txBody>
                    <a:bodyPr wrap="square"/>
                    <a:lstStyle/>
                    <a:p>
                      <a:pPr algn="l"/>
                      <a:r>
                        <a:rPr sz="1000">
                          <a:solidFill>
                            <a:srgbClr val="0F172A"/>
                          </a:solidFill>
                        </a:rPr>
                        <a:t>Hệ thống hỗ trợ quét thẻ từ phòng, tìm theo Tên khách, Số CCCD/Hộ chiếu hoặc Số điện thoại. Hiển thị tức thì thông tin đặt phòng.</a:t>
                      </a:r>
                    </a:p>
                  </a:txBody>
                  <a:tcPr>
                    <a:solidFill>
                      <a:srgbClr val="F8FAFC"/>
                    </a:solidFill>
                  </a:tcPr>
                </a:tc>
              </a:tr>
              <a:tr h="685800">
                <a:tc>
                  <a:txBody>
                    <a:bodyPr wrap="square"/>
                    <a:lstStyle/>
                    <a:p>
                      <a:pPr algn="l"/>
                      <a:r>
                        <a:rPr sz="1000">
                          <a:solidFill>
                            <a:srgbClr val="0F172A"/>
                          </a:solidFill>
                        </a:rPr>
                        <a:t>2. Tổng hợp chi phí dịch vụ phát sinh
- Vấn đề: Phí minibar, ăn sáng phút chót chưa kịp ghi sổ.</a:t>
                      </a:r>
                    </a:p>
                  </a:txBody>
                  <a:tcPr>
                    <a:solidFill>
                      <a:srgbClr val="F1F5F9"/>
                    </a:solidFill>
                  </a:tcPr>
                </a:tc>
                <a:tc>
                  <a:txBody>
                    <a:bodyPr wrap="square"/>
                    <a:lstStyle/>
                    <a:p>
                      <a:pPr algn="l"/>
                      <a:r>
                        <a:rPr sz="1000">
                          <a:solidFill>
                            <a:srgbClr val="0F172A"/>
                          </a:solidFill>
                        </a:rPr>
                        <a:t>Đồng bộ thời gian thực từ POS Nhà hàng, Spa. Nhân viên buồng phòng kiểm tra minibar gửi số liệu trực tiếp qua Mobile App lên PMS.</a:t>
                      </a:r>
                    </a:p>
                  </a:txBody>
                  <a:tcPr>
                    <a:solidFill>
                      <a:srgbClr val="F1F5F9"/>
                    </a:solidFill>
                  </a:tcPr>
                </a:tc>
              </a:tr>
              <a:tr h="685800">
                <a:tc>
                  <a:txBody>
                    <a:bodyPr wrap="square"/>
                    <a:lstStyle/>
                    <a:p>
                      <a:pPr algn="l"/>
                      <a:r>
                        <a:rPr sz="1000">
                          <a:solidFill>
                            <a:srgbClr val="0F172A"/>
                          </a:solidFill>
                        </a:rPr>
                        <a:t>3. Xem xét hóa đơn &amp; Xử lý khiếu nại
- Vấn đề: Khách thắc mắc chi phí, yêu cầu tách hóa đơn công ty.</a:t>
                      </a:r>
                    </a:p>
                  </a:txBody>
                  <a:tcPr>
                    <a:solidFill>
                      <a:srgbClr val="F8FAFC"/>
                    </a:solidFill>
                  </a:tcPr>
                </a:tc>
                <a:tc>
                  <a:txBody>
                    <a:bodyPr wrap="square"/>
                    <a:lstStyle/>
                    <a:p>
                      <a:pPr algn="l"/>
                      <a:r>
                        <a:rPr sz="1000">
                          <a:solidFill>
                            <a:srgbClr val="0F172A"/>
                          </a:solidFill>
                        </a:rPr>
                        <a:t>Giao diện hiển thị chi tiết từng dòng; hỗ trợ Tách hóa đơn (Tiền phòng về Công ty, Chi phí cá nhân khách tự trả); áp dụng Voucher/Giảm giá.</a:t>
                      </a:r>
                    </a:p>
                  </a:txBody>
                  <a:tcPr>
                    <a:solidFill>
                      <a:srgbClr val="F8FAFC"/>
                    </a:solidFill>
                  </a:tcPr>
                </a:tc>
              </a:tr>
              <a:tr h="685800">
                <a:tc>
                  <a:txBody>
                    <a:bodyPr wrap="square"/>
                    <a:lstStyle/>
                    <a:p>
                      <a:pPr algn="l"/>
                      <a:r>
                        <a:rPr sz="1000">
                          <a:solidFill>
                            <a:srgbClr val="0F172A"/>
                          </a:solidFill>
                        </a:rPr>
                        <a:t>4. Quyết toán thanh toán
- Vấn đề: Thẻ bị từ chối, trả một phần tiền mặt một phần thẻ.</a:t>
                      </a:r>
                    </a:p>
                  </a:txBody>
                  <a:tcPr>
                    <a:solidFill>
                      <a:srgbClr val="F1F5F9"/>
                    </a:solidFill>
                  </a:tcPr>
                </a:tc>
                <a:tc>
                  <a:txBody>
                    <a:bodyPr wrap="square"/>
                    <a:lstStyle/>
                    <a:p>
                      <a:pPr algn="l"/>
                      <a:r>
                        <a:rPr sz="1000">
                          <a:solidFill>
                            <a:srgbClr val="0F172A"/>
                          </a:solidFill>
                        </a:rPr>
                        <a:t>Tích hợp cổng POS thanh toán đa phương thức (Thẻ, Chuyển khoản VietQR, Tiền mặt). Tự động in hóa đơn VAT điện tử &amp; gửi email.</a:t>
                      </a:r>
                    </a:p>
                  </a:txBody>
                  <a:tcPr>
                    <a:solidFill>
                      <a:srgbClr val="F1F5F9"/>
                    </a:solidFill>
                  </a:tcPr>
                </a:tc>
              </a:tr>
              <a:tr h="685800">
                <a:tc>
                  <a:txBody>
                    <a:bodyPr wrap="square"/>
                    <a:lstStyle/>
                    <a:p>
                      <a:pPr algn="l"/>
                      <a:r>
                        <a:rPr sz="1000">
                          <a:solidFill>
                            <a:srgbClr val="0F172A"/>
                          </a:solidFill>
                        </a:rPr>
                        <a:t>5. Trả phòng &amp; Đổi trạng thái phòng
- Vấn đề: Quên báo Buồng phòng, cấp nhầm phòng chưa dọn.</a:t>
                      </a:r>
                    </a:p>
                  </a:txBody>
                  <a:tcPr>
                    <a:solidFill>
                      <a:srgbClr val="F8FAFC"/>
                    </a:solidFill>
                  </a:tcPr>
                </a:tc>
                <a:tc>
                  <a:txBody>
                    <a:bodyPr wrap="square"/>
                    <a:lstStyle/>
                    <a:p>
                      <a:pPr algn="l"/>
                      <a:r>
                        <a:rPr sz="1000">
                          <a:solidFill>
                            <a:srgbClr val="0F172A"/>
                          </a:solidFill>
                        </a:rPr>
                        <a:t>Hủy kích hoạt mã thẻ từ phòng. Hệ thống tự động chuyển trạng thái phòng thành 'Trống / Cần dọn (Dirty)' và gửi lệnh dọn phòng ngay.</a:t>
                      </a:r>
                    </a:p>
                  </a:txBody>
                  <a:tcPr>
                    <a:solidFill>
                      <a:srgbClr val="F8FAFC"/>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HOTEL INFORMATION SYSTEM</a:t>
            </a:r>
          </a:p>
          <a:p>
            <a:r>
              <a:rPr sz="2200" b="1">
                <a:solidFill>
                  <a:srgbClr val="FFFFFF"/>
                </a:solidFill>
              </a:rPr>
              <a:t>Part 1 — Câu 2: Các Tác Vụ Điển Hình Của Hệ Thống Khách Sạn</a:t>
            </a:r>
          </a:p>
        </p:txBody>
      </p:sp>
      <p:sp>
        <p:nvSpPr>
          <p:cNvPr id="5" name="Rounded Rectangle 4"/>
          <p:cNvSpPr/>
          <p:nvPr/>
        </p:nvSpPr>
        <p:spPr>
          <a:xfrm>
            <a:off x="548640" y="1280160"/>
            <a:ext cx="35204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3154680" cy="320040"/>
          </a:xfrm>
          <a:prstGeom prst="rect">
            <a:avLst/>
          </a:prstGeom>
          <a:noFill/>
        </p:spPr>
        <p:txBody>
          <a:bodyPr wrap="square">
            <a:spAutoFit/>
          </a:bodyPr>
          <a:lstStyle/>
          <a:p>
            <a:r>
              <a:rPr sz="1400" b="1">
                <a:solidFill>
                  <a:srgbClr val="1A355E"/>
                </a:solidFill>
              </a:rPr>
              <a:t>1. Đặt phòng (Book Guest)</a:t>
            </a:r>
          </a:p>
        </p:txBody>
      </p:sp>
      <p:sp>
        <p:nvSpPr>
          <p:cNvPr id="7" name="TextBox 6"/>
          <p:cNvSpPr txBox="1"/>
          <p:nvPr/>
        </p:nvSpPr>
        <p:spPr>
          <a:xfrm>
            <a:off x="731520" y="1828800"/>
            <a:ext cx="3154680" cy="1737360"/>
          </a:xfrm>
          <a:prstGeom prst="rect">
            <a:avLst/>
          </a:prstGeom>
          <a:noFill/>
        </p:spPr>
        <p:txBody>
          <a:bodyPr wrap="square">
            <a:spAutoFit/>
          </a:bodyPr>
          <a:lstStyle/>
          <a:p>
            <a:pPr>
              <a:spcBef>
                <a:spcPts val="300"/>
              </a:spcBef>
            </a:pPr>
            <a:r>
              <a:rPr sz="1100">
                <a:solidFill>
                  <a:srgbClr val="0F172A"/>
                </a:solidFill>
              </a:rPr>
              <a:t>👉  Quản lý giữ chỗ, kiểm tra số lượng phòng trống theo loại phòng (RoomType), lưu thông tin đặt cọc và chính sách hủy phòng.</a:t>
            </a:r>
          </a:p>
        </p:txBody>
      </p:sp>
      <p:sp>
        <p:nvSpPr>
          <p:cNvPr id="8" name="Rounded Rectangle 7"/>
          <p:cNvSpPr/>
          <p:nvPr/>
        </p:nvSpPr>
        <p:spPr>
          <a:xfrm>
            <a:off x="4334256" y="1280160"/>
            <a:ext cx="35204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17136" y="1417320"/>
            <a:ext cx="3154680" cy="320040"/>
          </a:xfrm>
          <a:prstGeom prst="rect">
            <a:avLst/>
          </a:prstGeom>
          <a:noFill/>
        </p:spPr>
        <p:txBody>
          <a:bodyPr wrap="square">
            <a:spAutoFit/>
          </a:bodyPr>
          <a:lstStyle/>
          <a:p>
            <a:r>
              <a:rPr sz="1400" b="1">
                <a:solidFill>
                  <a:srgbClr val="059669"/>
                </a:solidFill>
              </a:rPr>
              <a:t>2. Nhận phòng (Check-In)</a:t>
            </a:r>
          </a:p>
        </p:txBody>
      </p:sp>
      <p:sp>
        <p:nvSpPr>
          <p:cNvPr id="10" name="TextBox 9"/>
          <p:cNvSpPr txBox="1"/>
          <p:nvPr/>
        </p:nvSpPr>
        <p:spPr>
          <a:xfrm>
            <a:off x="4517136" y="1828800"/>
            <a:ext cx="3154680" cy="1737360"/>
          </a:xfrm>
          <a:prstGeom prst="rect">
            <a:avLst/>
          </a:prstGeom>
          <a:noFill/>
        </p:spPr>
        <p:txBody>
          <a:bodyPr wrap="square">
            <a:spAutoFit/>
          </a:bodyPr>
          <a:lstStyle/>
          <a:p>
            <a:pPr>
              <a:spcBef>
                <a:spcPts val="300"/>
              </a:spcBef>
            </a:pPr>
            <a:r>
              <a:rPr sz="1100">
                <a:solidFill>
                  <a:srgbClr val="0F172A"/>
                </a:solidFill>
              </a:rPr>
              <a:t>👉  Đối chiếu thông tin đặt phòng, phân bổ số phòng vật lý sạch, ghi nhận giấy tờ tùy thân, ký quỹ và kích hoạt thẻ từ.</a:t>
            </a:r>
          </a:p>
        </p:txBody>
      </p:sp>
      <p:sp>
        <p:nvSpPr>
          <p:cNvPr id="11" name="Rounded Rectangle 10"/>
          <p:cNvSpPr/>
          <p:nvPr/>
        </p:nvSpPr>
        <p:spPr>
          <a:xfrm>
            <a:off x="8119872" y="1280160"/>
            <a:ext cx="35204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02752" y="1417320"/>
            <a:ext cx="3154680" cy="320040"/>
          </a:xfrm>
          <a:prstGeom prst="rect">
            <a:avLst/>
          </a:prstGeom>
          <a:noFill/>
        </p:spPr>
        <p:txBody>
          <a:bodyPr wrap="square">
            <a:spAutoFit/>
          </a:bodyPr>
          <a:lstStyle/>
          <a:p>
            <a:r>
              <a:rPr sz="1400" b="1">
                <a:solidFill>
                  <a:srgbClr val="2563EB"/>
                </a:solidFill>
              </a:rPr>
              <a:t>3. Quản lý lưu trú &amp; Dịch vụ</a:t>
            </a:r>
          </a:p>
        </p:txBody>
      </p:sp>
      <p:sp>
        <p:nvSpPr>
          <p:cNvPr id="13" name="TextBox 12"/>
          <p:cNvSpPr txBox="1"/>
          <p:nvPr/>
        </p:nvSpPr>
        <p:spPr>
          <a:xfrm>
            <a:off x="8302752" y="1828800"/>
            <a:ext cx="3154680" cy="1737360"/>
          </a:xfrm>
          <a:prstGeom prst="rect">
            <a:avLst/>
          </a:prstGeom>
          <a:noFill/>
        </p:spPr>
        <p:txBody>
          <a:bodyPr wrap="square">
            <a:spAutoFit/>
          </a:bodyPr>
          <a:lstStyle/>
          <a:p>
            <a:pPr>
              <a:spcBef>
                <a:spcPts val="300"/>
              </a:spcBef>
            </a:pPr>
            <a:r>
              <a:rPr sz="1100">
                <a:solidFill>
                  <a:srgbClr val="0F172A"/>
                </a:solidFill>
              </a:rPr>
              <a:t>👉  Chuyển phòng khi khách yêu cầu, ghi nhận chi phí ăn uống, giặt ủi, minibar, tổng hợp danh sách khách dùng buffet sáng.</a:t>
            </a:r>
          </a:p>
        </p:txBody>
      </p:sp>
      <p:sp>
        <p:nvSpPr>
          <p:cNvPr id="14" name="Rounded Rectangle 13"/>
          <p:cNvSpPr/>
          <p:nvPr/>
        </p:nvSpPr>
        <p:spPr>
          <a:xfrm>
            <a:off x="548640" y="3931920"/>
            <a:ext cx="35204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4069080"/>
            <a:ext cx="3154680" cy="320040"/>
          </a:xfrm>
          <a:prstGeom prst="rect">
            <a:avLst/>
          </a:prstGeom>
          <a:noFill/>
        </p:spPr>
        <p:txBody>
          <a:bodyPr wrap="square">
            <a:spAutoFit/>
          </a:bodyPr>
          <a:lstStyle/>
          <a:p>
            <a:r>
              <a:rPr sz="1400" b="1">
                <a:solidFill>
                  <a:srgbClr val="7C3AED"/>
                </a:solidFill>
              </a:rPr>
              <a:t>4. Buồng phòng (Housekeeping)</a:t>
            </a:r>
          </a:p>
        </p:txBody>
      </p:sp>
      <p:sp>
        <p:nvSpPr>
          <p:cNvPr id="16" name="TextBox 15"/>
          <p:cNvSpPr txBox="1"/>
          <p:nvPr/>
        </p:nvSpPr>
        <p:spPr>
          <a:xfrm>
            <a:off x="731520" y="4480560"/>
            <a:ext cx="3154680" cy="1737360"/>
          </a:xfrm>
          <a:prstGeom prst="rect">
            <a:avLst/>
          </a:prstGeom>
          <a:noFill/>
        </p:spPr>
        <p:txBody>
          <a:bodyPr wrap="square">
            <a:spAutoFit/>
          </a:bodyPr>
          <a:lstStyle/>
          <a:p>
            <a:pPr>
              <a:spcBef>
                <a:spcPts val="300"/>
              </a:spcBef>
            </a:pPr>
            <a:r>
              <a:rPr sz="1100">
                <a:solidFill>
                  <a:srgbClr val="0F172A"/>
                </a:solidFill>
              </a:rPr>
              <a:t>👉  Theo dõi vòng đời phòng (Dirty → Cleaning → Inspected → Clean/Available). Quản lý phòng bảo trì, sửa chữa (Out-of-Order).</a:t>
            </a:r>
          </a:p>
        </p:txBody>
      </p:sp>
      <p:sp>
        <p:nvSpPr>
          <p:cNvPr id="17" name="Rounded Rectangle 16"/>
          <p:cNvSpPr/>
          <p:nvPr/>
        </p:nvSpPr>
        <p:spPr>
          <a:xfrm>
            <a:off x="4334256" y="3931920"/>
            <a:ext cx="35204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17136" y="4069080"/>
            <a:ext cx="3154680" cy="320040"/>
          </a:xfrm>
          <a:prstGeom prst="rect">
            <a:avLst/>
          </a:prstGeom>
          <a:noFill/>
        </p:spPr>
        <p:txBody>
          <a:bodyPr wrap="square">
            <a:spAutoFit/>
          </a:bodyPr>
          <a:lstStyle/>
          <a:p>
            <a:r>
              <a:rPr sz="1400" b="1">
                <a:solidFill>
                  <a:srgbClr val="D97706"/>
                </a:solidFill>
              </a:rPr>
              <a:t>5. Trả phòng (Check-Out)</a:t>
            </a:r>
          </a:p>
        </p:txBody>
      </p:sp>
      <p:sp>
        <p:nvSpPr>
          <p:cNvPr id="19" name="TextBox 18"/>
          <p:cNvSpPr txBox="1"/>
          <p:nvPr/>
        </p:nvSpPr>
        <p:spPr>
          <a:xfrm>
            <a:off x="4517136" y="4480560"/>
            <a:ext cx="3154680" cy="1737360"/>
          </a:xfrm>
          <a:prstGeom prst="rect">
            <a:avLst/>
          </a:prstGeom>
          <a:noFill/>
        </p:spPr>
        <p:txBody>
          <a:bodyPr wrap="square">
            <a:spAutoFit/>
          </a:bodyPr>
          <a:lstStyle/>
          <a:p>
            <a:pPr>
              <a:spcBef>
                <a:spcPts val="300"/>
              </a:spcBef>
            </a:pPr>
            <a:r>
              <a:rPr sz="1100">
                <a:solidFill>
                  <a:srgbClr val="0F172A"/>
                </a:solidFill>
              </a:rPr>
              <a:t>👉  Kiểm tra chi phí dịch vụ cuối cùng, giải quyết khiếu nại, quyết toán thanh toán, xuất hóa đơn tài chính và giải phóng phòng.</a:t>
            </a:r>
          </a:p>
        </p:txBody>
      </p:sp>
      <p:sp>
        <p:nvSpPr>
          <p:cNvPr id="20" name="Rounded Rectangle 19"/>
          <p:cNvSpPr/>
          <p:nvPr/>
        </p:nvSpPr>
        <p:spPr>
          <a:xfrm>
            <a:off x="8119872" y="3931920"/>
            <a:ext cx="3520440"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302752" y="4069080"/>
            <a:ext cx="3154680" cy="320040"/>
          </a:xfrm>
          <a:prstGeom prst="rect">
            <a:avLst/>
          </a:prstGeom>
          <a:noFill/>
        </p:spPr>
        <p:txBody>
          <a:bodyPr wrap="square">
            <a:spAutoFit/>
          </a:bodyPr>
          <a:lstStyle/>
          <a:p>
            <a:r>
              <a:rPr sz="1400" b="1">
                <a:solidFill>
                  <a:srgbClr val="DC2626"/>
                </a:solidFill>
              </a:rPr>
              <a:t>6. Kiểm toán đêm (Night Audit)</a:t>
            </a:r>
          </a:p>
        </p:txBody>
      </p:sp>
      <p:sp>
        <p:nvSpPr>
          <p:cNvPr id="22" name="TextBox 21"/>
          <p:cNvSpPr txBox="1"/>
          <p:nvPr/>
        </p:nvSpPr>
        <p:spPr>
          <a:xfrm>
            <a:off x="8302752" y="4480560"/>
            <a:ext cx="3154680" cy="1737360"/>
          </a:xfrm>
          <a:prstGeom prst="rect">
            <a:avLst/>
          </a:prstGeom>
          <a:noFill/>
        </p:spPr>
        <p:txBody>
          <a:bodyPr wrap="square">
            <a:spAutoFit/>
          </a:bodyPr>
          <a:lstStyle/>
          <a:p>
            <a:pPr>
              <a:spcBef>
                <a:spcPts val="300"/>
              </a:spcBef>
            </a:pPr>
            <a:r>
              <a:rPr sz="1100">
                <a:solidFill>
                  <a:srgbClr val="0F172A"/>
                </a:solidFill>
              </a:rPr>
              <a:t>👉  Chốt sổ doanh thu ngày, đóng giao dịch tài chính, kết chuyển dữ liệu công nợ sang Hệ thống Kế toán tổng hợp (Account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WORKFLOW ARCHITECTURE</a:t>
            </a:r>
          </a:p>
          <a:p>
            <a:r>
              <a:rPr sz="2200" b="1">
                <a:solidFill>
                  <a:srgbClr val="FFFFFF"/>
                </a:solidFill>
              </a:rPr>
              <a:t>Part 1 — Câu 2: Trực Quan Hóa Luồng Công Việc (End-to-End Workflow)</a:t>
            </a:r>
          </a:p>
        </p:txBody>
      </p:sp>
      <p:sp>
        <p:nvSpPr>
          <p:cNvPr id="5" name="Rounded Rectangle 4"/>
          <p:cNvSpPr/>
          <p:nvPr/>
        </p:nvSpPr>
        <p:spPr>
          <a:xfrm>
            <a:off x="548640" y="1280160"/>
            <a:ext cx="2066543"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1700783" cy="320040"/>
          </a:xfrm>
          <a:prstGeom prst="rect">
            <a:avLst/>
          </a:prstGeom>
          <a:noFill/>
        </p:spPr>
        <p:txBody>
          <a:bodyPr wrap="square">
            <a:spAutoFit/>
          </a:bodyPr>
          <a:lstStyle/>
          <a:p>
            <a:r>
              <a:rPr sz="1400" b="1">
                <a:solidFill>
                  <a:srgbClr val="1A355E"/>
                </a:solidFill>
              </a:rPr>
              <a:t>ĐẶT PHÒNG (RESERVATION)</a:t>
            </a:r>
          </a:p>
        </p:txBody>
      </p:sp>
      <p:sp>
        <p:nvSpPr>
          <p:cNvPr id="7" name="TextBox 6"/>
          <p:cNvSpPr txBox="1"/>
          <p:nvPr/>
        </p:nvSpPr>
        <p:spPr>
          <a:xfrm>
            <a:off x="640080" y="1371600"/>
            <a:ext cx="1883663" cy="320040"/>
          </a:xfrm>
          <a:prstGeom prst="rect">
            <a:avLst/>
          </a:prstGeom>
          <a:noFill/>
        </p:spPr>
        <p:txBody>
          <a:bodyPr wrap="none">
            <a:spAutoFit/>
          </a:bodyPr>
          <a:lstStyle/>
          <a:p>
            <a:r>
              <a:rPr b="1" sz="850">
                <a:solidFill>
                  <a:srgbClr val="1A355E"/>
                </a:solidFill>
              </a:rPr>
              <a:t>GIAI ĐOẠN 1: TRƯỚC LƯU TRÚ</a:t>
            </a:r>
          </a:p>
        </p:txBody>
      </p:sp>
      <p:sp>
        <p:nvSpPr>
          <p:cNvPr id="8" name="TextBox 7"/>
          <p:cNvSpPr txBox="1"/>
          <p:nvPr/>
        </p:nvSpPr>
        <p:spPr>
          <a:xfrm>
            <a:off x="658368" y="2194560"/>
            <a:ext cx="1847087" cy="3931920"/>
          </a:xfrm>
          <a:prstGeom prst="rect">
            <a:avLst/>
          </a:prstGeom>
          <a:noFill/>
        </p:spPr>
        <p:txBody>
          <a:bodyPr wrap="square">
            <a:spAutoFit/>
          </a:bodyPr>
          <a:lstStyle/>
          <a:p>
            <a:pPr>
              <a:spcBef>
                <a:spcPts val="300"/>
              </a:spcBef>
            </a:pPr>
            <a:r>
              <a:rPr sz="1000">
                <a:solidFill>
                  <a:srgbClr val="0F172A"/>
                </a:solidFill>
              </a:rPr>
              <a:t>➔  Khách gửi yêu cầu đặt phòng</a:t>
            </a:r>
          </a:p>
          <a:p>
            <a:pPr>
              <a:spcBef>
                <a:spcPts val="300"/>
              </a:spcBef>
            </a:pPr>
            <a:r>
              <a:rPr sz="1000">
                <a:solidFill>
                  <a:srgbClr val="0F172A"/>
                </a:solidFill>
              </a:rPr>
              <a:t>➔  PMS kiểm tra RoomType Quota</a:t>
            </a:r>
          </a:p>
          <a:p>
            <a:pPr>
              <a:spcBef>
                <a:spcPts val="300"/>
              </a:spcBef>
            </a:pPr>
            <a:r>
              <a:rPr sz="1000">
                <a:solidFill>
                  <a:srgbClr val="0F172A"/>
                </a:solidFill>
              </a:rPr>
              <a:t>➔  Ghi nhận cọc &amp; Xác nhận Booking</a:t>
            </a:r>
          </a:p>
        </p:txBody>
      </p:sp>
      <p:sp>
        <p:nvSpPr>
          <p:cNvPr id="9" name="Rounded Rectangle 8"/>
          <p:cNvSpPr/>
          <p:nvPr/>
        </p:nvSpPr>
        <p:spPr>
          <a:xfrm>
            <a:off x="2798063" y="1280160"/>
            <a:ext cx="2066543"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0943" y="1417320"/>
            <a:ext cx="1700783" cy="320040"/>
          </a:xfrm>
          <a:prstGeom prst="rect">
            <a:avLst/>
          </a:prstGeom>
          <a:noFill/>
        </p:spPr>
        <p:txBody>
          <a:bodyPr wrap="square">
            <a:spAutoFit/>
          </a:bodyPr>
          <a:lstStyle/>
          <a:p>
            <a:r>
              <a:rPr sz="1400" b="1">
                <a:solidFill>
                  <a:srgbClr val="059669"/>
                </a:solidFill>
              </a:rPr>
              <a:t>NHẬN PHÒNG (CHECK-IN)</a:t>
            </a:r>
          </a:p>
        </p:txBody>
      </p:sp>
      <p:sp>
        <p:nvSpPr>
          <p:cNvPr id="11" name="TextBox 10"/>
          <p:cNvSpPr txBox="1"/>
          <p:nvPr/>
        </p:nvSpPr>
        <p:spPr>
          <a:xfrm>
            <a:off x="2889503" y="1371600"/>
            <a:ext cx="1883663" cy="320040"/>
          </a:xfrm>
          <a:prstGeom prst="rect">
            <a:avLst/>
          </a:prstGeom>
          <a:noFill/>
        </p:spPr>
        <p:txBody>
          <a:bodyPr wrap="none">
            <a:spAutoFit/>
          </a:bodyPr>
          <a:lstStyle/>
          <a:p>
            <a:r>
              <a:rPr b="1" sz="850">
                <a:solidFill>
                  <a:srgbClr val="059669"/>
                </a:solidFill>
              </a:rPr>
              <a:t>GIAI ĐOẠN 2: ĐẾN KHÁCH SẠN</a:t>
            </a:r>
          </a:p>
        </p:txBody>
      </p:sp>
      <p:sp>
        <p:nvSpPr>
          <p:cNvPr id="12" name="TextBox 11"/>
          <p:cNvSpPr txBox="1"/>
          <p:nvPr/>
        </p:nvSpPr>
        <p:spPr>
          <a:xfrm>
            <a:off x="2907791" y="2194560"/>
            <a:ext cx="1847087" cy="3931920"/>
          </a:xfrm>
          <a:prstGeom prst="rect">
            <a:avLst/>
          </a:prstGeom>
          <a:noFill/>
        </p:spPr>
        <p:txBody>
          <a:bodyPr wrap="square">
            <a:spAutoFit/>
          </a:bodyPr>
          <a:lstStyle/>
          <a:p>
            <a:pPr>
              <a:spcBef>
                <a:spcPts val="300"/>
              </a:spcBef>
            </a:pPr>
            <a:r>
              <a:rPr sz="1000">
                <a:solidFill>
                  <a:srgbClr val="0F172A"/>
                </a:solidFill>
              </a:rPr>
              <a:t>➔  Khách xuất trình Booking / CCCD</a:t>
            </a:r>
          </a:p>
          <a:p>
            <a:pPr>
              <a:spcBef>
                <a:spcPts val="300"/>
              </a:spcBef>
            </a:pPr>
            <a:r>
              <a:rPr sz="1000">
                <a:solidFill>
                  <a:srgbClr val="0F172A"/>
                </a:solidFill>
              </a:rPr>
              <a:t>➔  Gán số phòng vật lý sạch (Clean)</a:t>
            </a:r>
          </a:p>
          <a:p>
            <a:pPr>
              <a:spcBef>
                <a:spcPts val="300"/>
              </a:spcBef>
            </a:pPr>
            <a:r>
              <a:rPr sz="1000">
                <a:solidFill>
                  <a:srgbClr val="0F172A"/>
                </a:solidFill>
              </a:rPr>
              <a:t>➔  Tạo Stay, Quẹt cọc, Cấp thẻ từ</a:t>
            </a:r>
          </a:p>
        </p:txBody>
      </p:sp>
      <p:sp>
        <p:nvSpPr>
          <p:cNvPr id="13" name="Rounded Rectangle 12"/>
          <p:cNvSpPr/>
          <p:nvPr/>
        </p:nvSpPr>
        <p:spPr>
          <a:xfrm>
            <a:off x="5047486" y="1280160"/>
            <a:ext cx="2066543"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30366" y="1417320"/>
            <a:ext cx="1700783" cy="320040"/>
          </a:xfrm>
          <a:prstGeom prst="rect">
            <a:avLst/>
          </a:prstGeom>
          <a:noFill/>
        </p:spPr>
        <p:txBody>
          <a:bodyPr wrap="square">
            <a:spAutoFit/>
          </a:bodyPr>
          <a:lstStyle/>
          <a:p>
            <a:r>
              <a:rPr sz="1400" b="1">
                <a:solidFill>
                  <a:srgbClr val="2563EB"/>
                </a:solidFill>
              </a:rPr>
              <a:t>SỬ DỤNG DỊCH VỤ</a:t>
            </a:r>
          </a:p>
        </p:txBody>
      </p:sp>
      <p:sp>
        <p:nvSpPr>
          <p:cNvPr id="15" name="TextBox 14"/>
          <p:cNvSpPr txBox="1"/>
          <p:nvPr/>
        </p:nvSpPr>
        <p:spPr>
          <a:xfrm>
            <a:off x="5138926" y="1371600"/>
            <a:ext cx="1883663" cy="320040"/>
          </a:xfrm>
          <a:prstGeom prst="rect">
            <a:avLst/>
          </a:prstGeom>
          <a:noFill/>
        </p:spPr>
        <p:txBody>
          <a:bodyPr wrap="none">
            <a:spAutoFit/>
          </a:bodyPr>
          <a:lstStyle/>
          <a:p>
            <a:r>
              <a:rPr b="1" sz="850">
                <a:solidFill>
                  <a:srgbClr val="2563EB"/>
                </a:solidFill>
              </a:rPr>
              <a:t>GIAI ĐOẠN 3: TRONG LƯU TRÚ</a:t>
            </a:r>
          </a:p>
        </p:txBody>
      </p:sp>
      <p:sp>
        <p:nvSpPr>
          <p:cNvPr id="16" name="TextBox 15"/>
          <p:cNvSpPr txBox="1"/>
          <p:nvPr/>
        </p:nvSpPr>
        <p:spPr>
          <a:xfrm>
            <a:off x="5157214" y="2194560"/>
            <a:ext cx="1847087" cy="3931920"/>
          </a:xfrm>
          <a:prstGeom prst="rect">
            <a:avLst/>
          </a:prstGeom>
          <a:noFill/>
        </p:spPr>
        <p:txBody>
          <a:bodyPr wrap="square">
            <a:spAutoFit/>
          </a:bodyPr>
          <a:lstStyle/>
          <a:p>
            <a:pPr>
              <a:spcBef>
                <a:spcPts val="300"/>
              </a:spcBef>
            </a:pPr>
            <a:r>
              <a:rPr sz="1000">
                <a:solidFill>
                  <a:srgbClr val="0F172A"/>
                </a:solidFill>
              </a:rPr>
              <a:t>➔  Khách dùng Nhà hàng / Spa / Bar</a:t>
            </a:r>
          </a:p>
          <a:p>
            <a:pPr>
              <a:spcBef>
                <a:spcPts val="300"/>
              </a:spcBef>
            </a:pPr>
            <a:r>
              <a:rPr sz="1000">
                <a:solidFill>
                  <a:srgbClr val="0F172A"/>
                </a:solidFill>
              </a:rPr>
              <a:t>➔  POS đẩy chi phí vào Tài khoản phòng</a:t>
            </a:r>
          </a:p>
          <a:p>
            <a:pPr>
              <a:spcBef>
                <a:spcPts val="300"/>
              </a:spcBef>
            </a:pPr>
            <a:r>
              <a:rPr sz="1000">
                <a:solidFill>
                  <a:srgbClr val="0F172A"/>
                </a:solidFill>
              </a:rPr>
              <a:t>➔  Buồng phòng dọn dẹp định kỳ</a:t>
            </a:r>
          </a:p>
        </p:txBody>
      </p:sp>
      <p:sp>
        <p:nvSpPr>
          <p:cNvPr id="17" name="Rounded Rectangle 16"/>
          <p:cNvSpPr/>
          <p:nvPr/>
        </p:nvSpPr>
        <p:spPr>
          <a:xfrm>
            <a:off x="7296909" y="1280160"/>
            <a:ext cx="2066543"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79789" y="1417320"/>
            <a:ext cx="1700783" cy="320040"/>
          </a:xfrm>
          <a:prstGeom prst="rect">
            <a:avLst/>
          </a:prstGeom>
          <a:noFill/>
        </p:spPr>
        <p:txBody>
          <a:bodyPr wrap="square">
            <a:spAutoFit/>
          </a:bodyPr>
          <a:lstStyle/>
          <a:p>
            <a:r>
              <a:rPr sz="1400" b="1">
                <a:solidFill>
                  <a:srgbClr val="D97706"/>
                </a:solidFill>
              </a:rPr>
              <a:t>TRẢ PHÒNG (CHECK-OUT)</a:t>
            </a:r>
          </a:p>
        </p:txBody>
      </p:sp>
      <p:sp>
        <p:nvSpPr>
          <p:cNvPr id="19" name="TextBox 18"/>
          <p:cNvSpPr txBox="1"/>
          <p:nvPr/>
        </p:nvSpPr>
        <p:spPr>
          <a:xfrm>
            <a:off x="7388349" y="1371600"/>
            <a:ext cx="1883663" cy="320040"/>
          </a:xfrm>
          <a:prstGeom prst="rect">
            <a:avLst/>
          </a:prstGeom>
          <a:noFill/>
        </p:spPr>
        <p:txBody>
          <a:bodyPr wrap="none">
            <a:spAutoFit/>
          </a:bodyPr>
          <a:lstStyle/>
          <a:p>
            <a:r>
              <a:rPr b="1" sz="850">
                <a:solidFill>
                  <a:srgbClr val="D97706"/>
                </a:solidFill>
              </a:rPr>
              <a:t>GIAI ĐOẠN 4: KẾT THÚC LƯU TRÚ</a:t>
            </a:r>
          </a:p>
        </p:txBody>
      </p:sp>
      <p:sp>
        <p:nvSpPr>
          <p:cNvPr id="20" name="TextBox 19"/>
          <p:cNvSpPr txBox="1"/>
          <p:nvPr/>
        </p:nvSpPr>
        <p:spPr>
          <a:xfrm>
            <a:off x="7406637" y="2194560"/>
            <a:ext cx="1847087" cy="3931920"/>
          </a:xfrm>
          <a:prstGeom prst="rect">
            <a:avLst/>
          </a:prstGeom>
          <a:noFill/>
        </p:spPr>
        <p:txBody>
          <a:bodyPr wrap="square">
            <a:spAutoFit/>
          </a:bodyPr>
          <a:lstStyle/>
          <a:p>
            <a:pPr>
              <a:spcBef>
                <a:spcPts val="300"/>
              </a:spcBef>
            </a:pPr>
            <a:r>
              <a:rPr sz="1000">
                <a:solidFill>
                  <a:srgbClr val="0F172A"/>
                </a:solidFill>
              </a:rPr>
              <a:t>➔  Khách yêu cầu thanh toán hóa đơn</a:t>
            </a:r>
          </a:p>
          <a:p>
            <a:pPr>
              <a:spcBef>
                <a:spcPts val="300"/>
              </a:spcBef>
            </a:pPr>
            <a:r>
              <a:rPr sz="1000">
                <a:solidFill>
                  <a:srgbClr val="0F172A"/>
                </a:solidFill>
              </a:rPr>
              <a:t>➔  Quyết toán (Thẻ/Tiền mặt) &amp; In bill</a:t>
            </a:r>
          </a:p>
          <a:p>
            <a:pPr>
              <a:spcBef>
                <a:spcPts val="300"/>
              </a:spcBef>
            </a:pPr>
            <a:r>
              <a:rPr sz="1000">
                <a:solidFill>
                  <a:srgbClr val="0F172A"/>
                </a:solidFill>
              </a:rPr>
              <a:t>➔  Thu hồi thẻ từ, Trả phòng (Dirty)</a:t>
            </a:r>
          </a:p>
        </p:txBody>
      </p:sp>
      <p:sp>
        <p:nvSpPr>
          <p:cNvPr id="21" name="Rounded Rectangle 20"/>
          <p:cNvSpPr/>
          <p:nvPr/>
        </p:nvSpPr>
        <p:spPr>
          <a:xfrm>
            <a:off x="9546332" y="1280160"/>
            <a:ext cx="2066543"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29212" y="1417320"/>
            <a:ext cx="1700783" cy="320040"/>
          </a:xfrm>
          <a:prstGeom prst="rect">
            <a:avLst/>
          </a:prstGeom>
          <a:noFill/>
        </p:spPr>
        <p:txBody>
          <a:bodyPr wrap="square">
            <a:spAutoFit/>
          </a:bodyPr>
          <a:lstStyle/>
          <a:p>
            <a:r>
              <a:rPr sz="1400" b="1">
                <a:solidFill>
                  <a:srgbClr val="7C3AED"/>
                </a:solidFill>
              </a:rPr>
              <a:t>DỌN DẸP &amp; KẾ TOÁN</a:t>
            </a:r>
          </a:p>
        </p:txBody>
      </p:sp>
      <p:sp>
        <p:nvSpPr>
          <p:cNvPr id="23" name="TextBox 22"/>
          <p:cNvSpPr txBox="1"/>
          <p:nvPr/>
        </p:nvSpPr>
        <p:spPr>
          <a:xfrm>
            <a:off x="9637772" y="1371600"/>
            <a:ext cx="1883663" cy="320040"/>
          </a:xfrm>
          <a:prstGeom prst="rect">
            <a:avLst/>
          </a:prstGeom>
          <a:noFill/>
        </p:spPr>
        <p:txBody>
          <a:bodyPr wrap="none">
            <a:spAutoFit/>
          </a:bodyPr>
          <a:lstStyle/>
          <a:p>
            <a:r>
              <a:rPr b="1" sz="850">
                <a:solidFill>
                  <a:srgbClr val="7C3AED"/>
                </a:solidFill>
              </a:rPr>
              <a:t>GIAI ĐOẠN 5: SAU TRẢ PHÒNG</a:t>
            </a:r>
          </a:p>
        </p:txBody>
      </p:sp>
      <p:sp>
        <p:nvSpPr>
          <p:cNvPr id="24" name="TextBox 23"/>
          <p:cNvSpPr txBox="1"/>
          <p:nvPr/>
        </p:nvSpPr>
        <p:spPr>
          <a:xfrm>
            <a:off x="9656060" y="2194560"/>
            <a:ext cx="1847087" cy="3931920"/>
          </a:xfrm>
          <a:prstGeom prst="rect">
            <a:avLst/>
          </a:prstGeom>
          <a:noFill/>
        </p:spPr>
        <p:txBody>
          <a:bodyPr wrap="square">
            <a:spAutoFit/>
          </a:bodyPr>
          <a:lstStyle/>
          <a:p>
            <a:pPr>
              <a:spcBef>
                <a:spcPts val="300"/>
              </a:spcBef>
            </a:pPr>
            <a:r>
              <a:rPr sz="1000">
                <a:solidFill>
                  <a:srgbClr val="0F172A"/>
                </a:solidFill>
              </a:rPr>
              <a:t>➔  Buồng phòng dọn &amp; đổi sang Clean</a:t>
            </a:r>
          </a:p>
          <a:p>
            <a:pPr>
              <a:spcBef>
                <a:spcPts val="300"/>
              </a:spcBef>
            </a:pPr>
            <a:r>
              <a:rPr sz="1000">
                <a:solidFill>
                  <a:srgbClr val="0F172A"/>
                </a:solidFill>
              </a:rPr>
              <a:t>➔  Night Audit chốt sổ doanh thu</a:t>
            </a:r>
          </a:p>
          <a:p>
            <a:pPr>
              <a:spcBef>
                <a:spcPts val="300"/>
              </a:spcBef>
            </a:pPr>
            <a:r>
              <a:rPr sz="1000">
                <a:solidFill>
                  <a:srgbClr val="0F172A"/>
                </a:solidFill>
              </a:rPr>
              <a:t>➔  Đồng bộ Hệ thống Kế toán ngoài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REQUIREMENTS ENGINEERING</a:t>
            </a:r>
          </a:p>
          <a:p>
            <a:r>
              <a:rPr sz="2200" b="1">
                <a:solidFill>
                  <a:srgbClr val="FFFFFF"/>
                </a:solidFill>
              </a:rPr>
              <a:t>Part 1 — Câu 3: Yêu Cầu Ngầm Định (Tacit Requirements) &amp; Thẩm Định</a:t>
            </a:r>
          </a:p>
        </p:txBody>
      </p:sp>
      <p:sp>
        <p:nvSpPr>
          <p:cNvPr id="5" name="Rounded Rectangle 4"/>
          <p:cNvSpPr/>
          <p:nvPr/>
        </p:nvSpPr>
        <p:spPr>
          <a:xfrm>
            <a:off x="548640"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1A355E"/>
                </a:solidFill>
              </a:rPr>
              <a:t>1. YÊU CẦU NGẦM ĐỊNH (TACIT REQUIREMENTS) LÀ GÌ?</a:t>
            </a:r>
          </a:p>
        </p:txBody>
      </p:sp>
      <p:sp>
        <p:nvSpPr>
          <p:cNvPr id="7" name="TextBox 6"/>
          <p:cNvSpPr txBox="1"/>
          <p:nvPr/>
        </p:nvSpPr>
        <p:spPr>
          <a:xfrm>
            <a:off x="731520" y="1828800"/>
            <a:ext cx="4983480" cy="4389120"/>
          </a:xfrm>
          <a:prstGeom prst="rect">
            <a:avLst/>
          </a:prstGeom>
          <a:noFill/>
        </p:spPr>
        <p:txBody>
          <a:bodyPr wrap="square">
            <a:spAutoFit/>
          </a:bodyPr>
          <a:lstStyle/>
          <a:p>
            <a:pPr>
              <a:spcBef>
                <a:spcPts val="300"/>
              </a:spcBef>
            </a:pPr>
            <a:r>
              <a:rPr b="1" sz="1100">
                <a:solidFill>
                  <a:srgbClr val="1A355E"/>
                </a:solidFill>
              </a:rPr>
              <a:t>💡 Định nghĩa: </a:t>
            </a:r>
            <a:r>
              <a:rPr sz="1100">
                <a:solidFill>
                  <a:srgbClr val="0F172A"/>
                </a:solidFill>
              </a:rPr>
              <a:t>Là những yêu cầu, kỳ vọng mà người dùng coi là 'hiển nhiên phải có' (unstated obvious) dựa trên thói quen và kinh nghiệm làm việc, nên họ không chủ động nói ra trong các buổi phỏng vấn thu thập yêu cầu.</a:t>
            </a:r>
          </a:p>
          <a:p>
            <a:pPr>
              <a:spcBef>
                <a:spcPts val="300"/>
              </a:spcBef>
            </a:pPr>
            <a:r>
              <a:rPr b="1" sz="1100">
                <a:solidFill>
                  <a:srgbClr val="1A355E"/>
                </a:solidFill>
              </a:rPr>
              <a:t>💡 Bản chất: </a:t>
            </a:r>
            <a:r>
              <a:rPr sz="1100">
                <a:solidFill>
                  <a:srgbClr val="0F172A"/>
                </a:solidFill>
              </a:rPr>
              <a:t>Tồn tại dưới dạng tri thức ẩn (tacit knowledge); nếu thiếu, hệ thống vẫn 'đúng tính năng' trên giấy nhưng gây ức chế tột độ khi vận hành thực tế.</a:t>
            </a:r>
          </a:p>
          <a:p>
            <a:pPr>
              <a:spcBef>
                <a:spcPts val="300"/>
              </a:spcBef>
            </a:pPr>
            <a:r>
              <a:rPr b="1" sz="1100">
                <a:solidFill>
                  <a:srgbClr val="1A355E"/>
                </a:solidFill>
              </a:rPr>
              <a:t>💡 Ví dụ trong Hotel PMS: </a:t>
            </a:r>
            <a:r>
              <a:rPr sz="1100">
                <a:solidFill>
                  <a:srgbClr val="0F172A"/>
                </a:solidFill>
              </a:rPr>
              <a:t>Khi mất điện hoặc mạng chập chờn, dữ liệu nhập dở không được mất (Local Auto-save).</a:t>
            </a:r>
          </a:p>
          <a:p>
            <a:pPr>
              <a:spcBef>
                <a:spcPts val="300"/>
              </a:spcBef>
            </a:pPr>
            <a:r>
              <a:rPr b="1" sz="1100">
                <a:solidFill>
                  <a:srgbClr val="1A355E"/>
                </a:solidFill>
              </a:rPr>
              <a:t>💡 Ví dụ về thời gian: </a:t>
            </a:r>
            <a:r>
              <a:rPr sz="1100">
                <a:solidFill>
                  <a:srgbClr val="0F172A"/>
                </a:solidFill>
              </a:rPr>
              <a:t>Thao tác Check-in không được mất quá 45 giây để tránh làm khách mệt mỏi sau chuyến bay dài.</a:t>
            </a:r>
          </a:p>
          <a:p>
            <a:pPr>
              <a:spcBef>
                <a:spcPts val="300"/>
              </a:spcBef>
            </a:pPr>
            <a:r>
              <a:rPr b="1" sz="1100">
                <a:solidFill>
                  <a:srgbClr val="1A355E"/>
                </a:solidFill>
              </a:rPr>
              <a:t>💡 Ví dụ về ca đêm: </a:t>
            </a:r>
            <a:r>
              <a:rPr sz="1100">
                <a:solidFill>
                  <a:srgbClr val="0F172A"/>
                </a:solidFill>
              </a:rPr>
              <a:t>Giao diện phải có phím tắt nhanh và cỡ chữ rõ ràng cho nhân viên trực ca đêm dễ thao tác.</a:t>
            </a:r>
          </a:p>
        </p:txBody>
      </p:sp>
      <p:sp>
        <p:nvSpPr>
          <p:cNvPr id="8" name="Rounded Rectangle 7"/>
          <p:cNvSpPr/>
          <p:nvPr/>
        </p:nvSpPr>
        <p:spPr>
          <a:xfrm>
            <a:off x="6291072"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059669"/>
                </a:solidFill>
              </a:rPr>
              <a:t>2. CÓ THỂ THẨM ĐỊNH (VALIDATION CHECK) ĐƯỢC KHÔNG?</a:t>
            </a:r>
          </a:p>
        </p:txBody>
      </p:sp>
      <p:sp>
        <p:nvSpPr>
          <p:cNvPr id="10" name="TextBox 9"/>
          <p:cNvSpPr txBox="1"/>
          <p:nvPr/>
        </p:nvSpPr>
        <p:spPr>
          <a:xfrm>
            <a:off x="6473952" y="1828800"/>
            <a:ext cx="4983480" cy="4389120"/>
          </a:xfrm>
          <a:prstGeom prst="rect">
            <a:avLst/>
          </a:prstGeom>
          <a:noFill/>
        </p:spPr>
        <p:txBody>
          <a:bodyPr wrap="square">
            <a:spAutoFit/>
          </a:bodyPr>
          <a:lstStyle/>
          <a:p>
            <a:pPr>
              <a:spcBef>
                <a:spcPts val="300"/>
              </a:spcBef>
            </a:pPr>
            <a:r>
              <a:rPr b="1" sz="1100">
                <a:solidFill>
                  <a:srgbClr val="1A355E"/>
                </a:solidFill>
              </a:rPr>
              <a:t>✅ Khả thi không?: </a:t>
            </a:r>
            <a:r>
              <a:rPr sz="1100">
                <a:solidFill>
                  <a:srgbClr val="0F172A"/>
                </a:solidFill>
              </a:rPr>
              <a:t>HOÀN TOÀN CÓ THỂ, nhưng KHÔNG THỂ chỉ đọc lướt tài liệu đặc tả bằng văn bản thông thường (vì vốn dĩ chúng không được ghi ra!).</a:t>
            </a:r>
          </a:p>
          <a:p>
            <a:pPr>
              <a:spcBef>
                <a:spcPts val="300"/>
              </a:spcBef>
            </a:pPr>
            <a:r>
              <a:rPr b="1" sz="1100">
                <a:solidFill>
                  <a:srgbClr val="1A355E"/>
                </a:solidFill>
              </a:rPr>
              <a:t>✅ Phương pháp 1 — Quan sát thực địa (Shadowing): </a:t>
            </a:r>
            <a:r>
              <a:rPr sz="1100">
                <a:solidFill>
                  <a:srgbClr val="0F172A"/>
                </a:solidFill>
              </a:rPr>
              <a:t>Kỹ sư phần mềm ngồi trực tiếp tại quầy lễ tân khách sạn để quan sát nhân viên xử lý khách hàng thực tế vào giờ cao điểm.</a:t>
            </a:r>
          </a:p>
          <a:p>
            <a:pPr>
              <a:spcBef>
                <a:spcPts val="300"/>
              </a:spcBef>
            </a:pPr>
            <a:r>
              <a:rPr b="1" sz="1100">
                <a:solidFill>
                  <a:srgbClr val="1A355E"/>
                </a:solidFill>
              </a:rPr>
              <a:t>✅ Phương pháp 2 — Làm mẫu thử (Prototyping): </a:t>
            </a:r>
            <a:r>
              <a:rPr sz="1100">
                <a:solidFill>
                  <a:srgbClr val="0F172A"/>
                </a:solidFill>
              </a:rPr>
              <a:t>Giao bản mẫu giao diện tương tác (Interactive Mockup) cho người dùng trải nghiệm sớm; họ sẽ lập tức nhận ra thiếu sót ngầm.</a:t>
            </a:r>
          </a:p>
          <a:p>
            <a:pPr>
              <a:spcBef>
                <a:spcPts val="300"/>
              </a:spcBef>
            </a:pPr>
            <a:r>
              <a:rPr b="1" sz="1100">
                <a:solidFill>
                  <a:srgbClr val="1A355E"/>
                </a:solidFill>
              </a:rPr>
              <a:t>✅ Phương pháp 3 — Kịch bản đóng vai (Scenario Walkthrough): </a:t>
            </a:r>
            <a:r>
              <a:rPr sz="1100">
                <a:solidFill>
                  <a:srgbClr val="0F172A"/>
                </a:solidFill>
              </a:rPr>
              <a:t>Diễn tập các tình huống éo le (mất mạng, khách VIP đòi đổi phòng, thẻ ngân hàng lỗi) để kích hoạt tri thức ẩn.</a:t>
            </a:r>
          </a:p>
          <a:p>
            <a:pPr>
              <a:spcBef>
                <a:spcPts val="300"/>
              </a:spcBef>
            </a:pPr>
            <a:r>
              <a:rPr b="1" sz="1100">
                <a:solidFill>
                  <a:srgbClr val="1A355E"/>
                </a:solidFill>
              </a:rPr>
              <a:t>✅ Phương pháp 4 — Bảng kiểm chuẩn ngành (Standard Checklists): </a:t>
            </a:r>
            <a:r>
              <a:rPr sz="1100">
                <a:solidFill>
                  <a:srgbClr val="0F172A"/>
                </a:solidFill>
              </a:rPr>
              <a:t>Đối chiếu bộ tiêu chuẩn công nghiệp ngành khách sạn và tiêu chuẩn bảo mật thanh toán PCI-DSS quốc tế.</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DOMAIN MODELING</a:t>
            </a:r>
          </a:p>
          <a:p>
            <a:r>
              <a:rPr sz="2200" b="1">
                <a:solidFill>
                  <a:srgbClr val="FFFFFF"/>
                </a:solidFill>
              </a:rPr>
              <a:t>Part 1 — Câu 5: Phân Tích Khiếm Khuyết Domain Model Mẫu</a:t>
            </a:r>
          </a:p>
        </p:txBody>
      </p:sp>
      <p:sp>
        <p:nvSpPr>
          <p:cNvPr id="5" name="Rounded Rectangle 4"/>
          <p:cNvSpPr/>
          <p:nvPr/>
        </p:nvSpPr>
        <p:spPr>
          <a:xfrm>
            <a:off x="548640"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DC2626"/>
                </a:solidFill>
              </a:rPr>
              <a:t>MÔ HÌNH MIỀN CHO TRƯỚC (GIVEN MODEL)</a:t>
            </a:r>
          </a:p>
        </p:txBody>
      </p:sp>
      <p:sp>
        <p:nvSpPr>
          <p:cNvPr id="7" name="TextBox 6"/>
          <p:cNvSpPr txBox="1"/>
          <p:nvPr/>
        </p:nvSpPr>
        <p:spPr>
          <a:xfrm>
            <a:off x="731520" y="1828800"/>
            <a:ext cx="4983480" cy="4389120"/>
          </a:xfrm>
          <a:prstGeom prst="rect">
            <a:avLst/>
          </a:prstGeom>
          <a:noFill/>
        </p:spPr>
        <p:txBody>
          <a:bodyPr wrap="square">
            <a:spAutoFit/>
          </a:bodyPr>
          <a:lstStyle/>
          <a:p>
            <a:pPr>
              <a:spcBef>
                <a:spcPts val="300"/>
              </a:spcBef>
            </a:pPr>
            <a:r>
              <a:rPr b="1" sz="1200">
                <a:solidFill>
                  <a:srgbClr val="1A355E"/>
                </a:solidFill>
              </a:rPr>
              <a:t>⚠️ Cấu trúc cho trước: </a:t>
            </a:r>
            <a:r>
              <a:rPr sz="1200">
                <a:solidFill>
                  <a:srgbClr val="0F172A"/>
                </a:solidFill>
              </a:rPr>
              <a:t>Guest (1) ── (1..*) Stay (1) ── (1..*) Room State (1) ── (1) Room</a:t>
            </a:r>
          </a:p>
          <a:p>
            <a:pPr>
              <a:spcBef>
                <a:spcPts val="300"/>
              </a:spcBef>
            </a:pPr>
            <a:r>
              <a:rPr b="1" sz="1200">
                <a:solidFill>
                  <a:srgbClr val="1A355E"/>
                </a:solidFill>
              </a:rPr>
              <a:t>⚠️ Quan hệ dịch vụ: </a:t>
            </a:r>
            <a:r>
              <a:rPr sz="1200">
                <a:solidFill>
                  <a:srgbClr val="0F172A"/>
                </a:solidFill>
              </a:rPr>
              <a:t>Stay (1) ── (0..*) Service (1) ── (1) Service Type</a:t>
            </a:r>
          </a:p>
          <a:p>
            <a:pPr>
              <a:spcBef>
                <a:spcPts val="300"/>
              </a:spcBef>
            </a:pPr>
            <a:r>
              <a:rPr b="1" sz="1200">
                <a:solidFill>
                  <a:srgbClr val="1A355E"/>
                </a:solidFill>
              </a:rPr>
              <a:t>⚠️ Ký hiệu sử dụng: </a:t>
            </a:r>
            <a:r>
              <a:rPr sz="1200">
                <a:solidFill>
                  <a:srgbClr val="0F172A"/>
                </a:solidFill>
              </a:rPr>
              <a:t>Mô hình thực thể miền phân tích (Domain Entity Model theo phong cách Soren Lauesen, ký hiệu thực thể và liên kết dạng crow's foot/UML).</a:t>
            </a:r>
          </a:p>
          <a:p>
            <a:pPr>
              <a:spcBef>
                <a:spcPts val="300"/>
              </a:spcBef>
            </a:pPr>
            <a:r>
              <a:rPr b="1" sz="1200">
                <a:solidFill>
                  <a:srgbClr val="1A355E"/>
                </a:solidFill>
              </a:rPr>
              <a:t>⚠️ Tình trạng: </a:t>
            </a:r>
            <a:r>
              <a:rPr sz="1200">
                <a:solidFill>
                  <a:srgbClr val="0F172A"/>
                </a:solidFill>
              </a:rPr>
              <a:t>Mô hình này QUÁ SƠ SÀI VÀ THIẾU NHIỀU THỰC THỂ CỐT LÕI của một khách sạn thực tế.</a:t>
            </a:r>
          </a:p>
        </p:txBody>
      </p:sp>
      <p:sp>
        <p:nvSpPr>
          <p:cNvPr id="8" name="Rounded Rectangle 7"/>
          <p:cNvSpPr/>
          <p:nvPr/>
        </p:nvSpPr>
        <p:spPr>
          <a:xfrm>
            <a:off x="6291072"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D97706"/>
                </a:solidFill>
              </a:rPr>
              <a:t>4 KHIẾM KHUYẾT CỐT LÕI CẦN BỔ SUNG</a:t>
            </a:r>
          </a:p>
        </p:txBody>
      </p:sp>
      <p:sp>
        <p:nvSpPr>
          <p:cNvPr id="10" name="TextBox 9"/>
          <p:cNvSpPr txBox="1"/>
          <p:nvPr/>
        </p:nvSpPr>
        <p:spPr>
          <a:xfrm>
            <a:off x="6473952" y="1828800"/>
            <a:ext cx="4983480" cy="4389120"/>
          </a:xfrm>
          <a:prstGeom prst="rect">
            <a:avLst/>
          </a:prstGeom>
          <a:noFill/>
        </p:spPr>
        <p:txBody>
          <a:bodyPr wrap="square">
            <a:spAutoFit/>
          </a:bodyPr>
          <a:lstStyle/>
          <a:p>
            <a:pPr>
              <a:spcBef>
                <a:spcPts val="300"/>
              </a:spcBef>
            </a:pPr>
            <a:r>
              <a:rPr b="1" sz="1100">
                <a:solidFill>
                  <a:srgbClr val="1A355E"/>
                </a:solidFill>
              </a:rPr>
              <a:t>❌ 1. Thiếu Loại phòng (Room Type): </a:t>
            </a:r>
            <a:r>
              <a:rPr sz="1100">
                <a:solidFill>
                  <a:srgbClr val="0F172A"/>
                </a:solidFill>
              </a:rPr>
              <a:t>Khách sạn quản lý phòng theo Loại (Single, Double, Suite, Deluxe) với đơn giá và sức chứa khác nhau, không quản lý đặt trước theo từng số phòng cụ thể.</a:t>
            </a:r>
          </a:p>
          <a:p>
            <a:pPr>
              <a:spcBef>
                <a:spcPts val="300"/>
              </a:spcBef>
            </a:pPr>
            <a:r>
              <a:rPr b="1" sz="1100">
                <a:solidFill>
                  <a:srgbClr val="1A355E"/>
                </a:solidFill>
              </a:rPr>
              <a:t>❌ 2. Thiếu Thực thể Đặt phòng (Booking): </a:t>
            </a:r>
            <a:r>
              <a:rPr sz="1100">
                <a:solidFill>
                  <a:srgbClr val="0F172A"/>
                </a:solidFill>
              </a:rPr>
              <a:t>Trong mô hình mẫu chỉ có 'Stay' (chỉ tồn tại khi khách ĐÃ ĐẾN). Không thể lưu trữ thông tin khách đặt phòng trước vài tháng, thông tin tiền cọc hay hủy phòng.</a:t>
            </a:r>
          </a:p>
          <a:p>
            <a:pPr>
              <a:spcBef>
                <a:spcPts val="300"/>
              </a:spcBef>
            </a:pPr>
            <a:r>
              <a:rPr b="1" sz="1100">
                <a:solidFill>
                  <a:srgbClr val="1A355E"/>
                </a:solidFill>
              </a:rPr>
              <a:t>❌ 3. Không thể hỗ trợ Bán vượt phòng (Overbooking): </a:t>
            </a:r>
            <a:r>
              <a:rPr sz="1100">
                <a:solidFill>
                  <a:srgbClr val="0F172A"/>
                </a:solidFill>
              </a:rPr>
              <a:t>Nếu gán trực tiếp khách vào Room vật lý, số lượng đặt phòng bị khóa cứng ở 100% sức chứa vật lý, không thể áp dụng chính sách kinh doanh Overbooking (ví dụ bán 105%).</a:t>
            </a:r>
          </a:p>
          <a:p>
            <a:pPr>
              <a:spcBef>
                <a:spcPts val="300"/>
              </a:spcBef>
            </a:pPr>
            <a:r>
              <a:rPr b="1" sz="1100">
                <a:solidFill>
                  <a:srgbClr val="1A355E"/>
                </a:solidFill>
              </a:rPr>
              <a:t>❌ 4. Thiếu Thực thể Hóa đơn &amp; Thanh toán: </a:t>
            </a:r>
            <a:r>
              <a:rPr sz="1100">
                <a:solidFill>
                  <a:srgbClr val="0F172A"/>
                </a:solidFill>
              </a:rPr>
              <a:t>Chi phí bị gộp chung vào Stay mà không có Invoice/Payment để quản lý hóa đơn đỏ VAT, tách hóa đơn hay đối soát cổng thanh toán.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EXTENDED DOMAIN MODEL</a:t>
            </a:r>
          </a:p>
          <a:p>
            <a:r>
              <a:rPr sz="2200" b="1">
                <a:solidFill>
                  <a:srgbClr val="FFFFFF"/>
                </a:solidFill>
              </a:rPr>
              <a:t>Part 1 — Câu 5: Mô Hình Miền Mở Rộng (Room Type &amp; Overbooking)</a:t>
            </a:r>
          </a:p>
        </p:txBody>
      </p:sp>
      <p:sp>
        <p:nvSpPr>
          <p:cNvPr id="5" name="Rounded Rectangle 4"/>
          <p:cNvSpPr/>
          <p:nvPr/>
        </p:nvSpPr>
        <p:spPr>
          <a:xfrm>
            <a:off x="548640" y="1280160"/>
            <a:ext cx="62636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5897880" cy="320040"/>
          </a:xfrm>
          <a:prstGeom prst="rect">
            <a:avLst/>
          </a:prstGeom>
          <a:noFill/>
        </p:spPr>
        <p:txBody>
          <a:bodyPr wrap="square">
            <a:spAutoFit/>
          </a:bodyPr>
          <a:lstStyle/>
          <a:p>
            <a:r>
              <a:rPr sz="1400" b="1">
                <a:solidFill>
                  <a:srgbClr val="1A355E"/>
                </a:solidFill>
              </a:rPr>
              <a:t>CÁC THỰC THỂ &amp; QUAN HỆ TRONG MÔ HÌNH MỞ RỘNG</a:t>
            </a:r>
          </a:p>
        </p:txBody>
      </p:sp>
      <p:sp>
        <p:nvSpPr>
          <p:cNvPr id="7" name="TextBox 6"/>
          <p:cNvSpPr txBox="1"/>
          <p:nvPr/>
        </p:nvSpPr>
        <p:spPr>
          <a:xfrm>
            <a:off x="731520" y="1783080"/>
            <a:ext cx="5897880" cy="4480560"/>
          </a:xfrm>
          <a:prstGeom prst="rect">
            <a:avLst/>
          </a:prstGeom>
          <a:noFill/>
        </p:spPr>
        <p:txBody>
          <a:bodyPr wrap="square">
            <a:spAutoFit/>
          </a:bodyPr>
          <a:lstStyle/>
          <a:p>
            <a:pPr>
              <a:spcBef>
                <a:spcPts val="300"/>
              </a:spcBef>
            </a:pPr>
            <a:r>
              <a:rPr b="1" sz="1050">
                <a:solidFill>
                  <a:srgbClr val="1A355E"/>
                </a:solidFill>
              </a:rPr>
              <a:t>🔹 Guest (1) ── (0..*) Booking: </a:t>
            </a:r>
            <a:r>
              <a:rPr sz="1050">
                <a:solidFill>
                  <a:srgbClr val="0F172A"/>
                </a:solidFill>
              </a:rPr>
              <a:t>Một khách hàng có thể có nhiều lượt đặt phòng trong quá khứ/tương lai.</a:t>
            </a:r>
          </a:p>
          <a:p>
            <a:pPr>
              <a:spcBef>
                <a:spcPts val="300"/>
              </a:spcBef>
            </a:pPr>
            <a:r>
              <a:rPr b="1" sz="1050">
                <a:solidFill>
                  <a:srgbClr val="1A355E"/>
                </a:solidFill>
              </a:rPr>
              <a:t>🔹 Booking (1) ── (1..*) BookingLine: </a:t>
            </a:r>
            <a:r>
              <a:rPr sz="1050">
                <a:solidFill>
                  <a:srgbClr val="0F172A"/>
                </a:solidFill>
              </a:rPr>
              <a:t>Mỗi đơn đặt phòng có thể đặt nhiều phòng theo các Loại phòng (RoomType) và khoảng thời gian khác nhau.</a:t>
            </a:r>
          </a:p>
          <a:p>
            <a:pPr>
              <a:spcBef>
                <a:spcPts val="300"/>
              </a:spcBef>
            </a:pPr>
            <a:r>
              <a:rPr b="1" sz="1050">
                <a:solidFill>
                  <a:srgbClr val="1A355E"/>
                </a:solidFill>
              </a:rPr>
              <a:t>🔹 RoomType (1) ── (1..*) Room: </a:t>
            </a:r>
            <a:r>
              <a:rPr sz="1050">
                <a:solidFill>
                  <a:srgbClr val="0F172A"/>
                </a:solidFill>
              </a:rPr>
              <a:t>Một Loại phòng (Suite, Deluxe...) chứa nhiều phòng vật lý cụ thể (P301, P302).</a:t>
            </a:r>
          </a:p>
          <a:p>
            <a:pPr>
              <a:spcBef>
                <a:spcPts val="300"/>
              </a:spcBef>
            </a:pPr>
            <a:r>
              <a:rPr b="1" sz="1050">
                <a:solidFill>
                  <a:srgbClr val="1A355E"/>
                </a:solidFill>
              </a:rPr>
              <a:t>🔹 Booking (0..1) ── (0..1) Stay: </a:t>
            </a:r>
            <a:r>
              <a:rPr sz="1050">
                <a:solidFill>
                  <a:srgbClr val="0F172A"/>
                </a:solidFill>
              </a:rPr>
              <a:t>Khi khách đến Check-in, Booking chính thức kích hoạt tạo ra lượt lưu trú Stay.</a:t>
            </a:r>
          </a:p>
          <a:p>
            <a:pPr>
              <a:spcBef>
                <a:spcPts val="300"/>
              </a:spcBef>
            </a:pPr>
            <a:r>
              <a:rPr b="1" sz="1050">
                <a:solidFill>
                  <a:srgbClr val="1A355E"/>
                </a:solidFill>
              </a:rPr>
              <a:t>🔹 Stay (1) ── (1) Room: </a:t>
            </a:r>
            <a:r>
              <a:rPr sz="1050">
                <a:solidFill>
                  <a:srgbClr val="0F172A"/>
                </a:solidFill>
              </a:rPr>
              <a:t>Tại thời điểm Check-in, khách mới được gán phòng vật lý sạch cụ thể!</a:t>
            </a:r>
          </a:p>
          <a:p>
            <a:pPr>
              <a:spcBef>
                <a:spcPts val="300"/>
              </a:spcBef>
            </a:pPr>
            <a:r>
              <a:rPr b="1" sz="1050">
                <a:solidFill>
                  <a:srgbClr val="1A355E"/>
                </a:solidFill>
              </a:rPr>
              <a:t>🔹 Room (1) ── (1..*) RoomState: </a:t>
            </a:r>
            <a:r>
              <a:rPr sz="1050">
                <a:solidFill>
                  <a:srgbClr val="0F172A"/>
                </a:solidFill>
              </a:rPr>
              <a:t>Ghi nhận lịch sử trạng thái phòng (Sạch, Bẩn, Đang dọn, Đang bảo trì).</a:t>
            </a:r>
          </a:p>
          <a:p>
            <a:pPr>
              <a:spcBef>
                <a:spcPts val="300"/>
              </a:spcBef>
            </a:pPr>
            <a:r>
              <a:rPr b="1" sz="1050">
                <a:solidFill>
                  <a:srgbClr val="1A355E"/>
                </a:solidFill>
              </a:rPr>
              <a:t>🔹 Stay (1) ── (0..*) ServiceConsumption ── (1) Service: </a:t>
            </a:r>
            <a:r>
              <a:rPr sz="1050">
                <a:solidFill>
                  <a:srgbClr val="0F172A"/>
                </a:solidFill>
              </a:rPr>
              <a:t>Lưu vết dịch vụ phát sinh theo thời gian thực.</a:t>
            </a:r>
          </a:p>
          <a:p>
            <a:pPr>
              <a:spcBef>
                <a:spcPts val="300"/>
              </a:spcBef>
            </a:pPr>
            <a:r>
              <a:rPr b="1" sz="1050">
                <a:solidFill>
                  <a:srgbClr val="1A355E"/>
                </a:solidFill>
              </a:rPr>
              <a:t>🔹 Stay (1) ── (1) Invoice ── (1..*) Payment: </a:t>
            </a:r>
            <a:r>
              <a:rPr sz="1050">
                <a:solidFill>
                  <a:srgbClr val="0F172A"/>
                </a:solidFill>
              </a:rPr>
              <a:t>Quản lý hóa đơn quyết toán và phương thức thanh toán.</a:t>
            </a:r>
          </a:p>
        </p:txBody>
      </p:sp>
      <p:sp>
        <p:nvSpPr>
          <p:cNvPr id="8" name="Rounded Rectangle 7"/>
          <p:cNvSpPr/>
          <p:nvPr/>
        </p:nvSpPr>
        <p:spPr>
          <a:xfrm>
            <a:off x="6995160" y="1280160"/>
            <a:ext cx="4645152"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78040" y="1417320"/>
            <a:ext cx="4279392" cy="320040"/>
          </a:xfrm>
          <a:prstGeom prst="rect">
            <a:avLst/>
          </a:prstGeom>
          <a:noFill/>
        </p:spPr>
        <p:txBody>
          <a:bodyPr wrap="square">
            <a:spAutoFit/>
          </a:bodyPr>
          <a:lstStyle/>
          <a:p>
            <a:r>
              <a:rPr sz="1400" b="1">
                <a:solidFill>
                  <a:srgbClr val="059669"/>
                </a:solidFill>
              </a:rPr>
              <a:t>CƠ CHẾ KỸ THUẬT HỖ TRỢ OVERBOOKING</a:t>
            </a:r>
          </a:p>
        </p:txBody>
      </p:sp>
      <p:sp>
        <p:nvSpPr>
          <p:cNvPr id="10" name="TextBox 9"/>
          <p:cNvSpPr txBox="1"/>
          <p:nvPr/>
        </p:nvSpPr>
        <p:spPr>
          <a:xfrm>
            <a:off x="7178040" y="1828800"/>
            <a:ext cx="4279392" cy="4389120"/>
          </a:xfrm>
          <a:prstGeom prst="rect">
            <a:avLst/>
          </a:prstGeom>
          <a:noFill/>
        </p:spPr>
        <p:txBody>
          <a:bodyPr wrap="square">
            <a:spAutoFit/>
          </a:bodyPr>
          <a:lstStyle/>
          <a:p>
            <a:pPr>
              <a:spcBef>
                <a:spcPts val="300"/>
              </a:spcBef>
            </a:pPr>
            <a:r>
              <a:rPr b="1" sz="1100">
                <a:solidFill>
                  <a:srgbClr val="1A355E"/>
                </a:solidFill>
              </a:rPr>
              <a:t>⚙️ Bản chất tách rời (Decoupling): </a:t>
            </a:r>
            <a:r>
              <a:rPr sz="1100">
                <a:solidFill>
                  <a:srgbClr val="0F172A"/>
                </a:solidFill>
              </a:rPr>
              <a:t>Khi đặt trước (Booking), hệ thống chỉ giữ chỗ theo Loại phòng (RoomType Quota), KHÔNG gán số phòng vật lý cụ thể.</a:t>
            </a:r>
          </a:p>
          <a:p>
            <a:pPr>
              <a:spcBef>
                <a:spcPts val="300"/>
              </a:spcBef>
            </a:pPr>
            <a:r>
              <a:rPr b="1" sz="1100">
                <a:solidFill>
                  <a:srgbClr val="1A355E"/>
                </a:solidFill>
              </a:rPr>
              <a:t>⚙️ Tham số Overbooking Rate: </a:t>
            </a:r>
            <a:r>
              <a:rPr sz="1100">
                <a:solidFill>
                  <a:srgbClr val="0F172A"/>
                </a:solidFill>
              </a:rPr>
              <a:t>Mỗi RoomType được cài đặt tỷ lệ bán vượt (ví dụ: có 100 phòng Deluxe, cho phép bán 108 chỗ = 108% dựa trên xác suất hủy phòng lịch sử 8%).</a:t>
            </a:r>
          </a:p>
          <a:p>
            <a:pPr>
              <a:spcBef>
                <a:spcPts val="300"/>
              </a:spcBef>
            </a:pPr>
            <a:r>
              <a:rPr b="1" sz="1100">
                <a:solidFill>
                  <a:srgbClr val="1A355E"/>
                </a:solidFill>
              </a:rPr>
              <a:t>⚙️ Trạng thái Booking: </a:t>
            </a:r>
            <a:r>
              <a:rPr sz="1100">
                <a:solidFill>
                  <a:srgbClr val="0F172A"/>
                </a:solidFill>
              </a:rPr>
              <a:t>Bổ sung cờ 'IsOverbooked' hoặc 'Waitlist' để nhận diện các lượt đặt phòng nằm trong hạn mức vượt.</a:t>
            </a:r>
          </a:p>
          <a:p>
            <a:pPr>
              <a:spcBef>
                <a:spcPts val="300"/>
              </a:spcBef>
            </a:pPr>
            <a:r>
              <a:rPr b="1" sz="1100">
                <a:solidFill>
                  <a:srgbClr val="1A355E"/>
                </a:solidFill>
              </a:rPr>
              <a:t>⚙️ Khi Check-in: </a:t>
            </a:r>
            <a:r>
              <a:rPr sz="1100">
                <a:solidFill>
                  <a:srgbClr val="0F172A"/>
                </a:solidFill>
              </a:rPr>
              <a:t>Nếu khách đến đúng như dự kiến, hệ thống ưu tiên gán phòng cho khách thân thiết/VIP; nếu thiếu phòng sẽ kích hoạt quy trình điều chuyển khẩn cấp.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CHECK-IN TASK ANALYSIS</a:t>
            </a:r>
          </a:p>
          <a:p>
            <a:r>
              <a:rPr sz="2200" b="1">
                <a:solidFill>
                  <a:srgbClr val="FFFFFF"/>
                </a:solidFill>
              </a:rPr>
              <a:t>Part 1 — Câu 6: Phân Rã Tác Vụ Check-In (Đã Đặt vs Vãng Lai)</a:t>
            </a:r>
          </a:p>
        </p:txBody>
      </p:sp>
      <p:sp>
        <p:nvSpPr>
          <p:cNvPr id="5" name="Rounded Rectangle 4"/>
          <p:cNvSpPr/>
          <p:nvPr/>
        </p:nvSpPr>
        <p:spPr>
          <a:xfrm>
            <a:off x="548640" y="1188720"/>
            <a:ext cx="5349240" cy="32918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4983480" cy="320040"/>
          </a:xfrm>
          <a:prstGeom prst="rect">
            <a:avLst/>
          </a:prstGeom>
          <a:noFill/>
        </p:spPr>
        <p:txBody>
          <a:bodyPr wrap="square">
            <a:spAutoFit/>
          </a:bodyPr>
          <a:lstStyle/>
          <a:p>
            <a:r>
              <a:rPr sz="1400" b="1">
                <a:solidFill>
                  <a:srgbClr val="059669"/>
                </a:solidFill>
              </a:rPr>
              <a:t>1.2a: CHECK-IN KHÁCH ĐÃ ĐẶT (BOOKED)</a:t>
            </a:r>
          </a:p>
        </p:txBody>
      </p:sp>
      <p:sp>
        <p:nvSpPr>
          <p:cNvPr id="7" name="TextBox 6"/>
          <p:cNvSpPr txBox="1"/>
          <p:nvPr/>
        </p:nvSpPr>
        <p:spPr>
          <a:xfrm>
            <a:off x="731520" y="1600200"/>
            <a:ext cx="4983480" cy="2743200"/>
          </a:xfrm>
          <a:prstGeom prst="rect">
            <a:avLst/>
          </a:prstGeom>
          <a:noFill/>
        </p:spPr>
        <p:txBody>
          <a:bodyPr wrap="square">
            <a:spAutoFit/>
          </a:bodyPr>
          <a:lstStyle/>
          <a:p>
            <a:pPr>
              <a:spcBef>
                <a:spcPts val="300"/>
              </a:spcBef>
            </a:pPr>
            <a:r>
              <a:rPr b="1" sz="1050">
                <a:solidFill>
                  <a:srgbClr val="1A355E"/>
                </a:solidFill>
              </a:rPr>
              <a:t>✔️ Mục đích: </a:t>
            </a:r>
            <a:r>
              <a:rPr sz="1050">
                <a:solidFill>
                  <a:srgbClr val="0F172A"/>
                </a:solidFill>
              </a:rPr>
              <a:t>Xác nhận đặt chỗ có sẵn, bàn giao phòng và cấp thẻ từ siêu tốc.</a:t>
            </a:r>
          </a:p>
          <a:p>
            <a:pPr>
              <a:spcBef>
                <a:spcPts val="300"/>
              </a:spcBef>
            </a:pPr>
            <a:r>
              <a:rPr b="1" sz="1050">
                <a:solidFill>
                  <a:srgbClr val="1A355E"/>
                </a:solidFill>
              </a:rPr>
              <a:t>✔️ Điều kiện: </a:t>
            </a:r>
            <a:r>
              <a:rPr sz="1050">
                <a:solidFill>
                  <a:srgbClr val="0F172A"/>
                </a:solidFill>
              </a:rPr>
              <a:t>Khách đã có mã Booking trên hệ thống.</a:t>
            </a:r>
          </a:p>
          <a:p>
            <a:pPr>
              <a:spcBef>
                <a:spcPts val="300"/>
              </a:spcBef>
            </a:pPr>
            <a:r>
              <a:rPr b="1" sz="1050">
                <a:solidFill>
                  <a:srgbClr val="1A355E"/>
                </a:solidFill>
              </a:rPr>
              <a:t>✔️ Các bước: </a:t>
            </a:r>
            <a:r>
              <a:rPr sz="1050">
                <a:solidFill>
                  <a:srgbClr val="0F172A"/>
                </a:solidFill>
              </a:rPr>
              <a:t>1. Tìm nhanh mã đặt phòng/tên khách. 2. Đối chiếu CCCD/Hộ chiếu. 3. Hệ thống tự động gợi ý phòng sạch phù hợp RoomType. 4. Ký quỹ/quẹt thẻ cọc. 5. Giao thẻ từ phòng.</a:t>
            </a:r>
          </a:p>
          <a:p>
            <a:pPr>
              <a:spcBef>
                <a:spcPts val="300"/>
              </a:spcBef>
            </a:pPr>
            <a:r>
              <a:rPr b="1" sz="1050">
                <a:solidFill>
                  <a:srgbClr val="1A355E"/>
                </a:solidFill>
              </a:rPr>
              <a:t>✔️ Thời gian xử lý: </a:t>
            </a:r>
            <a:r>
              <a:rPr sz="1050">
                <a:solidFill>
                  <a:srgbClr val="0F172A"/>
                </a:solidFill>
              </a:rPr>
              <a:t>Cực nhanh: 30 – 45 giây/khách.</a:t>
            </a:r>
          </a:p>
        </p:txBody>
      </p:sp>
      <p:sp>
        <p:nvSpPr>
          <p:cNvPr id="8" name="Rounded Rectangle 7"/>
          <p:cNvSpPr/>
          <p:nvPr/>
        </p:nvSpPr>
        <p:spPr>
          <a:xfrm>
            <a:off x="6291072" y="1188720"/>
            <a:ext cx="5349240" cy="32918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325880"/>
            <a:ext cx="4983480" cy="320040"/>
          </a:xfrm>
          <a:prstGeom prst="rect">
            <a:avLst/>
          </a:prstGeom>
          <a:noFill/>
        </p:spPr>
        <p:txBody>
          <a:bodyPr wrap="square">
            <a:spAutoFit/>
          </a:bodyPr>
          <a:lstStyle/>
          <a:p>
            <a:r>
              <a:rPr sz="1400" b="1">
                <a:solidFill>
                  <a:srgbClr val="D97706"/>
                </a:solidFill>
              </a:rPr>
              <a:t>1.2b: CHECK-IN KHÁCH VÃNG LAI (NON-BOOKED)</a:t>
            </a:r>
          </a:p>
        </p:txBody>
      </p:sp>
      <p:sp>
        <p:nvSpPr>
          <p:cNvPr id="10" name="TextBox 9"/>
          <p:cNvSpPr txBox="1"/>
          <p:nvPr/>
        </p:nvSpPr>
        <p:spPr>
          <a:xfrm>
            <a:off x="6473952" y="1600200"/>
            <a:ext cx="4983480" cy="2743200"/>
          </a:xfrm>
          <a:prstGeom prst="rect">
            <a:avLst/>
          </a:prstGeom>
          <a:noFill/>
        </p:spPr>
        <p:txBody>
          <a:bodyPr wrap="square">
            <a:spAutoFit/>
          </a:bodyPr>
          <a:lstStyle/>
          <a:p>
            <a:pPr>
              <a:spcBef>
                <a:spcPts val="300"/>
              </a:spcBef>
            </a:pPr>
            <a:r>
              <a:rPr b="1" sz="1050">
                <a:solidFill>
                  <a:srgbClr val="1A355E"/>
                </a:solidFill>
              </a:rPr>
              <a:t>⚠️ Mục đích: </a:t>
            </a:r>
            <a:r>
              <a:rPr sz="1050">
                <a:solidFill>
                  <a:srgbClr val="0F172A"/>
                </a:solidFill>
              </a:rPr>
              <a:t>Tư vấn phòng trống, đàm phán giá, đăng ký hồ sơ mới và nhận phòng.</a:t>
            </a:r>
          </a:p>
          <a:p>
            <a:pPr>
              <a:spcBef>
                <a:spcPts val="300"/>
              </a:spcBef>
            </a:pPr>
            <a:r>
              <a:rPr b="1" sz="1050">
                <a:solidFill>
                  <a:srgbClr val="1A355E"/>
                </a:solidFill>
              </a:rPr>
              <a:t>⚠️ Điều kiện: </a:t>
            </a:r>
            <a:r>
              <a:rPr sz="1050">
                <a:solidFill>
                  <a:srgbClr val="0F172A"/>
                </a:solidFill>
              </a:rPr>
              <a:t>Khách đến đột xuất không báo trước; khách sạn còn phòng trống.</a:t>
            </a:r>
          </a:p>
          <a:p>
            <a:pPr>
              <a:spcBef>
                <a:spcPts val="300"/>
              </a:spcBef>
            </a:pPr>
            <a:r>
              <a:rPr b="1" sz="1050">
                <a:solidFill>
                  <a:srgbClr val="1A355E"/>
                </a:solidFill>
              </a:rPr>
              <a:t>⚠️ Các bước: </a:t>
            </a:r>
            <a:r>
              <a:rPr sz="1050">
                <a:solidFill>
                  <a:srgbClr val="0F172A"/>
                </a:solidFill>
              </a:rPr>
              <a:t>1. Hỏi nhu cầu (loại phòng, số đêm). 2. Kiểm tra phòng trống tức thời. 3. Đàm phán giá/chính sách. 4. Nhập đầy đủ thông tin cá nhân. 5. Thu tiền/cọc trước. 6. Cấp chìa khóa.</a:t>
            </a:r>
          </a:p>
          <a:p>
            <a:pPr>
              <a:spcBef>
                <a:spcPts val="300"/>
              </a:spcBef>
            </a:pPr>
            <a:r>
              <a:rPr b="1" sz="1050">
                <a:solidFill>
                  <a:srgbClr val="1A355E"/>
                </a:solidFill>
              </a:rPr>
              <a:t>⚠️ Thời gian xử lý: </a:t>
            </a:r>
            <a:r>
              <a:rPr sz="1050">
                <a:solidFill>
                  <a:srgbClr val="0F172A"/>
                </a:solidFill>
              </a:rPr>
              <a:t>Dài hơn: 3 – 5 phút/khách.</a:t>
            </a:r>
          </a:p>
        </p:txBody>
      </p:sp>
      <p:sp>
        <p:nvSpPr>
          <p:cNvPr id="11" name="Rounded Rectangle 10"/>
          <p:cNvSpPr/>
          <p:nvPr/>
        </p:nvSpPr>
        <p:spPr>
          <a:xfrm>
            <a:off x="548640" y="4617720"/>
            <a:ext cx="11091672" cy="182880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754880"/>
            <a:ext cx="10725912" cy="320040"/>
          </a:xfrm>
          <a:prstGeom prst="rect">
            <a:avLst/>
          </a:prstGeom>
          <a:noFill/>
        </p:spPr>
        <p:txBody>
          <a:bodyPr wrap="square">
            <a:spAutoFit/>
          </a:bodyPr>
          <a:lstStyle/>
          <a:p>
            <a:r>
              <a:rPr sz="1400" b="1">
                <a:solidFill>
                  <a:srgbClr val="1A355E"/>
                </a:solidFill>
              </a:rPr>
              <a:t>THẢO LUẬN: GIẢI PHÁP 1 TÁC VỤ (ONE-TASK) VS 2 TÁC VỤ (TWO-TASK)</a:t>
            </a:r>
          </a:p>
        </p:txBody>
      </p:sp>
      <p:sp>
        <p:nvSpPr>
          <p:cNvPr id="13" name="TextBox 12"/>
          <p:cNvSpPr txBox="1"/>
          <p:nvPr/>
        </p:nvSpPr>
        <p:spPr>
          <a:xfrm>
            <a:off x="731520" y="4983480"/>
            <a:ext cx="10698480" cy="1371600"/>
          </a:xfrm>
          <a:prstGeom prst="rect">
            <a:avLst/>
          </a:prstGeom>
          <a:noFill/>
        </p:spPr>
        <p:txBody>
          <a:bodyPr wrap="square">
            <a:spAutoFit/>
          </a:bodyPr>
          <a:lstStyle/>
          <a:p>
            <a:pPr>
              <a:spcBef>
                <a:spcPts val="300"/>
              </a:spcBef>
            </a:pPr>
            <a:r>
              <a:rPr b="1" sz="1050">
                <a:solidFill>
                  <a:srgbClr val="1A355E"/>
                </a:solidFill>
              </a:rPr>
              <a:t>💡 So sánh giải pháp: </a:t>
            </a:r>
            <a:r>
              <a:rPr sz="1050">
                <a:solidFill>
                  <a:srgbClr val="0F172A"/>
                </a:solidFill>
              </a:rPr>
              <a:t>Giải pháp 1 tác vụ xem 'vãng lai' là một biến thể (Variant) của Check-In chung; Giải pháp 2 tác vụ tách thành 2 quy trình riêng biệt.</a:t>
            </a:r>
          </a:p>
          <a:p>
            <a:pPr>
              <a:spcBef>
                <a:spcPts val="300"/>
              </a:spcBef>
            </a:pPr>
            <a:r>
              <a:rPr b="1" sz="1050">
                <a:solidFill>
                  <a:srgbClr val="1A355E"/>
                </a:solidFill>
              </a:rPr>
              <a:t>💡 Cách tiếp cận nào phù hợp hơn?: </a:t>
            </a:r>
            <a:r>
              <a:rPr sz="1050">
                <a:solidFill>
                  <a:srgbClr val="0F172A"/>
                </a:solidFill>
              </a:rPr>
              <a:t>Tại TẦNG PHÂN TÍCH MIỀN (Domain Level), giải pháp 1 TÁC VỤ (ONE-TASK CÓ BIẾN THỂ) TỐT HƠN vì cùng chung mục tiêu nghiệp vụ ('Giao phòng cho khách'). Giúp lễ tân xử lý linh hoạt khi khách tưởng đã đặt mà thực tế bị hủy mà không cần thoát màn hình.</a:t>
            </a:r>
          </a:p>
          <a:p>
            <a:pPr>
              <a:spcBef>
                <a:spcPts val="300"/>
              </a:spcBef>
            </a:pPr>
            <a:r>
              <a:rPr b="1" sz="1050">
                <a:solidFill>
                  <a:srgbClr val="1A355E"/>
                </a:solidFill>
              </a:rPr>
              <a:t>💡 Tại Tầng Giao diện (UI Design): </a:t>
            </a:r>
            <a:r>
              <a:rPr sz="1050">
                <a:solidFill>
                  <a:srgbClr val="0F172A"/>
                </a:solidFill>
              </a:rPr>
              <a:t>Nên cung cấp 2 chế độ: Chế độ 'Nhận phòng nhanh' (Fast-track) cho khách có mã đặt phòng và 'Khách vãng lai' (Walk-in Wizard) để tối ưu trải nghiệm.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EMERGENCY PROTOCOL</a:t>
            </a:r>
          </a:p>
          <a:p>
            <a:r>
              <a:rPr sz="2200" b="1">
                <a:solidFill>
                  <a:srgbClr val="FFFFFF"/>
                </a:solidFill>
              </a:rPr>
              <a:t>Part 1 — Câu 7: Xử Lý Khủng Hoảng Vượt Hạn Mức Phòng (Overbooking)</a:t>
            </a:r>
          </a:p>
        </p:txBody>
      </p:sp>
      <p:sp>
        <p:nvSpPr>
          <p:cNvPr id="5" name="Rounded Rectangle 4"/>
          <p:cNvSpPr/>
          <p:nvPr/>
        </p:nvSpPr>
        <p:spPr>
          <a:xfrm>
            <a:off x="548640"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DC2626"/>
                </a:solidFill>
              </a:rPr>
              <a:t>TÌNH HUỐNG KHỦNG HOẢNG &amp; ĐIỀU KIỆN KÍCH HOẠT</a:t>
            </a:r>
          </a:p>
        </p:txBody>
      </p:sp>
      <p:sp>
        <p:nvSpPr>
          <p:cNvPr id="7" name="TextBox 6"/>
          <p:cNvSpPr txBox="1"/>
          <p:nvPr/>
        </p:nvSpPr>
        <p:spPr>
          <a:xfrm>
            <a:off x="731520" y="1828800"/>
            <a:ext cx="4983480" cy="4389120"/>
          </a:xfrm>
          <a:prstGeom prst="rect">
            <a:avLst/>
          </a:prstGeom>
          <a:noFill/>
        </p:spPr>
        <p:txBody>
          <a:bodyPr wrap="square">
            <a:spAutoFit/>
          </a:bodyPr>
          <a:lstStyle/>
          <a:p>
            <a:pPr>
              <a:spcBef>
                <a:spcPts val="300"/>
              </a:spcBef>
            </a:pPr>
            <a:r>
              <a:rPr b="1" sz="1150">
                <a:solidFill>
                  <a:srgbClr val="1A355E"/>
                </a:solidFill>
              </a:rPr>
              <a:t>🚨 Bối cảnh Overbooking: </a:t>
            </a:r>
            <a:r>
              <a:rPr sz="1150">
                <a:solidFill>
                  <a:srgbClr val="0F172A"/>
                </a:solidFill>
              </a:rPr>
              <a:t>Khách sạn bán vượt 105% công suất phòng. Thực tế 100% khách đều đến nhận phòng dẫn đến HẾT SẠCH PHÒNG VẬT LÝ trong khi vẫn còn khách cầm đặt phòng hợp lệ.</a:t>
            </a:r>
          </a:p>
          <a:p>
            <a:pPr>
              <a:spcBef>
                <a:spcPts val="300"/>
              </a:spcBef>
            </a:pPr>
            <a:r>
              <a:rPr b="1" sz="1150">
                <a:solidFill>
                  <a:srgbClr val="1A355E"/>
                </a:solidFill>
              </a:rPr>
              <a:t>🚨 Hậu quả nghiêm trọng: </a:t>
            </a:r>
            <a:r>
              <a:rPr sz="1150">
                <a:solidFill>
                  <a:srgbClr val="0F172A"/>
                </a:solidFill>
              </a:rPr>
              <a:t>Khách hàng bức xúc, tranh cãi gay gắt tại sảnh, tổn hại nghiêm trọng uy tín thương hiệu khách sạn nếu không có phương án ứng cứu chuyên nghiệp.</a:t>
            </a:r>
          </a:p>
          <a:p>
            <a:pPr>
              <a:spcBef>
                <a:spcPts val="300"/>
              </a:spcBef>
            </a:pPr>
            <a:r>
              <a:rPr b="1" sz="1150">
                <a:solidFill>
                  <a:srgbClr val="1A355E"/>
                </a:solidFill>
              </a:rPr>
              <a:t>🚨 Quy tắc lựa chọn khách điều chuyển (Bumping Criteria): </a:t>
            </a:r>
            <a:r>
              <a:rPr sz="1150">
                <a:solidFill>
                  <a:srgbClr val="0F172A"/>
                </a:solidFill>
              </a:rPr>
              <a:t>TUYỆT ĐỐI KHÔNG điều chuyển khách VIP, khách thành viên thân thiết, đoàn gia đình có trẻ nhỏ/người già, hoặc khách ở dài ngày. Ưu tiên điều chuyển khách đặt qua bên thứ 3 (OTA giá rẻ), khách ở 1 đêm và đến muộn nhất.</a:t>
            </a:r>
          </a:p>
        </p:txBody>
      </p:sp>
      <p:sp>
        <p:nvSpPr>
          <p:cNvPr id="8" name="Rounded Rectangle 7"/>
          <p:cNvSpPr/>
          <p:nvPr/>
        </p:nvSpPr>
        <p:spPr>
          <a:xfrm>
            <a:off x="6291072"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059669"/>
                </a:solidFill>
              </a:rPr>
              <a:t>QUY TRÌNH 4 BƯỚC XỬ LÝ KHẨN CẤP (WALKING PROTOCOL)</a:t>
            </a:r>
          </a:p>
        </p:txBody>
      </p:sp>
      <p:sp>
        <p:nvSpPr>
          <p:cNvPr id="10" name="TextBox 9"/>
          <p:cNvSpPr txBox="1"/>
          <p:nvPr/>
        </p:nvSpPr>
        <p:spPr>
          <a:xfrm>
            <a:off x="6473952" y="1828800"/>
            <a:ext cx="4983480" cy="4389120"/>
          </a:xfrm>
          <a:prstGeom prst="rect">
            <a:avLst/>
          </a:prstGeom>
          <a:noFill/>
        </p:spPr>
        <p:txBody>
          <a:bodyPr wrap="square">
            <a:spAutoFit/>
          </a:bodyPr>
          <a:lstStyle/>
          <a:p>
            <a:pPr>
              <a:spcBef>
                <a:spcPts val="300"/>
              </a:spcBef>
            </a:pPr>
            <a:r>
              <a:rPr b="1" sz="1100">
                <a:solidFill>
                  <a:srgbClr val="1A355E"/>
                </a:solidFill>
              </a:rPr>
              <a:t>✅ Bước 1: Hệ thống phát hiện &amp; Cảnh báo: </a:t>
            </a:r>
            <a:r>
              <a:rPr sz="1100">
                <a:solidFill>
                  <a:srgbClr val="0F172A"/>
                </a:solidFill>
              </a:rPr>
              <a:t>PMS tự động phát tín hiệu đỏ khi tỷ lệ phòng trống = 0; đề xuất danh sách ứng viên có thể điều chuyển theo thuật toán tối ưu.</a:t>
            </a:r>
          </a:p>
          <a:p>
            <a:pPr>
              <a:spcBef>
                <a:spcPts val="300"/>
              </a:spcBef>
            </a:pPr>
            <a:r>
              <a:rPr b="1" sz="1100">
                <a:solidFill>
                  <a:srgbClr val="1A355E"/>
                </a:solidFill>
              </a:rPr>
              <a:t>✅ Bước 2: Tìm khách sạn đối tác tương đương (Relocation): </a:t>
            </a:r>
            <a:r>
              <a:rPr sz="1100">
                <a:solidFill>
                  <a:srgbClr val="0F172A"/>
                </a:solidFill>
              </a:rPr>
              <a:t>PMS tự động gọi API mạng lưới khách sạn liên kết/cùng tập đoàn để tìm phòng trống tiêu chuẩn tương đương hoặc cao hơn (4 sao lên 5 sao).</a:t>
            </a:r>
          </a:p>
          <a:p>
            <a:pPr>
              <a:spcBef>
                <a:spcPts val="300"/>
              </a:spcBef>
            </a:pPr>
            <a:r>
              <a:rPr b="1" sz="1100">
                <a:solidFill>
                  <a:srgbClr val="1A355E"/>
                </a:solidFill>
              </a:rPr>
              <a:t>✅ Bước 3: Gói đền bù &amp; Hỗ trợ chu đáo: </a:t>
            </a:r>
            <a:r>
              <a:rPr sz="1100">
                <a:solidFill>
                  <a:srgbClr val="0F172A"/>
                </a:solidFill>
              </a:rPr>
              <a:t>Cung cấp xe riêng đưa đón miễn phí sang khách sạn mới; Miễn phí hoàn toàn đêm đầu tiên; Tặng voucher giảm giá 50% cho lần lưu trú tiếp theo.</a:t>
            </a:r>
          </a:p>
          <a:p>
            <a:pPr>
              <a:spcBef>
                <a:spcPts val="300"/>
              </a:spcBef>
            </a:pPr>
            <a:r>
              <a:rPr b="1" sz="1100">
                <a:solidFill>
                  <a:srgbClr val="1A355E"/>
                </a:solidFill>
              </a:rPr>
              <a:t>✅ Bước 4: Cập nhật hệ thống &amp; Kết chuyển chi phí: </a:t>
            </a:r>
            <a:r>
              <a:rPr sz="1100">
                <a:solidFill>
                  <a:srgbClr val="0F172A"/>
                </a:solidFill>
              </a:rPr>
              <a:t>Chuyển trạng thái Booking sang 'Walked / Relocated', tự động hạch toán chi phí phòng đền bù vào Quỹ chi phí rủi ro Overbooking của khách sạn.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SOFTWARE QUALITY ATTRIBUTES</a:t>
            </a:r>
          </a:p>
          <a:p>
            <a:r>
              <a:rPr sz="2200" b="1">
                <a:solidFill>
                  <a:srgbClr val="FFFFFF"/>
                </a:solidFill>
              </a:rPr>
              <a:t>Part 2 — Câu 1: Hệ Thống Các Thuộc Tính Chất Lượng Phần Mềm</a:t>
            </a:r>
          </a:p>
        </p:txBody>
      </p:sp>
      <p:sp>
        <p:nvSpPr>
          <p:cNvPr id="5" name="Rounded Rectangle 4"/>
          <p:cNvSpPr/>
          <p:nvPr/>
        </p:nvSpPr>
        <p:spPr>
          <a:xfrm>
            <a:off x="548640" y="128016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2267712" cy="320040"/>
          </a:xfrm>
          <a:prstGeom prst="rect">
            <a:avLst/>
          </a:prstGeom>
          <a:noFill/>
        </p:spPr>
        <p:txBody>
          <a:bodyPr wrap="square">
            <a:spAutoFit/>
          </a:bodyPr>
          <a:lstStyle/>
          <a:p>
            <a:r>
              <a:rPr sz="1400" b="1">
                <a:solidFill>
                  <a:srgbClr val="1A355E"/>
                </a:solidFill>
              </a:rPr>
              <a:t>1. Maintainability (Bảo trì)</a:t>
            </a:r>
          </a:p>
        </p:txBody>
      </p:sp>
      <p:sp>
        <p:nvSpPr>
          <p:cNvPr id="7" name="TextBox 6"/>
          <p:cNvSpPr txBox="1"/>
          <p:nvPr/>
        </p:nvSpPr>
        <p:spPr>
          <a:xfrm>
            <a:off x="685800" y="1828800"/>
            <a:ext cx="2359152" cy="1737360"/>
          </a:xfrm>
          <a:prstGeom prst="rect">
            <a:avLst/>
          </a:prstGeom>
          <a:noFill/>
        </p:spPr>
        <p:txBody>
          <a:bodyPr wrap="square">
            <a:spAutoFit/>
          </a:bodyPr>
          <a:lstStyle/>
          <a:p>
            <a:pPr>
              <a:spcBef>
                <a:spcPts val="300"/>
              </a:spcBef>
            </a:pPr>
            <a:r>
              <a:rPr sz="1050">
                <a:solidFill>
                  <a:srgbClr val="0F172A"/>
                </a:solidFill>
              </a:rPr>
              <a:t>🔹  Khả năng dễ dàng sửa lỗi, cập nhật tính năng mới hoặc thích ứng với môi trường công nghệ mới mà không gây lỗi phụ.</a:t>
            </a:r>
          </a:p>
        </p:txBody>
      </p:sp>
      <p:sp>
        <p:nvSpPr>
          <p:cNvPr id="8" name="Rounded Rectangle 7"/>
          <p:cNvSpPr/>
          <p:nvPr/>
        </p:nvSpPr>
        <p:spPr>
          <a:xfrm>
            <a:off x="3364992" y="128016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547872" y="1417320"/>
            <a:ext cx="2267712" cy="320040"/>
          </a:xfrm>
          <a:prstGeom prst="rect">
            <a:avLst/>
          </a:prstGeom>
          <a:noFill/>
        </p:spPr>
        <p:txBody>
          <a:bodyPr wrap="square">
            <a:spAutoFit/>
          </a:bodyPr>
          <a:lstStyle/>
          <a:p>
            <a:r>
              <a:rPr sz="1400" b="1">
                <a:solidFill>
                  <a:srgbClr val="059669"/>
                </a:solidFill>
              </a:rPr>
              <a:t>2. Reliability (Tin cậy)</a:t>
            </a:r>
          </a:p>
        </p:txBody>
      </p:sp>
      <p:sp>
        <p:nvSpPr>
          <p:cNvPr id="10" name="TextBox 9"/>
          <p:cNvSpPr txBox="1"/>
          <p:nvPr/>
        </p:nvSpPr>
        <p:spPr>
          <a:xfrm>
            <a:off x="3502152" y="1828800"/>
            <a:ext cx="2359152" cy="1737360"/>
          </a:xfrm>
          <a:prstGeom prst="rect">
            <a:avLst/>
          </a:prstGeom>
          <a:noFill/>
        </p:spPr>
        <p:txBody>
          <a:bodyPr wrap="square">
            <a:spAutoFit/>
          </a:bodyPr>
          <a:lstStyle/>
          <a:p>
            <a:pPr>
              <a:spcBef>
                <a:spcPts val="300"/>
              </a:spcBef>
            </a:pPr>
            <a:r>
              <a:rPr sz="1050">
                <a:solidFill>
                  <a:srgbClr val="0F172A"/>
                </a:solidFill>
              </a:rPr>
              <a:t>🔹  Khả năng hệ thống thực hiện đúng chức năng trong điều kiện vận hành xác định suốt một khoảng thời gian quy định.</a:t>
            </a:r>
          </a:p>
        </p:txBody>
      </p:sp>
      <p:sp>
        <p:nvSpPr>
          <p:cNvPr id="11" name="Rounded Rectangle 10"/>
          <p:cNvSpPr/>
          <p:nvPr/>
        </p:nvSpPr>
        <p:spPr>
          <a:xfrm>
            <a:off x="6181344" y="128016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64224" y="1417320"/>
            <a:ext cx="2267712" cy="320040"/>
          </a:xfrm>
          <a:prstGeom prst="rect">
            <a:avLst/>
          </a:prstGeom>
          <a:noFill/>
        </p:spPr>
        <p:txBody>
          <a:bodyPr wrap="square">
            <a:spAutoFit/>
          </a:bodyPr>
          <a:lstStyle/>
          <a:p>
            <a:r>
              <a:rPr sz="1400" b="1">
                <a:solidFill>
                  <a:srgbClr val="DC2626"/>
                </a:solidFill>
              </a:rPr>
              <a:t>3. Security (An toàn/Bảo mật)</a:t>
            </a:r>
          </a:p>
        </p:txBody>
      </p:sp>
      <p:sp>
        <p:nvSpPr>
          <p:cNvPr id="13" name="TextBox 12"/>
          <p:cNvSpPr txBox="1"/>
          <p:nvPr/>
        </p:nvSpPr>
        <p:spPr>
          <a:xfrm>
            <a:off x="6318504" y="1828800"/>
            <a:ext cx="2359152" cy="1737360"/>
          </a:xfrm>
          <a:prstGeom prst="rect">
            <a:avLst/>
          </a:prstGeom>
          <a:noFill/>
        </p:spPr>
        <p:txBody>
          <a:bodyPr wrap="square">
            <a:spAutoFit/>
          </a:bodyPr>
          <a:lstStyle/>
          <a:p>
            <a:pPr>
              <a:spcBef>
                <a:spcPts val="300"/>
              </a:spcBef>
            </a:pPr>
            <a:r>
              <a:rPr sz="1050">
                <a:solidFill>
                  <a:srgbClr val="0F172A"/>
                </a:solidFill>
              </a:rPr>
              <a:t>🔹  Bảo vệ thông tin dữ liệu khỏi sự truy cập, chỉnh sửa trái phép (Tam giác CIA: Bảo mật, Toàn vẹn, Khả dụng).</a:t>
            </a:r>
          </a:p>
        </p:txBody>
      </p:sp>
      <p:sp>
        <p:nvSpPr>
          <p:cNvPr id="14" name="Rounded Rectangle 13"/>
          <p:cNvSpPr/>
          <p:nvPr/>
        </p:nvSpPr>
        <p:spPr>
          <a:xfrm>
            <a:off x="8997696" y="128016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80576" y="1417320"/>
            <a:ext cx="2267712" cy="320040"/>
          </a:xfrm>
          <a:prstGeom prst="rect">
            <a:avLst/>
          </a:prstGeom>
          <a:noFill/>
        </p:spPr>
        <p:txBody>
          <a:bodyPr wrap="square">
            <a:spAutoFit/>
          </a:bodyPr>
          <a:lstStyle/>
          <a:p>
            <a:r>
              <a:rPr sz="1400" b="1">
                <a:solidFill>
                  <a:srgbClr val="2563EB"/>
                </a:solidFill>
              </a:rPr>
              <a:t>4. Performance / Efficiency</a:t>
            </a:r>
          </a:p>
        </p:txBody>
      </p:sp>
      <p:sp>
        <p:nvSpPr>
          <p:cNvPr id="16" name="TextBox 15"/>
          <p:cNvSpPr txBox="1"/>
          <p:nvPr/>
        </p:nvSpPr>
        <p:spPr>
          <a:xfrm>
            <a:off x="9134856" y="1828800"/>
            <a:ext cx="2359152" cy="1737360"/>
          </a:xfrm>
          <a:prstGeom prst="rect">
            <a:avLst/>
          </a:prstGeom>
          <a:noFill/>
        </p:spPr>
        <p:txBody>
          <a:bodyPr wrap="square">
            <a:spAutoFit/>
          </a:bodyPr>
          <a:lstStyle/>
          <a:p>
            <a:pPr>
              <a:spcBef>
                <a:spcPts val="300"/>
              </a:spcBef>
            </a:pPr>
            <a:r>
              <a:rPr sz="1050">
                <a:solidFill>
                  <a:srgbClr val="0F172A"/>
                </a:solidFill>
              </a:rPr>
              <a:t>🔹  Thời gian đáp ứng (Response Time), độ trễ (Latency) và mức tiêu hao tài nguyên (CPU, RAM, Băng thông).</a:t>
            </a:r>
          </a:p>
        </p:txBody>
      </p:sp>
      <p:sp>
        <p:nvSpPr>
          <p:cNvPr id="17" name="Rounded Rectangle 16"/>
          <p:cNvSpPr/>
          <p:nvPr/>
        </p:nvSpPr>
        <p:spPr>
          <a:xfrm>
            <a:off x="548640" y="393192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4069080"/>
            <a:ext cx="2267712" cy="320040"/>
          </a:xfrm>
          <a:prstGeom prst="rect">
            <a:avLst/>
          </a:prstGeom>
          <a:noFill/>
        </p:spPr>
        <p:txBody>
          <a:bodyPr wrap="square">
            <a:spAutoFit/>
          </a:bodyPr>
          <a:lstStyle/>
          <a:p>
            <a:r>
              <a:rPr sz="1400" b="1">
                <a:solidFill>
                  <a:srgbClr val="7C3AED"/>
                </a:solidFill>
              </a:rPr>
              <a:t>5. Usability (Khả dụng/Dễ dùng)</a:t>
            </a:r>
          </a:p>
        </p:txBody>
      </p:sp>
      <p:sp>
        <p:nvSpPr>
          <p:cNvPr id="19" name="TextBox 18"/>
          <p:cNvSpPr txBox="1"/>
          <p:nvPr/>
        </p:nvSpPr>
        <p:spPr>
          <a:xfrm>
            <a:off x="685800" y="4480560"/>
            <a:ext cx="2359152" cy="1737360"/>
          </a:xfrm>
          <a:prstGeom prst="rect">
            <a:avLst/>
          </a:prstGeom>
          <a:noFill/>
        </p:spPr>
        <p:txBody>
          <a:bodyPr wrap="square">
            <a:spAutoFit/>
          </a:bodyPr>
          <a:lstStyle/>
          <a:p>
            <a:pPr>
              <a:spcBef>
                <a:spcPts val="300"/>
              </a:spcBef>
            </a:pPr>
            <a:r>
              <a:rPr sz="1050">
                <a:solidFill>
                  <a:srgbClr val="0F172A"/>
                </a:solidFill>
              </a:rPr>
              <a:t>🔹  Mức độ dễ học, dễ vận hành, giao diện trực quan và khả năng ngăn chặn sai sót cho người sử dụng.</a:t>
            </a:r>
          </a:p>
        </p:txBody>
      </p:sp>
      <p:sp>
        <p:nvSpPr>
          <p:cNvPr id="20" name="Rounded Rectangle 19"/>
          <p:cNvSpPr/>
          <p:nvPr/>
        </p:nvSpPr>
        <p:spPr>
          <a:xfrm>
            <a:off x="3364992" y="393192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47872" y="4069080"/>
            <a:ext cx="2267712" cy="320040"/>
          </a:xfrm>
          <a:prstGeom prst="rect">
            <a:avLst/>
          </a:prstGeom>
          <a:noFill/>
        </p:spPr>
        <p:txBody>
          <a:bodyPr wrap="square">
            <a:spAutoFit/>
          </a:bodyPr>
          <a:lstStyle/>
          <a:p>
            <a:r>
              <a:rPr sz="1400" b="1">
                <a:solidFill>
                  <a:srgbClr val="06B6D4"/>
                </a:solidFill>
              </a:rPr>
              <a:t>6. Availability (Sẵn sàng)</a:t>
            </a:r>
          </a:p>
        </p:txBody>
      </p:sp>
      <p:sp>
        <p:nvSpPr>
          <p:cNvPr id="22" name="TextBox 21"/>
          <p:cNvSpPr txBox="1"/>
          <p:nvPr/>
        </p:nvSpPr>
        <p:spPr>
          <a:xfrm>
            <a:off x="3502152" y="4480560"/>
            <a:ext cx="2359152" cy="1737360"/>
          </a:xfrm>
          <a:prstGeom prst="rect">
            <a:avLst/>
          </a:prstGeom>
          <a:noFill/>
        </p:spPr>
        <p:txBody>
          <a:bodyPr wrap="square">
            <a:spAutoFit/>
          </a:bodyPr>
          <a:lstStyle/>
          <a:p>
            <a:pPr>
              <a:spcBef>
                <a:spcPts val="300"/>
              </a:spcBef>
            </a:pPr>
            <a:r>
              <a:rPr sz="1050">
                <a:solidFill>
                  <a:srgbClr val="0F172A"/>
                </a:solidFill>
              </a:rPr>
              <a:t>🔹  Tỷ lệ thời gian hệ thống hoạt động bình thường trên tổng thời gian (ví dụ 99.9% uptime, MTTR tối thiểu).</a:t>
            </a:r>
          </a:p>
        </p:txBody>
      </p:sp>
      <p:sp>
        <p:nvSpPr>
          <p:cNvPr id="23" name="Rounded Rectangle 22"/>
          <p:cNvSpPr/>
          <p:nvPr/>
        </p:nvSpPr>
        <p:spPr>
          <a:xfrm>
            <a:off x="6181344" y="393192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64224" y="4069080"/>
            <a:ext cx="2267712" cy="320040"/>
          </a:xfrm>
          <a:prstGeom prst="rect">
            <a:avLst/>
          </a:prstGeom>
          <a:noFill/>
        </p:spPr>
        <p:txBody>
          <a:bodyPr wrap="square">
            <a:spAutoFit/>
          </a:bodyPr>
          <a:lstStyle/>
          <a:p>
            <a:r>
              <a:rPr sz="1400" b="1">
                <a:solidFill>
                  <a:srgbClr val="D97706"/>
                </a:solidFill>
              </a:rPr>
              <a:t>7. Scalability (Mở rộng)</a:t>
            </a:r>
          </a:p>
        </p:txBody>
      </p:sp>
      <p:sp>
        <p:nvSpPr>
          <p:cNvPr id="25" name="TextBox 24"/>
          <p:cNvSpPr txBox="1"/>
          <p:nvPr/>
        </p:nvSpPr>
        <p:spPr>
          <a:xfrm>
            <a:off x="6318504" y="4480560"/>
            <a:ext cx="2359152" cy="1737360"/>
          </a:xfrm>
          <a:prstGeom prst="rect">
            <a:avLst/>
          </a:prstGeom>
          <a:noFill/>
        </p:spPr>
        <p:txBody>
          <a:bodyPr wrap="square">
            <a:spAutoFit/>
          </a:bodyPr>
          <a:lstStyle/>
          <a:p>
            <a:pPr>
              <a:spcBef>
                <a:spcPts val="300"/>
              </a:spcBef>
            </a:pPr>
            <a:r>
              <a:rPr sz="1050">
                <a:solidFill>
                  <a:srgbClr val="0F172A"/>
                </a:solidFill>
              </a:rPr>
              <a:t>🔹  Khả năng hệ thống xử lý khối lượng công việc tăng vọt bằng cách bổ sung thêm tài nguyên phần cứng.</a:t>
            </a:r>
          </a:p>
        </p:txBody>
      </p:sp>
      <p:sp>
        <p:nvSpPr>
          <p:cNvPr id="26" name="Rounded Rectangle 25"/>
          <p:cNvSpPr/>
          <p:nvPr/>
        </p:nvSpPr>
        <p:spPr>
          <a:xfrm>
            <a:off x="8997696" y="3931920"/>
            <a:ext cx="2633472" cy="23774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0576" y="4069080"/>
            <a:ext cx="2267712" cy="320040"/>
          </a:xfrm>
          <a:prstGeom prst="rect">
            <a:avLst/>
          </a:prstGeom>
          <a:noFill/>
        </p:spPr>
        <p:txBody>
          <a:bodyPr wrap="square">
            <a:spAutoFit/>
          </a:bodyPr>
          <a:lstStyle/>
          <a:p>
            <a:r>
              <a:rPr sz="1400" b="1">
                <a:solidFill>
                  <a:srgbClr val="0F1E36"/>
                </a:solidFill>
              </a:rPr>
              <a:t>8. Testability (Kiểm thử)</a:t>
            </a:r>
          </a:p>
        </p:txBody>
      </p:sp>
      <p:sp>
        <p:nvSpPr>
          <p:cNvPr id="28" name="TextBox 27"/>
          <p:cNvSpPr txBox="1"/>
          <p:nvPr/>
        </p:nvSpPr>
        <p:spPr>
          <a:xfrm>
            <a:off x="9134856" y="4480560"/>
            <a:ext cx="2359152" cy="1737360"/>
          </a:xfrm>
          <a:prstGeom prst="rect">
            <a:avLst/>
          </a:prstGeom>
          <a:noFill/>
        </p:spPr>
        <p:txBody>
          <a:bodyPr wrap="square">
            <a:spAutoFit/>
          </a:bodyPr>
          <a:lstStyle/>
          <a:p>
            <a:pPr>
              <a:spcBef>
                <a:spcPts val="300"/>
              </a:spcBef>
            </a:pPr>
            <a:r>
              <a:rPr sz="1050">
                <a:solidFill>
                  <a:srgbClr val="0F172A"/>
                </a:solidFill>
              </a:rPr>
              <a:t>🔹  Mức độ thuận lợi để thiết kế các kịch bản kiểm thử, phát hiện và cô lập lỗi trong phần mềm.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SYSTEM SCALABILITY</a:t>
            </a:r>
          </a:p>
          <a:p>
            <a:r>
              <a:rPr sz="2200" b="1">
                <a:solidFill>
                  <a:srgbClr val="FFFFFF"/>
                </a:solidFill>
              </a:rPr>
              <a:t>Part 2 — Câu 2: Các Hình Thức Mở Rộng Quy Mô (Scalability)</a:t>
            </a:r>
          </a:p>
        </p:txBody>
      </p:sp>
      <p:sp>
        <p:nvSpPr>
          <p:cNvPr id="5" name="Rounded Rectangle 4"/>
          <p:cNvSpPr/>
          <p:nvPr/>
        </p:nvSpPr>
        <p:spPr>
          <a:xfrm>
            <a:off x="548640" y="1280160"/>
            <a:ext cx="5349240" cy="29260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1A355E"/>
                </a:solidFill>
              </a:rPr>
              <a:t>VERTICAL SCALABILITY (SCALE-UP — MỞ RỘNG DỌC)</a:t>
            </a:r>
          </a:p>
        </p:txBody>
      </p:sp>
      <p:sp>
        <p:nvSpPr>
          <p:cNvPr id="7" name="TextBox 6"/>
          <p:cNvSpPr txBox="1"/>
          <p:nvPr/>
        </p:nvSpPr>
        <p:spPr>
          <a:xfrm>
            <a:off x="731520" y="1691640"/>
            <a:ext cx="4983480" cy="2377440"/>
          </a:xfrm>
          <a:prstGeom prst="rect">
            <a:avLst/>
          </a:prstGeom>
          <a:noFill/>
        </p:spPr>
        <p:txBody>
          <a:bodyPr wrap="square">
            <a:spAutoFit/>
          </a:bodyPr>
          <a:lstStyle/>
          <a:p>
            <a:pPr>
              <a:spcBef>
                <a:spcPts val="300"/>
              </a:spcBef>
            </a:pPr>
            <a:r>
              <a:rPr b="1" sz="1050">
                <a:solidFill>
                  <a:srgbClr val="1A355E"/>
                </a:solidFill>
              </a:rPr>
              <a:t>⬆️ Cơ chế hoạt động: </a:t>
            </a:r>
            <a:r>
              <a:rPr sz="1050">
                <a:solidFill>
                  <a:srgbClr val="0F172A"/>
                </a:solidFill>
              </a:rPr>
              <a:t>Nâng cấp sức mạnh phần cứng của một máy chủ duy nhất: thêm CPU Cores, tăng dung lượng RAM, lắp ổ cứng NVMe tốc độ cao hơn.</a:t>
            </a:r>
          </a:p>
          <a:p>
            <a:pPr>
              <a:spcBef>
                <a:spcPts val="300"/>
              </a:spcBef>
            </a:pPr>
            <a:r>
              <a:rPr b="1" sz="1050">
                <a:solidFill>
                  <a:srgbClr val="1A355E"/>
                </a:solidFill>
              </a:rPr>
              <a:t>⬆️ Ưu điểm: </a:t>
            </a:r>
            <a:r>
              <a:rPr sz="1050">
                <a:solidFill>
                  <a:srgbClr val="0F172A"/>
                </a:solidFill>
              </a:rPr>
              <a:t>Kiến trúc đơn giản, không cần sửa đổi mã nguồn phần mềm, không phải xử lý đồng bộ dữ liệu phân tán phức tạp.</a:t>
            </a:r>
          </a:p>
          <a:p>
            <a:pPr>
              <a:spcBef>
                <a:spcPts val="300"/>
              </a:spcBef>
            </a:pPr>
            <a:r>
              <a:rPr b="1" sz="1050">
                <a:solidFill>
                  <a:srgbClr val="1A355E"/>
                </a:solidFill>
              </a:rPr>
              <a:t>⬆️ Nhược điểm: </a:t>
            </a:r>
            <a:r>
              <a:rPr sz="1050">
                <a:solidFill>
                  <a:srgbClr val="0F172A"/>
                </a:solidFill>
              </a:rPr>
              <a:t>Chạm ngưỡng giới hạn phần cứng vật lý; Chi phí tăng theo cấp số nhân; Tồn tại điểm nghẽn đơn độc (Single Point of Failure - SPOF).</a:t>
            </a:r>
          </a:p>
        </p:txBody>
      </p:sp>
      <p:sp>
        <p:nvSpPr>
          <p:cNvPr id="8" name="Rounded Rectangle 7"/>
          <p:cNvSpPr/>
          <p:nvPr/>
        </p:nvSpPr>
        <p:spPr>
          <a:xfrm>
            <a:off x="6291072" y="1280160"/>
            <a:ext cx="5349240" cy="292608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059669"/>
                </a:solidFill>
              </a:rPr>
              <a:t>HORIZONTAL SCALABILITY (SCALE-OUT — MỞ RỘNG NGANG)</a:t>
            </a:r>
          </a:p>
        </p:txBody>
      </p:sp>
      <p:sp>
        <p:nvSpPr>
          <p:cNvPr id="10" name="TextBox 9"/>
          <p:cNvSpPr txBox="1"/>
          <p:nvPr/>
        </p:nvSpPr>
        <p:spPr>
          <a:xfrm>
            <a:off x="6473952" y="1691640"/>
            <a:ext cx="4983480" cy="2377440"/>
          </a:xfrm>
          <a:prstGeom prst="rect">
            <a:avLst/>
          </a:prstGeom>
          <a:noFill/>
        </p:spPr>
        <p:txBody>
          <a:bodyPr wrap="square">
            <a:spAutoFit/>
          </a:bodyPr>
          <a:lstStyle/>
          <a:p>
            <a:pPr>
              <a:spcBef>
                <a:spcPts val="300"/>
              </a:spcBef>
            </a:pPr>
            <a:r>
              <a:rPr b="1" sz="1050">
                <a:solidFill>
                  <a:srgbClr val="1A355E"/>
                </a:solidFill>
              </a:rPr>
              <a:t>➡️ Cơ chế hoạt động: </a:t>
            </a:r>
            <a:r>
              <a:rPr sz="1050">
                <a:solidFill>
                  <a:srgbClr val="0F172A"/>
                </a:solidFill>
              </a:rPr>
              <a:t>Bổ sung thêm nhiều máy chủ tiêu chuẩn vào cụm hệ thống (Cluster), sử dụng Cân bằng tải (Load Balancer) để phân phối đều lưu lượng.</a:t>
            </a:r>
          </a:p>
          <a:p>
            <a:pPr>
              <a:spcBef>
                <a:spcPts val="300"/>
              </a:spcBef>
            </a:pPr>
            <a:r>
              <a:rPr b="1" sz="1050">
                <a:solidFill>
                  <a:srgbClr val="1A355E"/>
                </a:solidFill>
              </a:rPr>
              <a:t>➡️ Ứng dụng: </a:t>
            </a:r>
            <a:r>
              <a:rPr sz="1050">
                <a:solidFill>
                  <a:srgbClr val="0F172A"/>
                </a:solidFill>
              </a:rPr>
              <a:t>Thiết kế Stateless Application Servers; Cơ sở dữ liệu phân tán (Sharding, Read-Replicas, Microservices).</a:t>
            </a:r>
          </a:p>
          <a:p>
            <a:pPr>
              <a:spcBef>
                <a:spcPts val="300"/>
              </a:spcBef>
            </a:pPr>
            <a:r>
              <a:rPr b="1" sz="1050">
                <a:solidFill>
                  <a:srgbClr val="1A355E"/>
                </a:solidFill>
              </a:rPr>
              <a:t>➡️ Ưu/Nhược điểm: </a:t>
            </a:r>
            <a:r>
              <a:rPr sz="1050">
                <a:solidFill>
                  <a:srgbClr val="0F172A"/>
                </a:solidFill>
              </a:rPr>
              <a:t>Khả năng mở rộng gần như vô hạn, độ chịu lỗi cao; tuy nhiên kiến trúc phần mềm và quản lý tính nhất quán phức tạp hơn.</a:t>
            </a:r>
          </a:p>
        </p:txBody>
      </p:sp>
      <p:sp>
        <p:nvSpPr>
          <p:cNvPr id="11" name="Rounded Rectangle 10"/>
          <p:cNvSpPr/>
          <p:nvPr/>
        </p:nvSpPr>
        <p:spPr>
          <a:xfrm>
            <a:off x="548640" y="4343400"/>
            <a:ext cx="11091672" cy="210312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480560"/>
            <a:ext cx="10725912" cy="320040"/>
          </a:xfrm>
          <a:prstGeom prst="rect">
            <a:avLst/>
          </a:prstGeom>
          <a:noFill/>
        </p:spPr>
        <p:txBody>
          <a:bodyPr wrap="square">
            <a:spAutoFit/>
          </a:bodyPr>
          <a:lstStyle/>
          <a:p>
            <a:r>
              <a:rPr sz="1400" b="1">
                <a:solidFill>
                  <a:srgbClr val="0F1E36"/>
                </a:solidFill>
              </a:rPr>
              <a:t>CÁC HÌNH THỨC MỞ RỘNG KHÁC TRONG KỸ THUẬT PHẦN MỀM</a:t>
            </a:r>
          </a:p>
        </p:txBody>
      </p:sp>
      <p:sp>
        <p:nvSpPr>
          <p:cNvPr id="13" name="TextBox 12"/>
          <p:cNvSpPr txBox="1"/>
          <p:nvPr/>
        </p:nvSpPr>
        <p:spPr>
          <a:xfrm>
            <a:off x="731520" y="4709160"/>
            <a:ext cx="10698480" cy="1645920"/>
          </a:xfrm>
          <a:prstGeom prst="rect">
            <a:avLst/>
          </a:prstGeom>
          <a:noFill/>
        </p:spPr>
        <p:txBody>
          <a:bodyPr wrap="square">
            <a:spAutoFit/>
          </a:bodyPr>
          <a:lstStyle/>
          <a:p>
            <a:pPr>
              <a:spcBef>
                <a:spcPts val="300"/>
              </a:spcBef>
            </a:pPr>
            <a:r>
              <a:rPr b="1" sz="1050">
                <a:solidFill>
                  <a:srgbClr val="1A355E"/>
                </a:solidFill>
              </a:rPr>
              <a:t>🌐 Structural Scalability (Mở rộng cấu trúc): </a:t>
            </a:r>
            <a:r>
              <a:rPr sz="1050">
                <a:solidFill>
                  <a:srgbClr val="0F172A"/>
                </a:solidFill>
              </a:rPr>
              <a:t>Hệ thống có thể bổ sung thêm nhiều phân hệ, tính năng hoặc microservices mà không làm suy giảm cấu trúc kiến trúc tổng thể.</a:t>
            </a:r>
          </a:p>
          <a:p>
            <a:pPr>
              <a:spcBef>
                <a:spcPts val="300"/>
              </a:spcBef>
            </a:pPr>
            <a:r>
              <a:rPr b="1" sz="1050">
                <a:solidFill>
                  <a:srgbClr val="1A355E"/>
                </a:solidFill>
              </a:rPr>
              <a:t>🌐 Geographic Scalability (Mở rộng địa lý): </a:t>
            </a:r>
            <a:r>
              <a:rPr sz="1050">
                <a:solidFill>
                  <a:srgbClr val="0F172A"/>
                </a:solidFill>
              </a:rPr>
              <a:t>Hệ thống có thể phục vụ người dùng phân tán toàn cầu với độ trễ thấp thông qua mạng phân phối nội dung (CDN) và cụm máy chủ đa vùng (Multi-Region Cloud).</a:t>
            </a:r>
          </a:p>
          <a:p>
            <a:pPr>
              <a:spcBef>
                <a:spcPts val="300"/>
              </a:spcBef>
            </a:pPr>
            <a:r>
              <a:rPr b="1" sz="1050">
                <a:solidFill>
                  <a:srgbClr val="1A355E"/>
                </a:solidFill>
              </a:rPr>
              <a:t>🌐 Administrative Scalability (Mở rộng quản trị): </a:t>
            </a:r>
            <a:r>
              <a:rPr sz="1050">
                <a:solidFill>
                  <a:srgbClr val="0F172A"/>
                </a:solidFill>
              </a:rPr>
              <a:t>Khả năng một nền tảng phần mềm SaaS phục vụ hàng nghìn chuỗi khách sạn độc lập (Multi-tenancy) mà không làm bùng nổ chi phí vận hành quản trị.</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PERFORMANCE ENGINEERING</a:t>
            </a:r>
          </a:p>
          <a:p>
            <a:r>
              <a:rPr sz="2200" b="1">
                <a:solidFill>
                  <a:srgbClr val="FFFFFF"/>
                </a:solidFill>
              </a:rPr>
              <a:t>Part 2 — Câu 3: Phân Tích Thông Lượng (Average vs. Peak Throughput)</a:t>
            </a:r>
          </a:p>
        </p:txBody>
      </p:sp>
      <p:sp>
        <p:nvSpPr>
          <p:cNvPr id="5" name="Rounded Rectangle 4"/>
          <p:cNvSpPr/>
          <p:nvPr/>
        </p:nvSpPr>
        <p:spPr>
          <a:xfrm>
            <a:off x="548640" y="1188720"/>
            <a:ext cx="11091672" cy="10058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10725912" cy="320040"/>
          </a:xfrm>
          <a:prstGeom prst="rect">
            <a:avLst/>
          </a:prstGeom>
          <a:noFill/>
        </p:spPr>
        <p:txBody>
          <a:bodyPr wrap="square">
            <a:spAutoFit/>
          </a:bodyPr>
          <a:lstStyle/>
          <a:p>
            <a:r>
              <a:rPr sz="1400" b="1">
                <a:solidFill>
                  <a:srgbClr val="1A355E"/>
                </a:solidFill>
              </a:rPr>
              <a:t>KHÁI NIỆM THÔNG LƯỢNG (THROUGHPUT)</a:t>
            </a:r>
          </a:p>
        </p:txBody>
      </p:sp>
      <p:sp>
        <p:nvSpPr>
          <p:cNvPr id="7" name="TextBox 6"/>
          <p:cNvSpPr txBox="1"/>
          <p:nvPr/>
        </p:nvSpPr>
        <p:spPr>
          <a:xfrm>
            <a:off x="731520" y="1508760"/>
            <a:ext cx="10698480" cy="548640"/>
          </a:xfrm>
          <a:prstGeom prst="rect">
            <a:avLst/>
          </a:prstGeom>
          <a:noFill/>
        </p:spPr>
        <p:txBody>
          <a:bodyPr wrap="square">
            <a:spAutoFit/>
          </a:bodyPr>
          <a:lstStyle/>
          <a:p>
            <a:pPr>
              <a:spcBef>
                <a:spcPts val="300"/>
              </a:spcBef>
            </a:pPr>
            <a:r>
              <a:rPr b="1" sz="1100">
                <a:solidFill>
                  <a:srgbClr val="1A355E"/>
                </a:solidFill>
              </a:rPr>
              <a:t>📊 Định nghĩa: </a:t>
            </a:r>
            <a:r>
              <a:rPr sz="1100">
                <a:solidFill>
                  <a:srgbClr val="0F172A"/>
                </a:solidFill>
              </a:rPr>
              <a:t>Thông lượng là số lượng đơn vị công việc (giao dịch, yêu cầu, dữ liệu) mà hệ thống xử lý thành công trong một đơn vị thời gian (ví dụ: Transactions Per Second - TPS, Requests Per Second - RPS, Invoices Per Hour).</a:t>
            </a:r>
          </a:p>
        </p:txBody>
      </p:sp>
      <p:graphicFrame>
        <p:nvGraphicFramePr>
          <p:cNvPr id="8" name="Table 7"/>
          <p:cNvGraphicFramePr>
            <a:graphicFrameLocks noGrp="1"/>
          </p:cNvGraphicFramePr>
          <p:nvPr/>
        </p:nvGraphicFramePr>
        <p:xfrm>
          <a:off x="548640" y="2286000"/>
          <a:ext cx="11091672" cy="4206240"/>
        </p:xfrm>
        <a:graphic>
          <a:graphicData uri="http://schemas.openxmlformats.org/drawingml/2006/table">
            <a:tbl>
              <a:tblPr firstRow="1" bandRow="1">
                <a:tableStyleId>{5C22544A-7EE6-4342-B048-85BDC9FD1C3A}</a:tableStyleId>
              </a:tblPr>
              <a:tblGrid>
                <a:gridCol w="2560320"/>
                <a:gridCol w="4206240"/>
                <a:gridCol w="4325112"/>
              </a:tblGrid>
              <a:tr h="841248">
                <a:tc>
                  <a:txBody>
                    <a:bodyPr wrap="square"/>
                    <a:lstStyle/>
                    <a:p>
                      <a:pPr algn="l"/>
                      <a:r>
                        <a:rPr b="1" sz="1150">
                          <a:solidFill>
                            <a:srgbClr val="FFFFFF"/>
                          </a:solidFill>
                        </a:rPr>
                        <a:t>Tiêu chí so sánh</a:t>
                      </a:r>
                    </a:p>
                  </a:txBody>
                  <a:tcPr>
                    <a:solidFill>
                      <a:srgbClr val="1A355E"/>
                    </a:solidFill>
                  </a:tcPr>
                </a:tc>
                <a:tc>
                  <a:txBody>
                    <a:bodyPr wrap="square"/>
                    <a:lstStyle/>
                    <a:p>
                      <a:pPr algn="l"/>
                      <a:r>
                        <a:rPr b="1" sz="1150">
                          <a:solidFill>
                            <a:srgbClr val="FFFFFF"/>
                          </a:solidFill>
                        </a:rPr>
                        <a:t>Thông lượng trung bình (Average Throughput)</a:t>
                      </a:r>
                    </a:p>
                  </a:txBody>
                  <a:tcPr>
                    <a:solidFill>
                      <a:srgbClr val="1A355E"/>
                    </a:solidFill>
                  </a:tcPr>
                </a:tc>
                <a:tc>
                  <a:txBody>
                    <a:bodyPr wrap="square"/>
                    <a:lstStyle/>
                    <a:p>
                      <a:pPr algn="l"/>
                      <a:r>
                        <a:rPr b="1" sz="1150">
                          <a:solidFill>
                            <a:srgbClr val="FFFFFF"/>
                          </a:solidFill>
                        </a:rPr>
                        <a:t>Thông lượng đỉnh (Peak Throughput)</a:t>
                      </a:r>
                    </a:p>
                  </a:txBody>
                  <a:tcPr>
                    <a:solidFill>
                      <a:srgbClr val="1A355E"/>
                    </a:solidFill>
                  </a:tcPr>
                </a:tc>
              </a:tr>
              <a:tr h="841248">
                <a:tc>
                  <a:txBody>
                    <a:bodyPr wrap="square"/>
                    <a:lstStyle/>
                    <a:p>
                      <a:pPr algn="l"/>
                      <a:r>
                        <a:rPr sz="1050">
                          <a:solidFill>
                            <a:srgbClr val="0F172A"/>
                          </a:solidFill>
                        </a:rPr>
                        <a:t>Định nghĩa &amp; Khoảng thời gian</a:t>
                      </a:r>
                    </a:p>
                  </a:txBody>
                  <a:tcPr>
                    <a:solidFill>
                      <a:srgbClr val="F8FAFC"/>
                    </a:solidFill>
                  </a:tcPr>
                </a:tc>
                <a:tc>
                  <a:txBody>
                    <a:bodyPr wrap="square"/>
                    <a:lstStyle/>
                    <a:p>
                      <a:pPr algn="l"/>
                      <a:r>
                        <a:rPr sz="1050">
                          <a:solidFill>
                            <a:srgbClr val="0F172A"/>
                          </a:solidFill>
                        </a:rPr>
                        <a:t>Mức tải trung bình tính toán trên một khoảng thời gian dài (24 giờ, 1 tuần hoặc 1 tháng).</a:t>
                      </a:r>
                    </a:p>
                  </a:txBody>
                  <a:tcPr>
                    <a:solidFill>
                      <a:srgbClr val="F8FAFC"/>
                    </a:solidFill>
                  </a:tcPr>
                </a:tc>
                <a:tc>
                  <a:txBody>
                    <a:bodyPr wrap="square"/>
                    <a:lstStyle/>
                    <a:p>
                      <a:pPr algn="l"/>
                      <a:r>
                        <a:rPr sz="1050">
                          <a:solidFill>
                            <a:srgbClr val="0F172A"/>
                          </a:solidFill>
                        </a:rPr>
                        <a:t>Mức tải xử lý tối đa đo được trong các khoảng thời gian cao điểm đột biến ngắn.</a:t>
                      </a:r>
                    </a:p>
                  </a:txBody>
                  <a:tcPr>
                    <a:solidFill>
                      <a:srgbClr val="F8FAFC"/>
                    </a:solidFill>
                  </a:tcPr>
                </a:tc>
              </a:tr>
              <a:tr h="841248">
                <a:tc>
                  <a:txBody>
                    <a:bodyPr wrap="square"/>
                    <a:lstStyle/>
                    <a:p>
                      <a:pPr algn="l"/>
                      <a:r>
                        <a:rPr sz="1050">
                          <a:solidFill>
                            <a:srgbClr val="0F172A"/>
                          </a:solidFill>
                        </a:rPr>
                        <a:t>Ngữ cảnh Khách sạn (HIS)</a:t>
                      </a:r>
                    </a:p>
                  </a:txBody>
                  <a:tcPr>
                    <a:solidFill>
                      <a:srgbClr val="F1F5F9"/>
                    </a:solidFill>
                  </a:tcPr>
                </a:tc>
                <a:tc>
                  <a:txBody>
                    <a:bodyPr wrap="square"/>
                    <a:lstStyle/>
                    <a:p>
                      <a:pPr algn="l"/>
                      <a:r>
                        <a:rPr sz="1050">
                          <a:solidFill>
                            <a:srgbClr val="0F172A"/>
                          </a:solidFill>
                        </a:rPr>
                        <a:t>~10–15 giao dịch/giờ (khoảng thời gian buổi chiều ổn định).</a:t>
                      </a:r>
                    </a:p>
                  </a:txBody>
                  <a:tcPr>
                    <a:solidFill>
                      <a:srgbClr val="F1F5F9"/>
                    </a:solidFill>
                  </a:tcPr>
                </a:tc>
                <a:tc>
                  <a:txBody>
                    <a:bodyPr wrap="square"/>
                    <a:lstStyle/>
                    <a:p>
                      <a:pPr algn="l"/>
                      <a:r>
                        <a:rPr sz="1050">
                          <a:solidFill>
                            <a:srgbClr val="0F172A"/>
                          </a:solidFill>
                        </a:rPr>
                        <a:t>~300–400 giao dịch/giờ (khung giờ vàng trả phòng 07:30–09:30 AM khi các đoàn khách cùng rời đi).</a:t>
                      </a:r>
                    </a:p>
                  </a:txBody>
                  <a:tcPr>
                    <a:solidFill>
                      <a:srgbClr val="F1F5F9"/>
                    </a:solidFill>
                  </a:tcPr>
                </a:tc>
              </a:tr>
              <a:tr h="841248">
                <a:tc>
                  <a:txBody>
                    <a:bodyPr wrap="square"/>
                    <a:lstStyle/>
                    <a:p>
                      <a:pPr algn="l"/>
                      <a:r>
                        <a:rPr sz="1050">
                          <a:solidFill>
                            <a:srgbClr val="0F172A"/>
                          </a:solidFill>
                        </a:rPr>
                        <a:t>Rủi ro thiết kế hệ thống</a:t>
                      </a:r>
                    </a:p>
                  </a:txBody>
                  <a:tcPr>
                    <a:solidFill>
                      <a:srgbClr val="F8FAFC"/>
                    </a:solidFill>
                  </a:tcPr>
                </a:tc>
                <a:tc>
                  <a:txBody>
                    <a:bodyPr wrap="square"/>
                    <a:lstStyle/>
                    <a:p>
                      <a:pPr algn="l"/>
                      <a:r>
                        <a:rPr sz="1050">
                          <a:solidFill>
                            <a:srgbClr val="0F172A"/>
                          </a:solidFill>
                        </a:rPr>
                        <a:t>Nếu chỉ thiết kế máy chủ đáp ứng mức Trung bình → Hệ thống sẽ quá tải, treo đơ và sập hoàn toàn vào giờ cao điểm.</a:t>
                      </a:r>
                    </a:p>
                  </a:txBody>
                  <a:tcPr>
                    <a:solidFill>
                      <a:srgbClr val="F8FAFC"/>
                    </a:solidFill>
                  </a:tcPr>
                </a:tc>
                <a:tc>
                  <a:txBody>
                    <a:bodyPr wrap="square"/>
                    <a:lstStyle/>
                    <a:p>
                      <a:pPr algn="l"/>
                      <a:r>
                        <a:rPr sz="1050">
                          <a:solidFill>
                            <a:srgbClr val="0F172A"/>
                          </a:solidFill>
                        </a:rPr>
                        <a:t>Nếu mua phần cứng cố định cho mức Đỉnh → Lãng phí 80% tài nguyên và ngân sách vào các khung giờ bình thường.</a:t>
                      </a:r>
                    </a:p>
                  </a:txBody>
                  <a:tcPr>
                    <a:solidFill>
                      <a:srgbClr val="F8FAFC"/>
                    </a:solidFill>
                  </a:tcPr>
                </a:tc>
              </a:tr>
              <a:tr h="841248">
                <a:tc>
                  <a:txBody>
                    <a:bodyPr wrap="square"/>
                    <a:lstStyle/>
                    <a:p>
                      <a:pPr algn="l"/>
                      <a:r>
                        <a:rPr sz="1050">
                          <a:solidFill>
                            <a:srgbClr val="0F172A"/>
                          </a:solidFill>
                        </a:rPr>
                        <a:t>Giải pháp kiến trúc</a:t>
                      </a:r>
                    </a:p>
                  </a:txBody>
                  <a:tcPr>
                    <a:solidFill>
                      <a:srgbClr val="F1F5F9"/>
                    </a:solidFill>
                  </a:tcPr>
                </a:tc>
                <a:tc>
                  <a:txBody>
                    <a:bodyPr wrap="square"/>
                    <a:lstStyle/>
                    <a:p>
                      <a:pPr algn="l"/>
                      <a:r>
                        <a:rPr sz="1050">
                          <a:solidFill>
                            <a:srgbClr val="0F172A"/>
                          </a:solidFill>
                        </a:rPr>
                        <a:t>Dùng để tính toán dung lượng cơ sở dữ liệu nền tảng và báo cáo hiệu năng định kỳ.</a:t>
                      </a:r>
                    </a:p>
                  </a:txBody>
                  <a:tcPr>
                    <a:solidFill>
                      <a:srgbClr val="F1F5F9"/>
                    </a:solidFill>
                  </a:tcPr>
                </a:tc>
                <a:tc>
                  <a:txBody>
                    <a:bodyPr wrap="square"/>
                    <a:lstStyle/>
                    <a:p>
                      <a:pPr algn="l"/>
                      <a:r>
                        <a:rPr sz="1050">
                          <a:solidFill>
                            <a:srgbClr val="0F172A"/>
                          </a:solidFill>
                        </a:rPr>
                        <a:t>Áp dụng cơ chế Tự động co giãn (Auto-scaling Cloud), Bộ nhớ đệm (Redis Cache), Hàng đợi bất đồng bộ (RabbitMQ/Kafka) và Giới hạn tốc độ (Rate Limiting).</a:t>
                      </a:r>
                    </a:p>
                  </a:txBody>
                  <a:tcPr>
                    <a:solidFill>
                      <a:srgbClr val="F1F5F9"/>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SECURITY VS. AVAILABILITY</a:t>
            </a:r>
          </a:p>
          <a:p>
            <a:r>
              <a:rPr sz="2200" b="1">
                <a:solidFill>
                  <a:srgbClr val="FFFFFF"/>
                </a:solidFill>
              </a:rPr>
              <a:t>Part 2 — Câu 4: Mối Quan Hệ Giữa Bảo Mật &amp; Tính Sẵn Sàng</a:t>
            </a:r>
          </a:p>
        </p:txBody>
      </p:sp>
      <p:sp>
        <p:nvSpPr>
          <p:cNvPr id="5" name="Rounded Rectangle 4"/>
          <p:cNvSpPr/>
          <p:nvPr/>
        </p:nvSpPr>
        <p:spPr>
          <a:xfrm>
            <a:off x="548640" y="1280160"/>
            <a:ext cx="5349240" cy="32918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DC2626"/>
                </a:solidFill>
              </a:rPr>
              <a:t>1. XÁC THỰC (AUTHENTICATION — AuthN) ẢNH HƯỞNG AVAILABILITY</a:t>
            </a:r>
          </a:p>
        </p:txBody>
      </p:sp>
      <p:sp>
        <p:nvSpPr>
          <p:cNvPr id="7" name="TextBox 6"/>
          <p:cNvSpPr txBox="1"/>
          <p:nvPr/>
        </p:nvSpPr>
        <p:spPr>
          <a:xfrm>
            <a:off x="731520" y="1691640"/>
            <a:ext cx="4983480" cy="2743200"/>
          </a:xfrm>
          <a:prstGeom prst="rect">
            <a:avLst/>
          </a:prstGeom>
          <a:noFill/>
        </p:spPr>
        <p:txBody>
          <a:bodyPr wrap="square">
            <a:spAutoFit/>
          </a:bodyPr>
          <a:lstStyle/>
          <a:p>
            <a:pPr>
              <a:spcBef>
                <a:spcPts val="300"/>
              </a:spcBef>
            </a:pPr>
            <a:r>
              <a:rPr b="1" sz="1050">
                <a:solidFill>
                  <a:srgbClr val="1A355E"/>
                </a:solidFill>
              </a:rPr>
              <a:t>🔐 Nghẽn tài nguyên băm mật khẩu: </a:t>
            </a:r>
            <a:r>
              <a:rPr sz="1050">
                <a:solidFill>
                  <a:srgbClr val="0F172A"/>
                </a:solidFill>
              </a:rPr>
              <a:t>Các thuật toán mã hóa an toàn (Argon2, bcrypt) ngốn rất nhiều CPU. Kẻ tấn công có thể gửi hàng nghìn yêu cầu đăng nhập giả mạo (Auth DDoS) làm cạn kiệt CPU máy chủ.</a:t>
            </a:r>
          </a:p>
          <a:p>
            <a:pPr>
              <a:spcBef>
                <a:spcPts val="300"/>
              </a:spcBef>
            </a:pPr>
            <a:r>
              <a:rPr b="1" sz="1050">
                <a:solidFill>
                  <a:srgbClr val="1A355E"/>
                </a:solidFill>
              </a:rPr>
              <a:t>🔐 Khóa tài khoản (Account Lockout): </a:t>
            </a:r>
            <a:r>
              <a:rPr sz="1050">
                <a:solidFill>
                  <a:srgbClr val="0F172A"/>
                </a:solidFill>
              </a:rPr>
              <a:t>Chính sách bảo mật khóa tài khoản sau 5 lần nhập sai có thể bị tin tặc lợi dụng để cố ý khóa toàn bộ tài khoản lễ tân, làm tê liệt hoạt động tiếp đón khách.</a:t>
            </a:r>
          </a:p>
          <a:p>
            <a:pPr>
              <a:spcBef>
                <a:spcPts val="300"/>
              </a:spcBef>
            </a:pPr>
            <a:r>
              <a:rPr b="1" sz="1050">
                <a:solidFill>
                  <a:srgbClr val="1A355E"/>
                </a:solidFill>
              </a:rPr>
              <a:t>🔐 Phụ thuộc dịch vụ xác thực ngoài: </a:t>
            </a:r>
            <a:r>
              <a:rPr sz="1050">
                <a:solidFill>
                  <a:srgbClr val="0F172A"/>
                </a:solidFill>
              </a:rPr>
              <a:t>Nếu cổng xác thực 2 lớp (MFA qua SMS/Email) hoặc máy chủ SSO bên thứ ba bị gián đoạn, nhân viên không thể đăng nhập vào hệ thống PMS.</a:t>
            </a:r>
          </a:p>
        </p:txBody>
      </p:sp>
      <p:sp>
        <p:nvSpPr>
          <p:cNvPr id="8" name="Rounded Rectangle 7"/>
          <p:cNvSpPr/>
          <p:nvPr/>
        </p:nvSpPr>
        <p:spPr>
          <a:xfrm>
            <a:off x="6291072" y="1280160"/>
            <a:ext cx="5349240" cy="32918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D97706"/>
                </a:solidFill>
              </a:rPr>
              <a:t>2. PHÂN QUYỀN (AUTHORIZATION — AuthZ) ẢNH HƯỞNG AVAILABILITY</a:t>
            </a:r>
          </a:p>
        </p:txBody>
      </p:sp>
      <p:sp>
        <p:nvSpPr>
          <p:cNvPr id="10" name="TextBox 9"/>
          <p:cNvSpPr txBox="1"/>
          <p:nvPr/>
        </p:nvSpPr>
        <p:spPr>
          <a:xfrm>
            <a:off x="6473952" y="1691640"/>
            <a:ext cx="4983480" cy="2743200"/>
          </a:xfrm>
          <a:prstGeom prst="rect">
            <a:avLst/>
          </a:prstGeom>
          <a:noFill/>
        </p:spPr>
        <p:txBody>
          <a:bodyPr wrap="square">
            <a:spAutoFit/>
          </a:bodyPr>
          <a:lstStyle/>
          <a:p>
            <a:pPr>
              <a:spcBef>
                <a:spcPts val="300"/>
              </a:spcBef>
            </a:pPr>
            <a:r>
              <a:rPr b="1" sz="1050">
                <a:solidFill>
                  <a:srgbClr val="1A355E"/>
                </a:solidFill>
              </a:rPr>
              <a:t>🛡️ Độ trễ kiểm tra quyền phức tạp: </a:t>
            </a:r>
            <a:r>
              <a:rPr sz="1050">
                <a:solidFill>
                  <a:srgbClr val="0F172A"/>
                </a:solidFill>
              </a:rPr>
              <a:t>Việc kiểm tra vai trò chi tiết (RBAC/ABAC) trên từng bản ghi cơ sở dữ liệu làm tăng thời gian phản hồi và dễ làm cạn kiệt số lượng kết nối cơ sở dữ liệu (Connection Pool).</a:t>
            </a:r>
          </a:p>
          <a:p>
            <a:pPr>
              <a:spcBef>
                <a:spcPts val="300"/>
              </a:spcBef>
            </a:pPr>
            <a:r>
              <a:rPr b="1" sz="1050">
                <a:solidFill>
                  <a:srgbClr val="1A355E"/>
                </a:solidFill>
              </a:rPr>
              <a:t>🛡️ Cơ chế Fail-Closed: </a:t>
            </a:r>
            <a:r>
              <a:rPr sz="1050">
                <a:solidFill>
                  <a:srgbClr val="0F172A"/>
                </a:solidFill>
              </a:rPr>
              <a:t>Khi máy chủ phân quyền (Policy Decision Point) gặp sự cố, theo nguyên tắc bảo mật hệ thống sẽ từ chối truy cập (Fail-Closed) thay vì cho phép, dẫn đến mất tính sẵn sàng.</a:t>
            </a:r>
          </a:p>
          <a:p>
            <a:pPr>
              <a:spcBef>
                <a:spcPts val="300"/>
              </a:spcBef>
            </a:pPr>
            <a:r>
              <a:rPr b="1" sz="1050">
                <a:solidFill>
                  <a:srgbClr val="1A355E"/>
                </a:solidFill>
              </a:rPr>
              <a:t>🛡️ Tắc nghẽn phiên làm việc: </a:t>
            </a:r>
            <a:r>
              <a:rPr sz="1050">
                <a:solidFill>
                  <a:srgbClr val="0F172A"/>
                </a:solidFill>
              </a:rPr>
              <a:t>Việc xác thực token phân quyền liên tục qua mạng tạo nút thắt cổ chai cho toàn bộ vi dịch vụ.</a:t>
            </a:r>
          </a:p>
        </p:txBody>
      </p:sp>
      <p:sp>
        <p:nvSpPr>
          <p:cNvPr id="11" name="Rounded Rectangle 10"/>
          <p:cNvSpPr/>
          <p:nvPr/>
        </p:nvSpPr>
        <p:spPr>
          <a:xfrm>
            <a:off x="548640" y="4709160"/>
            <a:ext cx="11091672" cy="173736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4846320"/>
            <a:ext cx="10725912" cy="320040"/>
          </a:xfrm>
          <a:prstGeom prst="rect">
            <a:avLst/>
          </a:prstGeom>
          <a:noFill/>
        </p:spPr>
        <p:txBody>
          <a:bodyPr wrap="square">
            <a:spAutoFit/>
          </a:bodyPr>
          <a:lstStyle/>
          <a:p>
            <a:r>
              <a:rPr sz="1400" b="1">
                <a:solidFill>
                  <a:srgbClr val="059669"/>
                </a:solidFill>
              </a:rPr>
              <a:t>GIẢI PHÁP CÂN BẰNG KIẾN TRÚC GIỮA AN NINH VÀ SẴN SÀNG</a:t>
            </a:r>
          </a:p>
        </p:txBody>
      </p:sp>
      <p:sp>
        <p:nvSpPr>
          <p:cNvPr id="13" name="TextBox 12"/>
          <p:cNvSpPr txBox="1"/>
          <p:nvPr/>
        </p:nvSpPr>
        <p:spPr>
          <a:xfrm>
            <a:off x="731520" y="5029200"/>
            <a:ext cx="10698480" cy="1280160"/>
          </a:xfrm>
          <a:prstGeom prst="rect">
            <a:avLst/>
          </a:prstGeom>
          <a:noFill/>
        </p:spPr>
        <p:txBody>
          <a:bodyPr wrap="square">
            <a:spAutoFit/>
          </a:bodyPr>
          <a:lstStyle/>
          <a:p>
            <a:pPr>
              <a:spcBef>
                <a:spcPts val="300"/>
              </a:spcBef>
            </a:pPr>
            <a:r>
              <a:rPr b="1" sz="1050">
                <a:solidFill>
                  <a:srgbClr val="1A355E"/>
                </a:solidFill>
              </a:rPr>
              <a:t>✅ Bộ nhớ đệm quyền hạn (Token Caching): </a:t>
            </a:r>
            <a:r>
              <a:rPr sz="1050">
                <a:solidFill>
                  <a:srgbClr val="0F172A"/>
                </a:solidFill>
              </a:rPr>
              <a:t>Sử dụng mã thông báo không trạng thái có chữ ký số (Stateless JWTs) với thời hạn ngắn, lưu tạm quyền vào Redis cache để giảm tải tra cứu.</a:t>
            </a:r>
          </a:p>
          <a:p>
            <a:pPr>
              <a:spcBef>
                <a:spcPts val="300"/>
              </a:spcBef>
            </a:pPr>
            <a:r>
              <a:rPr b="1" sz="1050">
                <a:solidFill>
                  <a:srgbClr val="1A355E"/>
                </a:solidFill>
              </a:rPr>
              <a:t>✅ Bộ ngắt mạch &amp; Chế độ dự phòng (Circuit Breaker): </a:t>
            </a:r>
            <a:r>
              <a:rPr sz="1050">
                <a:solidFill>
                  <a:srgbClr val="0F172A"/>
                </a:solidFill>
              </a:rPr>
              <a:t>Khi dịch vụ bảo mật ngoài gặp sự cố, hệ thống tự động chuyển sang chế độ dự phòng cục bộ hoặc chế độ chỉ đọc (Read-only Fallback) để duy trì hoạt động cốt lõi.</a:t>
            </a:r>
          </a:p>
          <a:p>
            <a:pPr>
              <a:spcBef>
                <a:spcPts val="300"/>
              </a:spcBef>
            </a:pPr>
            <a:r>
              <a:rPr b="1" sz="1050">
                <a:solidFill>
                  <a:srgbClr val="1A355E"/>
                </a:solidFill>
              </a:rPr>
              <a:t>✅ Giới hạn tốc độ (Rate Limiting): </a:t>
            </a:r>
            <a:r>
              <a:rPr sz="1050">
                <a:solidFill>
                  <a:srgbClr val="0F172A"/>
                </a:solidFill>
              </a:rPr>
              <a:t>Giới hạn số lần thử đăng nhập theo IP để ngăn chặn triệt để tấn công vét cạn mật khẩu và Auth DDoS.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HOTEL CASE STUDY</a:t>
            </a:r>
          </a:p>
          <a:p>
            <a:r>
              <a:rPr sz="2200" b="1">
                <a:solidFill>
                  <a:srgbClr val="FFFFFF"/>
                </a:solidFill>
              </a:rPr>
              <a:t>Part 2 — Câu 5(a,b): Yêu Cầu Chất Lượng Cho Check-In &amp; Check-Out</a:t>
            </a:r>
          </a:p>
        </p:txBody>
      </p:sp>
      <p:sp>
        <p:nvSpPr>
          <p:cNvPr id="5" name="Rounded Rectangle 4"/>
          <p:cNvSpPr/>
          <p:nvPr/>
        </p:nvSpPr>
        <p:spPr>
          <a:xfrm>
            <a:off x="548640"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4983480" cy="320040"/>
          </a:xfrm>
          <a:prstGeom prst="rect">
            <a:avLst/>
          </a:prstGeom>
          <a:noFill/>
        </p:spPr>
        <p:txBody>
          <a:bodyPr wrap="square">
            <a:spAutoFit/>
          </a:bodyPr>
          <a:lstStyle/>
          <a:p>
            <a:r>
              <a:rPr sz="1400" b="1">
                <a:solidFill>
                  <a:srgbClr val="1A355E"/>
                </a:solidFill>
              </a:rPr>
              <a:t>ĐIỂM TƯƠNG ĐỒNG VỀ CHẤT LƯỢNG (SIMILARITIES)</a:t>
            </a:r>
          </a:p>
        </p:txBody>
      </p:sp>
      <p:sp>
        <p:nvSpPr>
          <p:cNvPr id="7" name="TextBox 6"/>
          <p:cNvSpPr txBox="1"/>
          <p:nvPr/>
        </p:nvSpPr>
        <p:spPr>
          <a:xfrm>
            <a:off x="731520" y="1828800"/>
            <a:ext cx="4983480" cy="4389120"/>
          </a:xfrm>
          <a:prstGeom prst="rect">
            <a:avLst/>
          </a:prstGeom>
          <a:noFill/>
        </p:spPr>
        <p:txBody>
          <a:bodyPr wrap="square">
            <a:spAutoFit/>
          </a:bodyPr>
          <a:lstStyle/>
          <a:p>
            <a:pPr>
              <a:spcBef>
                <a:spcPts val="300"/>
              </a:spcBef>
            </a:pPr>
            <a:r>
              <a:rPr b="1" sz="1100">
                <a:solidFill>
                  <a:srgbClr val="1A355E"/>
                </a:solidFill>
              </a:rPr>
              <a:t>🔹 Tính sẵn sàng cao (High Availability): </a:t>
            </a:r>
            <a:r>
              <a:rPr sz="1100">
                <a:solidFill>
                  <a:srgbClr val="0F172A"/>
                </a:solidFill>
              </a:rPr>
              <a:t>Cả hai tác vụ đều là hoạt động mặt tiền tiếp xúc trực tiếp với khách hàng; hệ thống phải hoạt động 24/7/365, tuyệt đối không được gián đoạn vào giờ cao điểm.</a:t>
            </a:r>
          </a:p>
          <a:p>
            <a:pPr>
              <a:spcBef>
                <a:spcPts val="300"/>
              </a:spcBef>
            </a:pPr>
            <a:r>
              <a:rPr b="1" sz="1100">
                <a:solidFill>
                  <a:srgbClr val="1A355E"/>
                </a:solidFill>
              </a:rPr>
              <a:t>🔹 Hiệu năng phản hồi tức thì (Sub-second Performance): </a:t>
            </a:r>
            <a:r>
              <a:rPr sz="1100">
                <a:solidFill>
                  <a:srgbClr val="0F172A"/>
                </a:solidFill>
              </a:rPr>
              <a:t>Thời gian tra cứu thông tin phòng và tải giao diện phải hoàn tất dưới 1–2 giây để tránh thời gian chết khó chịu giữa khách và lễ tân.</a:t>
            </a:r>
          </a:p>
          <a:p>
            <a:pPr>
              <a:spcBef>
                <a:spcPts val="300"/>
              </a:spcBef>
            </a:pPr>
            <a:r>
              <a:rPr b="1" sz="1100">
                <a:solidFill>
                  <a:srgbClr val="1A355E"/>
                </a:solidFill>
              </a:rPr>
              <a:t>🔹 Tính nhất quán dữ liệu (Data Consistency): </a:t>
            </a:r>
            <a:r>
              <a:rPr sz="1100">
                <a:solidFill>
                  <a:srgbClr val="0F172A"/>
                </a:solidFill>
              </a:rPr>
              <a:t>Đòi hỏi tính toàn vẹn giao dịch ACID tuyệt đối: Check-In không được cấp trùng phòng; Check-Out không được làm thất thoát bất kỳ chi phí dịch vụ nào.</a:t>
            </a:r>
          </a:p>
          <a:p>
            <a:pPr>
              <a:spcBef>
                <a:spcPts val="300"/>
              </a:spcBef>
            </a:pPr>
            <a:r>
              <a:rPr b="1" sz="1100">
                <a:solidFill>
                  <a:srgbClr val="1A355E"/>
                </a:solidFill>
              </a:rPr>
              <a:t>🔹 Bảo mật dữ liệu cá nhân &amp; Thẻ (Security Compliance): </a:t>
            </a:r>
            <a:r>
              <a:rPr sz="1100">
                <a:solidFill>
                  <a:srgbClr val="0F172A"/>
                </a:solidFill>
              </a:rPr>
              <a:t>Đều tiếp xúc với dữ liệu nhạy cảm của khách (CCCD, Hộ chiếu) và thẻ tín dụng ngân hàng, bắt buộc tuân thủ nghiêm ngặt chuẩn bảo mật PCI-DSS.</a:t>
            </a:r>
          </a:p>
          <a:p>
            <a:pPr>
              <a:spcBef>
                <a:spcPts val="300"/>
              </a:spcBef>
            </a:pPr>
            <a:r>
              <a:rPr b="1" sz="1100">
                <a:solidFill>
                  <a:srgbClr val="1A355E"/>
                </a:solidFill>
              </a:rPr>
              <a:t>🔹 Tính dễ sử dụng (Usability): </a:t>
            </a:r>
            <a:r>
              <a:rPr sz="1100">
                <a:solidFill>
                  <a:srgbClr val="0F172A"/>
                </a:solidFill>
              </a:rPr>
              <a:t>Giao diện phải trực quan, hỗ trợ phím tắt bàn phím nhanh để giảm thao tác chuột cho nhân viên.</a:t>
            </a:r>
          </a:p>
        </p:txBody>
      </p:sp>
      <p:sp>
        <p:nvSpPr>
          <p:cNvPr id="8" name="Rounded Rectangle 7"/>
          <p:cNvSpPr/>
          <p:nvPr/>
        </p:nvSpPr>
        <p:spPr>
          <a:xfrm>
            <a:off x="6291072" y="1280160"/>
            <a:ext cx="53492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417320"/>
            <a:ext cx="4983480" cy="320040"/>
          </a:xfrm>
          <a:prstGeom prst="rect">
            <a:avLst/>
          </a:prstGeom>
          <a:noFill/>
        </p:spPr>
        <p:txBody>
          <a:bodyPr wrap="square">
            <a:spAutoFit/>
          </a:bodyPr>
          <a:lstStyle/>
          <a:p>
            <a:r>
              <a:rPr sz="1400" b="1">
                <a:solidFill>
                  <a:srgbClr val="2563EB"/>
                </a:solidFill>
              </a:rPr>
              <a:t>ĐIỂM KHÁC BIỆT CỐT LÕI (DIFFERENCES)</a:t>
            </a:r>
          </a:p>
        </p:txBody>
      </p:sp>
      <p:sp>
        <p:nvSpPr>
          <p:cNvPr id="10" name="TextBox 9"/>
          <p:cNvSpPr txBox="1"/>
          <p:nvPr/>
        </p:nvSpPr>
        <p:spPr>
          <a:xfrm>
            <a:off x="6473952" y="1828800"/>
            <a:ext cx="4983480" cy="4389120"/>
          </a:xfrm>
          <a:prstGeom prst="rect">
            <a:avLst/>
          </a:prstGeom>
          <a:noFill/>
        </p:spPr>
        <p:txBody>
          <a:bodyPr wrap="square">
            <a:spAutoFit/>
          </a:bodyPr>
          <a:lstStyle/>
          <a:p>
            <a:pPr>
              <a:spcBef>
                <a:spcPts val="300"/>
              </a:spcBef>
            </a:pPr>
            <a:r>
              <a:rPr b="1" sz="1100">
                <a:solidFill>
                  <a:srgbClr val="1A355E"/>
                </a:solidFill>
              </a:rPr>
              <a:t>🔸 Trọng tâm tranh chấp tài nguyên (Concurrency): </a:t>
            </a:r>
            <a:r>
              <a:rPr sz="1100">
                <a:solidFill>
                  <a:srgbClr val="0F172A"/>
                </a:solidFill>
              </a:rPr>
              <a:t>Check-In: Tập trung xử lý tranh chấp cấp phát phòng vật lý (ngăn 2 lễ tân cùng chọn phòng 302 một lúc) và tích hợp phần cứng máy ghi thẻ từ.
Check-Out: Tập trung vào tính toán tài chính đa nguồn (hóa đơn tiền phòng + minibar + nhà hàng + giặt ủi + thuế phí).</a:t>
            </a:r>
          </a:p>
          <a:p>
            <a:pPr>
              <a:spcBef>
                <a:spcPts val="300"/>
              </a:spcBef>
            </a:pPr>
            <a:r>
              <a:rPr b="1" sz="1100">
                <a:solidFill>
                  <a:srgbClr val="1A355E"/>
                </a:solidFill>
              </a:rPr>
              <a:t>🔸 Xử lý yếu tố bất định (Uncertainty): </a:t>
            </a:r>
            <a:r>
              <a:rPr sz="1100">
                <a:solidFill>
                  <a:srgbClr val="0F172A"/>
                </a:solidFill>
              </a:rPr>
              <a:t>Check-In: Đối mặt với khách đến sớm (phòng chưa dọn), khách vãng lai, hoặc khủng hoảng hết phòng (Overbooking).
Check-Out: Đối mặt với việc khách khiếu nại chi phí minibar, chia tách hóa đơn doanh nghiệp, và độ trễ phản hồi từ cổng thanh toán ngân hàng.</a:t>
            </a:r>
          </a:p>
          <a:p>
            <a:pPr>
              <a:spcBef>
                <a:spcPts val="300"/>
              </a:spcBef>
            </a:pPr>
            <a:r>
              <a:rPr b="1" sz="1100">
                <a:solidFill>
                  <a:srgbClr val="1A355E"/>
                </a:solidFill>
              </a:rPr>
              <a:t>🔸 Tính chịu lỗi tài chính: </a:t>
            </a:r>
            <a:r>
              <a:rPr sz="1100">
                <a:solidFill>
                  <a:srgbClr val="0F172A"/>
                </a:solidFill>
              </a:rPr>
              <a:t>Check-Out có tính nhạy cảm pháp lý cao hơn về hóa đơn thuế tài chính VAT, đòi hỏi độ chính xác tiền tệ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24128"/>
            <a:ext cx="12191695"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1672" cy="868680"/>
          </a:xfrm>
          <a:prstGeom prst="rect">
            <a:avLst/>
          </a:prstGeom>
          <a:noFill/>
        </p:spPr>
        <p:txBody>
          <a:bodyPr wrap="square">
            <a:spAutoFit/>
          </a:bodyPr>
          <a:lstStyle/>
          <a:p>
            <a:r>
              <a:rPr sz="1000" b="1">
                <a:solidFill>
                  <a:srgbClr val="38BDF8"/>
                </a:solidFill>
              </a:rPr>
              <a:t>QUALITY SPECIFICATIONS &amp; TOP 5</a:t>
            </a:r>
          </a:p>
          <a:p>
            <a:r>
              <a:rPr sz="2200" b="1">
                <a:solidFill>
                  <a:srgbClr val="FFFFFF"/>
                </a:solidFill>
              </a:rPr>
              <a:t>Part 2 — Câu 5(c,d): Đặc Tả Kiểm Chứng &amp; Top 5 Thuộc Tính HIS</a:t>
            </a:r>
          </a:p>
        </p:txBody>
      </p:sp>
      <p:sp>
        <p:nvSpPr>
          <p:cNvPr id="5" name="Rounded Rectangle 4"/>
          <p:cNvSpPr/>
          <p:nvPr/>
        </p:nvSpPr>
        <p:spPr>
          <a:xfrm>
            <a:off x="548640" y="1280160"/>
            <a:ext cx="6263640"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5897880" cy="320040"/>
          </a:xfrm>
          <a:prstGeom prst="rect">
            <a:avLst/>
          </a:prstGeom>
          <a:noFill/>
        </p:spPr>
        <p:txBody>
          <a:bodyPr wrap="square">
            <a:spAutoFit/>
          </a:bodyPr>
          <a:lstStyle/>
          <a:p>
            <a:r>
              <a:rPr sz="1400" b="1">
                <a:solidFill>
                  <a:srgbClr val="1A355E"/>
                </a:solidFill>
              </a:rPr>
              <a:t>5(c). ĐẶC TẢ YÊU CẦU CHẤT LƯỢNG CÓ THỂ KIỂM CHỨNG</a:t>
            </a:r>
          </a:p>
        </p:txBody>
      </p:sp>
      <p:sp>
        <p:nvSpPr>
          <p:cNvPr id="7" name="TextBox 6"/>
          <p:cNvSpPr txBox="1"/>
          <p:nvPr/>
        </p:nvSpPr>
        <p:spPr>
          <a:xfrm>
            <a:off x="731520" y="1783080"/>
            <a:ext cx="5897880" cy="4480560"/>
          </a:xfrm>
          <a:prstGeom prst="rect">
            <a:avLst/>
          </a:prstGeom>
          <a:noFill/>
        </p:spPr>
        <p:txBody>
          <a:bodyPr wrap="square">
            <a:spAutoFit/>
          </a:bodyPr>
          <a:lstStyle/>
          <a:p>
            <a:pPr>
              <a:spcBef>
                <a:spcPts val="300"/>
              </a:spcBef>
            </a:pPr>
            <a:r>
              <a:rPr b="1" sz="1000">
                <a:solidFill>
                  <a:srgbClr val="1A355E"/>
                </a:solidFill>
              </a:rPr>
              <a:t>🎯 1. Hiệu năng (Performance Scenario): </a:t>
            </a:r>
            <a:r>
              <a:rPr sz="1000">
                <a:solidFill>
                  <a:srgbClr val="0F172A"/>
                </a:solidFill>
              </a:rPr>
              <a:t>Dưới tải làm việc đồng thời của 20 quầy lễ tân, thời gian tính toán và kết xuất hóa đơn Check-out phải hoàn tất trong vòng dưới 1.0 giây đối với 95% số giao dịch.</a:t>
            </a:r>
          </a:p>
          <a:p>
            <a:pPr>
              <a:spcBef>
                <a:spcPts val="300"/>
              </a:spcBef>
            </a:pPr>
            <a:r>
              <a:rPr b="1" sz="1000">
                <a:solidFill>
                  <a:srgbClr val="1A355E"/>
                </a:solidFill>
              </a:rPr>
              <a:t>🎯 2. Dễ sử dụng (Usability Scenario): </a:t>
            </a:r>
            <a:r>
              <a:rPr sz="1000">
                <a:solidFill>
                  <a:srgbClr val="0F172A"/>
                </a:solidFill>
              </a:rPr>
              <a:t>Một nhân viên lễ tân mới sau 1 giờ đào tạo phải hoàn thành quy trình Check-in cho khách có đặt trước trong thời gian dưới 45 giây và không mắc lỗi nhập liệu.</a:t>
            </a:r>
          </a:p>
          <a:p>
            <a:pPr>
              <a:spcBef>
                <a:spcPts val="300"/>
              </a:spcBef>
            </a:pPr>
            <a:r>
              <a:rPr b="1" sz="1000">
                <a:solidFill>
                  <a:srgbClr val="1A355E"/>
                </a:solidFill>
              </a:rPr>
              <a:t>🎯 3. Tính sẵn sàng (Availability Scenario): </a:t>
            </a:r>
            <a:r>
              <a:rPr sz="1000">
                <a:solidFill>
                  <a:srgbClr val="0F172A"/>
                </a:solidFill>
              </a:rPr>
              <a:t>Phân hệ Lễ tân phải đạt độ sẵn sàng tối thiểu 99.95% trong khung giờ từ 06:00 đến 24:00 hàng ngày; Thời gian phục hồi sau lỗi (MTTR) phải dưới 5 phút.</a:t>
            </a:r>
          </a:p>
          <a:p>
            <a:pPr>
              <a:spcBef>
                <a:spcPts val="300"/>
              </a:spcBef>
            </a:pPr>
            <a:r>
              <a:rPr b="1" sz="1000">
                <a:solidFill>
                  <a:srgbClr val="1A355E"/>
                </a:solidFill>
              </a:rPr>
              <a:t>🎯 4. Bảo mật dữ liệu (Security Scenario): </a:t>
            </a:r>
            <a:r>
              <a:rPr sz="1000">
                <a:solidFill>
                  <a:srgbClr val="0F172A"/>
                </a:solidFill>
              </a:rPr>
              <a:t>100% dữ liệu thẻ thanh toán truyền qua mạng phải được mã hóa theo chuẩn AES-256; số thẻ trên màn hình chỉ được hiển thị 4 chữ số cuối theo chuẩn PCI-DSS Level 1.</a:t>
            </a:r>
          </a:p>
          <a:p>
            <a:pPr>
              <a:spcBef>
                <a:spcPts val="300"/>
              </a:spcBef>
            </a:pPr>
            <a:r>
              <a:rPr b="1" sz="1000">
                <a:solidFill>
                  <a:srgbClr val="1A355E"/>
                </a:solidFill>
              </a:rPr>
              <a:t>🎯 5. Nhất quán dữ liệu (Consistency Scenario): </a:t>
            </a:r>
            <a:r>
              <a:rPr sz="1000">
                <a:solidFill>
                  <a:srgbClr val="0F172A"/>
                </a:solidFill>
              </a:rPr>
              <a:t>Hệ thống đảm bảo 0% trường hợp cấp trùng phòng (Zero Double-Booking) khi nhiều lễ tân thao tác đồng thời nhờ cơ chế giao dịch Serializable.</a:t>
            </a:r>
          </a:p>
        </p:txBody>
      </p:sp>
      <p:sp>
        <p:nvSpPr>
          <p:cNvPr id="8" name="Rounded Rectangle 7"/>
          <p:cNvSpPr/>
          <p:nvPr/>
        </p:nvSpPr>
        <p:spPr>
          <a:xfrm>
            <a:off x="6995160" y="1280160"/>
            <a:ext cx="4645152" cy="5120640"/>
          </a:xfrm>
          <a:prstGeom prst="roundRect">
            <a:avLst/>
          </a:prstGeom>
          <a:solidFill>
            <a:srgbClr val="F8FAFC"/>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78040" y="1417320"/>
            <a:ext cx="4279392" cy="320040"/>
          </a:xfrm>
          <a:prstGeom prst="rect">
            <a:avLst/>
          </a:prstGeom>
          <a:noFill/>
        </p:spPr>
        <p:txBody>
          <a:bodyPr wrap="square">
            <a:spAutoFit/>
          </a:bodyPr>
          <a:lstStyle/>
          <a:p>
            <a:r>
              <a:rPr sz="1400" b="1">
                <a:solidFill>
                  <a:srgbClr val="059669"/>
                </a:solidFill>
              </a:rPr>
              <a:t>5(d). TOP 5 THUỘC TÍNH CHẤT LƯỢNG CHO HIS</a:t>
            </a:r>
          </a:p>
        </p:txBody>
      </p:sp>
      <p:sp>
        <p:nvSpPr>
          <p:cNvPr id="10" name="TextBox 9"/>
          <p:cNvSpPr txBox="1"/>
          <p:nvPr/>
        </p:nvSpPr>
        <p:spPr>
          <a:xfrm>
            <a:off x="7178040" y="1828800"/>
            <a:ext cx="4279392" cy="4389120"/>
          </a:xfrm>
          <a:prstGeom prst="rect">
            <a:avLst/>
          </a:prstGeom>
          <a:noFill/>
        </p:spPr>
        <p:txBody>
          <a:bodyPr wrap="square">
            <a:spAutoFit/>
          </a:bodyPr>
          <a:lstStyle/>
          <a:p>
            <a:pPr>
              <a:spcBef>
                <a:spcPts val="300"/>
              </a:spcBef>
            </a:pPr>
            <a:r>
              <a:rPr b="1" sz="1050">
                <a:solidFill>
                  <a:srgbClr val="1A355E"/>
                </a:solidFill>
              </a:rPr>
              <a:t>⭐ 🏆 1. Availability (Sẵn sàng): </a:t>
            </a:r>
            <a:r>
              <a:rPr sz="1050">
                <a:solidFill>
                  <a:srgbClr val="0F172A"/>
                </a:solidFill>
              </a:rPr>
              <a:t>Khách sạn phục vụ 24/7/365. Hệ thống sập đồng nghĩa với sảnh khách tắc nghẽn, mất doanh thu và khủng hoảng truyền thông.</a:t>
            </a:r>
          </a:p>
          <a:p>
            <a:pPr>
              <a:spcBef>
                <a:spcPts val="300"/>
              </a:spcBef>
            </a:pPr>
            <a:r>
              <a:rPr b="1" sz="1050">
                <a:solidFill>
                  <a:srgbClr val="1A355E"/>
                </a:solidFill>
              </a:rPr>
              <a:t>⭐ ⚡ 2. Usability (Dễ dùng): </a:t>
            </a:r>
            <a:r>
              <a:rPr sz="1050">
                <a:solidFill>
                  <a:srgbClr val="0F172A"/>
                </a:solidFill>
              </a:rPr>
              <a:t>Lễ tân làm việc dưới áp lực trực tiếp từ ánh mắt khách hàng; phần mềm phải tối ưu thao tác phím bấm, giảm tải nhận thức.</a:t>
            </a:r>
          </a:p>
          <a:p>
            <a:pPr>
              <a:spcBef>
                <a:spcPts val="300"/>
              </a:spcBef>
            </a:pPr>
            <a:r>
              <a:rPr b="1" sz="1050">
                <a:solidFill>
                  <a:srgbClr val="1A355E"/>
                </a:solidFill>
              </a:rPr>
              <a:t>⭐ 🛡️ 3. Data Integrity (Nhất quán): </a:t>
            </a:r>
            <a:r>
              <a:rPr sz="1050">
                <a:solidFill>
                  <a:srgbClr val="0F172A"/>
                </a:solidFill>
              </a:rPr>
              <a:t>Phòng ở và hóa đơn tài chính không được phép sai sót; tránh tuyệt đối đặt trùng phòng hay mất phí dịch vụ.</a:t>
            </a:r>
          </a:p>
          <a:p>
            <a:pPr>
              <a:spcBef>
                <a:spcPts val="300"/>
              </a:spcBef>
            </a:pPr>
            <a:r>
              <a:rPr b="1" sz="1050">
                <a:solidFill>
                  <a:srgbClr val="1A355E"/>
                </a:solidFill>
              </a:rPr>
              <a:t>⭐ 🔒 4. Security (Bảo mật): </a:t>
            </a:r>
            <a:r>
              <a:rPr sz="1050">
                <a:solidFill>
                  <a:srgbClr val="0F172A"/>
                </a:solidFill>
              </a:rPr>
              <a:t>Hệ thống lưu trữ thông tin cực kỳ nhạy cảm: thẻ ngân hàng, hộ chiếu, lịch trình di chuyển của khách VIP.</a:t>
            </a:r>
          </a:p>
          <a:p>
            <a:pPr>
              <a:spcBef>
                <a:spcPts val="300"/>
              </a:spcBef>
            </a:pPr>
            <a:r>
              <a:rPr b="1" sz="1050">
                <a:solidFill>
                  <a:srgbClr val="1A355E"/>
                </a:solidFill>
              </a:rPr>
              <a:t>⭐ 🚀 5. Performance (Hiệu năng): </a:t>
            </a:r>
            <a:r>
              <a:rPr sz="1050">
                <a:solidFill>
                  <a:srgbClr val="0F172A"/>
                </a:solidFill>
              </a:rPr>
              <a:t>Tốc độ xử lý siêu tốc trong các đợt cao điểm sáng trả phòng và chiều các đoàn xe tour nhận phòng.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E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20840"/>
            <a:ext cx="12191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731520"/>
            <a:ext cx="10332720" cy="1280160"/>
          </a:xfrm>
          <a:prstGeom prst="rect">
            <a:avLst/>
          </a:prstGeom>
          <a:noFill/>
        </p:spPr>
        <p:txBody>
          <a:bodyPr wrap="square">
            <a:spAutoFit/>
          </a:bodyPr>
          <a:lstStyle/>
          <a:p>
            <a:r>
              <a:rPr b="1" sz="3200">
                <a:solidFill>
                  <a:srgbClr val="FFFFFF"/>
                </a:solidFill>
              </a:rPr>
              <a:t>Tổng Kết &amp; Bài Học Rút Ra (Key Takeaways)</a:t>
            </a:r>
          </a:p>
          <a:p>
            <a:pPr>
              <a:spcBef>
                <a:spcPts val="400"/>
              </a:spcBef>
            </a:pPr>
            <a:r>
              <a:rPr sz="1600">
                <a:solidFill>
                  <a:srgbClr val="38BDF8"/>
                </a:solidFill>
              </a:rPr>
              <a:t>Software Engineering Tutorial 1 — Class Activity User Tasks &amp; Quality Attributes</a:t>
            </a:r>
          </a:p>
        </p:txBody>
      </p:sp>
      <p:sp>
        <p:nvSpPr>
          <p:cNvPr id="5" name="Rounded Rectangle 4"/>
          <p:cNvSpPr/>
          <p:nvPr/>
        </p:nvSpPr>
        <p:spPr>
          <a:xfrm>
            <a:off x="914400" y="2194560"/>
            <a:ext cx="3246120" cy="2560320"/>
          </a:xfrm>
          <a:prstGeom prst="roundRect">
            <a:avLst/>
          </a:prstGeom>
          <a:solidFill>
            <a:srgbClr val="1E293B"/>
          </a:solidFill>
          <a:ln w="19050">
            <a:solidFill>
              <a:srgbClr val="1A3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2331720"/>
            <a:ext cx="2880360" cy="2194560"/>
          </a:xfrm>
          <a:prstGeom prst="rect">
            <a:avLst/>
          </a:prstGeom>
          <a:noFill/>
        </p:spPr>
        <p:txBody>
          <a:bodyPr wrap="square">
            <a:spAutoFit/>
          </a:bodyPr>
          <a:lstStyle/>
          <a:p>
            <a:r>
              <a:rPr b="1" sz="1500">
                <a:solidFill>
                  <a:srgbClr val="FFFFFF"/>
                </a:solidFill>
              </a:rPr>
              <a:t>1. Tasks &amp; Support Approach</a:t>
            </a:r>
          </a:p>
          <a:p>
            <a:pPr>
              <a:spcBef>
                <a:spcPts val="800"/>
              </a:spcBef>
            </a:pPr>
            <a:r>
              <a:rPr sz="1200">
                <a:solidFill>
                  <a:srgbClr val="CBD5E1"/>
                </a:solidFill>
              </a:rPr>
              <a:t>Chuyển dịch tư duy từ việc liệt kê chức năng máy tính rời rạc sang hỗ trợ trọn vẹn tác vụ thực tế của người dùng, giúp yêu cầu phần mềm đầy đủ và nhất quán.</a:t>
            </a:r>
          </a:p>
        </p:txBody>
      </p:sp>
      <p:sp>
        <p:nvSpPr>
          <p:cNvPr id="7" name="Rounded Rectangle 6"/>
          <p:cNvSpPr/>
          <p:nvPr/>
        </p:nvSpPr>
        <p:spPr>
          <a:xfrm>
            <a:off x="4471416" y="2194560"/>
            <a:ext cx="3246120" cy="2560320"/>
          </a:xfrm>
          <a:prstGeom prst="roundRect">
            <a:avLst/>
          </a:prstGeom>
          <a:solidFill>
            <a:srgbClr val="1E293B"/>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54296" y="2331720"/>
            <a:ext cx="2880360" cy="2194560"/>
          </a:xfrm>
          <a:prstGeom prst="rect">
            <a:avLst/>
          </a:prstGeom>
          <a:noFill/>
        </p:spPr>
        <p:txBody>
          <a:bodyPr wrap="square">
            <a:spAutoFit/>
          </a:bodyPr>
          <a:lstStyle/>
          <a:p>
            <a:r>
              <a:rPr b="1" sz="1500">
                <a:solidFill>
                  <a:srgbClr val="FFFFFF"/>
                </a:solidFill>
              </a:rPr>
              <a:t>2. Mô hình hóa miền &amp; Overbooking</a:t>
            </a:r>
          </a:p>
          <a:p>
            <a:pPr>
              <a:spcBef>
                <a:spcPts val="800"/>
              </a:spcBef>
            </a:pPr>
            <a:r>
              <a:rPr sz="1200">
                <a:solidFill>
                  <a:srgbClr val="CBD5E1"/>
                </a:solidFill>
              </a:rPr>
              <a:t>Việc phân tách rõ ràng giữa Loại phòng (RoomType) và Phòng vật lý (Room) là chìa khóa để hiện thực hóa các bài toán kinh doanh thực tế như Đặt trước và Bán vượt phòng.</a:t>
            </a:r>
          </a:p>
        </p:txBody>
      </p:sp>
      <p:sp>
        <p:nvSpPr>
          <p:cNvPr id="9" name="Rounded Rectangle 8"/>
          <p:cNvSpPr/>
          <p:nvPr/>
        </p:nvSpPr>
        <p:spPr>
          <a:xfrm>
            <a:off x="8028432" y="2194560"/>
            <a:ext cx="3246120" cy="2560320"/>
          </a:xfrm>
          <a:prstGeom prst="roundRect">
            <a:avLst/>
          </a:prstGeom>
          <a:solidFill>
            <a:srgbClr val="1E293B"/>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11312" y="2331720"/>
            <a:ext cx="2880360" cy="2194560"/>
          </a:xfrm>
          <a:prstGeom prst="rect">
            <a:avLst/>
          </a:prstGeom>
          <a:noFill/>
        </p:spPr>
        <p:txBody>
          <a:bodyPr wrap="square">
            <a:spAutoFit/>
          </a:bodyPr>
          <a:lstStyle/>
          <a:p>
            <a:r>
              <a:rPr b="1" sz="1500">
                <a:solidFill>
                  <a:srgbClr val="FFFFFF"/>
                </a:solidFill>
              </a:rPr>
              <a:t>3. Kiến trúc chất lượng phần mềm</a:t>
            </a:r>
          </a:p>
          <a:p>
            <a:pPr>
              <a:spcBef>
                <a:spcPts val="800"/>
              </a:spcBef>
            </a:pPr>
            <a:r>
              <a:rPr sz="1200">
                <a:solidFill>
                  <a:srgbClr val="CBD5E1"/>
                </a:solidFill>
              </a:rPr>
              <a:t>Các thuộc tính phi chức năng (Availability, Usability, Performance, Security) là yếu tố quyết định thành bại của hệ thống trong môi trường sản xuất thực tế.</a:t>
            </a:r>
          </a:p>
        </p:txBody>
      </p:sp>
      <p:sp>
        <p:nvSpPr>
          <p:cNvPr id="11" name="Rounded Rectangle 10"/>
          <p:cNvSpPr/>
          <p:nvPr/>
        </p:nvSpPr>
        <p:spPr>
          <a:xfrm>
            <a:off x="914400" y="5029200"/>
            <a:ext cx="10362895" cy="1280160"/>
          </a:xfrm>
          <a:prstGeom prst="roundRect">
            <a:avLst/>
          </a:prstGeom>
          <a:solidFill>
            <a:srgbClr val="13233D"/>
          </a:solidFill>
          <a:ln w="1524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88720" y="5166360"/>
            <a:ext cx="9784080" cy="1005840"/>
          </a:xfrm>
          <a:prstGeom prst="rect">
            <a:avLst/>
          </a:prstGeom>
          <a:noFill/>
        </p:spPr>
        <p:txBody>
          <a:bodyPr wrap="square">
            <a:spAutoFit/>
          </a:bodyPr>
          <a:lstStyle/>
          <a:p>
            <a:r>
              <a:rPr b="1" sz="1500">
                <a:solidFill>
                  <a:srgbClr val="06B6D4"/>
                </a:solidFill>
              </a:rPr>
              <a:t>CẢM ƠN THẦY VÀ CÁC BẠN ĐÃ THEO DÕI BÁO CÁO!</a:t>
            </a:r>
          </a:p>
          <a:p>
            <a:pPr>
              <a:spcBef>
                <a:spcPts val="400"/>
              </a:spcBef>
            </a:pPr>
            <a:r>
              <a:rPr sz="1300">
                <a:solidFill>
                  <a:srgbClr val="FFFFFF"/>
                </a:solidFill>
              </a:rPr>
              <a:t>Nhóm thực hiện: 524H0195 — Ngô Lâm Tiên  |  524H0191 — Nguyễn Công Thành  •  Lớp Kỹ thuật Phần mềm — TDTU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