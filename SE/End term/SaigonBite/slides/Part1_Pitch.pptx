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 — Ngô Lâm Tiến — 0:40
Kính chào thầy và các bạn. Nhóm TeamG4 trình bày Part 1 của SaigonBite, nền tảng đặt món cho hệ thống bếp trung tâm tại Thành phố Hồ Chí Minh. Nhóm gồm em là Ngô Lâm Tiến, MSSV 524H0195; Nguyễn Công Thành, 524H0191; và Nguyễn Trọng Phú, 524H0179.
Nhóm đề xuất Tier 4, trần 10,0 theo bảng thầy cập nhật: đầy đủ nền Tier 3, sandbox API thật, dashboard Admin tương tác và kiểm thử tự động. Đây là mục tiêu cần được chứng minh ở các phần sau và được thầy xác nhận. Hôm nay nhóm trình bày bài toán, giải pháp dự kiến, phân công và kế hoạch nghiệm thu yêu cầu.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 — Nguyễn Công Thành — 1:15
Khách hàng của SaigonBite có hai nhóm. Khách địa phương đăng ký bằng số điện thoại Việt Nam và dùng MoMo, VNPay hoặc tiền mặt. Khách du lịch đăng ký bằng hộ chiếu, quốc tịch và email; họ dùng Apple Pay, PayPal hoặc tiền mặt. Hai nhóm cùng dùng một nền tảng và một schema, nhưng khác điều kiện đăng ký và lựa chọn thanh toán.
Vấn đề thứ hai là tải bếp không đều. Theo BR7, tải dưới 30% được giảm 10% tiền món. Từ 30% đến dưới 90% không có giảm Quiet Kitchen. Từ 90% trở lên, hệ thống từ chối đơn mới và đề nghị chọn hub khác.
Điểm cần chú ý là tải có thể là số lẻ: 29,5% vẫn được giảm, 89,5% chưa bị từ chối. Tải được tính từ số đơn Confirmed và Preparing chia cho capacity; không tính đơn mới. Những quy tắc này giúp điều tiết nhu cầu mà khách vẫn thấy rõ lý do giá thay đổi.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3 — Ngô Lâm Tiến — 1:20
Nhóm đề xuất ba phần nghiệp vụ. Thứ nhất là tính giá: áp dụng đúng thứ tự chín bước, giữ phần lẻ ở các bước trung gian và chỉ làm tròn tổng cuối một lần. Ví dụ trong report cho thấy cắt phần lẻ sớm có thể làm tổng lệch một nghìn đồng. Việc kiểm món còn bán hay thuộc hub nào nằm ở business service, trước khi gọi hàm tính giá.
Thứ hai là Strategy cho thanh toán. Mỗi phương thức có một lớp, được chọn theo loại khách. Mục tiêu bảo trì là thêm một phương thức bằng một lớp mới và một đăng ký, không sửa các lớp thanh toán cũ.
Thứ ba là vòng đời đơn với tám trạng thái và tám chuyển tiếp hợp lệ. Tầng nghiệp vụ kiểm cả vai trò lẫn điều kiện, không chỉ ẩn nút. Các NFR còn yêu cầu tính giá dưới 1,5 giây cho 30 dòng, giao diện song ngữ responsive, phân quyền phía server và audit cho mỗi thay đổi trạng thái hoặc lần thanh toán. Đây là tiêu chí nghiệm thu dự kiến, chưa phải kết quả chạy ứng dụng trong Part 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4 — Cả ba thành viên — 1:35
**Ngô Lâm Tiến — khoảng 0:35:**
Em là Ngô Lâm Tiến, phụ trách use case D — Place and Manage Orders. CRUD gồm tạo đơn, xem và theo dõi, sửa món khi Placed, và hủy khi Placed hoặc Confirmed. Hủy là thao tác nghiệp vụ thay cho xóa lịch sử. Em chịu trách nhiệm chung cho pricing engine, lựa chọn thanh toán và kiêm quản lý voucher.
**Nguyễn Công Thành — khoảng 0:30:**
Em là Nguyễn Công Thành, phụ trách use case A — Manage Menu and Brands. Em quản lý tạo, xem, sửa và xóa mềm thương hiệu lẫn món ăn, cùng trạng thái availability. Em kiêm use case E về tài khoản và báo cáo R1: doanh thu theo nhóm món và phương thức thanh toán, loại đơn Cancelled và Failed.
**Nguyễn Trọng Phú — khoảng 0:30:**
Em là Nguyễn Trọng Phú, phụ trách use case B — Manage Hubs and Capacity. CRUD gồm tạo hub, xem tải, sửa thông tin và capacity, xóa mềm hub. Em kiêm giao nhận và báo cáo R2 gồm số đơn, thời gian Confirmed đến Ready, tải hiện tại và số lần giảm Quiet Kitchen.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5 — Nguyễn Trọng Phú — 1:25
Để nghiệm thu, nhóm lên kế hoạch ít nhất 20 ca EP/BVA bao phủ các ngưỡng số trong BR1 đến BR12 và BR14, cùng ít nhất năm ca chuyển trạng thái không hợp lệ. RTM đã có 47 FR và sáu NFR, gắn nguồn, use case, người phụ trách và phép kiểm dự kiến. Verdict hiện tại là Planned; kết quả thực thi sẽ bổ sung ở Part 3.
Tier 4 cần đủ nền Tier 3 và cả ba phần bổ sung. Tiến phụ trách VNPay; Thành và Phú phụ trách dashboard R1/R2; cả nhóm phụ trách kiểm thử. Mock không thay được sandbox thật; bộ lọc phải cập nhật biểu đồ và bảng. Nhóm cần thầy xác nhận biến thể Core MVC/EF Core. Trần 10,0 không phải điểm chắc chắn; thiếu phần Tier 4 thì chỉ xét trần 9,5 nếu đủ Tier 3. Một lớp cộng một đăng ký chỉ áp dụng cho thêm phương thức thanh toán; change request khác cần phân tích riêng.
Hai giả định còn chờ thầy góp ý: A1, Admin gán shipper đang sẵn sàng cho đơn Ready và lưu thời gian gán. A2, giao thất bại vẫn là trạng thái Failed: thanh toán online hoàn toàn bộ theo sổ cái mô phỏng, COD không thu tiền, và không ghi doanh thu. Nhóm sẽ cập nhật cả report, workbook và test nếu giả định thay đổi. Nhóm em cảm ơn thầy và các bạn.
Source for tier caps: instructor table supplied on 24/10/2026, archived at `docs/references/instructor-technology-tiers.png`; publication date not visible.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286917"/>
            <a:ext cx="10668000" cy="0"/>
          </a:xfrm>
          <a:prstGeom prst="line">
            <a:avLst/>
          </a:prstGeom>
          <a:noFill/>
          <a:ln w="9525">
            <a:solidFill>
              <a:srgbClr val="111111"/>
            </a:solidFill>
            <a:prstDash val="solid"/>
          </a:ln>
        </p:spPr>
      </p:sp>
      <p:sp>
        <p:nvSpPr>
          <p:cNvPr id="3" name="Shape 1"/>
          <p:cNvSpPr/>
          <p:nvPr/>
        </p:nvSpPr>
        <p:spPr>
          <a:xfrm>
            <a:off x="762000" y="3213348"/>
            <a:ext cx="1676400" cy="38100"/>
          </a:xfrm>
          <a:prstGeom prst="rect">
            <a:avLst/>
          </a:prstGeom>
          <a:solidFill>
            <a:srgbClr val="111111"/>
          </a:solidFill>
          <a:ln w="12700">
            <a:solidFill>
              <a:srgbClr val="333333">
                <a:alpha val="0"/>
              </a:srgbClr>
            </a:solidFill>
            <a:prstDash val="solid"/>
          </a:ln>
        </p:spPr>
      </p:sp>
      <p:sp>
        <p:nvSpPr>
          <p:cNvPr id="4" name="Shape 2"/>
          <p:cNvSpPr/>
          <p:nvPr/>
        </p:nvSpPr>
        <p:spPr>
          <a:xfrm>
            <a:off x="762000" y="6280249"/>
            <a:ext cx="10668000" cy="0"/>
          </a:xfrm>
          <a:prstGeom prst="line">
            <a:avLst/>
          </a:prstGeom>
          <a:noFill/>
          <a:ln w="9525">
            <a:solidFill>
              <a:srgbClr val="C4C4C4"/>
            </a:solidFill>
            <a:prstDash val="solid"/>
          </a:ln>
        </p:spPr>
      </p:sp>
      <p:pic>
        <p:nvPicPr>
          <p:cNvPr id="5" name="Image 0" descr="preencoded.png">    </p:cNvPr>
          <p:cNvPicPr>
            <a:picLocks noChangeAspect="1"/>
          </p:cNvPicPr>
          <p:nvPr/>
        </p:nvPicPr>
        <p:blipFill>
          <a:blip r:embed="rId1"/>
          <a:stretch>
            <a:fillRect/>
          </a:stretch>
        </p:blipFill>
        <p:spPr>
          <a:xfrm>
            <a:off x="762000" y="482501"/>
            <a:ext cx="1092101" cy="604391"/>
          </a:xfrm>
          <a:prstGeom prst="rect">
            <a:avLst/>
          </a:prstGeom>
        </p:spPr>
      </p:pic>
      <p:sp>
        <p:nvSpPr>
          <p:cNvPr id="6" name="Text 3"/>
          <p:cNvSpPr/>
          <p:nvPr/>
        </p:nvSpPr>
        <p:spPr>
          <a:xfrm>
            <a:off x="2031802" y="515814"/>
            <a:ext cx="333556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TON DUC THANG UNIVERSITY</a:t>
            </a:r>
            <a:endParaRPr lang="en-US" sz="1600" dirty="0"/>
          </a:p>
        </p:txBody>
      </p:sp>
      <p:sp>
        <p:nvSpPr>
          <p:cNvPr id="7" name="Text 4"/>
          <p:cNvSpPr/>
          <p:nvPr/>
        </p:nvSpPr>
        <p:spPr>
          <a:xfrm>
            <a:off x="2031802" y="789956"/>
            <a:ext cx="4472613"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FACULTY OF INFORMATION TECHNOLOGY</a:t>
            </a:r>
            <a:endParaRPr lang="en-US" sz="1600" dirty="0"/>
          </a:p>
        </p:txBody>
      </p:sp>
      <p:sp>
        <p:nvSpPr>
          <p:cNvPr id="8" name="Text 5"/>
          <p:cNvSpPr/>
          <p:nvPr/>
        </p:nvSpPr>
        <p:spPr>
          <a:xfrm>
            <a:off x="762000" y="1654201"/>
            <a:ext cx="6618119"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TEAMG4 · PRESENTATION 1 · THE SOLUTION PITCH</a:t>
            </a:r>
            <a:endParaRPr lang="en-US" sz="1600" dirty="0"/>
          </a:p>
        </p:txBody>
      </p:sp>
      <p:sp>
        <p:nvSpPr>
          <p:cNvPr id="9" name="Text 6"/>
          <p:cNvSpPr/>
          <p:nvPr/>
        </p:nvSpPr>
        <p:spPr>
          <a:xfrm>
            <a:off x="762000" y="1949476"/>
            <a:ext cx="2622381" cy="726440"/>
          </a:xfrm>
          <a:prstGeom prst="rect">
            <a:avLst/>
          </a:prstGeom>
          <a:noFill/>
          <a:ln/>
        </p:spPr>
        <p:txBody>
          <a:bodyPr wrap="none" lIns="0" tIns="0" rIns="0" bIns="0" rtlCol="0" anchor="t"/>
          <a:lstStyle/>
          <a:p>
            <a:pPr indent="0" marL="0">
              <a:lnSpc>
                <a:spcPct val="100000"/>
              </a:lnSpc>
              <a:buNone/>
            </a:pPr>
            <a:r>
              <a:rPr lang="en-US" sz="4400" b="1" dirty="0">
                <a:solidFill>
                  <a:srgbClr val="111111"/>
                </a:solidFill>
                <a:latin typeface="Times New Roman" pitchFamily="34" charset="0"/>
                <a:ea typeface="Times New Roman" pitchFamily="34" charset="-122"/>
                <a:cs typeface="Times New Roman" pitchFamily="34" charset="-120"/>
              </a:rPr>
              <a:t>SaigonBite</a:t>
            </a:r>
            <a:endParaRPr lang="en-US" sz="4400" dirty="0"/>
          </a:p>
        </p:txBody>
      </p:sp>
      <p:sp>
        <p:nvSpPr>
          <p:cNvPr id="10" name="Text 7"/>
          <p:cNvSpPr/>
          <p:nvPr/>
        </p:nvSpPr>
        <p:spPr>
          <a:xfrm>
            <a:off x="762000" y="2618607"/>
            <a:ext cx="6987510" cy="396240"/>
          </a:xfrm>
          <a:prstGeom prst="rect">
            <a:avLst/>
          </a:prstGeom>
          <a:noFill/>
          <a:ln/>
        </p:spPr>
        <p:txBody>
          <a:bodyPr wrap="none" lIns="0" tIns="0" rIns="0" bIns="0" rtlCol="0" anchor="t"/>
          <a:lstStyle/>
          <a:p>
            <a:pPr indent="0" marL="0">
              <a:lnSpc>
                <a:spcPct val="100000"/>
              </a:lnSpc>
              <a:buNone/>
            </a:pPr>
            <a:r>
              <a:rPr lang="en-US" sz="2400" i="1" dirty="0">
                <a:solidFill>
                  <a:srgbClr val="222222"/>
                </a:solidFill>
                <a:latin typeface="Times New Roman" pitchFamily="34" charset="0"/>
                <a:ea typeface="Times New Roman" pitchFamily="34" charset="-122"/>
                <a:cs typeface="Times New Roman" pitchFamily="34" charset="-120"/>
              </a:rPr>
              <a:t>Cloud-Kitchen Food Delivery Hub for Ho Chi Minh City</a:t>
            </a:r>
            <a:endParaRPr lang="en-US" sz="2400" dirty="0"/>
          </a:p>
        </p:txBody>
      </p:sp>
      <p:sp>
        <p:nvSpPr>
          <p:cNvPr id="11" name="Text 8"/>
          <p:cNvSpPr/>
          <p:nvPr/>
        </p:nvSpPr>
        <p:spPr>
          <a:xfrm>
            <a:off x="762000" y="3513957"/>
            <a:ext cx="1823918"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Ngô Lâm Tiến</a:t>
            </a:r>
            <a:endParaRPr lang="en-US" sz="2400" dirty="0"/>
          </a:p>
        </p:txBody>
      </p:sp>
      <p:sp>
        <p:nvSpPr>
          <p:cNvPr id="12" name="Text 9"/>
          <p:cNvSpPr/>
          <p:nvPr/>
        </p:nvSpPr>
        <p:spPr>
          <a:xfrm>
            <a:off x="2667149" y="3561582"/>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524H0195</a:t>
            </a:r>
            <a:endParaRPr lang="en-US" sz="2000" dirty="0"/>
          </a:p>
        </p:txBody>
      </p:sp>
      <p:sp>
        <p:nvSpPr>
          <p:cNvPr id="13" name="Text 10"/>
          <p:cNvSpPr/>
          <p:nvPr/>
        </p:nvSpPr>
        <p:spPr>
          <a:xfrm>
            <a:off x="762000" y="3952851"/>
            <a:ext cx="2596783"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Nguyễn Công Thành</a:t>
            </a:r>
            <a:endParaRPr lang="en-US" sz="2400" dirty="0"/>
          </a:p>
        </p:txBody>
      </p:sp>
      <p:sp>
        <p:nvSpPr>
          <p:cNvPr id="14" name="Text 11"/>
          <p:cNvSpPr/>
          <p:nvPr/>
        </p:nvSpPr>
        <p:spPr>
          <a:xfrm>
            <a:off x="3440013" y="4000476"/>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524H0191</a:t>
            </a:r>
            <a:endParaRPr lang="en-US" sz="2000" dirty="0"/>
          </a:p>
        </p:txBody>
      </p:sp>
      <p:sp>
        <p:nvSpPr>
          <p:cNvPr id="15" name="Text 12"/>
          <p:cNvSpPr/>
          <p:nvPr/>
        </p:nvSpPr>
        <p:spPr>
          <a:xfrm>
            <a:off x="762000" y="4391745"/>
            <a:ext cx="2366099" cy="396240"/>
          </a:xfrm>
          <a:prstGeom prst="rect">
            <a:avLst/>
          </a:prstGeom>
          <a:noFill/>
          <a:ln/>
        </p:spPr>
        <p:txBody>
          <a:bodyPr wrap="none" lIns="0" tIns="0" rIns="0" bIns="0" rtlCol="0" anchor="t"/>
          <a:lstStyle/>
          <a:p>
            <a:pPr indent="0" marL="0">
              <a:lnSpc>
                <a:spcPct val="100000"/>
              </a:lnSpc>
              <a:buNone/>
            </a:pPr>
            <a:r>
              <a:rPr lang="en-US" sz="2400" dirty="0">
                <a:solidFill>
                  <a:srgbClr val="111111"/>
                </a:solidFill>
                <a:latin typeface="Times New Roman" pitchFamily="34" charset="0"/>
                <a:ea typeface="Times New Roman" pitchFamily="34" charset="-122"/>
                <a:cs typeface="Times New Roman" pitchFamily="34" charset="-120"/>
              </a:rPr>
              <a:t>Nguyễn Trọng Phú</a:t>
            </a:r>
            <a:endParaRPr lang="en-US" sz="2400" dirty="0"/>
          </a:p>
        </p:txBody>
      </p:sp>
      <p:sp>
        <p:nvSpPr>
          <p:cNvPr id="16" name="Text 13"/>
          <p:cNvSpPr/>
          <p:nvPr/>
        </p:nvSpPr>
        <p:spPr>
          <a:xfrm>
            <a:off x="3209330" y="4439370"/>
            <a:ext cx="1117878"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524H0179</a:t>
            </a:r>
            <a:endParaRPr lang="en-US" sz="2000" dirty="0"/>
          </a:p>
        </p:txBody>
      </p:sp>
      <p:sp>
        <p:nvSpPr>
          <p:cNvPr id="17" name="Text 14"/>
          <p:cNvSpPr/>
          <p:nvPr/>
        </p:nvSpPr>
        <p:spPr>
          <a:xfrm>
            <a:off x="762000" y="4960715"/>
            <a:ext cx="2795617"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Software Engineering (SE)</a:t>
            </a:r>
            <a:endParaRPr lang="en-US" sz="2000" dirty="0"/>
          </a:p>
        </p:txBody>
      </p:sp>
      <p:sp>
        <p:nvSpPr>
          <p:cNvPr id="18" name="Text 15"/>
          <p:cNvSpPr/>
          <p:nvPr/>
        </p:nvSpPr>
        <p:spPr>
          <a:xfrm>
            <a:off x="361339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19" name="Text 16"/>
          <p:cNvSpPr/>
          <p:nvPr/>
        </p:nvSpPr>
        <p:spPr>
          <a:xfrm>
            <a:off x="3778448" y="4960715"/>
            <a:ext cx="2394079"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Semester 1, 2026-2027</a:t>
            </a:r>
            <a:endParaRPr lang="en-US" sz="2000" dirty="0"/>
          </a:p>
        </p:txBody>
      </p:sp>
      <p:sp>
        <p:nvSpPr>
          <p:cNvPr id="20" name="Text 17"/>
          <p:cNvSpPr/>
          <p:nvPr/>
        </p:nvSpPr>
        <p:spPr>
          <a:xfrm>
            <a:off x="622830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21" name="Text 18"/>
          <p:cNvSpPr/>
          <p:nvPr/>
        </p:nvSpPr>
        <p:spPr>
          <a:xfrm>
            <a:off x="6393359" y="4960715"/>
            <a:ext cx="1385768"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Sem01_2627</a:t>
            </a:r>
            <a:endParaRPr lang="en-US" sz="2000" dirty="0"/>
          </a:p>
        </p:txBody>
      </p:sp>
      <p:sp>
        <p:nvSpPr>
          <p:cNvPr id="22" name="Text 19"/>
          <p:cNvSpPr/>
          <p:nvPr/>
        </p:nvSpPr>
        <p:spPr>
          <a:xfrm>
            <a:off x="7834908" y="4960715"/>
            <a:ext cx="109270" cy="330200"/>
          </a:xfrm>
          <a:prstGeom prst="rect">
            <a:avLst/>
          </a:prstGeom>
          <a:noFill/>
          <a:ln/>
        </p:spPr>
        <p:txBody>
          <a:bodyPr wrap="none" lIns="0" tIns="0" rIns="0" bIns="0" rtlCol="0" anchor="t"/>
          <a:lstStyle/>
          <a:p>
            <a:pPr indent="0" marL="0">
              <a:lnSpc>
                <a:spcPct val="100000"/>
              </a:lnSpc>
              <a:buNone/>
            </a:pPr>
            <a:r>
              <a:rPr lang="en-US" sz="2000" dirty="0">
                <a:solidFill>
                  <a:srgbClr val="5A5A5A"/>
                </a:solidFill>
                <a:latin typeface="Times New Roman" pitchFamily="34" charset="0"/>
                <a:ea typeface="Times New Roman" pitchFamily="34" charset="-122"/>
                <a:cs typeface="Times New Roman" pitchFamily="34" charset="-120"/>
              </a:rPr>
              <a:t>·</a:t>
            </a:r>
            <a:endParaRPr lang="en-US" sz="2000" dirty="0"/>
          </a:p>
        </p:txBody>
      </p:sp>
      <p:sp>
        <p:nvSpPr>
          <p:cNvPr id="23" name="Text 20"/>
          <p:cNvSpPr/>
          <p:nvPr/>
        </p:nvSpPr>
        <p:spPr>
          <a:xfrm>
            <a:off x="7999958" y="4960715"/>
            <a:ext cx="650111" cy="330200"/>
          </a:xfrm>
          <a:prstGeom prst="rect">
            <a:avLst/>
          </a:prstGeom>
          <a:noFill/>
          <a:ln/>
        </p:spPr>
        <p:txBody>
          <a:bodyPr wrap="none" lIns="0" tIns="0" rIns="0" bIns="0" rtlCol="0" anchor="t"/>
          <a:lstStyle/>
          <a:p>
            <a:pPr indent="0" marL="0">
              <a:lnSpc>
                <a:spcPct val="100000"/>
              </a:lnSpc>
              <a:buNone/>
            </a:pPr>
            <a:r>
              <a:rPr lang="en-US" sz="2000" dirty="0">
                <a:solidFill>
                  <a:srgbClr val="222222"/>
                </a:solidFill>
                <a:latin typeface="Times New Roman" pitchFamily="34" charset="0"/>
                <a:ea typeface="Times New Roman" pitchFamily="34" charset="-122"/>
                <a:cs typeface="Times New Roman" pitchFamily="34" charset="-120"/>
              </a:rPr>
              <a:t>Tier 4</a:t>
            </a:r>
            <a:endParaRPr lang="en-US" sz="2000" dirty="0"/>
          </a:p>
        </p:txBody>
      </p:sp>
      <p:sp>
        <p:nvSpPr>
          <p:cNvPr id="24" name="Text 21"/>
          <p:cNvSpPr/>
          <p:nvPr/>
        </p:nvSpPr>
        <p:spPr>
          <a:xfrm>
            <a:off x="762000"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01</a:t>
            </a:r>
            <a:endParaRPr lang="en-US" sz="1600" dirty="0"/>
          </a:p>
        </p:txBody>
      </p:sp>
      <p:sp>
        <p:nvSpPr>
          <p:cNvPr id="25" name="Text 22"/>
          <p:cNvSpPr/>
          <p:nvPr/>
        </p:nvSpPr>
        <p:spPr>
          <a:xfrm>
            <a:off x="1102816" y="5767959"/>
            <a:ext cx="1719143"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THE PROBLEM</a:t>
            </a:r>
            <a:endParaRPr lang="en-US" sz="1600" dirty="0"/>
          </a:p>
        </p:txBody>
      </p:sp>
      <p:sp>
        <p:nvSpPr>
          <p:cNvPr id="26" name="Text 23"/>
          <p:cNvSpPr/>
          <p:nvPr/>
        </p:nvSpPr>
        <p:spPr>
          <a:xfrm>
            <a:off x="3157240"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02</a:t>
            </a:r>
            <a:endParaRPr lang="en-US" sz="1600" dirty="0"/>
          </a:p>
        </p:txBody>
      </p:sp>
      <p:sp>
        <p:nvSpPr>
          <p:cNvPr id="27" name="Text 24"/>
          <p:cNvSpPr/>
          <p:nvPr/>
        </p:nvSpPr>
        <p:spPr>
          <a:xfrm>
            <a:off x="3498056" y="5767959"/>
            <a:ext cx="1833741"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OUR SOLUTION</a:t>
            </a:r>
            <a:endParaRPr lang="en-US" sz="1600" dirty="0"/>
          </a:p>
        </p:txBody>
      </p:sp>
      <p:sp>
        <p:nvSpPr>
          <p:cNvPr id="28" name="Text 25"/>
          <p:cNvSpPr/>
          <p:nvPr/>
        </p:nvSpPr>
        <p:spPr>
          <a:xfrm>
            <a:off x="5667077"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03</a:t>
            </a:r>
            <a:endParaRPr lang="en-US" sz="1600" dirty="0"/>
          </a:p>
        </p:txBody>
      </p:sp>
      <p:sp>
        <p:nvSpPr>
          <p:cNvPr id="29" name="Text 26"/>
          <p:cNvSpPr/>
          <p:nvPr/>
        </p:nvSpPr>
        <p:spPr>
          <a:xfrm>
            <a:off x="6007894" y="5767959"/>
            <a:ext cx="1450360"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OWNERSHIP</a:t>
            </a:r>
            <a:endParaRPr lang="en-US" sz="1600" dirty="0"/>
          </a:p>
        </p:txBody>
      </p:sp>
      <p:sp>
        <p:nvSpPr>
          <p:cNvPr id="30" name="Text 27"/>
          <p:cNvSpPr/>
          <p:nvPr/>
        </p:nvSpPr>
        <p:spPr>
          <a:xfrm>
            <a:off x="7793534" y="5767959"/>
            <a:ext cx="297686"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04</a:t>
            </a:r>
            <a:endParaRPr lang="en-US" sz="1600" dirty="0"/>
          </a:p>
        </p:txBody>
      </p:sp>
      <p:sp>
        <p:nvSpPr>
          <p:cNvPr id="31" name="Text 28"/>
          <p:cNvSpPr/>
          <p:nvPr/>
        </p:nvSpPr>
        <p:spPr>
          <a:xfrm>
            <a:off x="8134350" y="5767959"/>
            <a:ext cx="1451997"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DE-RISKING</a:t>
            </a:r>
            <a:endParaRPr lang="en-US" sz="1600" dirty="0"/>
          </a:p>
        </p:txBody>
      </p:sp>
      <p:sp>
        <p:nvSpPr>
          <p:cNvPr id="32" name="Text 29"/>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33" name="Text 30"/>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34" name="Text 31"/>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1 / 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909167"/>
            <a:ext cx="10668000" cy="0"/>
          </a:xfrm>
          <a:prstGeom prst="line">
            <a:avLst/>
          </a:prstGeom>
          <a:noFill/>
          <a:ln w="9525">
            <a:solidFill>
              <a:srgbClr val="111111"/>
            </a:solidFill>
            <a:prstDash val="solid"/>
          </a:ln>
        </p:spPr>
      </p:sp>
      <p:sp>
        <p:nvSpPr>
          <p:cNvPr id="3" name="Shape 1"/>
          <p:cNvSpPr/>
          <p:nvPr/>
        </p:nvSpPr>
        <p:spPr>
          <a:xfrm>
            <a:off x="762000" y="2061567"/>
            <a:ext cx="3335834" cy="0"/>
          </a:xfrm>
          <a:prstGeom prst="line">
            <a:avLst/>
          </a:prstGeom>
          <a:noFill/>
          <a:ln w="19050">
            <a:solidFill>
              <a:srgbClr val="111111"/>
            </a:solidFill>
            <a:prstDash val="solid"/>
          </a:ln>
        </p:spPr>
      </p:sp>
      <p:sp>
        <p:nvSpPr>
          <p:cNvPr id="4" name="Shape 2"/>
          <p:cNvSpPr/>
          <p:nvPr/>
        </p:nvSpPr>
        <p:spPr>
          <a:xfrm>
            <a:off x="4427934" y="2061567"/>
            <a:ext cx="3335982" cy="0"/>
          </a:xfrm>
          <a:prstGeom prst="line">
            <a:avLst/>
          </a:prstGeom>
          <a:noFill/>
          <a:ln w="19050">
            <a:solidFill>
              <a:srgbClr val="111111"/>
            </a:solidFill>
            <a:prstDash val="solid"/>
          </a:ln>
        </p:spPr>
      </p:sp>
      <p:sp>
        <p:nvSpPr>
          <p:cNvPr id="5" name="Shape 3"/>
          <p:cNvSpPr/>
          <p:nvPr/>
        </p:nvSpPr>
        <p:spPr>
          <a:xfrm>
            <a:off x="8094018" y="2061567"/>
            <a:ext cx="3335834" cy="0"/>
          </a:xfrm>
          <a:prstGeom prst="line">
            <a:avLst/>
          </a:prstGeom>
          <a:noFill/>
          <a:ln w="19050">
            <a:solidFill>
              <a:srgbClr val="111111"/>
            </a:solidFill>
            <a:prstDash val="solid"/>
          </a:ln>
        </p:spPr>
      </p:sp>
      <p:sp>
        <p:nvSpPr>
          <p:cNvPr id="6" name="Shape 4"/>
          <p:cNvSpPr/>
          <p:nvPr/>
        </p:nvSpPr>
        <p:spPr>
          <a:xfrm>
            <a:off x="762000" y="3845570"/>
            <a:ext cx="10668000" cy="0"/>
          </a:xfrm>
          <a:prstGeom prst="line">
            <a:avLst/>
          </a:prstGeom>
          <a:noFill/>
          <a:ln w="9525">
            <a:solidFill>
              <a:srgbClr val="C4C4C4"/>
            </a:solidFill>
            <a:prstDash val="solid"/>
          </a:ln>
        </p:spPr>
      </p:sp>
      <p:sp>
        <p:nvSpPr>
          <p:cNvPr id="7" name="Shape 5"/>
          <p:cNvSpPr/>
          <p:nvPr/>
        </p:nvSpPr>
        <p:spPr>
          <a:xfrm>
            <a:off x="3657600" y="4121795"/>
            <a:ext cx="2997101" cy="165050"/>
          </a:xfrm>
          <a:prstGeom prst="rect">
            <a:avLst/>
          </a:prstGeom>
          <a:solidFill>
            <a:srgbClr val="F1F1F1"/>
          </a:solidFill>
          <a:ln w="12700">
            <a:solidFill>
              <a:srgbClr val="333333">
                <a:alpha val="0"/>
              </a:srgbClr>
            </a:solidFill>
            <a:prstDash val="solid"/>
          </a:ln>
        </p:spPr>
      </p:sp>
      <p:sp>
        <p:nvSpPr>
          <p:cNvPr id="8" name="Shape 6"/>
          <p:cNvSpPr/>
          <p:nvPr/>
        </p:nvSpPr>
        <p:spPr>
          <a:xfrm>
            <a:off x="3657600" y="4121795"/>
            <a:ext cx="899071" cy="165050"/>
          </a:xfrm>
          <a:prstGeom prst="rect">
            <a:avLst/>
          </a:prstGeom>
          <a:solidFill>
            <a:srgbClr val="347348"/>
          </a:solidFill>
          <a:ln w="12700">
            <a:solidFill>
              <a:srgbClr val="333333">
                <a:alpha val="0"/>
              </a:srgbClr>
            </a:solidFill>
            <a:prstDash val="solid"/>
          </a:ln>
        </p:spPr>
      </p:sp>
      <p:sp>
        <p:nvSpPr>
          <p:cNvPr id="9" name="Shape 7"/>
          <p:cNvSpPr/>
          <p:nvPr/>
        </p:nvSpPr>
        <p:spPr>
          <a:xfrm>
            <a:off x="3657600" y="4515445"/>
            <a:ext cx="2997101" cy="165050"/>
          </a:xfrm>
          <a:prstGeom prst="rect">
            <a:avLst/>
          </a:prstGeom>
          <a:solidFill>
            <a:srgbClr val="F1F1F1"/>
          </a:solidFill>
          <a:ln w="12700">
            <a:solidFill>
              <a:srgbClr val="333333">
                <a:alpha val="0"/>
              </a:srgbClr>
            </a:solidFill>
            <a:prstDash val="solid"/>
          </a:ln>
        </p:spPr>
      </p:sp>
      <p:sp>
        <p:nvSpPr>
          <p:cNvPr id="10" name="Shape 8"/>
          <p:cNvSpPr/>
          <p:nvPr/>
        </p:nvSpPr>
        <p:spPr>
          <a:xfrm>
            <a:off x="3657600" y="4515445"/>
            <a:ext cx="1798141" cy="165050"/>
          </a:xfrm>
          <a:prstGeom prst="rect">
            <a:avLst/>
          </a:prstGeom>
          <a:solidFill>
            <a:srgbClr val="49749A"/>
          </a:solidFill>
          <a:ln w="12700">
            <a:solidFill>
              <a:srgbClr val="333333">
                <a:alpha val="0"/>
              </a:srgbClr>
            </a:solidFill>
            <a:prstDash val="solid"/>
          </a:ln>
        </p:spPr>
      </p:sp>
      <p:sp>
        <p:nvSpPr>
          <p:cNvPr id="11" name="Shape 9"/>
          <p:cNvSpPr/>
          <p:nvPr/>
        </p:nvSpPr>
        <p:spPr>
          <a:xfrm>
            <a:off x="3657600" y="4909096"/>
            <a:ext cx="2997101" cy="165050"/>
          </a:xfrm>
          <a:prstGeom prst="rect">
            <a:avLst/>
          </a:prstGeom>
          <a:solidFill>
            <a:srgbClr val="F1F1F1"/>
          </a:solidFill>
          <a:ln w="12700">
            <a:solidFill>
              <a:srgbClr val="333333">
                <a:alpha val="0"/>
              </a:srgbClr>
            </a:solidFill>
            <a:prstDash val="solid"/>
          </a:ln>
        </p:spPr>
      </p:sp>
      <p:sp>
        <p:nvSpPr>
          <p:cNvPr id="12" name="Shape 10"/>
          <p:cNvSpPr/>
          <p:nvPr/>
        </p:nvSpPr>
        <p:spPr>
          <a:xfrm>
            <a:off x="3657600" y="4909096"/>
            <a:ext cx="299591" cy="165050"/>
          </a:xfrm>
          <a:prstGeom prst="rect">
            <a:avLst/>
          </a:prstGeom>
          <a:solidFill>
            <a:srgbClr val="A45232"/>
          </a:solidFill>
          <a:ln w="12700">
            <a:solidFill>
              <a:srgbClr val="333333">
                <a:alpha val="0"/>
              </a:srgbClr>
            </a:solidFill>
            <a:prstDash val="solid"/>
          </a:ln>
        </p:spPr>
      </p:sp>
      <p:sp>
        <p:nvSpPr>
          <p:cNvPr id="13" name="Shape 11"/>
          <p:cNvSpPr/>
          <p:nvPr/>
        </p:nvSpPr>
        <p:spPr>
          <a:xfrm>
            <a:off x="762000" y="6280249"/>
            <a:ext cx="10668000" cy="0"/>
          </a:xfrm>
          <a:prstGeom prst="line">
            <a:avLst/>
          </a:prstGeom>
          <a:noFill/>
          <a:ln w="9525">
            <a:solidFill>
              <a:srgbClr val="C4C4C4"/>
            </a:solidFill>
            <a:prstDash val="solid"/>
          </a:ln>
        </p:spPr>
      </p:sp>
      <p:pic>
        <p:nvPicPr>
          <p:cNvPr id="14"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15" name="Text 12"/>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01</a:t>
            </a:r>
            <a:endParaRPr lang="en-US" sz="1600" dirty="0"/>
          </a:p>
        </p:txBody>
      </p:sp>
      <p:sp>
        <p:nvSpPr>
          <p:cNvPr id="16" name="Text 13"/>
          <p:cNvSpPr/>
          <p:nvPr/>
        </p:nvSpPr>
        <p:spPr>
          <a:xfrm>
            <a:off x="1792039" y="468785"/>
            <a:ext cx="1808589"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THE PROBLEM</a:t>
            </a:r>
            <a:endParaRPr lang="en-US" sz="1600" dirty="0"/>
          </a:p>
        </p:txBody>
      </p:sp>
      <p:sp>
        <p:nvSpPr>
          <p:cNvPr id="17" name="Text 14"/>
          <p:cNvSpPr/>
          <p:nvPr/>
        </p:nvSpPr>
        <p:spPr>
          <a:xfrm>
            <a:off x="762000" y="783110"/>
            <a:ext cx="5472589"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Customers and kitchen load</a:t>
            </a:r>
            <a:endParaRPr lang="en-US" sz="3600" dirty="0"/>
          </a:p>
        </p:txBody>
      </p:sp>
      <p:sp>
        <p:nvSpPr>
          <p:cNvPr id="18" name="Text 15"/>
          <p:cNvSpPr/>
          <p:nvPr/>
        </p:nvSpPr>
        <p:spPr>
          <a:xfrm>
            <a:off x="762000" y="1412206"/>
            <a:ext cx="7875865" cy="330200"/>
          </a:xfrm>
          <a:prstGeom prst="rect">
            <a:avLst/>
          </a:prstGeom>
          <a:noFill/>
          <a:ln/>
        </p:spPr>
        <p:txBody>
          <a:bodyPr wrap="none" lIns="0" tIns="0" rIns="0" bIns="0" rtlCol="0" anchor="t"/>
          <a:lstStyle/>
          <a:p>
            <a:pPr indent="0" marL="0">
              <a:lnSpc>
                <a:spcPct val="100000"/>
              </a:lnSpc>
              <a:buNone/>
            </a:pPr>
            <a:r>
              <a:rPr lang="en-US" sz="2000" i="1" dirty="0">
                <a:solidFill>
                  <a:srgbClr val="2B2B2B"/>
                </a:solidFill>
                <a:latin typeface="Times New Roman" pitchFamily="34" charset="0"/>
                <a:ea typeface="Times New Roman" pitchFamily="34" charset="-122"/>
                <a:cs typeface="Times New Roman" pitchFamily="34" charset="-120"/>
              </a:rPr>
              <a:t>Clear prices and controlled delivery for local customers and foreign tourists.</a:t>
            </a:r>
            <a:endParaRPr lang="en-US" sz="2000" dirty="0"/>
          </a:p>
        </p:txBody>
      </p:sp>
      <p:sp>
        <p:nvSpPr>
          <p:cNvPr id="19" name="Text 16"/>
          <p:cNvSpPr/>
          <p:nvPr/>
        </p:nvSpPr>
        <p:spPr>
          <a:xfrm>
            <a:off x="762000" y="2127177"/>
            <a:ext cx="269855"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2</a:t>
            </a:r>
            <a:endParaRPr lang="en-US" sz="3600" dirty="0"/>
          </a:p>
        </p:txBody>
      </p:sp>
      <p:sp>
        <p:nvSpPr>
          <p:cNvPr id="20" name="Text 17"/>
          <p:cNvSpPr/>
          <p:nvPr/>
        </p:nvSpPr>
        <p:spPr>
          <a:xfrm>
            <a:off x="762000" y="2673227"/>
            <a:ext cx="1849070"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customer groups</a:t>
            </a:r>
            <a:endParaRPr lang="en-US" sz="2000" dirty="0"/>
          </a:p>
        </p:txBody>
      </p:sp>
      <p:sp>
        <p:nvSpPr>
          <p:cNvPr id="21" name="Text 18"/>
          <p:cNvSpPr/>
          <p:nvPr/>
        </p:nvSpPr>
        <p:spPr>
          <a:xfrm>
            <a:off x="2565350" y="2673227"/>
            <a:ext cx="1547247"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one lifecycle:</a:t>
            </a:r>
            <a:endParaRPr lang="en-US" sz="2000" dirty="0"/>
          </a:p>
        </p:txBody>
      </p:sp>
      <p:sp>
        <p:nvSpPr>
          <p:cNvPr id="22" name="Text 19"/>
          <p:cNvSpPr/>
          <p:nvPr/>
        </p:nvSpPr>
        <p:spPr>
          <a:xfrm>
            <a:off x="762000" y="2990677"/>
            <a:ext cx="3275290"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 ten-digit mobile, or a passport</a:t>
            </a:r>
            <a:endParaRPr lang="en-US" sz="2000" dirty="0"/>
          </a:p>
        </p:txBody>
      </p:sp>
      <p:sp>
        <p:nvSpPr>
          <p:cNvPr id="23" name="Text 20"/>
          <p:cNvSpPr/>
          <p:nvPr/>
        </p:nvSpPr>
        <p:spPr>
          <a:xfrm>
            <a:off x="762000" y="3308128"/>
            <a:ext cx="182257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and a hotel room.</a:t>
            </a:r>
            <a:endParaRPr lang="en-US" sz="2000" dirty="0"/>
          </a:p>
        </p:txBody>
      </p:sp>
      <p:sp>
        <p:nvSpPr>
          <p:cNvPr id="24" name="Text 21"/>
          <p:cNvSpPr/>
          <p:nvPr/>
        </p:nvSpPr>
        <p:spPr>
          <a:xfrm>
            <a:off x="4427934" y="2127177"/>
            <a:ext cx="269855"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5</a:t>
            </a:r>
            <a:endParaRPr lang="en-US" sz="3600" dirty="0"/>
          </a:p>
        </p:txBody>
      </p:sp>
      <p:sp>
        <p:nvSpPr>
          <p:cNvPr id="25" name="Text 22"/>
          <p:cNvSpPr/>
          <p:nvPr/>
        </p:nvSpPr>
        <p:spPr>
          <a:xfrm>
            <a:off x="4427934" y="2673227"/>
            <a:ext cx="1971258"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payment methods</a:t>
            </a:r>
            <a:endParaRPr lang="en-US" sz="2000" dirty="0"/>
          </a:p>
        </p:txBody>
      </p:sp>
      <p:sp>
        <p:nvSpPr>
          <p:cNvPr id="26" name="Text 23"/>
          <p:cNvSpPr/>
          <p:nvPr/>
        </p:nvSpPr>
        <p:spPr>
          <a:xfrm>
            <a:off x="6353473" y="2673227"/>
            <a:ext cx="106787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three per</a:t>
            </a:r>
            <a:endParaRPr lang="en-US" sz="2000" dirty="0"/>
          </a:p>
        </p:txBody>
      </p:sp>
      <p:sp>
        <p:nvSpPr>
          <p:cNvPr id="27" name="Text 24"/>
          <p:cNvSpPr/>
          <p:nvPr/>
        </p:nvSpPr>
        <p:spPr>
          <a:xfrm>
            <a:off x="4427934" y="2990677"/>
            <a:ext cx="2950845"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group; only cash on delivery</a:t>
            </a:r>
            <a:endParaRPr lang="en-US" sz="2000" dirty="0"/>
          </a:p>
        </p:txBody>
      </p:sp>
      <p:sp>
        <p:nvSpPr>
          <p:cNvPr id="28" name="Text 25"/>
          <p:cNvSpPr/>
          <p:nvPr/>
        </p:nvSpPr>
        <p:spPr>
          <a:xfrm>
            <a:off x="4427934" y="3308128"/>
            <a:ext cx="295828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appears in both lists (BR13).</a:t>
            </a:r>
            <a:endParaRPr lang="en-US" sz="2000" dirty="0"/>
          </a:p>
        </p:txBody>
      </p:sp>
      <p:sp>
        <p:nvSpPr>
          <p:cNvPr id="29" name="Text 26"/>
          <p:cNvSpPr/>
          <p:nvPr/>
        </p:nvSpPr>
        <p:spPr>
          <a:xfrm>
            <a:off x="8094018" y="2127177"/>
            <a:ext cx="493841"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18</a:t>
            </a:r>
            <a:endParaRPr lang="en-US" sz="3600" dirty="0"/>
          </a:p>
        </p:txBody>
      </p:sp>
      <p:sp>
        <p:nvSpPr>
          <p:cNvPr id="30" name="Text 27"/>
          <p:cNvSpPr/>
          <p:nvPr/>
        </p:nvSpPr>
        <p:spPr>
          <a:xfrm>
            <a:off x="8094018" y="2673227"/>
            <a:ext cx="1548438"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business rules</a:t>
            </a:r>
            <a:endParaRPr lang="en-US" sz="2000" dirty="0"/>
          </a:p>
        </p:txBody>
      </p:sp>
      <p:sp>
        <p:nvSpPr>
          <p:cNvPr id="31" name="Text 28"/>
          <p:cNvSpPr/>
          <p:nvPr/>
        </p:nvSpPr>
        <p:spPr>
          <a:xfrm>
            <a:off x="9596735" y="2673227"/>
            <a:ext cx="158981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define pricing,</a:t>
            </a:r>
            <a:endParaRPr lang="en-US" sz="2000" dirty="0"/>
          </a:p>
        </p:txBody>
      </p:sp>
      <p:sp>
        <p:nvSpPr>
          <p:cNvPr id="32" name="Text 29"/>
          <p:cNvSpPr/>
          <p:nvPr/>
        </p:nvSpPr>
        <p:spPr>
          <a:xfrm>
            <a:off x="8094018" y="2990677"/>
            <a:ext cx="235091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payment, lifecycle and</a:t>
            </a:r>
            <a:endParaRPr lang="en-US" sz="2000" dirty="0"/>
          </a:p>
        </p:txBody>
      </p:sp>
      <p:sp>
        <p:nvSpPr>
          <p:cNvPr id="33" name="Text 30"/>
          <p:cNvSpPr/>
          <p:nvPr/>
        </p:nvSpPr>
        <p:spPr>
          <a:xfrm>
            <a:off x="8094018" y="3308128"/>
            <a:ext cx="2683401"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registration (BR1–BR18).</a:t>
            </a:r>
            <a:endParaRPr lang="en-US" sz="2000" dirty="0"/>
          </a:p>
        </p:txBody>
      </p:sp>
      <p:sp>
        <p:nvSpPr>
          <p:cNvPr id="34" name="Text 31"/>
          <p:cNvSpPr/>
          <p:nvPr/>
        </p:nvSpPr>
        <p:spPr>
          <a:xfrm>
            <a:off x="762000" y="4052417"/>
            <a:ext cx="1499920"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Quiet Kitchen</a:t>
            </a:r>
            <a:endParaRPr lang="en-US" sz="1900" dirty="0"/>
          </a:p>
        </p:txBody>
      </p:sp>
      <p:sp>
        <p:nvSpPr>
          <p:cNvPr id="35" name="Text 32"/>
          <p:cNvSpPr/>
          <p:nvPr/>
        </p:nvSpPr>
        <p:spPr>
          <a:xfrm>
            <a:off x="2438400" y="4052417"/>
            <a:ext cx="744617"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&lt; 30 %</a:t>
            </a:r>
            <a:endParaRPr lang="en-US" sz="1900" dirty="0"/>
          </a:p>
        </p:txBody>
      </p:sp>
      <p:sp>
        <p:nvSpPr>
          <p:cNvPr id="36" name="Text 33"/>
          <p:cNvSpPr/>
          <p:nvPr/>
        </p:nvSpPr>
        <p:spPr>
          <a:xfrm>
            <a:off x="6832402" y="4052417"/>
            <a:ext cx="3230791"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10 % off the food subtotal (BR7)</a:t>
            </a:r>
            <a:endParaRPr lang="en-US" sz="1900" dirty="0"/>
          </a:p>
        </p:txBody>
      </p:sp>
      <p:sp>
        <p:nvSpPr>
          <p:cNvPr id="37" name="Text 34"/>
          <p:cNvSpPr/>
          <p:nvPr/>
        </p:nvSpPr>
        <p:spPr>
          <a:xfrm>
            <a:off x="762000" y="4446068"/>
            <a:ext cx="836295"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Normal</a:t>
            </a:r>
            <a:endParaRPr lang="en-US" sz="1900" dirty="0"/>
          </a:p>
        </p:txBody>
      </p:sp>
      <p:sp>
        <p:nvSpPr>
          <p:cNvPr id="38" name="Text 35"/>
          <p:cNvSpPr/>
          <p:nvPr/>
        </p:nvSpPr>
        <p:spPr>
          <a:xfrm>
            <a:off x="2438400" y="4446068"/>
            <a:ext cx="1046291"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30–&lt;90 %</a:t>
            </a:r>
            <a:endParaRPr lang="en-US" sz="1900" dirty="0"/>
          </a:p>
        </p:txBody>
      </p:sp>
      <p:sp>
        <p:nvSpPr>
          <p:cNvPr id="39" name="Text 36"/>
          <p:cNvSpPr/>
          <p:nvPr/>
        </p:nvSpPr>
        <p:spPr>
          <a:xfrm>
            <a:off x="6832402" y="4446068"/>
            <a:ext cx="2585174"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no Quiet Kitchen discount</a:t>
            </a:r>
            <a:endParaRPr lang="en-US" sz="1900" dirty="0"/>
          </a:p>
        </p:txBody>
      </p:sp>
      <p:sp>
        <p:nvSpPr>
          <p:cNvPr id="40" name="Text 37"/>
          <p:cNvSpPr/>
          <p:nvPr/>
        </p:nvSpPr>
        <p:spPr>
          <a:xfrm>
            <a:off x="762000" y="4839718"/>
            <a:ext cx="876776" cy="313690"/>
          </a:xfrm>
          <a:prstGeom prst="rect">
            <a:avLst/>
          </a:prstGeom>
          <a:noFill/>
          <a:ln/>
        </p:spPr>
        <p:txBody>
          <a:bodyPr wrap="none" lIns="0" tIns="0" rIns="0" bIns="0" rtlCol="0" anchor="t"/>
          <a:lstStyle/>
          <a:p>
            <a:pPr indent="0" marL="0">
              <a:lnSpc>
                <a:spcPct val="100000"/>
              </a:lnSpc>
              <a:buNone/>
            </a:pPr>
            <a:r>
              <a:rPr lang="en-US" sz="1900" b="1" dirty="0">
                <a:solidFill>
                  <a:srgbClr val="111111"/>
                </a:solidFill>
                <a:latin typeface="Times New Roman" pitchFamily="34" charset="0"/>
                <a:ea typeface="Times New Roman" pitchFamily="34" charset="-122"/>
                <a:cs typeface="Times New Roman" pitchFamily="34" charset="-120"/>
              </a:rPr>
              <a:t>Refused</a:t>
            </a:r>
            <a:endParaRPr lang="en-US" sz="1900" dirty="0"/>
          </a:p>
        </p:txBody>
      </p:sp>
      <p:sp>
        <p:nvSpPr>
          <p:cNvPr id="41" name="Text 38"/>
          <p:cNvSpPr/>
          <p:nvPr/>
        </p:nvSpPr>
        <p:spPr>
          <a:xfrm>
            <a:off x="2438400" y="4839718"/>
            <a:ext cx="741045" cy="313690"/>
          </a:xfrm>
          <a:prstGeom prst="rect">
            <a:avLst/>
          </a:prstGeom>
          <a:noFill/>
          <a:ln/>
        </p:spPr>
        <p:txBody>
          <a:bodyPr wrap="none" lIns="0" tIns="0" rIns="0" bIns="0" rtlCol="0" anchor="t"/>
          <a:lstStyle/>
          <a:p>
            <a:pPr indent="0" marL="0">
              <a:lnSpc>
                <a:spcPct val="100000"/>
              </a:lnSpc>
              <a:buNone/>
            </a:pPr>
            <a:r>
              <a:rPr lang="en-US" sz="1900" dirty="0">
                <a:solidFill>
                  <a:srgbClr val="5A5A5A"/>
                </a:solidFill>
                <a:latin typeface="Times New Roman" pitchFamily="34" charset="0"/>
                <a:ea typeface="Times New Roman" pitchFamily="34" charset="-122"/>
                <a:cs typeface="Times New Roman" pitchFamily="34" charset="-120"/>
              </a:rPr>
              <a:t>≥ 90 %</a:t>
            </a:r>
            <a:endParaRPr lang="en-US" sz="1900" dirty="0"/>
          </a:p>
        </p:txBody>
      </p:sp>
      <p:sp>
        <p:nvSpPr>
          <p:cNvPr id="42" name="Text 39"/>
          <p:cNvSpPr/>
          <p:nvPr/>
        </p:nvSpPr>
        <p:spPr>
          <a:xfrm>
            <a:off x="6832402" y="4839718"/>
            <a:ext cx="2544693"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new orders refused (BR8)</a:t>
            </a:r>
            <a:endParaRPr lang="en-US" sz="1900" dirty="0"/>
          </a:p>
        </p:txBody>
      </p:sp>
      <p:sp>
        <p:nvSpPr>
          <p:cNvPr id="43" name="Text 40"/>
          <p:cNvSpPr/>
          <p:nvPr/>
        </p:nvSpPr>
        <p:spPr>
          <a:xfrm>
            <a:off x="762000" y="5320730"/>
            <a:ext cx="4546134"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Load uses Confirmed + Preparing orders / capacity. </a:t>
            </a:r>
            <a:endParaRPr lang="en-US" sz="1700" dirty="0"/>
          </a:p>
        </p:txBody>
      </p:sp>
      <p:sp>
        <p:nvSpPr>
          <p:cNvPr id="44" name="Text 41"/>
          <p:cNvSpPr/>
          <p:nvPr/>
        </p:nvSpPr>
        <p:spPr>
          <a:xfrm>
            <a:off x="5262414" y="5320730"/>
            <a:ext cx="152656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29.5 % qualifies</a:t>
            </a:r>
            <a:endParaRPr lang="en-US" sz="1700" dirty="0"/>
          </a:p>
        </p:txBody>
      </p:sp>
      <p:sp>
        <p:nvSpPr>
          <p:cNvPr id="45" name="Text 42"/>
          <p:cNvSpPr/>
          <p:nvPr/>
        </p:nvSpPr>
        <p:spPr>
          <a:xfrm>
            <a:off x="6743254" y="5320730"/>
            <a:ext cx="156808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 for the discount; </a:t>
            </a:r>
            <a:endParaRPr lang="en-US" sz="1700" dirty="0"/>
          </a:p>
        </p:txBody>
      </p:sp>
      <p:sp>
        <p:nvSpPr>
          <p:cNvPr id="46" name="Text 43"/>
          <p:cNvSpPr/>
          <p:nvPr/>
        </p:nvSpPr>
        <p:spPr>
          <a:xfrm>
            <a:off x="8265616" y="5320730"/>
            <a:ext cx="122860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90 % refuses</a:t>
            </a:r>
            <a:endParaRPr lang="en-US" sz="1700" dirty="0"/>
          </a:p>
        </p:txBody>
      </p:sp>
      <p:sp>
        <p:nvSpPr>
          <p:cNvPr id="47" name="Text 44"/>
          <p:cNvSpPr/>
          <p:nvPr/>
        </p:nvSpPr>
        <p:spPr>
          <a:xfrm>
            <a:off x="9448502" y="5320730"/>
            <a:ext cx="169384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 a new order (BR7,</a:t>
            </a:r>
            <a:endParaRPr lang="en-US" sz="1700" dirty="0"/>
          </a:p>
        </p:txBody>
      </p:sp>
      <p:sp>
        <p:nvSpPr>
          <p:cNvPr id="48" name="Text 45"/>
          <p:cNvSpPr/>
          <p:nvPr/>
        </p:nvSpPr>
        <p:spPr>
          <a:xfrm>
            <a:off x="762000" y="5605736"/>
            <a:ext cx="567363"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BR8).</a:t>
            </a:r>
            <a:endParaRPr lang="en-US" sz="1700" dirty="0"/>
          </a:p>
        </p:txBody>
      </p:sp>
      <p:sp>
        <p:nvSpPr>
          <p:cNvPr id="49" name="Text 46"/>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50" name="Text 47"/>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51" name="Text 48"/>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2 / 5</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1708547"/>
            <a:ext cx="3335834" cy="0"/>
          </a:xfrm>
          <a:prstGeom prst="line">
            <a:avLst/>
          </a:prstGeom>
          <a:noFill/>
          <a:ln w="19050">
            <a:solidFill>
              <a:srgbClr val="111111"/>
            </a:solidFill>
            <a:prstDash val="solid"/>
          </a:ln>
        </p:spPr>
      </p:sp>
      <p:sp>
        <p:nvSpPr>
          <p:cNvPr id="4" name="Shape 2"/>
          <p:cNvSpPr/>
          <p:nvPr/>
        </p:nvSpPr>
        <p:spPr>
          <a:xfrm>
            <a:off x="4427934" y="1708547"/>
            <a:ext cx="3335982" cy="0"/>
          </a:xfrm>
          <a:prstGeom prst="line">
            <a:avLst/>
          </a:prstGeom>
          <a:noFill/>
          <a:ln w="19050">
            <a:solidFill>
              <a:srgbClr val="111111"/>
            </a:solidFill>
            <a:prstDash val="solid"/>
          </a:ln>
        </p:spPr>
      </p:sp>
      <p:sp>
        <p:nvSpPr>
          <p:cNvPr id="5" name="Shape 3"/>
          <p:cNvSpPr/>
          <p:nvPr/>
        </p:nvSpPr>
        <p:spPr>
          <a:xfrm>
            <a:off x="8094018" y="1708547"/>
            <a:ext cx="3335834" cy="0"/>
          </a:xfrm>
          <a:prstGeom prst="line">
            <a:avLst/>
          </a:prstGeom>
          <a:noFill/>
          <a:ln w="19050">
            <a:solidFill>
              <a:srgbClr val="111111"/>
            </a:solidFill>
            <a:prstDash val="solid"/>
          </a:ln>
        </p:spPr>
      </p:sp>
      <p:sp>
        <p:nvSpPr>
          <p:cNvPr id="6" name="Shape 4"/>
          <p:cNvSpPr/>
          <p:nvPr/>
        </p:nvSpPr>
        <p:spPr>
          <a:xfrm>
            <a:off x="762000" y="3953470"/>
            <a:ext cx="10668000" cy="0"/>
          </a:xfrm>
          <a:prstGeom prst="line">
            <a:avLst/>
          </a:prstGeom>
          <a:noFill/>
          <a:ln w="9525">
            <a:solidFill>
              <a:srgbClr val="111111"/>
            </a:solidFill>
            <a:prstDash val="solid"/>
          </a:ln>
        </p:spPr>
      </p:sp>
      <p:sp>
        <p:nvSpPr>
          <p:cNvPr id="7" name="Shape 5"/>
          <p:cNvSpPr/>
          <p:nvPr/>
        </p:nvSpPr>
        <p:spPr>
          <a:xfrm>
            <a:off x="762000" y="4423321"/>
            <a:ext cx="10668000" cy="0"/>
          </a:xfrm>
          <a:prstGeom prst="line">
            <a:avLst/>
          </a:prstGeom>
          <a:noFill/>
          <a:ln w="9525">
            <a:solidFill>
              <a:srgbClr val="111111"/>
            </a:solidFill>
            <a:prstDash val="solid"/>
          </a:ln>
        </p:spPr>
      </p:sp>
      <p:sp>
        <p:nvSpPr>
          <p:cNvPr id="8" name="Shape 6"/>
          <p:cNvSpPr/>
          <p:nvPr/>
        </p:nvSpPr>
        <p:spPr>
          <a:xfrm>
            <a:off x="762000" y="3953470"/>
            <a:ext cx="0" cy="469850"/>
          </a:xfrm>
          <a:prstGeom prst="line">
            <a:avLst/>
          </a:prstGeom>
          <a:noFill/>
          <a:ln w="9525">
            <a:solidFill>
              <a:srgbClr val="111111"/>
            </a:solidFill>
            <a:prstDash val="solid"/>
          </a:ln>
        </p:spPr>
      </p:sp>
      <p:sp>
        <p:nvSpPr>
          <p:cNvPr id="9" name="Shape 7"/>
          <p:cNvSpPr/>
          <p:nvPr/>
        </p:nvSpPr>
        <p:spPr>
          <a:xfrm>
            <a:off x="11430000" y="3953470"/>
            <a:ext cx="0" cy="469850"/>
          </a:xfrm>
          <a:prstGeom prst="line">
            <a:avLst/>
          </a:prstGeom>
          <a:noFill/>
          <a:ln w="9525">
            <a:solidFill>
              <a:srgbClr val="111111"/>
            </a:solidFill>
            <a:prstDash val="solid"/>
          </a:ln>
        </p:spPr>
      </p:sp>
      <p:sp>
        <p:nvSpPr>
          <p:cNvPr id="10" name="Shape 8"/>
          <p:cNvSpPr/>
          <p:nvPr/>
        </p:nvSpPr>
        <p:spPr>
          <a:xfrm>
            <a:off x="771525" y="3962995"/>
            <a:ext cx="1676400" cy="450800"/>
          </a:xfrm>
          <a:prstGeom prst="rect">
            <a:avLst/>
          </a:prstGeom>
          <a:solidFill>
            <a:srgbClr val="EFEFEF"/>
          </a:solidFill>
          <a:ln w="12700">
            <a:solidFill>
              <a:srgbClr val="333333">
                <a:alpha val="0"/>
              </a:srgbClr>
            </a:solidFill>
            <a:prstDash val="solid"/>
          </a:ln>
        </p:spPr>
      </p:sp>
      <p:sp>
        <p:nvSpPr>
          <p:cNvPr id="11" name="Shape 9"/>
          <p:cNvSpPr/>
          <p:nvPr/>
        </p:nvSpPr>
        <p:spPr>
          <a:xfrm>
            <a:off x="2447925" y="3962995"/>
            <a:ext cx="0" cy="450800"/>
          </a:xfrm>
          <a:prstGeom prst="line">
            <a:avLst/>
          </a:prstGeom>
          <a:noFill/>
          <a:ln w="9525">
            <a:solidFill>
              <a:srgbClr val="111111"/>
            </a:solidFill>
            <a:prstDash val="solid"/>
          </a:ln>
        </p:spPr>
      </p:sp>
      <p:sp>
        <p:nvSpPr>
          <p:cNvPr id="12" name="Shape 10"/>
          <p:cNvSpPr/>
          <p:nvPr/>
        </p:nvSpPr>
        <p:spPr>
          <a:xfrm>
            <a:off x="762000" y="4588371"/>
            <a:ext cx="10668000" cy="0"/>
          </a:xfrm>
          <a:prstGeom prst="line">
            <a:avLst/>
          </a:prstGeom>
          <a:noFill/>
          <a:ln w="19050">
            <a:solidFill>
              <a:srgbClr val="111111"/>
            </a:solidFill>
            <a:prstDash val="solid"/>
          </a:ln>
        </p:spPr>
      </p:sp>
      <p:sp>
        <p:nvSpPr>
          <p:cNvPr id="13" name="Shape 11"/>
          <p:cNvSpPr/>
          <p:nvPr/>
        </p:nvSpPr>
        <p:spPr>
          <a:xfrm>
            <a:off x="762000" y="5058221"/>
            <a:ext cx="10668000" cy="0"/>
          </a:xfrm>
          <a:prstGeom prst="line">
            <a:avLst/>
          </a:prstGeom>
          <a:noFill/>
          <a:ln w="19050">
            <a:solidFill>
              <a:srgbClr val="111111"/>
            </a:solidFill>
            <a:prstDash val="solid"/>
          </a:ln>
        </p:spPr>
      </p:sp>
      <p:sp>
        <p:nvSpPr>
          <p:cNvPr id="14" name="Shape 12"/>
          <p:cNvSpPr/>
          <p:nvPr/>
        </p:nvSpPr>
        <p:spPr>
          <a:xfrm>
            <a:off x="762000" y="4588371"/>
            <a:ext cx="0" cy="469850"/>
          </a:xfrm>
          <a:prstGeom prst="line">
            <a:avLst/>
          </a:prstGeom>
          <a:noFill/>
          <a:ln w="19050">
            <a:solidFill>
              <a:srgbClr val="111111"/>
            </a:solidFill>
            <a:prstDash val="solid"/>
          </a:ln>
        </p:spPr>
      </p:sp>
      <p:sp>
        <p:nvSpPr>
          <p:cNvPr id="15" name="Shape 13"/>
          <p:cNvSpPr/>
          <p:nvPr/>
        </p:nvSpPr>
        <p:spPr>
          <a:xfrm>
            <a:off x="11430000" y="4588371"/>
            <a:ext cx="0" cy="469850"/>
          </a:xfrm>
          <a:prstGeom prst="line">
            <a:avLst/>
          </a:prstGeom>
          <a:noFill/>
          <a:ln w="19050">
            <a:solidFill>
              <a:srgbClr val="111111"/>
            </a:solidFill>
            <a:prstDash val="solid"/>
          </a:ln>
        </p:spPr>
      </p:sp>
      <p:sp>
        <p:nvSpPr>
          <p:cNvPr id="16" name="Shape 14"/>
          <p:cNvSpPr/>
          <p:nvPr/>
        </p:nvSpPr>
        <p:spPr>
          <a:xfrm>
            <a:off x="781050" y="4607421"/>
            <a:ext cx="1676400" cy="431750"/>
          </a:xfrm>
          <a:prstGeom prst="rect">
            <a:avLst/>
          </a:prstGeom>
          <a:solidFill>
            <a:srgbClr val="F4E6E4"/>
          </a:solidFill>
          <a:ln w="12700">
            <a:solidFill>
              <a:srgbClr val="333333">
                <a:alpha val="0"/>
              </a:srgbClr>
            </a:solidFill>
            <a:prstDash val="solid"/>
          </a:ln>
        </p:spPr>
      </p:sp>
      <p:sp>
        <p:nvSpPr>
          <p:cNvPr id="17" name="Shape 15"/>
          <p:cNvSpPr/>
          <p:nvPr/>
        </p:nvSpPr>
        <p:spPr>
          <a:xfrm>
            <a:off x="2457450" y="4607421"/>
            <a:ext cx="0" cy="431750"/>
          </a:xfrm>
          <a:prstGeom prst="line">
            <a:avLst/>
          </a:prstGeom>
          <a:noFill/>
          <a:ln w="9525">
            <a:solidFill>
              <a:srgbClr val="111111"/>
            </a:solidFill>
            <a:prstDash val="solid"/>
          </a:ln>
        </p:spPr>
      </p:sp>
      <p:sp>
        <p:nvSpPr>
          <p:cNvPr id="18" name="Shape 16"/>
          <p:cNvSpPr/>
          <p:nvPr/>
        </p:nvSpPr>
        <p:spPr>
          <a:xfrm>
            <a:off x="762000" y="5223272"/>
            <a:ext cx="10668000" cy="0"/>
          </a:xfrm>
          <a:prstGeom prst="line">
            <a:avLst/>
          </a:prstGeom>
          <a:noFill/>
          <a:ln w="9525">
            <a:solidFill>
              <a:srgbClr val="111111"/>
            </a:solidFill>
            <a:prstDash val="solid"/>
          </a:ln>
        </p:spPr>
      </p:sp>
      <p:sp>
        <p:nvSpPr>
          <p:cNvPr id="19" name="Shape 17"/>
          <p:cNvSpPr/>
          <p:nvPr/>
        </p:nvSpPr>
        <p:spPr>
          <a:xfrm>
            <a:off x="762000" y="5693122"/>
            <a:ext cx="10668000" cy="0"/>
          </a:xfrm>
          <a:prstGeom prst="line">
            <a:avLst/>
          </a:prstGeom>
          <a:noFill/>
          <a:ln w="9525">
            <a:solidFill>
              <a:srgbClr val="111111"/>
            </a:solidFill>
            <a:prstDash val="solid"/>
          </a:ln>
        </p:spPr>
      </p:sp>
      <p:sp>
        <p:nvSpPr>
          <p:cNvPr id="20" name="Shape 18"/>
          <p:cNvSpPr/>
          <p:nvPr/>
        </p:nvSpPr>
        <p:spPr>
          <a:xfrm>
            <a:off x="762000" y="5223272"/>
            <a:ext cx="0" cy="469850"/>
          </a:xfrm>
          <a:prstGeom prst="line">
            <a:avLst/>
          </a:prstGeom>
          <a:noFill/>
          <a:ln w="9525">
            <a:solidFill>
              <a:srgbClr val="111111"/>
            </a:solidFill>
            <a:prstDash val="solid"/>
          </a:ln>
        </p:spPr>
      </p:sp>
      <p:sp>
        <p:nvSpPr>
          <p:cNvPr id="21" name="Shape 19"/>
          <p:cNvSpPr/>
          <p:nvPr/>
        </p:nvSpPr>
        <p:spPr>
          <a:xfrm>
            <a:off x="11430000" y="5223272"/>
            <a:ext cx="0" cy="469850"/>
          </a:xfrm>
          <a:prstGeom prst="line">
            <a:avLst/>
          </a:prstGeom>
          <a:noFill/>
          <a:ln w="9525">
            <a:solidFill>
              <a:srgbClr val="111111"/>
            </a:solidFill>
            <a:prstDash val="solid"/>
          </a:ln>
        </p:spPr>
      </p:sp>
      <p:sp>
        <p:nvSpPr>
          <p:cNvPr id="22" name="Shape 20"/>
          <p:cNvSpPr/>
          <p:nvPr/>
        </p:nvSpPr>
        <p:spPr>
          <a:xfrm>
            <a:off x="771525" y="5232797"/>
            <a:ext cx="1676400" cy="450800"/>
          </a:xfrm>
          <a:prstGeom prst="rect">
            <a:avLst/>
          </a:prstGeom>
          <a:solidFill>
            <a:srgbClr val="E8EFEE"/>
          </a:solidFill>
          <a:ln w="12700">
            <a:solidFill>
              <a:srgbClr val="333333">
                <a:alpha val="0"/>
              </a:srgbClr>
            </a:solidFill>
            <a:prstDash val="solid"/>
          </a:ln>
        </p:spPr>
      </p:sp>
      <p:sp>
        <p:nvSpPr>
          <p:cNvPr id="23" name="Shape 21"/>
          <p:cNvSpPr/>
          <p:nvPr/>
        </p:nvSpPr>
        <p:spPr>
          <a:xfrm>
            <a:off x="2447925" y="5232797"/>
            <a:ext cx="0" cy="450800"/>
          </a:xfrm>
          <a:prstGeom prst="line">
            <a:avLst/>
          </a:prstGeom>
          <a:noFill/>
          <a:ln w="9525">
            <a:solidFill>
              <a:srgbClr val="111111"/>
            </a:solidFill>
            <a:prstDash val="solid"/>
          </a:ln>
        </p:spPr>
      </p:sp>
      <p:sp>
        <p:nvSpPr>
          <p:cNvPr id="24" name="Shape 22"/>
          <p:cNvSpPr/>
          <p:nvPr/>
        </p:nvSpPr>
        <p:spPr>
          <a:xfrm>
            <a:off x="762000" y="6280249"/>
            <a:ext cx="10668000" cy="0"/>
          </a:xfrm>
          <a:prstGeom prst="line">
            <a:avLst/>
          </a:prstGeom>
          <a:noFill/>
          <a:ln w="9525">
            <a:solidFill>
              <a:srgbClr val="C4C4C4"/>
            </a:solidFill>
            <a:prstDash val="solid"/>
          </a:ln>
        </p:spPr>
      </p:sp>
      <p:pic>
        <p:nvPicPr>
          <p:cNvPr id="25"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26" name="Text 23"/>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02</a:t>
            </a:r>
            <a:endParaRPr lang="en-US" sz="1600" dirty="0"/>
          </a:p>
        </p:txBody>
      </p:sp>
      <p:sp>
        <p:nvSpPr>
          <p:cNvPr id="27" name="Text 24"/>
          <p:cNvSpPr/>
          <p:nvPr/>
        </p:nvSpPr>
        <p:spPr>
          <a:xfrm>
            <a:off x="1792039" y="468785"/>
            <a:ext cx="19312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OUR SOLUTION</a:t>
            </a:r>
            <a:endParaRPr lang="en-US" sz="1600" dirty="0"/>
          </a:p>
        </p:txBody>
      </p:sp>
      <p:sp>
        <p:nvSpPr>
          <p:cNvPr id="28" name="Text 25"/>
          <p:cNvSpPr/>
          <p:nvPr/>
        </p:nvSpPr>
        <p:spPr>
          <a:xfrm>
            <a:off x="762000" y="783110"/>
            <a:ext cx="524384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A layered, testable solution</a:t>
            </a:r>
            <a:endParaRPr lang="en-US" sz="3600" dirty="0"/>
          </a:p>
        </p:txBody>
      </p:sp>
      <p:sp>
        <p:nvSpPr>
          <p:cNvPr id="29" name="Text 26"/>
          <p:cNvSpPr/>
          <p:nvPr/>
        </p:nvSpPr>
        <p:spPr>
          <a:xfrm>
            <a:off x="762000"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01</a:t>
            </a:r>
            <a:endParaRPr lang="en-US" sz="1600" dirty="0"/>
          </a:p>
        </p:txBody>
      </p:sp>
      <p:sp>
        <p:nvSpPr>
          <p:cNvPr id="30" name="Text 27"/>
          <p:cNvSpPr/>
          <p:nvPr/>
        </p:nvSpPr>
        <p:spPr>
          <a:xfrm>
            <a:off x="762000" y="2066157"/>
            <a:ext cx="2622381"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Load-aware pricing</a:t>
            </a:r>
            <a:endParaRPr lang="en-US" sz="2400" dirty="0"/>
          </a:p>
        </p:txBody>
      </p:sp>
      <p:sp>
        <p:nvSpPr>
          <p:cNvPr id="31" name="Text 28"/>
          <p:cNvSpPr/>
          <p:nvPr/>
        </p:nvSpPr>
        <p:spPr>
          <a:xfrm>
            <a:off x="762000" y="2473797"/>
            <a:ext cx="3014246"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Nine calculation steps; round</a:t>
            </a:r>
            <a:endParaRPr lang="en-US" sz="2000" dirty="0"/>
          </a:p>
        </p:txBody>
      </p:sp>
      <p:sp>
        <p:nvSpPr>
          <p:cNvPr id="32" name="Text 29"/>
          <p:cNvSpPr/>
          <p:nvPr/>
        </p:nvSpPr>
        <p:spPr>
          <a:xfrm>
            <a:off x="762000" y="2788718"/>
            <a:ext cx="2605415"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once at the end. Business</a:t>
            </a:r>
            <a:endParaRPr lang="en-US" sz="2000" dirty="0"/>
          </a:p>
        </p:txBody>
      </p:sp>
      <p:sp>
        <p:nvSpPr>
          <p:cNvPr id="33" name="Text 30"/>
          <p:cNvSpPr/>
          <p:nvPr/>
        </p:nvSpPr>
        <p:spPr>
          <a:xfrm>
            <a:off x="762000" y="3103638"/>
            <a:ext cx="323942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services check item availability</a:t>
            </a:r>
            <a:endParaRPr lang="en-US" sz="2000" dirty="0"/>
          </a:p>
        </p:txBody>
      </p:sp>
      <p:sp>
        <p:nvSpPr>
          <p:cNvPr id="34" name="Text 31"/>
          <p:cNvSpPr/>
          <p:nvPr/>
        </p:nvSpPr>
        <p:spPr>
          <a:xfrm>
            <a:off x="762000" y="3418558"/>
            <a:ext cx="2238851"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and hub membership.</a:t>
            </a:r>
            <a:endParaRPr lang="en-US" sz="2000" dirty="0"/>
          </a:p>
        </p:txBody>
      </p:sp>
      <p:sp>
        <p:nvSpPr>
          <p:cNvPr id="35" name="Text 32"/>
          <p:cNvSpPr/>
          <p:nvPr/>
        </p:nvSpPr>
        <p:spPr>
          <a:xfrm>
            <a:off x="4427934"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02</a:t>
            </a:r>
            <a:endParaRPr lang="en-US" sz="1600" dirty="0"/>
          </a:p>
        </p:txBody>
      </p:sp>
      <p:sp>
        <p:nvSpPr>
          <p:cNvPr id="36" name="Text 33"/>
          <p:cNvSpPr/>
          <p:nvPr/>
        </p:nvSpPr>
        <p:spPr>
          <a:xfrm>
            <a:off x="4427934" y="2066157"/>
            <a:ext cx="2636222"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A payment Strategy</a:t>
            </a:r>
            <a:endParaRPr lang="en-US" sz="2400" dirty="0"/>
          </a:p>
        </p:txBody>
      </p:sp>
      <p:sp>
        <p:nvSpPr>
          <p:cNvPr id="37" name="Text 34"/>
          <p:cNvSpPr/>
          <p:nvPr/>
        </p:nvSpPr>
        <p:spPr>
          <a:xfrm>
            <a:off x="4427934" y="2473797"/>
            <a:ext cx="285842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One interface, one class per</a:t>
            </a:r>
            <a:endParaRPr lang="en-US" sz="2000" dirty="0"/>
          </a:p>
        </p:txBody>
      </p:sp>
      <p:sp>
        <p:nvSpPr>
          <p:cNvPr id="38" name="Text 35"/>
          <p:cNvSpPr/>
          <p:nvPr/>
        </p:nvSpPr>
        <p:spPr>
          <a:xfrm>
            <a:off x="4427934" y="2788718"/>
            <a:ext cx="295784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method and one registration;</a:t>
            </a:r>
            <a:endParaRPr lang="en-US" sz="2000" dirty="0"/>
          </a:p>
        </p:txBody>
      </p:sp>
      <p:sp>
        <p:nvSpPr>
          <p:cNvPr id="39" name="Text 36"/>
          <p:cNvSpPr/>
          <p:nvPr/>
        </p:nvSpPr>
        <p:spPr>
          <a:xfrm>
            <a:off x="4427934" y="3103638"/>
            <a:ext cx="3028533"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existing payment classes stay</a:t>
            </a:r>
            <a:endParaRPr lang="en-US" sz="2000" dirty="0"/>
          </a:p>
        </p:txBody>
      </p:sp>
      <p:sp>
        <p:nvSpPr>
          <p:cNvPr id="40" name="Text 37"/>
          <p:cNvSpPr/>
          <p:nvPr/>
        </p:nvSpPr>
        <p:spPr>
          <a:xfrm>
            <a:off x="4427934" y="3418558"/>
            <a:ext cx="206249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unchanged (NFR2).</a:t>
            </a:r>
            <a:endParaRPr lang="en-US" sz="2000" dirty="0"/>
          </a:p>
        </p:txBody>
      </p:sp>
      <p:sp>
        <p:nvSpPr>
          <p:cNvPr id="41" name="Text 38"/>
          <p:cNvSpPr/>
          <p:nvPr/>
        </p:nvSpPr>
        <p:spPr>
          <a:xfrm>
            <a:off x="8094018" y="1802731"/>
            <a:ext cx="1037213"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Pillar 03</a:t>
            </a:r>
            <a:endParaRPr lang="en-US" sz="1600" dirty="0"/>
          </a:p>
        </p:txBody>
      </p:sp>
      <p:sp>
        <p:nvSpPr>
          <p:cNvPr id="42" name="Text 39"/>
          <p:cNvSpPr/>
          <p:nvPr/>
        </p:nvSpPr>
        <p:spPr>
          <a:xfrm>
            <a:off x="8094018" y="2066157"/>
            <a:ext cx="2765405" cy="396240"/>
          </a:xfrm>
          <a:prstGeom prst="rect">
            <a:avLst/>
          </a:prstGeom>
          <a:noFill/>
          <a:ln/>
        </p:spPr>
        <p:txBody>
          <a:bodyPr wrap="none" lIns="0" tIns="0" rIns="0" bIns="0" rtlCol="0" anchor="t"/>
          <a:lstStyle/>
          <a:p>
            <a:pPr indent="0" marL="0">
              <a:lnSpc>
                <a:spcPct val="100000"/>
              </a:lnSpc>
              <a:buNone/>
            </a:pPr>
            <a:r>
              <a:rPr lang="en-US" sz="2400" b="1" dirty="0">
                <a:solidFill>
                  <a:srgbClr val="111111"/>
                </a:solidFill>
                <a:latin typeface="Times New Roman" pitchFamily="34" charset="0"/>
                <a:ea typeface="Times New Roman" pitchFamily="34" charset="-122"/>
                <a:cs typeface="Times New Roman" pitchFamily="34" charset="-120"/>
              </a:rPr>
              <a:t>An enforced lifecycle</a:t>
            </a:r>
            <a:endParaRPr lang="en-US" sz="2400" dirty="0"/>
          </a:p>
        </p:txBody>
      </p:sp>
      <p:sp>
        <p:nvSpPr>
          <p:cNvPr id="43" name="Text 40"/>
          <p:cNvSpPr/>
          <p:nvPr/>
        </p:nvSpPr>
        <p:spPr>
          <a:xfrm>
            <a:off x="8094018" y="2473797"/>
            <a:ext cx="3042821"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Eight states, eight transitions,</a:t>
            </a:r>
            <a:endParaRPr lang="en-US" sz="2000" dirty="0"/>
          </a:p>
        </p:txBody>
      </p:sp>
      <p:sp>
        <p:nvSpPr>
          <p:cNvPr id="44" name="Text 41"/>
          <p:cNvSpPr/>
          <p:nvPr/>
        </p:nvSpPr>
        <p:spPr>
          <a:xfrm>
            <a:off x="8094018" y="2788718"/>
            <a:ext cx="2833420"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named actors. The business</a:t>
            </a:r>
            <a:endParaRPr lang="en-US" sz="2000" dirty="0"/>
          </a:p>
        </p:txBody>
      </p:sp>
      <p:sp>
        <p:nvSpPr>
          <p:cNvPr id="45" name="Text 42"/>
          <p:cNvSpPr/>
          <p:nvPr/>
        </p:nvSpPr>
        <p:spPr>
          <a:xfrm>
            <a:off x="8094018" y="3103638"/>
            <a:ext cx="2971532" cy="330200"/>
          </a:xfrm>
          <a:prstGeom prst="rect">
            <a:avLst/>
          </a:prstGeom>
          <a:noFill/>
          <a:ln/>
        </p:spPr>
        <p:txBody>
          <a:bodyPr wrap="none" lIns="0" tIns="0" rIns="0" bIns="0" rtlCol="0" anchor="t"/>
          <a:lstStyle/>
          <a:p>
            <a:pPr indent="0" marL="0">
              <a:lnSpc>
                <a:spcPct val="100000"/>
              </a:lnSpc>
              <a:buNone/>
            </a:pPr>
            <a:r>
              <a:rPr lang="en-US" sz="2000" dirty="0">
                <a:solidFill>
                  <a:srgbClr val="1E1E1E"/>
                </a:solidFill>
                <a:latin typeface="Times New Roman" pitchFamily="34" charset="0"/>
                <a:ea typeface="Times New Roman" pitchFamily="34" charset="-122"/>
                <a:cs typeface="Times New Roman" pitchFamily="34" charset="-120"/>
              </a:rPr>
              <a:t>layer rejects the rest (BR15).</a:t>
            </a:r>
            <a:endParaRPr lang="en-US" sz="2000" dirty="0"/>
          </a:p>
        </p:txBody>
      </p:sp>
      <p:sp>
        <p:nvSpPr>
          <p:cNvPr id="46" name="Text 43"/>
          <p:cNvSpPr/>
          <p:nvPr/>
        </p:nvSpPr>
        <p:spPr>
          <a:xfrm>
            <a:off x="898475" y="4050780"/>
            <a:ext cx="1282333"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Presentation</a:t>
            </a:r>
            <a:endParaRPr lang="en-US" sz="1700" dirty="0"/>
          </a:p>
        </p:txBody>
      </p:sp>
      <p:sp>
        <p:nvSpPr>
          <p:cNvPr id="47" name="Text 44"/>
          <p:cNvSpPr/>
          <p:nvPr/>
        </p:nvSpPr>
        <p:spPr>
          <a:xfrm>
            <a:off x="2600325" y="4050780"/>
            <a:ext cx="598024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Razor views · Bootstrap 5 · Chart.js · English / Vietnamese resources</a:t>
            </a:r>
            <a:endParaRPr lang="en-US" sz="1700" dirty="0"/>
          </a:p>
        </p:txBody>
      </p:sp>
      <p:sp>
        <p:nvSpPr>
          <p:cNvPr id="48" name="Text 45"/>
          <p:cNvSpPr/>
          <p:nvPr/>
        </p:nvSpPr>
        <p:spPr>
          <a:xfrm>
            <a:off x="6041975" y="4358854"/>
            <a:ext cx="153620"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a:t>
            </a:r>
            <a:endParaRPr lang="en-US" sz="1700" dirty="0"/>
          </a:p>
        </p:txBody>
      </p:sp>
      <p:sp>
        <p:nvSpPr>
          <p:cNvPr id="49" name="Text 46"/>
          <p:cNvSpPr/>
          <p:nvPr/>
        </p:nvSpPr>
        <p:spPr>
          <a:xfrm>
            <a:off x="908000" y="4685681"/>
            <a:ext cx="889278"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Business</a:t>
            </a:r>
            <a:endParaRPr lang="en-US" sz="1700" dirty="0"/>
          </a:p>
        </p:txBody>
      </p:sp>
      <p:sp>
        <p:nvSpPr>
          <p:cNvPr id="50" name="Text 47"/>
          <p:cNvSpPr/>
          <p:nvPr/>
        </p:nvSpPr>
        <p:spPr>
          <a:xfrm>
            <a:off x="2609850" y="4685681"/>
            <a:ext cx="1364635"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PricingEngine</a:t>
            </a:r>
            <a:endParaRPr lang="en-US" sz="1700" dirty="0"/>
          </a:p>
        </p:txBody>
      </p:sp>
      <p:sp>
        <p:nvSpPr>
          <p:cNvPr id="51" name="Text 48"/>
          <p:cNvSpPr/>
          <p:nvPr/>
        </p:nvSpPr>
        <p:spPr>
          <a:xfrm>
            <a:off x="3928765" y="4685681"/>
            <a:ext cx="130019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 validation · </a:t>
            </a:r>
            <a:endParaRPr lang="en-US" sz="1700" dirty="0"/>
          </a:p>
        </p:txBody>
      </p:sp>
      <p:sp>
        <p:nvSpPr>
          <p:cNvPr id="52" name="Text 49"/>
          <p:cNvSpPr/>
          <p:nvPr/>
        </p:nvSpPr>
        <p:spPr>
          <a:xfrm>
            <a:off x="5183237" y="4685681"/>
            <a:ext cx="1891635"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OrderStateMachine</a:t>
            </a:r>
            <a:endParaRPr lang="en-US" sz="1700" dirty="0"/>
          </a:p>
        </p:txBody>
      </p:sp>
      <p:sp>
        <p:nvSpPr>
          <p:cNvPr id="53" name="Text 50"/>
          <p:cNvSpPr/>
          <p:nvPr/>
        </p:nvSpPr>
        <p:spPr>
          <a:xfrm>
            <a:off x="7029152" y="4685681"/>
            <a:ext cx="137683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BR15–BR16 · </a:t>
            </a:r>
            <a:endParaRPr lang="en-US" sz="1700" dirty="0"/>
          </a:p>
        </p:txBody>
      </p:sp>
      <p:sp>
        <p:nvSpPr>
          <p:cNvPr id="54" name="Text 51"/>
          <p:cNvSpPr/>
          <p:nvPr/>
        </p:nvSpPr>
        <p:spPr>
          <a:xfrm>
            <a:off x="8360271" y="4685681"/>
            <a:ext cx="172390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IPaymentStrategy</a:t>
            </a:r>
            <a:endParaRPr lang="en-US" sz="1700" dirty="0"/>
          </a:p>
        </p:txBody>
      </p:sp>
      <p:sp>
        <p:nvSpPr>
          <p:cNvPr id="55" name="Text 52"/>
          <p:cNvSpPr/>
          <p:nvPr/>
        </p:nvSpPr>
        <p:spPr>
          <a:xfrm>
            <a:off x="10038457" y="4685681"/>
            <a:ext cx="97038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 + resolver</a:t>
            </a:r>
            <a:endParaRPr lang="en-US" sz="1700" dirty="0"/>
          </a:p>
        </p:txBody>
      </p:sp>
      <p:sp>
        <p:nvSpPr>
          <p:cNvPr id="56" name="Text 53"/>
          <p:cNvSpPr/>
          <p:nvPr/>
        </p:nvSpPr>
        <p:spPr>
          <a:xfrm>
            <a:off x="6041975" y="4984230"/>
            <a:ext cx="153620"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a:t>
            </a:r>
            <a:endParaRPr lang="en-US" sz="1700" dirty="0"/>
          </a:p>
        </p:txBody>
      </p:sp>
      <p:sp>
        <p:nvSpPr>
          <p:cNvPr id="57" name="Text 54"/>
          <p:cNvSpPr/>
          <p:nvPr/>
        </p:nvSpPr>
        <p:spPr>
          <a:xfrm>
            <a:off x="898475" y="5320582"/>
            <a:ext cx="515273" cy="280670"/>
          </a:xfrm>
          <a:prstGeom prst="rect">
            <a:avLst/>
          </a:prstGeom>
          <a:noFill/>
          <a:ln/>
        </p:spPr>
        <p:txBody>
          <a:bodyPr wrap="none" lIns="0" tIns="0" rIns="0" bIns="0" rtlCol="0" anchor="t"/>
          <a:lstStyle/>
          <a:p>
            <a:pPr indent="0" marL="0">
              <a:lnSpc>
                <a:spcPct val="100000"/>
              </a:lnSpc>
              <a:buNone/>
            </a:pPr>
            <a:r>
              <a:rPr lang="en-US" sz="1700" b="1" dirty="0">
                <a:solidFill>
                  <a:srgbClr val="23564F"/>
                </a:solidFill>
                <a:latin typeface="Times New Roman" pitchFamily="34" charset="0"/>
                <a:ea typeface="Times New Roman" pitchFamily="34" charset="-122"/>
                <a:cs typeface="Times New Roman" pitchFamily="34" charset="-120"/>
              </a:rPr>
              <a:t>Data</a:t>
            </a:r>
            <a:endParaRPr lang="en-US" sz="1700" dirty="0"/>
          </a:p>
        </p:txBody>
      </p:sp>
      <p:sp>
        <p:nvSpPr>
          <p:cNvPr id="58" name="Text 55"/>
          <p:cNvSpPr/>
          <p:nvPr/>
        </p:nvSpPr>
        <p:spPr>
          <a:xfrm>
            <a:off x="2600325" y="5320582"/>
            <a:ext cx="6606510"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EF Core 8 Code-First · SQL Server 2022 · soft-delete filters · price snapshot</a:t>
            </a:r>
            <a:endParaRPr lang="en-US" sz="1700" dirty="0"/>
          </a:p>
        </p:txBody>
      </p:sp>
      <p:sp>
        <p:nvSpPr>
          <p:cNvPr id="59" name="Text 56"/>
          <p:cNvSpPr/>
          <p:nvPr/>
        </p:nvSpPr>
        <p:spPr>
          <a:xfrm>
            <a:off x="762000" y="5825407"/>
            <a:ext cx="9241066" cy="280670"/>
          </a:xfrm>
          <a:prstGeom prst="rect">
            <a:avLst/>
          </a:prstGeom>
          <a:noFill/>
          <a:ln/>
        </p:spPr>
        <p:txBody>
          <a:bodyPr wrap="none" lIns="0" tIns="0" rIns="0" bIns="0" rtlCol="0" anchor="t"/>
          <a:lstStyle/>
          <a:p>
            <a:pPr indent="0" marL="0">
              <a:lnSpc>
                <a:spcPct val="100000"/>
              </a:lnSpc>
              <a:buNone/>
            </a:pPr>
            <a:r>
              <a:rPr lang="en-US" sz="1700" dirty="0">
                <a:solidFill>
                  <a:srgbClr val="5A5A5A"/>
                </a:solidFill>
                <a:latin typeface="Times New Roman" pitchFamily="34" charset="0"/>
                <a:ea typeface="Times New Roman" pitchFamily="34" charset="-122"/>
                <a:cs typeface="Times New Roman" pitchFamily="34" charset="-120"/>
              </a:rPr>
              <a:t>Planned isolation: pricing and state rules can be unit-tested without a database or browser. Verify in Part 3.</a:t>
            </a:r>
            <a:endParaRPr lang="en-US" sz="1700" dirty="0"/>
          </a:p>
        </p:txBody>
      </p:sp>
      <p:sp>
        <p:nvSpPr>
          <p:cNvPr id="60" name="Text 57"/>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61" name="Text 58"/>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62" name="Text 59"/>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3 / 5</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2194322"/>
            <a:ext cx="2240161" cy="0"/>
          </a:xfrm>
          <a:prstGeom prst="line">
            <a:avLst/>
          </a:prstGeom>
          <a:noFill/>
          <a:ln w="19050">
            <a:solidFill>
              <a:srgbClr val="111111"/>
            </a:solidFill>
            <a:prstDash val="solid"/>
          </a:ln>
        </p:spPr>
      </p:sp>
      <p:sp>
        <p:nvSpPr>
          <p:cNvPr id="4" name="Shape 2"/>
          <p:cNvSpPr/>
          <p:nvPr/>
        </p:nvSpPr>
        <p:spPr>
          <a:xfrm>
            <a:off x="3002161" y="2194322"/>
            <a:ext cx="4267200" cy="0"/>
          </a:xfrm>
          <a:prstGeom prst="line">
            <a:avLst/>
          </a:prstGeom>
          <a:noFill/>
          <a:ln w="19050">
            <a:solidFill>
              <a:srgbClr val="111111"/>
            </a:solidFill>
            <a:prstDash val="solid"/>
          </a:ln>
        </p:spPr>
      </p:sp>
      <p:sp>
        <p:nvSpPr>
          <p:cNvPr id="5" name="Shape 3"/>
          <p:cNvSpPr/>
          <p:nvPr/>
        </p:nvSpPr>
        <p:spPr>
          <a:xfrm>
            <a:off x="7269361" y="2194322"/>
            <a:ext cx="2346871" cy="0"/>
          </a:xfrm>
          <a:prstGeom prst="line">
            <a:avLst/>
          </a:prstGeom>
          <a:noFill/>
          <a:ln w="19050">
            <a:solidFill>
              <a:srgbClr val="111111"/>
            </a:solidFill>
            <a:prstDash val="solid"/>
          </a:ln>
        </p:spPr>
      </p:sp>
      <p:sp>
        <p:nvSpPr>
          <p:cNvPr id="6" name="Shape 4"/>
          <p:cNvSpPr/>
          <p:nvPr/>
        </p:nvSpPr>
        <p:spPr>
          <a:xfrm>
            <a:off x="9616232" y="2194322"/>
            <a:ext cx="1813768" cy="0"/>
          </a:xfrm>
          <a:prstGeom prst="line">
            <a:avLst/>
          </a:prstGeom>
          <a:noFill/>
          <a:ln w="19050">
            <a:solidFill>
              <a:srgbClr val="111111"/>
            </a:solidFill>
            <a:prstDash val="solid"/>
          </a:ln>
        </p:spPr>
      </p:sp>
      <p:sp>
        <p:nvSpPr>
          <p:cNvPr id="7" name="Shape 5"/>
          <p:cNvSpPr/>
          <p:nvPr/>
        </p:nvSpPr>
        <p:spPr>
          <a:xfrm>
            <a:off x="762000" y="2938463"/>
            <a:ext cx="2240161" cy="0"/>
          </a:xfrm>
          <a:prstGeom prst="line">
            <a:avLst/>
          </a:prstGeom>
          <a:noFill/>
          <a:ln w="9525">
            <a:solidFill>
              <a:srgbClr val="D2D2D2"/>
            </a:solidFill>
            <a:prstDash val="solid"/>
          </a:ln>
        </p:spPr>
      </p:sp>
      <p:sp>
        <p:nvSpPr>
          <p:cNvPr id="8" name="Shape 6"/>
          <p:cNvSpPr/>
          <p:nvPr/>
        </p:nvSpPr>
        <p:spPr>
          <a:xfrm>
            <a:off x="3002161" y="2938463"/>
            <a:ext cx="4267200" cy="0"/>
          </a:xfrm>
          <a:prstGeom prst="line">
            <a:avLst/>
          </a:prstGeom>
          <a:noFill/>
          <a:ln w="9525">
            <a:solidFill>
              <a:srgbClr val="D2D2D2"/>
            </a:solidFill>
            <a:prstDash val="solid"/>
          </a:ln>
        </p:spPr>
      </p:sp>
      <p:sp>
        <p:nvSpPr>
          <p:cNvPr id="9" name="Shape 7"/>
          <p:cNvSpPr/>
          <p:nvPr/>
        </p:nvSpPr>
        <p:spPr>
          <a:xfrm>
            <a:off x="7269361" y="2938463"/>
            <a:ext cx="2346871" cy="0"/>
          </a:xfrm>
          <a:prstGeom prst="line">
            <a:avLst/>
          </a:prstGeom>
          <a:noFill/>
          <a:ln w="9525">
            <a:solidFill>
              <a:srgbClr val="D2D2D2"/>
            </a:solidFill>
            <a:prstDash val="solid"/>
          </a:ln>
        </p:spPr>
      </p:sp>
      <p:sp>
        <p:nvSpPr>
          <p:cNvPr id="10" name="Shape 8"/>
          <p:cNvSpPr/>
          <p:nvPr/>
        </p:nvSpPr>
        <p:spPr>
          <a:xfrm>
            <a:off x="9616232" y="2938463"/>
            <a:ext cx="1813768" cy="0"/>
          </a:xfrm>
          <a:prstGeom prst="line">
            <a:avLst/>
          </a:prstGeom>
          <a:noFill/>
          <a:ln w="9525">
            <a:solidFill>
              <a:srgbClr val="D2D2D2"/>
            </a:solidFill>
            <a:prstDash val="solid"/>
          </a:ln>
        </p:spPr>
      </p:sp>
      <p:sp>
        <p:nvSpPr>
          <p:cNvPr id="11" name="Shape 9"/>
          <p:cNvSpPr/>
          <p:nvPr/>
        </p:nvSpPr>
        <p:spPr>
          <a:xfrm>
            <a:off x="762000" y="3677841"/>
            <a:ext cx="2240161" cy="0"/>
          </a:xfrm>
          <a:prstGeom prst="line">
            <a:avLst/>
          </a:prstGeom>
          <a:noFill/>
          <a:ln w="9525">
            <a:solidFill>
              <a:srgbClr val="D2D2D2"/>
            </a:solidFill>
            <a:prstDash val="solid"/>
          </a:ln>
        </p:spPr>
      </p:sp>
      <p:sp>
        <p:nvSpPr>
          <p:cNvPr id="12" name="Shape 10"/>
          <p:cNvSpPr/>
          <p:nvPr/>
        </p:nvSpPr>
        <p:spPr>
          <a:xfrm>
            <a:off x="3002161" y="3677841"/>
            <a:ext cx="4267200" cy="0"/>
          </a:xfrm>
          <a:prstGeom prst="line">
            <a:avLst/>
          </a:prstGeom>
          <a:noFill/>
          <a:ln w="9525">
            <a:solidFill>
              <a:srgbClr val="D2D2D2"/>
            </a:solidFill>
            <a:prstDash val="solid"/>
          </a:ln>
        </p:spPr>
      </p:sp>
      <p:sp>
        <p:nvSpPr>
          <p:cNvPr id="13" name="Shape 11"/>
          <p:cNvSpPr/>
          <p:nvPr/>
        </p:nvSpPr>
        <p:spPr>
          <a:xfrm>
            <a:off x="7269361" y="3677841"/>
            <a:ext cx="2346871" cy="0"/>
          </a:xfrm>
          <a:prstGeom prst="line">
            <a:avLst/>
          </a:prstGeom>
          <a:noFill/>
          <a:ln w="9525">
            <a:solidFill>
              <a:srgbClr val="D2D2D2"/>
            </a:solidFill>
            <a:prstDash val="solid"/>
          </a:ln>
        </p:spPr>
      </p:sp>
      <p:sp>
        <p:nvSpPr>
          <p:cNvPr id="14" name="Shape 12"/>
          <p:cNvSpPr/>
          <p:nvPr/>
        </p:nvSpPr>
        <p:spPr>
          <a:xfrm>
            <a:off x="9616232" y="3677841"/>
            <a:ext cx="1813768" cy="0"/>
          </a:xfrm>
          <a:prstGeom prst="line">
            <a:avLst/>
          </a:prstGeom>
          <a:noFill/>
          <a:ln w="9525">
            <a:solidFill>
              <a:srgbClr val="D2D2D2"/>
            </a:solidFill>
            <a:prstDash val="solid"/>
          </a:ln>
        </p:spPr>
      </p:sp>
      <p:sp>
        <p:nvSpPr>
          <p:cNvPr id="15" name="Shape 13"/>
          <p:cNvSpPr/>
          <p:nvPr/>
        </p:nvSpPr>
        <p:spPr>
          <a:xfrm>
            <a:off x="762000" y="4417219"/>
            <a:ext cx="2240161" cy="0"/>
          </a:xfrm>
          <a:prstGeom prst="line">
            <a:avLst/>
          </a:prstGeom>
          <a:noFill/>
          <a:ln w="9525">
            <a:solidFill>
              <a:srgbClr val="D2D2D2"/>
            </a:solidFill>
            <a:prstDash val="solid"/>
          </a:ln>
        </p:spPr>
      </p:sp>
      <p:sp>
        <p:nvSpPr>
          <p:cNvPr id="16" name="Shape 14"/>
          <p:cNvSpPr/>
          <p:nvPr/>
        </p:nvSpPr>
        <p:spPr>
          <a:xfrm>
            <a:off x="3002161" y="4417219"/>
            <a:ext cx="4267200" cy="0"/>
          </a:xfrm>
          <a:prstGeom prst="line">
            <a:avLst/>
          </a:prstGeom>
          <a:noFill/>
          <a:ln w="9525">
            <a:solidFill>
              <a:srgbClr val="D2D2D2"/>
            </a:solidFill>
            <a:prstDash val="solid"/>
          </a:ln>
        </p:spPr>
      </p:sp>
      <p:sp>
        <p:nvSpPr>
          <p:cNvPr id="17" name="Shape 15"/>
          <p:cNvSpPr/>
          <p:nvPr/>
        </p:nvSpPr>
        <p:spPr>
          <a:xfrm>
            <a:off x="7269361" y="4417219"/>
            <a:ext cx="2346871" cy="0"/>
          </a:xfrm>
          <a:prstGeom prst="line">
            <a:avLst/>
          </a:prstGeom>
          <a:noFill/>
          <a:ln w="9525">
            <a:solidFill>
              <a:srgbClr val="D2D2D2"/>
            </a:solidFill>
            <a:prstDash val="solid"/>
          </a:ln>
        </p:spPr>
      </p:sp>
      <p:sp>
        <p:nvSpPr>
          <p:cNvPr id="18" name="Shape 16"/>
          <p:cNvSpPr/>
          <p:nvPr/>
        </p:nvSpPr>
        <p:spPr>
          <a:xfrm>
            <a:off x="9616232" y="4417219"/>
            <a:ext cx="1813768" cy="0"/>
          </a:xfrm>
          <a:prstGeom prst="line">
            <a:avLst/>
          </a:prstGeom>
          <a:noFill/>
          <a:ln w="9525">
            <a:solidFill>
              <a:srgbClr val="D2D2D2"/>
            </a:solidFill>
            <a:prstDash val="solid"/>
          </a:ln>
        </p:spPr>
      </p:sp>
      <p:sp>
        <p:nvSpPr>
          <p:cNvPr id="19" name="Shape 17"/>
          <p:cNvSpPr/>
          <p:nvPr/>
        </p:nvSpPr>
        <p:spPr>
          <a:xfrm>
            <a:off x="762000" y="4612481"/>
            <a:ext cx="0" cy="1005929"/>
          </a:xfrm>
          <a:prstGeom prst="line">
            <a:avLst/>
          </a:prstGeom>
          <a:noFill/>
          <a:ln w="38100">
            <a:solidFill>
              <a:srgbClr val="111111"/>
            </a:solidFill>
            <a:prstDash val="solid"/>
          </a:ln>
        </p:spPr>
      </p:sp>
      <p:sp>
        <p:nvSpPr>
          <p:cNvPr id="20" name="Shape 18"/>
          <p:cNvSpPr/>
          <p:nvPr/>
        </p:nvSpPr>
        <p:spPr>
          <a:xfrm>
            <a:off x="762000" y="6280249"/>
            <a:ext cx="10668000" cy="0"/>
          </a:xfrm>
          <a:prstGeom prst="line">
            <a:avLst/>
          </a:prstGeom>
          <a:noFill/>
          <a:ln w="9525">
            <a:solidFill>
              <a:srgbClr val="C4C4C4"/>
            </a:solidFill>
            <a:prstDash val="solid"/>
          </a:ln>
        </p:spPr>
      </p:sp>
      <p:pic>
        <p:nvPicPr>
          <p:cNvPr id="21"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22" name="Text 19"/>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03</a:t>
            </a:r>
            <a:endParaRPr lang="en-US" sz="1600" dirty="0"/>
          </a:p>
        </p:txBody>
      </p:sp>
      <p:sp>
        <p:nvSpPr>
          <p:cNvPr id="23" name="Text 20"/>
          <p:cNvSpPr/>
          <p:nvPr/>
        </p:nvSpPr>
        <p:spPr>
          <a:xfrm>
            <a:off x="1792039" y="468785"/>
            <a:ext cx="152343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OWNERSHIP</a:t>
            </a:r>
            <a:endParaRPr lang="en-US" sz="1600" dirty="0"/>
          </a:p>
        </p:txBody>
      </p:sp>
      <p:sp>
        <p:nvSpPr>
          <p:cNvPr id="24" name="Text 21"/>
          <p:cNvSpPr/>
          <p:nvPr/>
        </p:nvSpPr>
        <p:spPr>
          <a:xfrm>
            <a:off x="762000" y="783110"/>
            <a:ext cx="7428786"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Three owners, complete CRUD scopes</a:t>
            </a:r>
            <a:endParaRPr lang="en-US" sz="3600" dirty="0"/>
          </a:p>
        </p:txBody>
      </p:sp>
      <p:sp>
        <p:nvSpPr>
          <p:cNvPr id="25" name="Text 22"/>
          <p:cNvSpPr/>
          <p:nvPr/>
        </p:nvSpPr>
        <p:spPr>
          <a:xfrm>
            <a:off x="762000" y="1737693"/>
            <a:ext cx="104346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MEMBER</a:t>
            </a:r>
            <a:endParaRPr lang="en-US" sz="1600" dirty="0"/>
          </a:p>
        </p:txBody>
      </p:sp>
      <p:sp>
        <p:nvSpPr>
          <p:cNvPr id="26" name="Text 23"/>
          <p:cNvSpPr/>
          <p:nvPr/>
        </p:nvSpPr>
        <p:spPr>
          <a:xfrm>
            <a:off x="3002161" y="1737693"/>
            <a:ext cx="4048155"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MAIN USE CASE — COMPLETE CRUD</a:t>
            </a:r>
            <a:endParaRPr lang="en-US" sz="1600" dirty="0"/>
          </a:p>
        </p:txBody>
      </p:sp>
      <p:sp>
        <p:nvSpPr>
          <p:cNvPr id="27" name="Text 24"/>
          <p:cNvSpPr/>
          <p:nvPr/>
        </p:nvSpPr>
        <p:spPr>
          <a:xfrm>
            <a:off x="7269361" y="1737693"/>
            <a:ext cx="2198370"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SECONDARY SCOPE</a:t>
            </a:r>
            <a:endParaRPr lang="en-US" sz="1600" dirty="0"/>
          </a:p>
        </p:txBody>
      </p:sp>
      <p:sp>
        <p:nvSpPr>
          <p:cNvPr id="28" name="Text 25"/>
          <p:cNvSpPr/>
          <p:nvPr/>
        </p:nvSpPr>
        <p:spPr>
          <a:xfrm>
            <a:off x="9616232" y="1618631"/>
            <a:ext cx="946130"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REPORT</a:t>
            </a:r>
            <a:endParaRPr lang="en-US" sz="1600" dirty="0"/>
          </a:p>
        </p:txBody>
      </p:sp>
      <p:sp>
        <p:nvSpPr>
          <p:cNvPr id="29" name="Text 26"/>
          <p:cNvSpPr/>
          <p:nvPr/>
        </p:nvSpPr>
        <p:spPr>
          <a:xfrm>
            <a:off x="9616232" y="1856756"/>
            <a:ext cx="88674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OWNED</a:t>
            </a:r>
            <a:endParaRPr lang="en-US" sz="1600" dirty="0"/>
          </a:p>
        </p:txBody>
      </p:sp>
      <p:sp>
        <p:nvSpPr>
          <p:cNvPr id="30" name="Text 27"/>
          <p:cNvSpPr/>
          <p:nvPr/>
        </p:nvSpPr>
        <p:spPr>
          <a:xfrm>
            <a:off x="762000" y="2301157"/>
            <a:ext cx="1368802"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Ngô Lâm Tiến</a:t>
            </a:r>
            <a:endParaRPr lang="en-US" sz="1700" dirty="0"/>
          </a:p>
        </p:txBody>
      </p:sp>
      <p:sp>
        <p:nvSpPr>
          <p:cNvPr id="31" name="Text 28"/>
          <p:cNvSpPr/>
          <p:nvPr/>
        </p:nvSpPr>
        <p:spPr>
          <a:xfrm>
            <a:off x="762000" y="2574107"/>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524H0195</a:t>
            </a:r>
            <a:endParaRPr lang="en-US" sz="1600" dirty="0"/>
          </a:p>
        </p:txBody>
      </p:sp>
      <p:sp>
        <p:nvSpPr>
          <p:cNvPr id="32" name="Text 29"/>
          <p:cNvSpPr/>
          <p:nvPr/>
        </p:nvSpPr>
        <p:spPr>
          <a:xfrm>
            <a:off x="3002161" y="2301157"/>
            <a:ext cx="2928818"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D — Place and Manage Orders</a:t>
            </a:r>
            <a:endParaRPr lang="en-US" sz="1700" dirty="0"/>
          </a:p>
        </p:txBody>
      </p:sp>
      <p:sp>
        <p:nvSpPr>
          <p:cNvPr id="33" name="Text 30"/>
          <p:cNvSpPr/>
          <p:nvPr/>
        </p:nvSpPr>
        <p:spPr>
          <a:xfrm>
            <a:off x="3002161" y="2564582"/>
            <a:ext cx="1476851"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MANDATORY</a:t>
            </a:r>
            <a:endParaRPr lang="en-US" sz="1600" dirty="0"/>
          </a:p>
        </p:txBody>
      </p:sp>
      <p:sp>
        <p:nvSpPr>
          <p:cNvPr id="34" name="Text 31"/>
          <p:cNvSpPr/>
          <p:nvPr/>
        </p:nvSpPr>
        <p:spPr>
          <a:xfrm>
            <a:off x="4433292" y="2564582"/>
            <a:ext cx="2595741"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 · pricing and payment Strategy</a:t>
            </a:r>
            <a:endParaRPr lang="en-US" sz="1600" dirty="0"/>
          </a:p>
        </p:txBody>
      </p:sp>
      <p:sp>
        <p:nvSpPr>
          <p:cNvPr id="35" name="Text 32"/>
          <p:cNvSpPr/>
          <p:nvPr/>
        </p:nvSpPr>
        <p:spPr>
          <a:xfrm>
            <a:off x="7269361" y="2301157"/>
            <a:ext cx="2057579"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C — Manage Vouchers</a:t>
            </a:r>
            <a:endParaRPr lang="en-US" sz="1700" dirty="0"/>
          </a:p>
        </p:txBody>
      </p:sp>
      <p:sp>
        <p:nvSpPr>
          <p:cNvPr id="36" name="Text 33"/>
          <p:cNvSpPr/>
          <p:nvPr/>
        </p:nvSpPr>
        <p:spPr>
          <a:xfrm>
            <a:off x="9616232" y="2301157"/>
            <a:ext cx="26152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a:t>
            </a:r>
            <a:endParaRPr lang="en-US" sz="1700" dirty="0"/>
          </a:p>
        </p:txBody>
      </p:sp>
      <p:sp>
        <p:nvSpPr>
          <p:cNvPr id="37" name="Text 34"/>
          <p:cNvSpPr/>
          <p:nvPr/>
        </p:nvSpPr>
        <p:spPr>
          <a:xfrm>
            <a:off x="762000" y="3040535"/>
            <a:ext cx="196084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Nguyễn Công Thành</a:t>
            </a:r>
            <a:endParaRPr lang="en-US" sz="1700" dirty="0"/>
          </a:p>
        </p:txBody>
      </p:sp>
      <p:sp>
        <p:nvSpPr>
          <p:cNvPr id="38" name="Text 35"/>
          <p:cNvSpPr/>
          <p:nvPr/>
        </p:nvSpPr>
        <p:spPr>
          <a:xfrm>
            <a:off x="762000" y="3313486"/>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524H0191</a:t>
            </a:r>
            <a:endParaRPr lang="en-US" sz="1600" dirty="0"/>
          </a:p>
        </p:txBody>
      </p:sp>
      <p:sp>
        <p:nvSpPr>
          <p:cNvPr id="39" name="Text 36"/>
          <p:cNvSpPr/>
          <p:nvPr/>
        </p:nvSpPr>
        <p:spPr>
          <a:xfrm>
            <a:off x="3002161" y="3040535"/>
            <a:ext cx="2809309"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A — Manage Menu &amp; Brands</a:t>
            </a:r>
            <a:endParaRPr lang="en-US" sz="1700" dirty="0"/>
          </a:p>
        </p:txBody>
      </p:sp>
      <p:sp>
        <p:nvSpPr>
          <p:cNvPr id="40" name="Text 37"/>
          <p:cNvSpPr/>
          <p:nvPr/>
        </p:nvSpPr>
        <p:spPr>
          <a:xfrm>
            <a:off x="3002161" y="3303961"/>
            <a:ext cx="3073479"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brands, items, availability, soft delete</a:t>
            </a:r>
            <a:endParaRPr lang="en-US" sz="1600" dirty="0"/>
          </a:p>
        </p:txBody>
      </p:sp>
      <p:sp>
        <p:nvSpPr>
          <p:cNvPr id="41" name="Text 38"/>
          <p:cNvSpPr/>
          <p:nvPr/>
        </p:nvSpPr>
        <p:spPr>
          <a:xfrm>
            <a:off x="7269361" y="3040535"/>
            <a:ext cx="1657826"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E — Manage User</a:t>
            </a:r>
            <a:endParaRPr lang="en-US" sz="1700" dirty="0"/>
          </a:p>
        </p:txBody>
      </p:sp>
      <p:sp>
        <p:nvSpPr>
          <p:cNvPr id="42" name="Text 39"/>
          <p:cNvSpPr/>
          <p:nvPr/>
        </p:nvSpPr>
        <p:spPr>
          <a:xfrm>
            <a:off x="7269361" y="3303961"/>
            <a:ext cx="86085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Accounts</a:t>
            </a:r>
            <a:endParaRPr lang="en-US" sz="1700" dirty="0"/>
          </a:p>
        </p:txBody>
      </p:sp>
      <p:sp>
        <p:nvSpPr>
          <p:cNvPr id="43" name="Text 40"/>
          <p:cNvSpPr/>
          <p:nvPr/>
        </p:nvSpPr>
        <p:spPr>
          <a:xfrm>
            <a:off x="9616232" y="3040535"/>
            <a:ext cx="137639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R1 — Revenue</a:t>
            </a:r>
            <a:endParaRPr lang="en-US" sz="1700" dirty="0"/>
          </a:p>
        </p:txBody>
      </p:sp>
      <p:sp>
        <p:nvSpPr>
          <p:cNvPr id="44" name="Text 41"/>
          <p:cNvSpPr/>
          <p:nvPr/>
        </p:nvSpPr>
        <p:spPr>
          <a:xfrm>
            <a:off x="762000" y="3779913"/>
            <a:ext cx="1788646"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Nguyễn Trọng Phú</a:t>
            </a:r>
            <a:endParaRPr lang="en-US" sz="1700" dirty="0"/>
          </a:p>
        </p:txBody>
      </p:sp>
      <p:sp>
        <p:nvSpPr>
          <p:cNvPr id="45" name="Text 42"/>
          <p:cNvSpPr/>
          <p:nvPr/>
        </p:nvSpPr>
        <p:spPr>
          <a:xfrm>
            <a:off x="762000" y="4052864"/>
            <a:ext cx="903565"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524H0179</a:t>
            </a:r>
            <a:endParaRPr lang="en-US" sz="1600" dirty="0"/>
          </a:p>
        </p:txBody>
      </p:sp>
      <p:sp>
        <p:nvSpPr>
          <p:cNvPr id="46" name="Text 43"/>
          <p:cNvSpPr/>
          <p:nvPr/>
        </p:nvSpPr>
        <p:spPr>
          <a:xfrm>
            <a:off x="3002161" y="3779913"/>
            <a:ext cx="2917210" cy="280670"/>
          </a:xfrm>
          <a:prstGeom prst="rect">
            <a:avLst/>
          </a:prstGeom>
          <a:noFill/>
          <a:ln/>
        </p:spPr>
        <p:txBody>
          <a:bodyPr wrap="none" lIns="0" tIns="0" rIns="0" bIns="0" rtlCol="0" anchor="t"/>
          <a:lstStyle/>
          <a:p>
            <a:pPr indent="0" marL="0">
              <a:lnSpc>
                <a:spcPct val="100000"/>
              </a:lnSpc>
              <a:buNone/>
            </a:pPr>
            <a:r>
              <a:rPr lang="en-US" sz="1700" b="1" dirty="0">
                <a:solidFill>
                  <a:srgbClr val="111111"/>
                </a:solidFill>
                <a:latin typeface="Times New Roman" pitchFamily="34" charset="0"/>
                <a:ea typeface="Times New Roman" pitchFamily="34" charset="-122"/>
                <a:cs typeface="Times New Roman" pitchFamily="34" charset="-120"/>
              </a:rPr>
              <a:t>B — Manage Hubs &amp; Capacity</a:t>
            </a:r>
            <a:endParaRPr lang="en-US" sz="1700" dirty="0"/>
          </a:p>
        </p:txBody>
      </p:sp>
      <p:sp>
        <p:nvSpPr>
          <p:cNvPr id="47" name="Text 44"/>
          <p:cNvSpPr/>
          <p:nvPr/>
        </p:nvSpPr>
        <p:spPr>
          <a:xfrm>
            <a:off x="3002161" y="4043339"/>
            <a:ext cx="2305973" cy="264160"/>
          </a:xfrm>
          <a:prstGeom prst="rect">
            <a:avLst/>
          </a:prstGeom>
          <a:noFill/>
          <a:ln/>
        </p:spPr>
        <p:txBody>
          <a:bodyPr wrap="none" lIns="0" tIns="0" rIns="0" bIns="0" rtlCol="0" anchor="t"/>
          <a:lstStyle/>
          <a:p>
            <a:pPr indent="0" marL="0">
              <a:lnSpc>
                <a:spcPct val="100000"/>
              </a:lnSpc>
              <a:buNone/>
            </a:pPr>
            <a:r>
              <a:rPr lang="en-US" sz="1600" dirty="0">
                <a:solidFill>
                  <a:srgbClr val="333333"/>
                </a:solidFill>
                <a:latin typeface="Times New Roman" pitchFamily="34" charset="0"/>
                <a:ea typeface="Times New Roman" pitchFamily="34" charset="-122"/>
                <a:cs typeface="Times New Roman" pitchFamily="34" charset="-120"/>
              </a:rPr>
              <a:t>hubs, capacity, derived load</a:t>
            </a:r>
            <a:endParaRPr lang="en-US" sz="1600" dirty="0"/>
          </a:p>
        </p:txBody>
      </p:sp>
      <p:sp>
        <p:nvSpPr>
          <p:cNvPr id="48" name="Text 45"/>
          <p:cNvSpPr/>
          <p:nvPr/>
        </p:nvSpPr>
        <p:spPr>
          <a:xfrm>
            <a:off x="7269361" y="3779913"/>
            <a:ext cx="2125295"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F — Manage Deliveries</a:t>
            </a:r>
            <a:endParaRPr lang="en-US" sz="1700" dirty="0"/>
          </a:p>
        </p:txBody>
      </p:sp>
      <p:sp>
        <p:nvSpPr>
          <p:cNvPr id="49" name="Text 46"/>
          <p:cNvSpPr/>
          <p:nvPr/>
        </p:nvSpPr>
        <p:spPr>
          <a:xfrm>
            <a:off x="7269361" y="4043339"/>
            <a:ext cx="1825556"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Change-request note</a:t>
            </a:r>
            <a:endParaRPr lang="en-US" sz="1700" dirty="0"/>
          </a:p>
        </p:txBody>
      </p:sp>
      <p:sp>
        <p:nvSpPr>
          <p:cNvPr id="50" name="Text 47"/>
          <p:cNvSpPr/>
          <p:nvPr/>
        </p:nvSpPr>
        <p:spPr>
          <a:xfrm>
            <a:off x="9616232" y="3779913"/>
            <a:ext cx="993011"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R2 — Hub</a:t>
            </a:r>
            <a:endParaRPr lang="en-US" sz="1700" dirty="0"/>
          </a:p>
        </p:txBody>
      </p:sp>
      <p:sp>
        <p:nvSpPr>
          <p:cNvPr id="51" name="Text 48"/>
          <p:cNvSpPr/>
          <p:nvPr/>
        </p:nvSpPr>
        <p:spPr>
          <a:xfrm>
            <a:off x="9616232" y="4043339"/>
            <a:ext cx="968752" cy="280670"/>
          </a:xfrm>
          <a:prstGeom prst="rect">
            <a:avLst/>
          </a:prstGeom>
          <a:noFill/>
          <a:ln/>
        </p:spPr>
        <p:txBody>
          <a:bodyPr wrap="none" lIns="0" tIns="0" rIns="0" bIns="0" rtlCol="0" anchor="t"/>
          <a:lstStyle/>
          <a:p>
            <a:pPr indent="0" marL="0">
              <a:lnSpc>
                <a:spcPct val="100000"/>
              </a:lnSpc>
              <a:buNone/>
            </a:pPr>
            <a:r>
              <a:rPr lang="en-US" sz="1700" dirty="0">
                <a:solidFill>
                  <a:srgbClr val="111111"/>
                </a:solidFill>
                <a:latin typeface="Times New Roman" pitchFamily="34" charset="0"/>
                <a:ea typeface="Times New Roman" pitchFamily="34" charset="-122"/>
                <a:cs typeface="Times New Roman" pitchFamily="34" charset="-120"/>
              </a:rPr>
              <a:t>Utilization</a:t>
            </a:r>
            <a:endParaRPr lang="en-US" sz="1700" dirty="0"/>
          </a:p>
        </p:txBody>
      </p:sp>
      <p:sp>
        <p:nvSpPr>
          <p:cNvPr id="52" name="Text 49"/>
          <p:cNvSpPr/>
          <p:nvPr/>
        </p:nvSpPr>
        <p:spPr>
          <a:xfrm>
            <a:off x="952500" y="4617815"/>
            <a:ext cx="6599664"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Each member owns one main use case with complete CRUD.</a:t>
            </a:r>
            <a:endParaRPr lang="en-US" sz="2000" dirty="0"/>
          </a:p>
        </p:txBody>
      </p:sp>
      <p:sp>
        <p:nvSpPr>
          <p:cNvPr id="53" name="Text 50"/>
          <p:cNvSpPr/>
          <p:nvPr/>
        </p:nvSpPr>
        <p:spPr>
          <a:xfrm>
            <a:off x="7506444" y="4617815"/>
            <a:ext cx="356371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R1 aggregates brand category and</a:t>
            </a:r>
            <a:endParaRPr lang="en-US" sz="2000" dirty="0"/>
          </a:p>
        </p:txBody>
      </p:sp>
      <p:sp>
        <p:nvSpPr>
          <p:cNvPr id="54" name="Text 51"/>
          <p:cNvSpPr/>
          <p:nvPr/>
        </p:nvSpPr>
        <p:spPr>
          <a:xfrm>
            <a:off x="952500" y="4953125"/>
            <a:ext cx="10446871"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payment method, so it sits with A. R2 aggregates load and preparation time, so it sits with B. D carries</a:t>
            </a:r>
            <a:endParaRPr lang="en-US" sz="2000" dirty="0"/>
          </a:p>
        </p:txBody>
      </p:sp>
      <p:sp>
        <p:nvSpPr>
          <p:cNvPr id="55" name="Text 52"/>
          <p:cNvSpPr/>
          <p:nvPr/>
        </p:nvSpPr>
        <p:spPr>
          <a:xfrm>
            <a:off x="952500" y="5288435"/>
            <a:ext cx="740720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the pricing engine and both customer types, so its owner takes no report.</a:t>
            </a:r>
            <a:endParaRPr lang="en-US" sz="2000" dirty="0"/>
          </a:p>
        </p:txBody>
      </p:sp>
      <p:sp>
        <p:nvSpPr>
          <p:cNvPr id="56" name="Text 53"/>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57" name="Text 54"/>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58" name="Text 55"/>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4 / 5</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2000" y="1479947"/>
            <a:ext cx="10668000" cy="0"/>
          </a:xfrm>
          <a:prstGeom prst="line">
            <a:avLst/>
          </a:prstGeom>
          <a:noFill/>
          <a:ln w="9525">
            <a:solidFill>
              <a:srgbClr val="111111"/>
            </a:solidFill>
            <a:prstDash val="solid"/>
          </a:ln>
        </p:spPr>
      </p:sp>
      <p:sp>
        <p:nvSpPr>
          <p:cNvPr id="3" name="Shape 1"/>
          <p:cNvSpPr/>
          <p:nvPr/>
        </p:nvSpPr>
        <p:spPr>
          <a:xfrm>
            <a:off x="762000" y="1708547"/>
            <a:ext cx="3352800" cy="0"/>
          </a:xfrm>
          <a:prstGeom prst="line">
            <a:avLst/>
          </a:prstGeom>
          <a:noFill/>
          <a:ln w="19050">
            <a:solidFill>
              <a:srgbClr val="111111"/>
            </a:solidFill>
            <a:prstDash val="solid"/>
          </a:ln>
        </p:spPr>
      </p:sp>
      <p:sp>
        <p:nvSpPr>
          <p:cNvPr id="4" name="Shape 2"/>
          <p:cNvSpPr/>
          <p:nvPr/>
        </p:nvSpPr>
        <p:spPr>
          <a:xfrm>
            <a:off x="4419600" y="1708547"/>
            <a:ext cx="3352800" cy="0"/>
          </a:xfrm>
          <a:prstGeom prst="line">
            <a:avLst/>
          </a:prstGeom>
          <a:noFill/>
          <a:ln w="19050">
            <a:solidFill>
              <a:srgbClr val="111111"/>
            </a:solidFill>
            <a:prstDash val="solid"/>
          </a:ln>
        </p:spPr>
      </p:sp>
      <p:sp>
        <p:nvSpPr>
          <p:cNvPr id="5" name="Shape 3"/>
          <p:cNvSpPr/>
          <p:nvPr/>
        </p:nvSpPr>
        <p:spPr>
          <a:xfrm>
            <a:off x="8077200" y="1708547"/>
            <a:ext cx="3352800" cy="0"/>
          </a:xfrm>
          <a:prstGeom prst="line">
            <a:avLst/>
          </a:prstGeom>
          <a:noFill/>
          <a:ln w="19050">
            <a:solidFill>
              <a:srgbClr val="111111"/>
            </a:solidFill>
            <a:prstDash val="solid"/>
          </a:ln>
        </p:spPr>
      </p:sp>
      <p:sp>
        <p:nvSpPr>
          <p:cNvPr id="6" name="Shape 4"/>
          <p:cNvSpPr/>
          <p:nvPr/>
        </p:nvSpPr>
        <p:spPr>
          <a:xfrm>
            <a:off x="762000" y="4076849"/>
            <a:ext cx="5181600" cy="0"/>
          </a:xfrm>
          <a:prstGeom prst="line">
            <a:avLst/>
          </a:prstGeom>
          <a:noFill/>
          <a:ln w="9525">
            <a:solidFill>
              <a:srgbClr val="111111"/>
            </a:solidFill>
            <a:prstDash val="solid"/>
          </a:ln>
        </p:spPr>
      </p:sp>
      <p:sp>
        <p:nvSpPr>
          <p:cNvPr id="7" name="Shape 5"/>
          <p:cNvSpPr/>
          <p:nvPr/>
        </p:nvSpPr>
        <p:spPr>
          <a:xfrm>
            <a:off x="762000" y="6128742"/>
            <a:ext cx="5181600" cy="0"/>
          </a:xfrm>
          <a:prstGeom prst="line">
            <a:avLst/>
          </a:prstGeom>
          <a:noFill/>
          <a:ln w="9525">
            <a:solidFill>
              <a:srgbClr val="111111"/>
            </a:solidFill>
            <a:prstDash val="solid"/>
          </a:ln>
        </p:spPr>
      </p:sp>
      <p:sp>
        <p:nvSpPr>
          <p:cNvPr id="8" name="Shape 6"/>
          <p:cNvSpPr/>
          <p:nvPr/>
        </p:nvSpPr>
        <p:spPr>
          <a:xfrm>
            <a:off x="762000" y="4076849"/>
            <a:ext cx="0" cy="2051893"/>
          </a:xfrm>
          <a:prstGeom prst="line">
            <a:avLst/>
          </a:prstGeom>
          <a:noFill/>
          <a:ln w="9525">
            <a:solidFill>
              <a:srgbClr val="111111"/>
            </a:solidFill>
            <a:prstDash val="solid"/>
          </a:ln>
        </p:spPr>
      </p:sp>
      <p:sp>
        <p:nvSpPr>
          <p:cNvPr id="9" name="Shape 7"/>
          <p:cNvSpPr/>
          <p:nvPr/>
        </p:nvSpPr>
        <p:spPr>
          <a:xfrm>
            <a:off x="5943600" y="4076849"/>
            <a:ext cx="0" cy="2051893"/>
          </a:xfrm>
          <a:prstGeom prst="line">
            <a:avLst/>
          </a:prstGeom>
          <a:noFill/>
          <a:ln w="9525">
            <a:solidFill>
              <a:srgbClr val="111111"/>
            </a:solidFill>
            <a:prstDash val="solid"/>
          </a:ln>
        </p:spPr>
      </p:sp>
      <p:sp>
        <p:nvSpPr>
          <p:cNvPr id="10" name="Shape 8"/>
          <p:cNvSpPr/>
          <p:nvPr/>
        </p:nvSpPr>
        <p:spPr>
          <a:xfrm>
            <a:off x="6248400" y="4076849"/>
            <a:ext cx="5181600" cy="0"/>
          </a:xfrm>
          <a:prstGeom prst="line">
            <a:avLst/>
          </a:prstGeom>
          <a:noFill/>
          <a:ln w="9525">
            <a:solidFill>
              <a:srgbClr val="111111"/>
            </a:solidFill>
            <a:prstDash val="solid"/>
          </a:ln>
        </p:spPr>
      </p:sp>
      <p:sp>
        <p:nvSpPr>
          <p:cNvPr id="11" name="Shape 9"/>
          <p:cNvSpPr/>
          <p:nvPr/>
        </p:nvSpPr>
        <p:spPr>
          <a:xfrm>
            <a:off x="6248400" y="6128742"/>
            <a:ext cx="5181600" cy="0"/>
          </a:xfrm>
          <a:prstGeom prst="line">
            <a:avLst/>
          </a:prstGeom>
          <a:noFill/>
          <a:ln w="9525">
            <a:solidFill>
              <a:srgbClr val="111111"/>
            </a:solidFill>
            <a:prstDash val="solid"/>
          </a:ln>
        </p:spPr>
      </p:sp>
      <p:sp>
        <p:nvSpPr>
          <p:cNvPr id="12" name="Shape 10"/>
          <p:cNvSpPr/>
          <p:nvPr/>
        </p:nvSpPr>
        <p:spPr>
          <a:xfrm>
            <a:off x="6248400" y="4076849"/>
            <a:ext cx="0" cy="2051893"/>
          </a:xfrm>
          <a:prstGeom prst="line">
            <a:avLst/>
          </a:prstGeom>
          <a:noFill/>
          <a:ln w="9525">
            <a:solidFill>
              <a:srgbClr val="111111"/>
            </a:solidFill>
            <a:prstDash val="solid"/>
          </a:ln>
        </p:spPr>
      </p:sp>
      <p:sp>
        <p:nvSpPr>
          <p:cNvPr id="13" name="Shape 11"/>
          <p:cNvSpPr/>
          <p:nvPr/>
        </p:nvSpPr>
        <p:spPr>
          <a:xfrm>
            <a:off x="11430000" y="4076849"/>
            <a:ext cx="0" cy="2051893"/>
          </a:xfrm>
          <a:prstGeom prst="line">
            <a:avLst/>
          </a:prstGeom>
          <a:noFill/>
          <a:ln w="9525">
            <a:solidFill>
              <a:srgbClr val="111111"/>
            </a:solidFill>
            <a:prstDash val="solid"/>
          </a:ln>
        </p:spPr>
      </p:sp>
      <p:sp>
        <p:nvSpPr>
          <p:cNvPr id="14" name="Shape 12"/>
          <p:cNvSpPr/>
          <p:nvPr/>
        </p:nvSpPr>
        <p:spPr>
          <a:xfrm>
            <a:off x="762000" y="6280249"/>
            <a:ext cx="10668000" cy="0"/>
          </a:xfrm>
          <a:prstGeom prst="line">
            <a:avLst/>
          </a:prstGeom>
          <a:noFill/>
          <a:ln w="9525">
            <a:solidFill>
              <a:srgbClr val="C4C4C4"/>
            </a:solidFill>
            <a:prstDash val="solid"/>
          </a:ln>
        </p:spPr>
      </p:sp>
      <p:pic>
        <p:nvPicPr>
          <p:cNvPr id="15" name="Image 0" descr="preencoded.png">    </p:cNvPr>
          <p:cNvPicPr>
            <a:picLocks noChangeAspect="1"/>
          </p:cNvPicPr>
          <p:nvPr/>
        </p:nvPicPr>
        <p:blipFill>
          <a:blip r:embed="rId1"/>
          <a:stretch>
            <a:fillRect/>
          </a:stretch>
        </p:blipFill>
        <p:spPr>
          <a:xfrm>
            <a:off x="762000" y="431750"/>
            <a:ext cx="482501" cy="266700"/>
          </a:xfrm>
          <a:prstGeom prst="rect">
            <a:avLst/>
          </a:prstGeom>
        </p:spPr>
      </p:pic>
      <p:sp>
        <p:nvSpPr>
          <p:cNvPr id="16" name="Text 13"/>
          <p:cNvSpPr/>
          <p:nvPr/>
        </p:nvSpPr>
        <p:spPr>
          <a:xfrm>
            <a:off x="1396901" y="468785"/>
            <a:ext cx="313908"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04</a:t>
            </a:r>
            <a:endParaRPr lang="en-US" sz="1600" dirty="0"/>
          </a:p>
        </p:txBody>
      </p:sp>
      <p:sp>
        <p:nvSpPr>
          <p:cNvPr id="17" name="Text 14"/>
          <p:cNvSpPr/>
          <p:nvPr/>
        </p:nvSpPr>
        <p:spPr>
          <a:xfrm>
            <a:off x="1792039" y="468785"/>
            <a:ext cx="1533257"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DE-RISKING</a:t>
            </a:r>
            <a:endParaRPr lang="en-US" sz="1600" dirty="0"/>
          </a:p>
        </p:txBody>
      </p:sp>
      <p:sp>
        <p:nvSpPr>
          <p:cNvPr id="18" name="Text 15"/>
          <p:cNvSpPr/>
          <p:nvPr/>
        </p:nvSpPr>
        <p:spPr>
          <a:xfrm>
            <a:off x="762000" y="783110"/>
            <a:ext cx="7445157"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Acceptance targets and open decisions</a:t>
            </a:r>
            <a:endParaRPr lang="en-US" sz="3600" dirty="0"/>
          </a:p>
        </p:txBody>
      </p:sp>
      <p:sp>
        <p:nvSpPr>
          <p:cNvPr id="19" name="Text 16"/>
          <p:cNvSpPr/>
          <p:nvPr/>
        </p:nvSpPr>
        <p:spPr>
          <a:xfrm>
            <a:off x="762000" y="1774156"/>
            <a:ext cx="27432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4</a:t>
            </a:r>
            <a:endParaRPr lang="en-US" sz="3600" dirty="0"/>
          </a:p>
        </p:txBody>
      </p:sp>
      <p:sp>
        <p:nvSpPr>
          <p:cNvPr id="20" name="Text 17"/>
          <p:cNvSpPr/>
          <p:nvPr/>
        </p:nvSpPr>
        <p:spPr>
          <a:xfrm>
            <a:off x="762000" y="2320207"/>
            <a:ext cx="2180362"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Tier 4 · cap 10.0/10:</a:t>
            </a:r>
            <a:endParaRPr lang="en-US" sz="2000" dirty="0"/>
          </a:p>
        </p:txBody>
      </p:sp>
      <p:sp>
        <p:nvSpPr>
          <p:cNvPr id="21" name="Text 18"/>
          <p:cNvSpPr/>
          <p:nvPr/>
        </p:nvSpPr>
        <p:spPr>
          <a:xfrm>
            <a:off x="2896642" y="2320207"/>
            <a:ext cx="915769"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Tier 3 +</a:t>
            </a:r>
            <a:endParaRPr lang="en-US" sz="2000" dirty="0"/>
          </a:p>
        </p:txBody>
      </p:sp>
      <p:sp>
        <p:nvSpPr>
          <p:cNvPr id="22" name="Text 19"/>
          <p:cNvSpPr/>
          <p:nvPr/>
        </p:nvSpPr>
        <p:spPr>
          <a:xfrm>
            <a:off x="762000" y="2627537"/>
            <a:ext cx="3136434"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live sandbox API + interactive</a:t>
            </a:r>
            <a:endParaRPr lang="en-US" sz="2000" dirty="0"/>
          </a:p>
        </p:txBody>
      </p:sp>
      <p:sp>
        <p:nvSpPr>
          <p:cNvPr id="23" name="Text 20"/>
          <p:cNvSpPr/>
          <p:nvPr/>
        </p:nvSpPr>
        <p:spPr>
          <a:xfrm>
            <a:off x="762000" y="2934867"/>
            <a:ext cx="318569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Admin dashboard + automated</a:t>
            </a:r>
            <a:endParaRPr lang="en-US" sz="2000" dirty="0"/>
          </a:p>
        </p:txBody>
      </p:sp>
      <p:sp>
        <p:nvSpPr>
          <p:cNvPr id="24" name="Text 21"/>
          <p:cNvSpPr/>
          <p:nvPr/>
        </p:nvSpPr>
        <p:spPr>
          <a:xfrm>
            <a:off x="762000" y="3242197"/>
            <a:ext cx="2528024"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tests. Core MVC variant</a:t>
            </a:r>
            <a:endParaRPr lang="en-US" sz="2000" dirty="0"/>
          </a:p>
        </p:txBody>
      </p:sp>
      <p:sp>
        <p:nvSpPr>
          <p:cNvPr id="25" name="Text 22"/>
          <p:cNvSpPr/>
          <p:nvPr/>
        </p:nvSpPr>
        <p:spPr>
          <a:xfrm>
            <a:off x="762000" y="3549527"/>
            <a:ext cx="2302103"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pending confirmation.</a:t>
            </a:r>
            <a:endParaRPr lang="en-US" sz="2000" dirty="0"/>
          </a:p>
        </p:txBody>
      </p:sp>
      <p:sp>
        <p:nvSpPr>
          <p:cNvPr id="26" name="Text 23"/>
          <p:cNvSpPr/>
          <p:nvPr/>
        </p:nvSpPr>
        <p:spPr>
          <a:xfrm>
            <a:off x="4419600" y="1774156"/>
            <a:ext cx="763518"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20+</a:t>
            </a:r>
            <a:endParaRPr lang="en-US" sz="3600" dirty="0"/>
          </a:p>
        </p:txBody>
      </p:sp>
      <p:sp>
        <p:nvSpPr>
          <p:cNvPr id="27" name="Text 24"/>
          <p:cNvSpPr/>
          <p:nvPr/>
        </p:nvSpPr>
        <p:spPr>
          <a:xfrm>
            <a:off x="4419600" y="2320207"/>
            <a:ext cx="2580412"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Planned EP/BVA cases:</a:t>
            </a:r>
            <a:endParaRPr lang="en-US" sz="2000" dirty="0"/>
          </a:p>
        </p:txBody>
      </p:sp>
      <p:sp>
        <p:nvSpPr>
          <p:cNvPr id="28" name="Text 25"/>
          <p:cNvSpPr/>
          <p:nvPr/>
        </p:nvSpPr>
        <p:spPr>
          <a:xfrm>
            <a:off x="6954292" y="2320207"/>
            <a:ext cx="701903"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BR1–</a:t>
            </a:r>
            <a:endParaRPr lang="en-US" sz="2000" dirty="0"/>
          </a:p>
        </p:txBody>
      </p:sp>
      <p:sp>
        <p:nvSpPr>
          <p:cNvPr id="29" name="Text 26"/>
          <p:cNvSpPr/>
          <p:nvPr/>
        </p:nvSpPr>
        <p:spPr>
          <a:xfrm>
            <a:off x="4419600" y="2627537"/>
            <a:ext cx="305026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BR12 and BR14, plus at least</a:t>
            </a:r>
            <a:endParaRPr lang="en-US" sz="2000" dirty="0"/>
          </a:p>
        </p:txBody>
      </p:sp>
      <p:sp>
        <p:nvSpPr>
          <p:cNvPr id="30" name="Text 27"/>
          <p:cNvSpPr/>
          <p:nvPr/>
        </p:nvSpPr>
        <p:spPr>
          <a:xfrm>
            <a:off x="4419600" y="2934867"/>
            <a:ext cx="3113068"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five forbidden-transition tests.</a:t>
            </a:r>
            <a:endParaRPr lang="en-US" sz="2000" dirty="0"/>
          </a:p>
        </p:txBody>
      </p:sp>
      <p:sp>
        <p:nvSpPr>
          <p:cNvPr id="31" name="Text 28"/>
          <p:cNvSpPr/>
          <p:nvPr/>
        </p:nvSpPr>
        <p:spPr>
          <a:xfrm>
            <a:off x="8077200" y="1774156"/>
            <a:ext cx="274320" cy="594360"/>
          </a:xfrm>
          <a:prstGeom prst="rect">
            <a:avLst/>
          </a:prstGeom>
          <a:noFill/>
          <a:ln/>
        </p:spPr>
        <p:txBody>
          <a:bodyPr wrap="none" lIns="0" tIns="0" rIns="0" bIns="0" rtlCol="0" anchor="t"/>
          <a:lstStyle/>
          <a:p>
            <a:pPr indent="0" marL="0">
              <a:lnSpc>
                <a:spcPct val="100000"/>
              </a:lnSpc>
              <a:buNone/>
            </a:pPr>
            <a:r>
              <a:rPr lang="en-US" sz="3600" b="1" dirty="0">
                <a:solidFill>
                  <a:srgbClr val="111111"/>
                </a:solidFill>
                <a:latin typeface="Times New Roman" pitchFamily="34" charset="0"/>
                <a:ea typeface="Times New Roman" pitchFamily="34" charset="-122"/>
                <a:cs typeface="Times New Roman" pitchFamily="34" charset="-120"/>
              </a:rPr>
              <a:t>1</a:t>
            </a:r>
            <a:endParaRPr lang="en-US" sz="3600" dirty="0"/>
          </a:p>
        </p:txBody>
      </p:sp>
      <p:sp>
        <p:nvSpPr>
          <p:cNvPr id="32" name="Text 29"/>
          <p:cNvSpPr/>
          <p:nvPr/>
        </p:nvSpPr>
        <p:spPr>
          <a:xfrm>
            <a:off x="8077200" y="2320207"/>
            <a:ext cx="2105055"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New payment class</a:t>
            </a:r>
            <a:endParaRPr lang="en-US" sz="2000" dirty="0"/>
          </a:p>
        </p:txBody>
      </p:sp>
      <p:sp>
        <p:nvSpPr>
          <p:cNvPr id="33" name="Text 30"/>
          <p:cNvSpPr/>
          <p:nvPr/>
        </p:nvSpPr>
        <p:spPr>
          <a:xfrm>
            <a:off x="10136535" y="2320207"/>
            <a:ext cx="682556"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 + one</a:t>
            </a:r>
            <a:endParaRPr lang="en-US" sz="2000" dirty="0"/>
          </a:p>
        </p:txBody>
      </p:sp>
      <p:sp>
        <p:nvSpPr>
          <p:cNvPr id="34" name="Text 31"/>
          <p:cNvSpPr/>
          <p:nvPr/>
        </p:nvSpPr>
        <p:spPr>
          <a:xfrm>
            <a:off x="8077200" y="2627537"/>
            <a:ext cx="2859762"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registration (NFR2). Assess</a:t>
            </a:r>
            <a:endParaRPr lang="en-US" sz="2000" dirty="0"/>
          </a:p>
        </p:txBody>
      </p:sp>
      <p:sp>
        <p:nvSpPr>
          <p:cNvPr id="35" name="Text 32"/>
          <p:cNvSpPr/>
          <p:nvPr/>
        </p:nvSpPr>
        <p:spPr>
          <a:xfrm>
            <a:off x="8077200" y="2934867"/>
            <a:ext cx="3384977" cy="330200"/>
          </a:xfrm>
          <a:prstGeom prst="rect">
            <a:avLst/>
          </a:prstGeom>
          <a:noFill/>
          <a:ln/>
        </p:spPr>
        <p:txBody>
          <a:bodyPr wrap="none" lIns="0" tIns="0" rIns="0" bIns="0" rtlCol="0" anchor="t"/>
          <a:lstStyle/>
          <a:p>
            <a:pPr indent="0" marL="0">
              <a:lnSpc>
                <a:spcPct val="100000"/>
              </a:lnSpc>
              <a:buNone/>
            </a:pPr>
            <a:r>
              <a:rPr lang="en-US" sz="2000" dirty="0">
                <a:solidFill>
                  <a:srgbClr val="111111"/>
                </a:solidFill>
                <a:latin typeface="Times New Roman" pitchFamily="34" charset="0"/>
                <a:ea typeface="Times New Roman" pitchFamily="34" charset="-122"/>
                <a:cs typeface="Times New Roman" pitchFamily="34" charset="-120"/>
              </a:rPr>
              <a:t>other change requests separately.</a:t>
            </a:r>
            <a:endParaRPr lang="en-US" sz="2000" dirty="0"/>
          </a:p>
        </p:txBody>
      </p:sp>
      <p:sp>
        <p:nvSpPr>
          <p:cNvPr id="36" name="Text 33"/>
          <p:cNvSpPr/>
          <p:nvPr/>
        </p:nvSpPr>
        <p:spPr>
          <a:xfrm>
            <a:off x="936575" y="4186958"/>
            <a:ext cx="178894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AMBIGUITY A1</a:t>
            </a:r>
            <a:endParaRPr lang="en-US" sz="1600" dirty="0"/>
          </a:p>
        </p:txBody>
      </p:sp>
      <p:sp>
        <p:nvSpPr>
          <p:cNvPr id="37" name="Text 34"/>
          <p:cNvSpPr/>
          <p:nvPr/>
        </p:nvSpPr>
        <p:spPr>
          <a:xfrm>
            <a:off x="936575" y="4450384"/>
            <a:ext cx="2804100"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Who assigns the shipper?</a:t>
            </a:r>
            <a:endParaRPr lang="en-US" sz="2000" dirty="0"/>
          </a:p>
        </p:txBody>
      </p:sp>
      <p:sp>
        <p:nvSpPr>
          <p:cNvPr id="38" name="Text 35"/>
          <p:cNvSpPr/>
          <p:nvPr/>
        </p:nvSpPr>
        <p:spPr>
          <a:xfrm>
            <a:off x="936575" y="4800130"/>
            <a:ext cx="4219902"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An Admin assigns an available shipper to a</a:t>
            </a:r>
            <a:endParaRPr lang="en-US" sz="1900" dirty="0"/>
          </a:p>
        </p:txBody>
      </p:sp>
      <p:sp>
        <p:nvSpPr>
          <p:cNvPr id="39" name="Text 36"/>
          <p:cNvSpPr/>
          <p:nvPr/>
        </p:nvSpPr>
        <p:spPr>
          <a:xfrm>
            <a:off x="936575" y="5104037"/>
            <a:ext cx="4507736"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Ready order; store the shipper and assignment</a:t>
            </a:r>
            <a:endParaRPr lang="en-US" sz="1900" dirty="0"/>
          </a:p>
        </p:txBody>
      </p:sp>
      <p:sp>
        <p:nvSpPr>
          <p:cNvPr id="40" name="Text 37"/>
          <p:cNvSpPr/>
          <p:nvPr/>
        </p:nvSpPr>
        <p:spPr>
          <a:xfrm>
            <a:off x="936575" y="5407944"/>
            <a:ext cx="2826127"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time. No automatic dispatch.</a:t>
            </a:r>
            <a:endParaRPr lang="en-US" sz="1900" dirty="0"/>
          </a:p>
        </p:txBody>
      </p:sp>
      <p:sp>
        <p:nvSpPr>
          <p:cNvPr id="41" name="Text 38"/>
          <p:cNvSpPr/>
          <p:nvPr/>
        </p:nvSpPr>
        <p:spPr>
          <a:xfrm>
            <a:off x="936575" y="5753076"/>
            <a:ext cx="3963769" cy="264160"/>
          </a:xfrm>
          <a:prstGeom prst="rect">
            <a:avLst/>
          </a:prstGeom>
          <a:noFill/>
          <a:ln/>
        </p:spPr>
        <p:txBody>
          <a:bodyPr wrap="none" lIns="0" tIns="0" rIns="0" bIns="0" rtlCol="0" anchor="t"/>
          <a:lstStyle/>
          <a:p>
            <a:pPr indent="0" marL="0">
              <a:lnSpc>
                <a:spcPct val="100000"/>
              </a:lnSpc>
              <a:buNone/>
            </a:pPr>
            <a:r>
              <a:rPr lang="en-US" sz="1600" i="1" dirty="0">
                <a:solidFill>
                  <a:srgbClr val="5A5A5A"/>
                </a:solidFill>
                <a:latin typeface="Times New Roman" pitchFamily="34" charset="0"/>
                <a:ea typeface="Times New Roman" pitchFamily="34" charset="-122"/>
                <a:cs typeface="Times New Roman" pitchFamily="34" charset="-120"/>
              </a:rPr>
              <a:t>Working assumption; instructor review pending.</a:t>
            </a:r>
            <a:endParaRPr lang="en-US" sz="1600" dirty="0"/>
          </a:p>
        </p:txBody>
      </p:sp>
      <p:sp>
        <p:nvSpPr>
          <p:cNvPr id="42" name="Text 39"/>
          <p:cNvSpPr/>
          <p:nvPr/>
        </p:nvSpPr>
        <p:spPr>
          <a:xfrm>
            <a:off x="6422975" y="4186958"/>
            <a:ext cx="1788944"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AMBIGUITY A2</a:t>
            </a:r>
            <a:endParaRPr lang="en-US" sz="1600" dirty="0"/>
          </a:p>
        </p:txBody>
      </p:sp>
      <p:sp>
        <p:nvSpPr>
          <p:cNvPr id="43" name="Text 40"/>
          <p:cNvSpPr/>
          <p:nvPr/>
        </p:nvSpPr>
        <p:spPr>
          <a:xfrm>
            <a:off x="6422975" y="4450384"/>
            <a:ext cx="4437043" cy="330200"/>
          </a:xfrm>
          <a:prstGeom prst="rect">
            <a:avLst/>
          </a:prstGeom>
          <a:noFill/>
          <a:ln/>
        </p:spPr>
        <p:txBody>
          <a:bodyPr wrap="none" lIns="0" tIns="0" rIns="0" bIns="0" rtlCol="0" anchor="t"/>
          <a:lstStyle/>
          <a:p>
            <a:pPr indent="0" marL="0">
              <a:lnSpc>
                <a:spcPct val="100000"/>
              </a:lnSpc>
              <a:buNone/>
            </a:pPr>
            <a:r>
              <a:rPr lang="en-US" sz="2000" b="1" dirty="0">
                <a:solidFill>
                  <a:srgbClr val="111111"/>
                </a:solidFill>
                <a:latin typeface="Times New Roman" pitchFamily="34" charset="0"/>
                <a:ea typeface="Times New Roman" pitchFamily="34" charset="-122"/>
                <a:cs typeface="Times New Roman" pitchFamily="34" charset="-120"/>
              </a:rPr>
              <a:t>What is refunded after a failed delivery?</a:t>
            </a:r>
            <a:endParaRPr lang="en-US" sz="2000" dirty="0"/>
          </a:p>
        </p:txBody>
      </p:sp>
      <p:sp>
        <p:nvSpPr>
          <p:cNvPr id="44" name="Text 41"/>
          <p:cNvSpPr/>
          <p:nvPr/>
        </p:nvSpPr>
        <p:spPr>
          <a:xfrm>
            <a:off x="6422975" y="4800130"/>
            <a:ext cx="484319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Refund online payments in full (simulated); COD</a:t>
            </a:r>
            <a:endParaRPr lang="en-US" sz="1900" dirty="0"/>
          </a:p>
        </p:txBody>
      </p:sp>
      <p:sp>
        <p:nvSpPr>
          <p:cNvPr id="45" name="Text 42"/>
          <p:cNvSpPr/>
          <p:nvPr/>
        </p:nvSpPr>
        <p:spPr>
          <a:xfrm>
            <a:off x="6422975" y="5104037"/>
            <a:ext cx="472889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collects nothing. Failed is terminal and excluded</a:t>
            </a:r>
            <a:endParaRPr lang="en-US" sz="1900" dirty="0"/>
          </a:p>
        </p:txBody>
      </p:sp>
      <p:sp>
        <p:nvSpPr>
          <p:cNvPr id="46" name="Text 43"/>
          <p:cNvSpPr/>
          <p:nvPr/>
        </p:nvSpPr>
        <p:spPr>
          <a:xfrm>
            <a:off x="6422975" y="5407944"/>
            <a:ext cx="1398865" cy="313690"/>
          </a:xfrm>
          <a:prstGeom prst="rect">
            <a:avLst/>
          </a:prstGeom>
          <a:noFill/>
          <a:ln/>
        </p:spPr>
        <p:txBody>
          <a:bodyPr wrap="none" lIns="0" tIns="0" rIns="0" bIns="0" rtlCol="0" anchor="t"/>
          <a:lstStyle/>
          <a:p>
            <a:pPr indent="0" marL="0">
              <a:lnSpc>
                <a:spcPct val="100000"/>
              </a:lnSpc>
              <a:buNone/>
            </a:pPr>
            <a:r>
              <a:rPr lang="en-US" sz="1900" dirty="0">
                <a:solidFill>
                  <a:srgbClr val="111111"/>
                </a:solidFill>
                <a:latin typeface="Times New Roman" pitchFamily="34" charset="0"/>
                <a:ea typeface="Times New Roman" pitchFamily="34" charset="-122"/>
                <a:cs typeface="Times New Roman" pitchFamily="34" charset="-120"/>
              </a:rPr>
              <a:t>from revenue.</a:t>
            </a:r>
            <a:endParaRPr lang="en-US" sz="1900" dirty="0"/>
          </a:p>
        </p:txBody>
      </p:sp>
      <p:sp>
        <p:nvSpPr>
          <p:cNvPr id="47" name="Text 44"/>
          <p:cNvSpPr/>
          <p:nvPr/>
        </p:nvSpPr>
        <p:spPr>
          <a:xfrm>
            <a:off x="6422975" y="5753076"/>
            <a:ext cx="3963769" cy="264160"/>
          </a:xfrm>
          <a:prstGeom prst="rect">
            <a:avLst/>
          </a:prstGeom>
          <a:noFill/>
          <a:ln/>
        </p:spPr>
        <p:txBody>
          <a:bodyPr wrap="none" lIns="0" tIns="0" rIns="0" bIns="0" rtlCol="0" anchor="t"/>
          <a:lstStyle/>
          <a:p>
            <a:pPr indent="0" marL="0">
              <a:lnSpc>
                <a:spcPct val="100000"/>
              </a:lnSpc>
              <a:buNone/>
            </a:pPr>
            <a:r>
              <a:rPr lang="en-US" sz="1600" i="1" dirty="0">
                <a:solidFill>
                  <a:srgbClr val="5A5A5A"/>
                </a:solidFill>
                <a:latin typeface="Times New Roman" pitchFamily="34" charset="0"/>
                <a:ea typeface="Times New Roman" pitchFamily="34" charset="-122"/>
                <a:cs typeface="Times New Roman" pitchFamily="34" charset="-120"/>
              </a:rPr>
              <a:t>Working assumption; instructor review pending.</a:t>
            </a:r>
            <a:endParaRPr lang="en-US" sz="1600" dirty="0"/>
          </a:p>
        </p:txBody>
      </p:sp>
      <p:sp>
        <p:nvSpPr>
          <p:cNvPr id="48" name="Text 45"/>
          <p:cNvSpPr/>
          <p:nvPr/>
        </p:nvSpPr>
        <p:spPr>
          <a:xfrm>
            <a:off x="762000" y="6352258"/>
            <a:ext cx="982742" cy="264160"/>
          </a:xfrm>
          <a:prstGeom prst="rect">
            <a:avLst/>
          </a:prstGeom>
          <a:noFill/>
          <a:ln/>
        </p:spPr>
        <p:txBody>
          <a:bodyPr wrap="none" lIns="0" tIns="0" rIns="0" bIns="0" rtlCol="0" anchor="t"/>
          <a:lstStyle/>
          <a:p>
            <a:pPr indent="0" marL="0">
              <a:lnSpc>
                <a:spcPct val="100000"/>
              </a:lnSpc>
              <a:buNone/>
            </a:pPr>
            <a:r>
              <a:rPr lang="en-US" sz="1600" b="1" dirty="0">
                <a:solidFill>
                  <a:srgbClr val="111111"/>
                </a:solidFill>
                <a:latin typeface="Times New Roman" pitchFamily="34" charset="0"/>
                <a:ea typeface="Times New Roman" pitchFamily="34" charset="-122"/>
                <a:cs typeface="Times New Roman" pitchFamily="34" charset="-120"/>
              </a:rPr>
              <a:t>SaigonBite</a:t>
            </a:r>
            <a:endParaRPr lang="en-US" sz="1600" dirty="0"/>
          </a:p>
        </p:txBody>
      </p:sp>
      <p:sp>
        <p:nvSpPr>
          <p:cNvPr id="49" name="Text 46"/>
          <p:cNvSpPr/>
          <p:nvPr/>
        </p:nvSpPr>
        <p:spPr>
          <a:xfrm>
            <a:off x="1699022" y="6352258"/>
            <a:ext cx="3188524"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 — Cloud-Kitchen Food Delivery Hub</a:t>
            </a:r>
            <a:endParaRPr lang="en-US" sz="1600" dirty="0"/>
          </a:p>
        </p:txBody>
      </p:sp>
      <p:sp>
        <p:nvSpPr>
          <p:cNvPr id="50" name="Text 47"/>
          <p:cNvSpPr/>
          <p:nvPr/>
        </p:nvSpPr>
        <p:spPr>
          <a:xfrm>
            <a:off x="11068794" y="6352258"/>
            <a:ext cx="406926" cy="264160"/>
          </a:xfrm>
          <a:prstGeom prst="rect">
            <a:avLst/>
          </a:prstGeom>
          <a:noFill/>
          <a:ln/>
        </p:spPr>
        <p:txBody>
          <a:bodyPr wrap="none" lIns="0" tIns="0" rIns="0" bIns="0" rtlCol="0" anchor="t"/>
          <a:lstStyle/>
          <a:p>
            <a:pPr indent="0" marL="0">
              <a:lnSpc>
                <a:spcPct val="100000"/>
              </a:lnSpc>
              <a:buNone/>
            </a:pPr>
            <a:r>
              <a:rPr lang="en-US" sz="1600" dirty="0">
                <a:solidFill>
                  <a:srgbClr val="5A5A5A"/>
                </a:solidFill>
                <a:latin typeface="Times New Roman" pitchFamily="34" charset="0"/>
                <a:ea typeface="Times New Roman" pitchFamily="34" charset="-122"/>
                <a:cs typeface="Times New Roman" pitchFamily="34" charset="-120"/>
              </a:rPr>
              <a:t>5 / 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SaigonBite — Presentation 1</dc:title>
  <dc:subject>Part 1 Solution Pitch</dc:subject>
  <dc:creator>SaigonBite team</dc:creator>
  <cp:lastModifiedBy>SaigonBite team</cp:lastModifiedBy>
  <cp:revision>1</cp:revision>
  <dcterms:created xsi:type="dcterms:W3CDTF">2026-10-24T06:51:24Z</dcterms:created>
  <dcterms:modified xsi:type="dcterms:W3CDTF">2026-10-24T06:51:24Z</dcterms:modified>
</cp:coreProperties>
</file>