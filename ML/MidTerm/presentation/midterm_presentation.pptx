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94ebbb47-9d04-da12-7341-a44b16edc5ca}">
          <p14:sldIdLst>
            <p14:sldId id="256"/>
            <p14:sldId id="257"/>
          </p14:sldIdLst>
        </p14:section>
        <p14:section name="Câu 1" id="{fc5aece1-70a3-6463-ef21-1c9d9bd7b74f}">
          <p14:sldIdLst>
            <p14:sldId id="258"/>
            <p14:sldId id="259"/>
            <p14:sldId id="260"/>
            <p14:sldId id="261"/>
            <p14:sldId id="262"/>
          </p14:sldIdLst>
        </p14:section>
        <p14:section name="Câu 2" id="{b3fa28b6-a386-8b32-f6af-8c789898364b}">
          <p14:sldIdLst>
            <p14:sldId id="263"/>
            <p14:sldId id="264"/>
            <p14:sldId id="265"/>
            <p14:sldId id="266"/>
            <p14:sldId id="267"/>
          </p14:sldIdLst>
        </p14:section>
        <p14:section name="Overfitting" id="{ae99d017-e920-3199-1435-cbafcfbc532f}">
          <p14:sldIdLst>
            <p14:sldId id="268"/>
          </p14:sldIdLst>
        </p14:section>
        <p14:section name="Kết luận" id="{0a9b51ab-ef25-8d76-91a4-7a7621cfcbe3}">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thầy và các bạn. Nhóm em xin trình bày báo cáo giữa kỳ môn Introduction to Machine Learning, đề tài Hồi quy và Phân loại. Câu một tự cài đặt hồi quy tuyến tính và logistic bằng Gradient Descent. Câu hai so sánh 14 bộ phân loại trên bộ dữ liệu credit-g của OpenML.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gồm ba phần. Em trình bày câu một: mô hình, hàm mất mát, gradient và kết quả. Bạn Thành trình bày dữ liệu, quy trình và cách chọn mô hình ở câu hai. Bạn Tâm trình bày cách đọc kết quả, overfitting và kết luận. Câu hỏi xuyên suốt là: mô hình học được gì, và làm sao biết nó tổng quát hóa sang dữ liệu mới?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Hồi quy tuyến tính dự đoán một số thực bằng tổng có trọng số của các đặc trưng cộng hệ số chặn: một đặc trưng là đường thẳng, nhiều đặc trưng là siêu phẳng. Nhóm học w và b bằng cách cực tiểu trung bình bình phương sai số, nhân một phần hai. Bình phương phạt nặng sai số lớn, nên mô hình nhạy với ngoại lai. Chia cho n để mất mát không phụ thuộc cỡ mẫu. Hệ số một phần hai chỉ giúp đạo hàm gọn, không đổi điểm cực tiểu. Dữ liệu là 600 mẫu tổng hợp từ một quan hệ tuyến tính đã biết, nên kiểm tra được kết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 quy tắc chuỗi, gọi e là phần dư. Gradient theo w j là trung bình của e nhân x j, theo b là trung bình của e; dạng ma trận là một phần n nhân X chuyển vị nhân phần dư. Gradient Descent đi ngược hướng gradient một bước eta, cập nhật w và b cùng lúc. Nhóm khởi tạo bằng 0, eta bằng 0.3, dừng khi chuẩn gradient dưới 10 mũ trừ 8, chỉ dựa trên dữ liệu train. Mô hình dừng sau 1175 vòng. Gradient được kiểm chứng bằng sai phân trung tâm, sai khác dưới 10 mũ trừ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 đưa cùng điểm tuyến tính z qua hàm sigmoid để ra xác suất từ 0 đến 1. Log odds vẫn tuyến tính, nên biên quyết định tại p bằng 0.5 là một siêu phẳng. Hàm mất mát là cross-entropy, tức âm log-likelihood Bernoulli, phạt rất nặng dự đoán tự tin mà sai. Đạo hàm sigmoid là p nhân một trừ p, triệt tiêu mẫu số của cross-entropy, nên gradient chỉ còn p trừ y, cùng dạng với hồi quy tuyến tính. Nhóm dùng eta 0.5, tối đa 5000 vòng; mô hình chạm giới hạn trước khi đạt dung sai, nên chưa hội tụ chặt.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hồi quy tuyến tính: mất mát giảm đơn điệu từ 30.9 xuống 0.126, tức tốc độ học phù hợp, không phân kỳ. Trên 120 mẫu test, các điểm bám sát đường chéo. RMSE 0.51, xấp xỉ độ lệch chuẩn của nhiễu là 0.5, nghĩa là phần sai còn lại gần như chỉ là nhiễu. R bình phương 0.995. Trọng số học được 2.99, trừ 2.01 và 1.49, rất gần giá trị thật 3, trừ 2 và 1.5. Nhưng dữ liệu sinh tuyến tính, nên đây chỉ chứng minh cài đặt đúng, chưa nói gì về dữ liệu thực.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logistic, hai lớp chồng lấn nên không thể tách hoàn hảo. Cross-entropy bắt đầu ở 0.693, đúng bằng log 2 của mô hình đoán 0.5 cho mọi mẫu, rồi giảm xuống 0.45. Trên 160 mẫu test: accuracy 81.25 phần trăm, F1 lớp dương 0.85, AUC 0.86. Accuracy và F1 dùng ngưỡng 0.5, còn AUC tóm tắt mọi ngưỡng. Các vòng tròn là 30 ca sai, nằm ở vùng chồng lấn quanh biên: đó là giới hạn của dữ liệu, không phải lỗi tối ưu. Em xin mời bạn Thành.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hai dùng bộ credit-g, mã 31 trên OpenML: 1000 hồ sơ vay, 20 biến, gồm 7 biến số và 13 biến phân loại. Lớp dương là bad, lớp cần phát hiện. Tỷ lệ 70 trên 30 nên dữ liệu mất cân bằng: luôn đoán good đã đạt 70 phần trăm accuracy mà không bắt được hồ sơ xấu nào. Biểu đồ phải cho thấy số tiền vay lệch phải và hai lớp chồng lấn mạnh. Dữ liệu không có ô thiếu, dòng trùng hay giá trị lạ, nên giữ đủ 1000 hồ sơ; sau min–max và one-hot có 61 đặc trưng.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nhóm chú trọng nhất là chống rò rỉ dữ liệu. Một, tách 200 hồ sơ test phân tầng ngay từ đầu. Hai, chuẩn hóa và one-hot nằm trong pipeline, nên mỗi fold chỉ học min, max và danh mục từ phần train của fold đó. Nếu chuẩn hóa trước rồi mới chia, thông tin validation đã lọt vào train và điểm sẽ đẹp giả tạo. Ba, mọi mô hình dùng chung năm fold phân tầng, chọn theo macro F1. Bốn, chốt xong mọi lựa chọn mới chạy test, đúng một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so sánh 14 mô hình và một baseline trên cùng bộ fold, từ mô hình tuyến tính, kNN, Naive Bayes, cây, SVM, MLP đến ensemble; ba kernel SVM chỉ là ba biến thể của một họ. MLP dẫn đầu với macro F1 0.696, Bernoulli NB 0.694. Nhưng độ lệch chuẩn giữa các fold khoảng 0.06, lớn hơn nhiều khoảng cách 0.002, nên nhóm không kết luận MLP vượt trội. kNN chọn k bằng 1 và khớp hoàn hảo trên train, một dấu hiệu overfitting. Điểm CV đã dùng để chọn tham số, nên không phải đánh giá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Đánh giá độc lập là 200 hồ sơ test. MLP đạt accuracy 0.79, macro F1 0.73, AUC 0.81. Đáng chú ý, logistic tự cài đặt từ câu một cũng đạt macro F1 0.730, gần như bằng MLP: trên một bảng dữ liệu nhỏ, mô hình phức tạp hơn không mang lại lợi ích rõ ràng. Cả 14 mô hình đều vượt baseline về macro F1, nhưng nhóm dẫn đầu chỉ chênh nhau vài phần nghìn, nên không nên đọc bảng này như bảng xếp hạng. Em xin mời bạn Tâm.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bài học chính của câu hai. Ma trận nhầm lẫn có hàng là nhãn thật, cột là dự đoán. MLP đúng 158 trên 200, nhưng trong 60 hồ sơ xấu, mô hình bỏ sót 28, nên recall lớp bad chỉ 0.533. Lớp đa số đã kéo accuracy lên. Gaussian NB thì ngược lại: recall bad 0.65 nhưng precision chỉ 0.51. Chọn bên nào là quyết định nghiệp vụ, tùy chi phí bỏ sót so với báo nhầm. Muốn hạ ngưỡng thì phải chọn trên validation; hạ sau khi xem test là dùng test để tinh chỉnh.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Overfitting là khi mô hình học thuộc cả nhiễu của train, nên gặp dữ liệu mới thì kém; nhóm đo nó bằng khoảng cách train trừ validation. Ở biểu đồ trái, tăng độ sâu thì điểm train leo lên 1, còn validation chỉ tăng đến độ sâu khoảng 6 rồi giảm. Cây không giới hạn đạt 1.00 trên train nhưng 0.614 trên validation. Giới hạn độ sâu 6 và tối thiểu 5 mẫu mỗi lá, khoảng cách giảm từ 0.386 xuống 0.121. Nhưng random forest vẫn còn 0.324: ensemble giảm phương sai, không tự hết overfitting. Biện pháp chung là giới hạn độ phức tạp, chọn bằng validation và giữ test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câu một cho thấy hai mô hình tự cài đặt học đúng: gradient khớp kiểm tra sai phân, sai số xấp xỉ mức nhiễu. Câu hai cho thấy trên dữ liệu nhỏ và mất cân bằng, mô hình phức tạp nhất không vượt trội rõ rệt, và accuracy có thể che lỗi ở lớp thiểu số. Hạn chế: một bộ dữ liệu, một lần chia test, lưới tham số nhỏ; logistic và MLP chưa hội tụ hoàn toàn; và chưa có kiểm định thống kê. Nhóm em xin cảm ơn thầy và các bạn đã lắng nghe.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RAME">
    <p:bg>
      <p:bgPr>
        <a:solidFill>
          <a:srgbClr val="FFFFFF"/>
        </a:solidFill>
      </p:bgPr>
    </p:bg>
    <p:spTree>
      <p:nvGrpSpPr>
        <p:cNvPr id="1" name=""/>
        <p:cNvGrpSpPr/>
        <p:nvPr/>
      </p:nvGrpSpPr>
      <p:grpSpPr>
        <a:xfrm>
          <a:off x="0" y="0"/>
          <a:ext cx="0" cy="0"/>
          <a:chOff x="0" y="0"/>
          <a:chExt cx="0" cy="0"/>
        </a:xfrm>
      </p:grpSpPr>
      <p:pic>
        <p:nvPicPr>
          <p:cNvPr id="2" name="Image 0" descr="Logo Đại học Tôn Đức Thắng">    </p:cNvPr>
          <p:cNvPicPr>
            <a:picLocks noChangeAspect="1"/>
          </p:cNvPicPr>
          <p:nvPr/>
        </p:nvPicPr>
        <p:blipFill>
          <a:blip r:embed="rId1"/>
          <a:stretch>
            <a:fillRect/>
          </a:stretch>
        </p:blipFill>
        <p:spPr>
          <a:xfrm>
            <a:off x="402336" y="192024"/>
            <a:ext cx="1505102" cy="833018"/>
          </a:xfrm>
          <a:prstGeom prst="rect">
            <a:avLst/>
          </a:prstGeom>
        </p:spPr>
      </p:pic>
      <p:sp>
        <p:nvSpPr>
          <p:cNvPr id="3" name="Shape 0"/>
          <p:cNvSpPr/>
          <p:nvPr/>
        </p:nvSpPr>
        <p:spPr>
          <a:xfrm>
            <a:off x="402336" y="1188720"/>
            <a:ext cx="11384280" cy="0"/>
          </a:xfrm>
          <a:prstGeom prst="line">
            <a:avLst/>
          </a:prstGeom>
          <a:noFill/>
          <a:ln w="12700">
            <a:solidFill>
              <a:srgbClr val="2B2B2B"/>
            </a:solidFill>
            <a:prstDash val="solid"/>
          </a:ln>
        </p:spPr>
      </p:sp>
      <p:sp>
        <p:nvSpPr>
          <p:cNvPr id="4" name="Text 1"/>
          <p:cNvSpPr/>
          <p:nvPr/>
        </p:nvSpPr>
        <p:spPr>
          <a:xfrm>
            <a:off x="0" y="0"/>
            <a:ext cx="9144000" cy="0"/>
          </a:xfrm>
          <a:prstGeom prst="rect">
            <a:avLst/>
          </a:prstGeom>
          <a:noFill/>
          <a:ln/>
        </p:spPr>
        <p:txBody>
          <a:bodyPr wrap="square" rtlCol="0" anchor="ctr"/>
          <a:lstStyle/>
          <a:p>
            <a:pPr indent="0" marL="0">
              <a:buNone/>
            </a:pPr>
            <a:r>
              <a:rPr lang="en-US" dirty="0">
                <a:solidFill>
                  <a:srgbClr val="000000"/>
                </a:solidFill>
              </a:rPr>
              <a:t>Introduction to Machine Learning  ·  Báo cáo giữa kỳ  ·  Ngô Lâm Tiến 524H0195 · Nguyễn Công Thành 524H0191 · Nguyễn Lê Nhật Tâm 524H0186</a:t>
            </a:r>
            <a:endParaRPr lang="en-US"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Logo Đại học Tôn Đức Thắng">    </p:cNvPr>
          <p:cNvPicPr>
            <a:picLocks noChangeAspect="1"/>
          </p:cNvPicPr>
          <p:nvPr/>
        </p:nvPicPr>
        <p:blipFill>
          <a:blip r:embed="rId1"/>
          <a:stretch>
            <a:fillRect/>
          </a:stretch>
        </p:blipFill>
        <p:spPr>
          <a:xfrm>
            <a:off x="402336" y="192024"/>
            <a:ext cx="1505102" cy="833018"/>
          </a:xfrm>
          <a:prstGeom prst="rect">
            <a:avLst/>
          </a:prstGeom>
        </p:spPr>
      </p:pic>
      <p:sp>
        <p:nvSpPr>
          <p:cNvPr id="3" name="Shape 0"/>
          <p:cNvSpPr/>
          <p:nvPr/>
        </p:nvSpPr>
        <p:spPr>
          <a:xfrm>
            <a:off x="402336" y="1188720"/>
            <a:ext cx="11384280" cy="0"/>
          </a:xfrm>
          <a:prstGeom prst="line">
            <a:avLst/>
          </a:prstGeom>
          <a:noFill/>
          <a:ln w="12700">
            <a:solidFill>
              <a:srgbClr val="2B2B2B"/>
            </a:solidFill>
            <a:prstDash val="solid"/>
          </a:ln>
        </p:spPr>
      </p:sp>
      <p:sp>
        <p:nvSpPr>
          <p:cNvPr id="4" name="Text 1"/>
          <p:cNvSpPr/>
          <p:nvPr/>
        </p:nvSpPr>
        <p:spPr>
          <a:xfrm>
            <a:off x="0" y="0"/>
            <a:ext cx="9144000" cy="0"/>
          </a:xfrm>
          <a:prstGeom prst="rect">
            <a:avLst/>
          </a:prstGeom>
          <a:noFill/>
          <a:ln/>
        </p:spPr>
        <p:txBody>
          <a:bodyPr wrap="square" rtlCol="0" anchor="ctr"/>
          <a:lstStyle/>
          <a:p>
            <a:pPr indent="0" marL="0">
              <a:buNone/>
            </a:pPr>
            <a:r>
              <a:rPr lang="en-US" dirty="0">
                <a:solidFill>
                  <a:srgbClr val="000000"/>
                </a:solidFill>
              </a:rPr>
              <a:t>Introduction to Machine Learning  ·  Báo cáo giữa kỳ  ·  Ngô Lâm Tiến 524H0195 · Nguyễn Công Thành 524H0191 · Nguyễn Lê Nhật Tâm 524H0186</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67512" y="1572768"/>
            <a:ext cx="8229600" cy="274320"/>
          </a:xfrm>
          <a:prstGeom prst="rect">
            <a:avLst/>
          </a:prstGeom>
          <a:noFill/>
          <a:ln/>
        </p:spPr>
        <p:txBody>
          <a:bodyPr wrap="square" lIns="0" tIns="0" rIns="0" bIns="0" rtlCol="0" anchor="t"/>
          <a:lstStyle/>
          <a:p>
            <a:pPr algn="l" indent="0" marL="0">
              <a:buNone/>
            </a:pPr>
            <a:r>
              <a:rPr lang="en-US" sz="1100" spc="220" kern="0" dirty="0">
                <a:solidFill>
                  <a:srgbClr val="6B6B6B"/>
                </a:solidFill>
                <a:latin typeface="Arial" pitchFamily="34" charset="0"/>
                <a:ea typeface="Arial" pitchFamily="34" charset="-122"/>
                <a:cs typeface="Arial" pitchFamily="34" charset="-120"/>
              </a:rPr>
              <a:t>BÁO CÁO GIỮA KỲ  ·  INTRODUCTION TO MACHINE LEARNING</a:t>
            </a:r>
            <a:endParaRPr lang="en-US" sz="1100" dirty="0"/>
          </a:p>
        </p:txBody>
      </p:sp>
      <p:sp>
        <p:nvSpPr>
          <p:cNvPr id="3" name="Text 1"/>
          <p:cNvSpPr txBox="1"/>
          <p:nvPr/>
        </p:nvSpPr>
        <p:spPr>
          <a:xfrm>
            <a:off x="667512" y="1938528"/>
            <a:ext cx="10058400" cy="868680"/>
          </a:xfrm>
          <a:prstGeom prst="rect">
            <a:avLst/>
          </a:prstGeom>
          <a:noFill/>
          <a:ln/>
        </p:spPr>
        <p:txBody>
          <a:bodyPr wrap="square" lIns="0" tIns="0" rIns="0" bIns="0" rtlCol="0" anchor="t"/>
          <a:lstStyle/>
          <a:p>
            <a:pPr algn="l" indent="0" marL="0">
              <a:buNone/>
            </a:pPr>
            <a:r>
              <a:rPr lang="en-US" sz="4600" b="1" dirty="0">
                <a:solidFill>
                  <a:srgbClr val="111111"/>
                </a:solidFill>
                <a:latin typeface="Arial" pitchFamily="34" charset="0"/>
                <a:ea typeface="Arial" pitchFamily="34" charset="-122"/>
                <a:cs typeface="Arial" pitchFamily="34" charset="-120"/>
              </a:rPr>
              <a:t>Hồi quy &amp; Phân loại</a:t>
            </a:r>
            <a:endParaRPr lang="en-US" sz="4600" dirty="0"/>
          </a:p>
        </p:txBody>
      </p:sp>
      <p:sp>
        <p:nvSpPr>
          <p:cNvPr id="4" name="Text 2"/>
          <p:cNvSpPr txBox="1"/>
          <p:nvPr/>
        </p:nvSpPr>
        <p:spPr>
          <a:xfrm>
            <a:off x="667512" y="2788920"/>
            <a:ext cx="9692640" cy="457200"/>
          </a:xfrm>
          <a:prstGeom prst="rect">
            <a:avLst/>
          </a:prstGeom>
          <a:noFill/>
          <a:ln/>
        </p:spPr>
        <p:txBody>
          <a:bodyPr wrap="square" lIns="0" tIns="0" rIns="0" bIns="0" rtlCol="0" anchor="t"/>
          <a:lstStyle/>
          <a:p>
            <a:pPr algn="l" indent="0" marL="0">
              <a:buNone/>
            </a:pPr>
            <a:r>
              <a:rPr lang="en-US" sz="2000" dirty="0">
                <a:solidFill>
                  <a:srgbClr val="6B6B6B"/>
                </a:solidFill>
                <a:latin typeface="Arial" pitchFamily="34" charset="0"/>
                <a:ea typeface="Arial" pitchFamily="34" charset="-122"/>
                <a:cs typeface="Arial" pitchFamily="34" charset="-120"/>
              </a:rPr>
              <a:t>Từ Gradient Descent tự cài đặt đến so sánh 14 bộ phân loại trên OpenML</a:t>
            </a:r>
            <a:endParaRPr lang="en-US" sz="2000" dirty="0"/>
          </a:p>
        </p:txBody>
      </p:sp>
      <p:sp>
        <p:nvSpPr>
          <p:cNvPr id="5" name="Shape 3"/>
          <p:cNvSpPr/>
          <p:nvPr/>
        </p:nvSpPr>
        <p:spPr>
          <a:xfrm>
            <a:off x="667512" y="3493008"/>
            <a:ext cx="3840480" cy="0"/>
          </a:xfrm>
          <a:prstGeom prst="line">
            <a:avLst/>
          </a:prstGeom>
          <a:noFill/>
          <a:ln w="17780">
            <a:solidFill>
              <a:srgbClr val="2B2B2B"/>
            </a:solidFill>
            <a:prstDash val="solid"/>
          </a:ln>
        </p:spPr>
      </p:sp>
      <p:sp>
        <p:nvSpPr>
          <p:cNvPr id="6" name="Text 4"/>
          <p:cNvSpPr txBox="1"/>
          <p:nvPr/>
        </p:nvSpPr>
        <p:spPr>
          <a:xfrm>
            <a:off x="667512" y="3675888"/>
            <a:ext cx="5669280" cy="292608"/>
          </a:xfrm>
          <a:prstGeom prst="rect">
            <a:avLst/>
          </a:prstGeom>
          <a:noFill/>
          <a:ln/>
        </p:spPr>
        <p:txBody>
          <a:bodyPr wrap="square" lIns="0" tIns="0" rIns="0" bIns="0" rtlCol="0" anchor="t"/>
          <a:lstStyle/>
          <a:p>
            <a:pPr algn="l" indent="0" marL="0">
              <a:buNone/>
            </a:pPr>
            <a:r>
              <a:rPr lang="en-US" sz="1400" dirty="0">
                <a:solidFill>
                  <a:srgbClr val="6B6B6B"/>
                </a:solidFill>
                <a:latin typeface="Arial" pitchFamily="34" charset="0"/>
                <a:ea typeface="Arial" pitchFamily="34" charset="-122"/>
                <a:cs typeface="Arial" pitchFamily="34" charset="-120"/>
              </a:rPr>
              <a:t>Giảng viên hướng dẫn</a:t>
            </a:r>
            <a:endParaRPr lang="en-US" sz="1400" dirty="0"/>
          </a:p>
        </p:txBody>
      </p:sp>
      <p:sp>
        <p:nvSpPr>
          <p:cNvPr id="7" name="Text 5"/>
          <p:cNvSpPr txBox="1"/>
          <p:nvPr/>
        </p:nvSpPr>
        <p:spPr>
          <a:xfrm>
            <a:off x="667512" y="3968496"/>
            <a:ext cx="5669280" cy="329184"/>
          </a:xfrm>
          <a:prstGeom prst="rect">
            <a:avLst/>
          </a:prstGeom>
          <a:noFill/>
          <a:ln/>
        </p:spPr>
        <p:txBody>
          <a:bodyPr wrap="square" lIns="0" tIns="0" rIns="0" bIns="0" rtlCol="0" anchor="t"/>
          <a:lstStyle/>
          <a:p>
            <a:pPr algn="l" indent="0" marL="0">
              <a:buNone/>
            </a:pPr>
            <a:r>
              <a:rPr lang="en-US" sz="1700" dirty="0">
                <a:solidFill>
                  <a:srgbClr val="111111"/>
                </a:solidFill>
                <a:latin typeface="Arial" pitchFamily="34" charset="0"/>
                <a:ea typeface="Arial" pitchFamily="34" charset="-122"/>
                <a:cs typeface="Arial" pitchFamily="34" charset="-120"/>
              </a:rPr>
              <a:t>Lê Anh Cường, Ph.D.</a:t>
            </a:r>
            <a:endParaRPr lang="en-US" sz="1700" dirty="0"/>
          </a:p>
        </p:txBody>
      </p:sp>
      <p:sp>
        <p:nvSpPr>
          <p:cNvPr id="8" name="Text 6"/>
          <p:cNvSpPr txBox="1"/>
          <p:nvPr/>
        </p:nvSpPr>
        <p:spPr>
          <a:xfrm>
            <a:off x="6537960" y="3675888"/>
            <a:ext cx="4937760" cy="292608"/>
          </a:xfrm>
          <a:prstGeom prst="rect">
            <a:avLst/>
          </a:prstGeom>
          <a:noFill/>
          <a:ln/>
        </p:spPr>
        <p:txBody>
          <a:bodyPr wrap="square" lIns="0" tIns="0" rIns="0" bIns="0" rtlCol="0" anchor="t"/>
          <a:lstStyle/>
          <a:p>
            <a:pPr algn="l" indent="0" marL="0">
              <a:buNone/>
            </a:pPr>
            <a:r>
              <a:rPr lang="en-US" sz="1400" dirty="0">
                <a:solidFill>
                  <a:srgbClr val="6B6B6B"/>
                </a:solidFill>
                <a:latin typeface="Arial" pitchFamily="34" charset="0"/>
                <a:ea typeface="Arial" pitchFamily="34" charset="-122"/>
                <a:cs typeface="Arial" pitchFamily="34" charset="-120"/>
              </a:rPr>
              <a:t>Sinh viên thực hiện</a:t>
            </a:r>
            <a:endParaRPr lang="en-US" sz="1400" dirty="0"/>
          </a:p>
        </p:txBody>
      </p:sp>
      <p:sp>
        <p:nvSpPr>
          <p:cNvPr id="9" name="Text 7"/>
          <p:cNvSpPr txBox="1"/>
          <p:nvPr/>
        </p:nvSpPr>
        <p:spPr>
          <a:xfrm>
            <a:off x="6537960" y="3968496"/>
            <a:ext cx="4937760" cy="914400"/>
          </a:xfrm>
          <a:prstGeom prst="rect">
            <a:avLst/>
          </a:prstGeom>
          <a:noFill/>
          <a:ln/>
        </p:spPr>
        <p:txBody>
          <a:bodyPr wrap="square" lIns="0" tIns="0" rIns="0" bIns="0" rtlCol="0" anchor="t"/>
          <a:lstStyle/>
          <a:p>
            <a:pPr algn="l" indent="0" marL="0">
              <a:lnSpc>
                <a:spcPct val="145000"/>
              </a:lnSpc>
              <a:buNone/>
            </a:pPr>
            <a:r>
              <a:rPr lang="en-US" sz="1500" dirty="0">
                <a:solidFill>
                  <a:srgbClr val="111111"/>
                </a:solidFill>
                <a:latin typeface="Arial" pitchFamily="34" charset="0"/>
                <a:ea typeface="Arial" pitchFamily="34" charset="-122"/>
                <a:cs typeface="Arial" pitchFamily="34" charset="-120"/>
              </a:rPr>
              <a:t>Ngô Lâm Tiến — 524H0195</a:t>
            </a:r>
            <a:endParaRPr lang="en-US" sz="1500" dirty="0"/>
          </a:p>
          <a:p>
            <a:pPr algn="l" indent="0" marL="0">
              <a:lnSpc>
                <a:spcPct val="145000"/>
              </a:lnSpc>
              <a:buNone/>
            </a:pPr>
            <a:r>
              <a:rPr lang="en-US" sz="1500" dirty="0">
                <a:solidFill>
                  <a:srgbClr val="111111"/>
                </a:solidFill>
                <a:latin typeface="Arial" pitchFamily="34" charset="0"/>
                <a:ea typeface="Arial" pitchFamily="34" charset="-122"/>
                <a:cs typeface="Arial" pitchFamily="34" charset="-120"/>
              </a:rPr>
              <a:t>Nguyễn Công Thành — 524H0191</a:t>
            </a:r>
            <a:endParaRPr lang="en-US" sz="1500" dirty="0"/>
          </a:p>
          <a:p>
            <a:pPr algn="l" indent="0" marL="0">
              <a:lnSpc>
                <a:spcPct val="145000"/>
              </a:lnSpc>
              <a:buNone/>
            </a:pPr>
            <a:r>
              <a:rPr lang="en-US" sz="1500" dirty="0">
                <a:solidFill>
                  <a:srgbClr val="111111"/>
                </a:solidFill>
                <a:latin typeface="Arial" pitchFamily="34" charset="0"/>
                <a:ea typeface="Arial" pitchFamily="34" charset="-122"/>
                <a:cs typeface="Arial" pitchFamily="34" charset="-120"/>
              </a:rPr>
              <a:t>Nguyễn Lê Nhật Tâm — 524H0186</a:t>
            </a:r>
            <a:endParaRPr lang="en-US" sz="1500" dirty="0"/>
          </a:p>
        </p:txBody>
      </p:sp>
      <p:sp>
        <p:nvSpPr>
          <p:cNvPr id="10" name="Text 8"/>
          <p:cNvSpPr txBox="1"/>
          <p:nvPr/>
        </p:nvSpPr>
        <p:spPr>
          <a:xfrm>
            <a:off x="667512" y="5230368"/>
            <a:ext cx="5669280" cy="292608"/>
          </a:xfrm>
          <a:prstGeom prst="rect">
            <a:avLst/>
          </a:prstGeom>
          <a:noFill/>
          <a:ln/>
        </p:spPr>
        <p:txBody>
          <a:bodyPr wrap="square" lIns="0" tIns="0" rIns="0" bIns="0" rtlCol="0" anchor="t"/>
          <a:lstStyle/>
          <a:p>
            <a:pPr algn="l" indent="0" marL="0">
              <a:buNone/>
            </a:pPr>
            <a:r>
              <a:rPr lang="en-US" sz="1300" dirty="0">
                <a:solidFill>
                  <a:srgbClr val="6B6B6B"/>
                </a:solidFill>
                <a:latin typeface="Arial" pitchFamily="34" charset="0"/>
                <a:ea typeface="Arial" pitchFamily="34" charset="-122"/>
                <a:cs typeface="Arial" pitchFamily="34" charset="-120"/>
              </a:rPr>
              <a:t>Tháng 10 năm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NỘI DUNG</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Ba phần, ba người trình bày</a:t>
            </a:r>
            <a:endParaRPr lang="en-US" sz="2600" dirty="0"/>
          </a:p>
        </p:txBody>
      </p:sp>
      <p:sp>
        <p:nvSpPr>
          <p:cNvPr id="4" name="Text 2"/>
          <p:cNvSpPr txBox="1"/>
          <p:nvPr/>
        </p:nvSpPr>
        <p:spPr>
          <a:xfrm>
            <a:off x="667512" y="1591056"/>
            <a:ext cx="822960" cy="457200"/>
          </a:xfrm>
          <a:prstGeom prst="rect">
            <a:avLst/>
          </a:prstGeom>
          <a:noFill/>
          <a:ln/>
        </p:spPr>
        <p:txBody>
          <a:bodyPr wrap="square" lIns="0" tIns="0" rIns="0" bIns="0" rtlCol="0" anchor="t"/>
          <a:lstStyle/>
          <a:p>
            <a:pPr indent="0" marL="0">
              <a:buNone/>
            </a:pPr>
            <a:r>
              <a:rPr lang="en-US" sz="2600" b="1" dirty="0">
                <a:solidFill>
                  <a:srgbClr val="C9C9C9"/>
                </a:solidFill>
                <a:latin typeface="Arial" pitchFamily="34" charset="0"/>
                <a:ea typeface="Arial" pitchFamily="34" charset="-122"/>
                <a:cs typeface="Arial" pitchFamily="34" charset="-120"/>
              </a:rPr>
              <a:t>01</a:t>
            </a:r>
            <a:endParaRPr lang="en-US" sz="2600" dirty="0"/>
          </a:p>
        </p:txBody>
      </p:sp>
      <p:sp>
        <p:nvSpPr>
          <p:cNvPr id="5" name="Text 3"/>
          <p:cNvSpPr txBox="1"/>
          <p:nvPr/>
        </p:nvSpPr>
        <p:spPr>
          <a:xfrm>
            <a:off x="1536192" y="1572768"/>
            <a:ext cx="7470648" cy="347472"/>
          </a:xfrm>
          <a:prstGeom prst="rect">
            <a:avLst/>
          </a:prstGeom>
          <a:noFill/>
          <a:ln/>
        </p:spPr>
        <p:txBody>
          <a:bodyPr wrap="square" lIns="0" tIns="0" rIns="0" bIns="0" rtlCol="0" anchor="t"/>
          <a:lstStyle/>
          <a:p>
            <a:pPr indent="0" marL="0">
              <a:buNone/>
            </a:pPr>
            <a:r>
              <a:rPr lang="en-US" sz="1900" b="1" dirty="0">
                <a:solidFill>
                  <a:srgbClr val="111111"/>
                </a:solidFill>
                <a:latin typeface="Arial" pitchFamily="34" charset="0"/>
                <a:ea typeface="Arial" pitchFamily="34" charset="-122"/>
                <a:cs typeface="Arial" pitchFamily="34" charset="-120"/>
              </a:rPr>
              <a:t>Câu 1 · Gradient Descent tự cài đặt</a:t>
            </a:r>
            <a:endParaRPr lang="en-US" sz="1900" dirty="0"/>
          </a:p>
        </p:txBody>
      </p:sp>
      <p:sp>
        <p:nvSpPr>
          <p:cNvPr id="6" name="Text 4"/>
          <p:cNvSpPr txBox="1"/>
          <p:nvPr/>
        </p:nvSpPr>
        <p:spPr>
          <a:xfrm>
            <a:off x="1536192" y="1920240"/>
            <a:ext cx="7470648" cy="548640"/>
          </a:xfrm>
          <a:prstGeom prst="rect">
            <a:avLst/>
          </a:prstGeom>
          <a:noFill/>
          <a:ln/>
        </p:spPr>
        <p:txBody>
          <a:bodyPr wrap="square" lIns="0" tIns="0" rIns="0" bIns="0" rtlCol="0" anchor="t"/>
          <a:lstStyle/>
          <a:p>
            <a:pPr indent="0" marL="0">
              <a:lnSpc>
                <a:spcPct val="112000"/>
              </a:lnSpc>
              <a:buNone/>
            </a:pPr>
            <a:r>
              <a:rPr lang="en-US" sz="1300" dirty="0">
                <a:solidFill>
                  <a:srgbClr val="6B6B6B"/>
                </a:solidFill>
                <a:latin typeface="Arial" pitchFamily="34" charset="0"/>
                <a:ea typeface="Arial" pitchFamily="34" charset="-122"/>
                <a:cs typeface="Arial" pitchFamily="34" charset="-120"/>
              </a:rPr>
              <a:t>Hồi quy tuyến tính và logistic: mô hình, mất mát, dẫn xuất gradient, kết quả</a:t>
            </a:r>
            <a:endParaRPr lang="en-US" sz="1300" dirty="0"/>
          </a:p>
        </p:txBody>
      </p:sp>
      <p:sp>
        <p:nvSpPr>
          <p:cNvPr id="7" name="Text 5"/>
          <p:cNvSpPr txBox="1"/>
          <p:nvPr/>
        </p:nvSpPr>
        <p:spPr>
          <a:xfrm>
            <a:off x="9098280" y="1627632"/>
            <a:ext cx="2423160" cy="310896"/>
          </a:xfrm>
          <a:prstGeom prst="rect">
            <a:avLst/>
          </a:prstGeom>
          <a:noFill/>
          <a:ln/>
        </p:spPr>
        <p:txBody>
          <a:bodyPr wrap="square" lIns="0" tIns="0" rIns="0" bIns="0" rtlCol="0" anchor="t"/>
          <a:lstStyle/>
          <a:p>
            <a:pPr algn="r" indent="0" marL="0">
              <a:buNone/>
            </a:pPr>
            <a:r>
              <a:rPr lang="en-US" sz="1300" dirty="0">
                <a:solidFill>
                  <a:srgbClr val="111111"/>
                </a:solidFill>
                <a:latin typeface="Arial" pitchFamily="34" charset="0"/>
                <a:ea typeface="Arial" pitchFamily="34" charset="-122"/>
                <a:cs typeface="Arial" pitchFamily="34" charset="-120"/>
              </a:rPr>
              <a:t>Ngô Lâm Tiến</a:t>
            </a:r>
            <a:endParaRPr lang="en-US" sz="1300" dirty="0"/>
          </a:p>
        </p:txBody>
      </p:sp>
      <p:sp>
        <p:nvSpPr>
          <p:cNvPr id="8" name="Shape 6"/>
          <p:cNvSpPr/>
          <p:nvPr/>
        </p:nvSpPr>
        <p:spPr>
          <a:xfrm>
            <a:off x="667512" y="2432304"/>
            <a:ext cx="10853928" cy="0"/>
          </a:xfrm>
          <a:prstGeom prst="line">
            <a:avLst/>
          </a:prstGeom>
          <a:noFill/>
          <a:ln w="9525">
            <a:solidFill>
              <a:srgbClr val="D5D5D5"/>
            </a:solidFill>
            <a:prstDash val="solid"/>
          </a:ln>
        </p:spPr>
      </p:sp>
      <p:sp>
        <p:nvSpPr>
          <p:cNvPr id="9" name="Text 7"/>
          <p:cNvSpPr txBox="1"/>
          <p:nvPr/>
        </p:nvSpPr>
        <p:spPr>
          <a:xfrm>
            <a:off x="667512" y="2615184"/>
            <a:ext cx="822960" cy="457200"/>
          </a:xfrm>
          <a:prstGeom prst="rect">
            <a:avLst/>
          </a:prstGeom>
          <a:noFill/>
          <a:ln/>
        </p:spPr>
        <p:txBody>
          <a:bodyPr wrap="square" lIns="0" tIns="0" rIns="0" bIns="0" rtlCol="0" anchor="t"/>
          <a:lstStyle/>
          <a:p>
            <a:pPr indent="0" marL="0">
              <a:buNone/>
            </a:pPr>
            <a:r>
              <a:rPr lang="en-US" sz="2600" b="1" dirty="0">
                <a:solidFill>
                  <a:srgbClr val="C9C9C9"/>
                </a:solidFill>
                <a:latin typeface="Arial" pitchFamily="34" charset="0"/>
                <a:ea typeface="Arial" pitchFamily="34" charset="-122"/>
                <a:cs typeface="Arial" pitchFamily="34" charset="-120"/>
              </a:rPr>
              <a:t>02</a:t>
            </a:r>
            <a:endParaRPr lang="en-US" sz="2600" dirty="0"/>
          </a:p>
        </p:txBody>
      </p:sp>
      <p:sp>
        <p:nvSpPr>
          <p:cNvPr id="10" name="Text 8"/>
          <p:cNvSpPr txBox="1"/>
          <p:nvPr/>
        </p:nvSpPr>
        <p:spPr>
          <a:xfrm>
            <a:off x="1536192" y="2596896"/>
            <a:ext cx="7470648" cy="347472"/>
          </a:xfrm>
          <a:prstGeom prst="rect">
            <a:avLst/>
          </a:prstGeom>
          <a:noFill/>
          <a:ln/>
        </p:spPr>
        <p:txBody>
          <a:bodyPr wrap="square" lIns="0" tIns="0" rIns="0" bIns="0" rtlCol="0" anchor="t"/>
          <a:lstStyle/>
          <a:p>
            <a:pPr indent="0" marL="0">
              <a:buNone/>
            </a:pPr>
            <a:r>
              <a:rPr lang="en-US" sz="1900" b="1" dirty="0">
                <a:solidFill>
                  <a:srgbClr val="111111"/>
                </a:solidFill>
                <a:latin typeface="Arial" pitchFamily="34" charset="0"/>
                <a:ea typeface="Arial" pitchFamily="34" charset="-122"/>
                <a:cs typeface="Arial" pitchFamily="34" charset="-120"/>
              </a:rPr>
              <a:t>Câu 2 · Phân loại trên OpenML credit-g</a:t>
            </a:r>
            <a:endParaRPr lang="en-US" sz="1900" dirty="0"/>
          </a:p>
        </p:txBody>
      </p:sp>
      <p:sp>
        <p:nvSpPr>
          <p:cNvPr id="11" name="Text 9"/>
          <p:cNvSpPr txBox="1"/>
          <p:nvPr/>
        </p:nvSpPr>
        <p:spPr>
          <a:xfrm>
            <a:off x="1536192" y="2944368"/>
            <a:ext cx="7470648" cy="548640"/>
          </a:xfrm>
          <a:prstGeom prst="rect">
            <a:avLst/>
          </a:prstGeom>
          <a:noFill/>
          <a:ln/>
        </p:spPr>
        <p:txBody>
          <a:bodyPr wrap="square" lIns="0" tIns="0" rIns="0" bIns="0" rtlCol="0" anchor="t"/>
          <a:lstStyle/>
          <a:p>
            <a:pPr indent="0" marL="0">
              <a:lnSpc>
                <a:spcPct val="112000"/>
              </a:lnSpc>
              <a:buNone/>
            </a:pPr>
            <a:r>
              <a:rPr lang="en-US" sz="1300" dirty="0">
                <a:solidFill>
                  <a:srgbClr val="6B6B6B"/>
                </a:solidFill>
                <a:latin typeface="Arial" pitchFamily="34" charset="0"/>
                <a:ea typeface="Arial" pitchFamily="34" charset="-122"/>
                <a:cs typeface="Arial" pitchFamily="34" charset="-120"/>
              </a:rPr>
              <a:t>Tiền xử lý, quy trình chống rò rỉ dữ liệu, 14 mô hình và baseline</a:t>
            </a:r>
            <a:endParaRPr lang="en-US" sz="1300" dirty="0"/>
          </a:p>
        </p:txBody>
      </p:sp>
      <p:sp>
        <p:nvSpPr>
          <p:cNvPr id="12" name="Text 10"/>
          <p:cNvSpPr txBox="1"/>
          <p:nvPr/>
        </p:nvSpPr>
        <p:spPr>
          <a:xfrm>
            <a:off x="9098280" y="2651760"/>
            <a:ext cx="2423160" cy="310896"/>
          </a:xfrm>
          <a:prstGeom prst="rect">
            <a:avLst/>
          </a:prstGeom>
          <a:noFill/>
          <a:ln/>
        </p:spPr>
        <p:txBody>
          <a:bodyPr wrap="square" lIns="0" tIns="0" rIns="0" bIns="0" rtlCol="0" anchor="t"/>
          <a:lstStyle/>
          <a:p>
            <a:pPr algn="r" indent="0" marL="0">
              <a:buNone/>
            </a:pPr>
            <a:r>
              <a:rPr lang="en-US" sz="1300" dirty="0">
                <a:solidFill>
                  <a:srgbClr val="111111"/>
                </a:solidFill>
                <a:latin typeface="Arial" pitchFamily="34" charset="0"/>
                <a:ea typeface="Arial" pitchFamily="34" charset="-122"/>
                <a:cs typeface="Arial" pitchFamily="34" charset="-120"/>
              </a:rPr>
              <a:t>Nguyễn Công Thành</a:t>
            </a:r>
            <a:endParaRPr lang="en-US" sz="1300" dirty="0"/>
          </a:p>
        </p:txBody>
      </p:sp>
      <p:sp>
        <p:nvSpPr>
          <p:cNvPr id="13" name="Shape 11"/>
          <p:cNvSpPr/>
          <p:nvPr/>
        </p:nvSpPr>
        <p:spPr>
          <a:xfrm>
            <a:off x="667512" y="3456432"/>
            <a:ext cx="10853928" cy="0"/>
          </a:xfrm>
          <a:prstGeom prst="line">
            <a:avLst/>
          </a:prstGeom>
          <a:noFill/>
          <a:ln w="9525">
            <a:solidFill>
              <a:srgbClr val="D5D5D5"/>
            </a:solidFill>
            <a:prstDash val="solid"/>
          </a:ln>
        </p:spPr>
      </p:sp>
      <p:sp>
        <p:nvSpPr>
          <p:cNvPr id="14" name="Text 12"/>
          <p:cNvSpPr txBox="1"/>
          <p:nvPr/>
        </p:nvSpPr>
        <p:spPr>
          <a:xfrm>
            <a:off x="667512" y="3639312"/>
            <a:ext cx="822960" cy="457200"/>
          </a:xfrm>
          <a:prstGeom prst="rect">
            <a:avLst/>
          </a:prstGeom>
          <a:noFill/>
          <a:ln/>
        </p:spPr>
        <p:txBody>
          <a:bodyPr wrap="square" lIns="0" tIns="0" rIns="0" bIns="0" rtlCol="0" anchor="t"/>
          <a:lstStyle/>
          <a:p>
            <a:pPr indent="0" marL="0">
              <a:buNone/>
            </a:pPr>
            <a:r>
              <a:rPr lang="en-US" sz="2600" b="1" dirty="0">
                <a:solidFill>
                  <a:srgbClr val="C9C9C9"/>
                </a:solidFill>
                <a:latin typeface="Arial" pitchFamily="34" charset="0"/>
                <a:ea typeface="Arial" pitchFamily="34" charset="-122"/>
                <a:cs typeface="Arial" pitchFamily="34" charset="-120"/>
              </a:rPr>
              <a:t>03</a:t>
            </a:r>
            <a:endParaRPr lang="en-US" sz="2600" dirty="0"/>
          </a:p>
        </p:txBody>
      </p:sp>
      <p:sp>
        <p:nvSpPr>
          <p:cNvPr id="15" name="Text 13"/>
          <p:cNvSpPr txBox="1"/>
          <p:nvPr/>
        </p:nvSpPr>
        <p:spPr>
          <a:xfrm>
            <a:off x="1536192" y="3621024"/>
            <a:ext cx="7470648" cy="347472"/>
          </a:xfrm>
          <a:prstGeom prst="rect">
            <a:avLst/>
          </a:prstGeom>
          <a:noFill/>
          <a:ln/>
        </p:spPr>
        <p:txBody>
          <a:bodyPr wrap="square" lIns="0" tIns="0" rIns="0" bIns="0" rtlCol="0" anchor="t"/>
          <a:lstStyle/>
          <a:p>
            <a:pPr indent="0" marL="0">
              <a:buNone/>
            </a:pPr>
            <a:r>
              <a:rPr lang="en-US" sz="1900" b="1" dirty="0">
                <a:solidFill>
                  <a:srgbClr val="111111"/>
                </a:solidFill>
                <a:latin typeface="Arial" pitchFamily="34" charset="0"/>
                <a:ea typeface="Arial" pitchFamily="34" charset="-122"/>
                <a:cs typeface="Arial" pitchFamily="34" charset="-120"/>
              </a:rPr>
              <a:t>Overfitting và cách khắc phục</a:t>
            </a:r>
            <a:endParaRPr lang="en-US" sz="1900" dirty="0"/>
          </a:p>
        </p:txBody>
      </p:sp>
      <p:sp>
        <p:nvSpPr>
          <p:cNvPr id="16" name="Text 14"/>
          <p:cNvSpPr txBox="1"/>
          <p:nvPr/>
        </p:nvSpPr>
        <p:spPr>
          <a:xfrm>
            <a:off x="1536192" y="3968496"/>
            <a:ext cx="7470648" cy="548640"/>
          </a:xfrm>
          <a:prstGeom prst="rect">
            <a:avLst/>
          </a:prstGeom>
          <a:noFill/>
          <a:ln/>
        </p:spPr>
        <p:txBody>
          <a:bodyPr wrap="square" lIns="0" tIns="0" rIns="0" bIns="0" rtlCol="0" anchor="t"/>
          <a:lstStyle/>
          <a:p>
            <a:pPr indent="0" marL="0">
              <a:lnSpc>
                <a:spcPct val="112000"/>
              </a:lnSpc>
              <a:buNone/>
            </a:pPr>
            <a:r>
              <a:rPr lang="en-US" sz="1300" dirty="0">
                <a:solidFill>
                  <a:srgbClr val="6B6B6B"/>
                </a:solidFill>
                <a:latin typeface="Arial" pitchFamily="34" charset="0"/>
                <a:ea typeface="Arial" pitchFamily="34" charset="-122"/>
                <a:cs typeface="Arial" pitchFamily="34" charset="-120"/>
              </a:rPr>
              <a:t>Bằng chứng thực nghiệm, các biện pháp, kết luận và hạn chế của bài làm</a:t>
            </a:r>
            <a:endParaRPr lang="en-US" sz="1300" dirty="0"/>
          </a:p>
        </p:txBody>
      </p:sp>
      <p:sp>
        <p:nvSpPr>
          <p:cNvPr id="17" name="Text 15"/>
          <p:cNvSpPr txBox="1"/>
          <p:nvPr/>
        </p:nvSpPr>
        <p:spPr>
          <a:xfrm>
            <a:off x="9098280" y="3675888"/>
            <a:ext cx="2423160" cy="310896"/>
          </a:xfrm>
          <a:prstGeom prst="rect">
            <a:avLst/>
          </a:prstGeom>
          <a:noFill/>
          <a:ln/>
        </p:spPr>
        <p:txBody>
          <a:bodyPr wrap="square" lIns="0" tIns="0" rIns="0" bIns="0" rtlCol="0" anchor="t"/>
          <a:lstStyle/>
          <a:p>
            <a:pPr algn="r" indent="0" marL="0">
              <a:buNone/>
            </a:pPr>
            <a:r>
              <a:rPr lang="en-US" sz="1300" dirty="0">
                <a:solidFill>
                  <a:srgbClr val="111111"/>
                </a:solidFill>
                <a:latin typeface="Arial" pitchFamily="34" charset="0"/>
                <a:ea typeface="Arial" pitchFamily="34" charset="-122"/>
                <a:cs typeface="Arial" pitchFamily="34" charset="-120"/>
              </a:rPr>
              <a:t>Nguyễn Lê Nhật Tâm</a:t>
            </a:r>
            <a:endParaRPr lang="en-US" sz="1300" dirty="0"/>
          </a:p>
        </p:txBody>
      </p:sp>
      <p:sp>
        <p:nvSpPr>
          <p:cNvPr id="18" name="Shape 16"/>
          <p:cNvSpPr/>
          <p:nvPr/>
        </p:nvSpPr>
        <p:spPr>
          <a:xfrm>
            <a:off x="667512" y="4956048"/>
            <a:ext cx="10853928" cy="0"/>
          </a:xfrm>
          <a:prstGeom prst="line">
            <a:avLst/>
          </a:prstGeom>
          <a:noFill/>
          <a:ln w="9525">
            <a:solidFill>
              <a:srgbClr val="D5D5D5"/>
            </a:solidFill>
            <a:prstDash val="solid"/>
          </a:ln>
        </p:spPr>
      </p:sp>
      <p:sp>
        <p:nvSpPr>
          <p:cNvPr id="19" name="Text 17"/>
          <p:cNvSpPr txBox="1"/>
          <p:nvPr/>
        </p:nvSpPr>
        <p:spPr>
          <a:xfrm>
            <a:off x="667512" y="5120640"/>
            <a:ext cx="10853928" cy="365760"/>
          </a:xfrm>
          <a:prstGeom prst="rect">
            <a:avLst/>
          </a:prstGeom>
          <a:noFill/>
          <a:ln/>
        </p:spPr>
        <p:txBody>
          <a:bodyPr wrap="square" lIns="0" tIns="0" rIns="0" bIns="0" rtlCol="0" anchor="t"/>
          <a:lstStyle/>
          <a:p>
            <a:pPr algn="l" indent="0" marL="0">
              <a:buNone/>
            </a:pPr>
            <a:r>
              <a:rPr lang="en-US" sz="1600" i="1" dirty="0">
                <a:solidFill>
                  <a:srgbClr val="6B6B6B"/>
                </a:solidFill>
                <a:latin typeface="Arial" pitchFamily="34" charset="0"/>
                <a:ea typeface="Arial" pitchFamily="34" charset="-122"/>
                <a:cs typeface="Arial" pitchFamily="34" charset="-120"/>
              </a:rPr>
              <a:t>Câu hỏi xuyên suốt: mô hình học được gì từ dữ liệu, và làm sao biết nó thật sự tổng quát hóa?</a:t>
            </a:r>
            <a:endParaRPr lang="en-US" sz="16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1 · HỒI QUY TUYẾN TÍNH</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Mô hình và hàm mất mát</a:t>
            </a:r>
            <a:endParaRPr lang="en-US" sz="2600" dirty="0"/>
          </a:p>
        </p:txBody>
      </p:sp>
      <p:sp>
        <p:nvSpPr>
          <p:cNvPr id="4" name="Text 2"/>
          <p:cNvSpPr txBox="1"/>
          <p:nvPr/>
        </p:nvSpPr>
        <p:spPr>
          <a:xfrm>
            <a:off x="667512" y="1682496"/>
            <a:ext cx="548640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Dự đoán</a:t>
            </a:r>
            <a:endParaRPr lang="en-US" sz="1100" dirty="0"/>
          </a:p>
        </p:txBody>
      </p:sp>
      <p:sp>
        <p:nvSpPr>
          <p:cNvPr id="5" name="Text 3"/>
          <p:cNvSpPr txBox="1"/>
          <p:nvPr/>
        </p:nvSpPr>
        <p:spPr>
          <a:xfrm>
            <a:off x="667512" y="1956816"/>
            <a:ext cx="5577840" cy="457200"/>
          </a:xfrm>
          <a:prstGeom prst="rect">
            <a:avLst/>
          </a:prstGeom>
          <a:noFill/>
          <a:ln/>
        </p:spPr>
        <p:txBody>
          <a:bodyPr wrap="square" lIns="0" tIns="0" rIns="0" bIns="0" rtlCol="0" anchor="t"/>
          <a:lstStyle/>
          <a:p>
            <a:pPr indent="0" marL="0">
              <a:buNone/>
            </a:pPr>
            <a:r>
              <a:rPr lang="en-US" sz="2300" dirty="0">
                <a:solidFill>
                  <a:srgbClr val="111111"/>
                </a:solidFill>
                <a:latin typeface="Arial" pitchFamily="34" charset="0"/>
                <a:ea typeface="Arial" pitchFamily="34" charset="-122"/>
                <a:cs typeface="Arial" pitchFamily="34" charset="-120"/>
              </a:rPr>
              <a:t>ŷ</a:t>
            </a:r>
            <a:pPr indent="0" marL="0">
              <a:buNone/>
            </a:pPr>
            <a:r>
              <a:rPr lang="en-US" sz="2300" baseline="-40000" dirty="0">
                <a:solidFill>
                  <a:srgbClr val="111111"/>
                </a:solidFill>
                <a:latin typeface="Arial" pitchFamily="34" charset="0"/>
                <a:ea typeface="Arial" pitchFamily="34" charset="-122"/>
                <a:cs typeface="Arial" pitchFamily="34" charset="-120"/>
              </a:rPr>
              <a:t>i</a:t>
            </a:r>
            <a:pPr indent="0" marL="0">
              <a:buNone/>
            </a:pPr>
            <a:r>
              <a:rPr lang="en-US" sz="2300" dirty="0">
                <a:solidFill>
                  <a:srgbClr val="111111"/>
                </a:solidFill>
                <a:latin typeface="Arial" pitchFamily="34" charset="0"/>
                <a:ea typeface="Arial" pitchFamily="34" charset="-122"/>
                <a:cs typeface="Arial" pitchFamily="34" charset="-120"/>
              </a:rPr>
              <a:t> = w</a:t>
            </a:r>
            <a:pPr indent="0" marL="0">
              <a:buNone/>
            </a:pPr>
            <a:r>
              <a:rPr lang="en-US" sz="2300" baseline="30000" dirty="0">
                <a:solidFill>
                  <a:srgbClr val="111111"/>
                </a:solidFill>
                <a:latin typeface="Arial" pitchFamily="34" charset="0"/>
                <a:ea typeface="Arial" pitchFamily="34" charset="-122"/>
                <a:cs typeface="Arial" pitchFamily="34" charset="-120"/>
              </a:rPr>
              <a:t>T</a:t>
            </a:r>
            <a:pPr indent="0" marL="0">
              <a:buNone/>
            </a:pPr>
            <a:r>
              <a:rPr lang="en-US" sz="2300" dirty="0">
                <a:solidFill>
                  <a:srgbClr val="111111"/>
                </a:solidFill>
                <a:latin typeface="Arial" pitchFamily="34" charset="0"/>
                <a:ea typeface="Arial" pitchFamily="34" charset="-122"/>
                <a:cs typeface="Arial" pitchFamily="34" charset="-120"/>
              </a:rPr>
              <a:t>x</a:t>
            </a:r>
            <a:pPr indent="0" marL="0">
              <a:buNone/>
            </a:pPr>
            <a:r>
              <a:rPr lang="en-US" sz="2300" baseline="-40000" dirty="0">
                <a:solidFill>
                  <a:srgbClr val="111111"/>
                </a:solidFill>
                <a:latin typeface="Arial" pitchFamily="34" charset="0"/>
                <a:ea typeface="Arial" pitchFamily="34" charset="-122"/>
                <a:cs typeface="Arial" pitchFamily="34" charset="-120"/>
              </a:rPr>
              <a:t>i</a:t>
            </a:r>
            <a:pPr indent="0" marL="0">
              <a:buNone/>
            </a:pPr>
            <a:r>
              <a:rPr lang="en-US" sz="2300" dirty="0">
                <a:solidFill>
                  <a:srgbClr val="111111"/>
                </a:solidFill>
                <a:latin typeface="Arial" pitchFamily="34" charset="0"/>
                <a:ea typeface="Arial" pitchFamily="34" charset="-122"/>
                <a:cs typeface="Arial" pitchFamily="34" charset="-120"/>
              </a:rPr>
              <a:t> + b</a:t>
            </a:r>
            <a:endParaRPr lang="en-US" sz="2300" dirty="0"/>
          </a:p>
        </p:txBody>
      </p:sp>
      <p:sp>
        <p:nvSpPr>
          <p:cNvPr id="6" name="Text 4"/>
          <p:cNvSpPr txBox="1"/>
          <p:nvPr/>
        </p:nvSpPr>
        <p:spPr>
          <a:xfrm>
            <a:off x="667512" y="2432304"/>
            <a:ext cx="5577840" cy="3657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một đặc trưng → đường thẳng · nhiều đặc trưng → siêu phẳng</a:t>
            </a:r>
            <a:endParaRPr lang="en-US" sz="1500" dirty="0"/>
          </a:p>
        </p:txBody>
      </p:sp>
      <p:sp>
        <p:nvSpPr>
          <p:cNvPr id="7" name="Text 5"/>
          <p:cNvSpPr txBox="1"/>
          <p:nvPr/>
        </p:nvSpPr>
        <p:spPr>
          <a:xfrm>
            <a:off x="667512" y="3054096"/>
            <a:ext cx="548640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Mất mát: trung bình bình phương sai số</a:t>
            </a:r>
            <a:endParaRPr lang="en-US" sz="1100" dirty="0"/>
          </a:p>
        </p:txBody>
      </p:sp>
      <p:sp>
        <p:nvSpPr>
          <p:cNvPr id="8" name="Text 6"/>
          <p:cNvSpPr txBox="1"/>
          <p:nvPr/>
        </p:nvSpPr>
        <p:spPr>
          <a:xfrm>
            <a:off x="667512" y="3328416"/>
            <a:ext cx="5577840" cy="548640"/>
          </a:xfrm>
          <a:prstGeom prst="rect">
            <a:avLst/>
          </a:prstGeom>
          <a:noFill/>
          <a:ln/>
        </p:spPr>
        <p:txBody>
          <a:bodyPr wrap="square" lIns="0" tIns="0" rIns="0" bIns="0" rtlCol="0" anchor="t"/>
          <a:lstStyle/>
          <a:p>
            <a:pPr indent="0" marL="0">
              <a:buNone/>
            </a:pPr>
            <a:r>
              <a:rPr lang="en-US" sz="2100" dirty="0">
                <a:solidFill>
                  <a:srgbClr val="111111"/>
                </a:solidFill>
                <a:latin typeface="Arial" pitchFamily="34" charset="0"/>
                <a:ea typeface="Arial" pitchFamily="34" charset="-122"/>
                <a:cs typeface="Arial" pitchFamily="34" charset="-120"/>
              </a:rPr>
              <a:t>J(w, b) = (1/2n) · Σ</a:t>
            </a:r>
            <a:pPr indent="0" marL="0">
              <a:buNone/>
            </a:pPr>
            <a:r>
              <a:rPr lang="en-US" sz="2100" baseline="-40000" dirty="0">
                <a:solidFill>
                  <a:srgbClr val="111111"/>
                </a:solidFill>
                <a:latin typeface="Arial" pitchFamily="34" charset="0"/>
                <a:ea typeface="Arial" pitchFamily="34" charset="-122"/>
                <a:cs typeface="Arial" pitchFamily="34" charset="-120"/>
              </a:rPr>
              <a:t>i</a:t>
            </a:r>
            <a:pPr indent="0" marL="0">
              <a:buNone/>
            </a:pPr>
            <a:r>
              <a:rPr lang="en-US" sz="2100" dirty="0">
                <a:solidFill>
                  <a:srgbClr val="111111"/>
                </a:solidFill>
                <a:latin typeface="Arial" pitchFamily="34" charset="0"/>
                <a:ea typeface="Arial" pitchFamily="34" charset="-122"/>
                <a:cs typeface="Arial" pitchFamily="34" charset="-120"/>
              </a:rPr>
              <a:t> (ŷ</a:t>
            </a:r>
            <a:pPr indent="0" marL="0">
              <a:buNone/>
            </a:pPr>
            <a:r>
              <a:rPr lang="en-US" sz="2100" baseline="-40000" dirty="0">
                <a:solidFill>
                  <a:srgbClr val="111111"/>
                </a:solidFill>
                <a:latin typeface="Arial" pitchFamily="34" charset="0"/>
                <a:ea typeface="Arial" pitchFamily="34" charset="-122"/>
                <a:cs typeface="Arial" pitchFamily="34" charset="-120"/>
              </a:rPr>
              <a:t>i</a:t>
            </a:r>
            <a:pPr indent="0" marL="0">
              <a:buNone/>
            </a:pPr>
            <a:r>
              <a:rPr lang="en-US" sz="2100" dirty="0">
                <a:solidFill>
                  <a:srgbClr val="111111"/>
                </a:solidFill>
                <a:latin typeface="Arial" pitchFamily="34" charset="0"/>
                <a:ea typeface="Arial" pitchFamily="34" charset="-122"/>
                <a:cs typeface="Arial" pitchFamily="34" charset="-120"/>
              </a:rPr>
              <a:t> − y</a:t>
            </a:r>
            <a:pPr indent="0" marL="0">
              <a:buNone/>
            </a:pPr>
            <a:r>
              <a:rPr lang="en-US" sz="2100" baseline="-40000" dirty="0">
                <a:solidFill>
                  <a:srgbClr val="111111"/>
                </a:solidFill>
                <a:latin typeface="Arial" pitchFamily="34" charset="0"/>
                <a:ea typeface="Arial" pitchFamily="34" charset="-122"/>
                <a:cs typeface="Arial" pitchFamily="34" charset="-120"/>
              </a:rPr>
              <a:t>i</a:t>
            </a:r>
            <a:pPr indent="0" marL="0">
              <a:buNone/>
            </a:pPr>
            <a:r>
              <a:rPr lang="en-US" sz="2100" dirty="0">
                <a:solidFill>
                  <a:srgbClr val="111111"/>
                </a:solidFill>
                <a:latin typeface="Arial" pitchFamily="34" charset="0"/>
                <a:ea typeface="Arial" pitchFamily="34" charset="-122"/>
                <a:cs typeface="Arial" pitchFamily="34" charset="-120"/>
              </a:rPr>
              <a:t>)</a:t>
            </a:r>
            <a:pPr indent="0" marL="0">
              <a:buNone/>
            </a:pPr>
            <a:r>
              <a:rPr lang="en-US" sz="2100" baseline="30000" dirty="0">
                <a:solidFill>
                  <a:srgbClr val="111111"/>
                </a:solidFill>
                <a:latin typeface="Arial" pitchFamily="34" charset="0"/>
                <a:ea typeface="Arial" pitchFamily="34" charset="-122"/>
                <a:cs typeface="Arial" pitchFamily="34" charset="-120"/>
              </a:rPr>
              <a:t>2</a:t>
            </a:r>
            <a:endParaRPr lang="en-US" sz="2100" dirty="0"/>
          </a:p>
        </p:txBody>
      </p:sp>
      <p:sp>
        <p:nvSpPr>
          <p:cNvPr id="9" name="Shape 7"/>
          <p:cNvSpPr/>
          <p:nvPr/>
        </p:nvSpPr>
        <p:spPr>
          <a:xfrm>
            <a:off x="6355080" y="1627632"/>
            <a:ext cx="0" cy="2788920"/>
          </a:xfrm>
          <a:prstGeom prst="line">
            <a:avLst/>
          </a:prstGeom>
          <a:noFill/>
          <a:ln w="9525">
            <a:solidFill>
              <a:srgbClr val="D5D5D5"/>
            </a:solidFill>
            <a:prstDash val="solid"/>
          </a:ln>
        </p:spPr>
      </p:sp>
      <p:sp>
        <p:nvSpPr>
          <p:cNvPr id="10" name="Text 8"/>
          <p:cNvSpPr txBox="1"/>
          <p:nvPr/>
        </p:nvSpPr>
        <p:spPr>
          <a:xfrm>
            <a:off x="6629400" y="1627632"/>
            <a:ext cx="4892040" cy="4517136"/>
          </a:xfrm>
          <a:prstGeom prst="rect">
            <a:avLst/>
          </a:prstGeom>
          <a:noFill/>
          <a:ln/>
        </p:spPr>
        <p:txBody>
          <a:bodyPr wrap="square" lIns="0" tIns="0" rIns="0" bIns="0" rtlCol="0" anchor="t"/>
          <a:lstStyle/>
          <a:p>
            <a:pPr marL="342900" indent="-342900">
              <a:lnSpc>
                <a:spcPct val="106000"/>
              </a:lnSpc>
              <a:spcAft>
                <a:spcPts val="1600"/>
              </a:spcAft>
              <a:buSzPct val="100000"/>
              <a:buChar char="–"/>
            </a:pPr>
            <a:r>
              <a:rPr lang="en-US" sz="1700" b="1" dirty="0">
                <a:solidFill>
                  <a:srgbClr val="111111"/>
                </a:solidFill>
                <a:latin typeface="Arial" pitchFamily="34" charset="0"/>
                <a:ea typeface="Arial" pitchFamily="34" charset="-122"/>
                <a:cs typeface="Arial" pitchFamily="34" charset="-120"/>
              </a:rPr>
              <a:t>Đầu ra là số thực</a:t>
            </a:r>
            <a:endParaRPr lang="en-US" sz="1700" dirty="0"/>
          </a:p>
          <a:p>
            <a:pPr marL="342900" indent="-342900">
              <a:lnSpc>
                <a:spcPct val="106000"/>
              </a:lnSpc>
              <a:spcAft>
                <a:spcPts val="1600"/>
              </a:spcAft>
              <a:buSzPct val="100000"/>
              <a:buChar char="–"/>
            </a:pPr>
            <a:r>
              <a:rPr lang="en-US" sz="1700" dirty="0">
                <a:solidFill>
                  <a:srgbClr val="111111"/>
                </a:solidFill>
                <a:latin typeface="Arial" pitchFamily="34" charset="0"/>
                <a:ea typeface="Arial" pitchFamily="34" charset="-122"/>
                <a:cs typeface="Arial" pitchFamily="34" charset="-120"/>
              </a:rPr>
              <a:t> — bài toán hồi quy, không phải phân loại.</a:t>
            </a:r>
            <a:endParaRPr lang="en-US" sz="1700" dirty="0"/>
          </a:p>
          <a:p>
            <a:pPr marL="342900" indent="-342900">
              <a:lnSpc>
                <a:spcPct val="106000"/>
              </a:lnSpc>
              <a:spcAft>
                <a:spcPts val="1600"/>
              </a:spcAft>
              <a:buSzPct val="100000"/>
              <a:buChar char="–"/>
            </a:pPr>
            <a:r>
              <a:rPr lang="en-US" sz="1700" b="1" dirty="0">
                <a:solidFill>
                  <a:srgbClr val="111111"/>
                </a:solidFill>
                <a:latin typeface="Arial" pitchFamily="34" charset="0"/>
                <a:ea typeface="Arial" pitchFamily="34" charset="-122"/>
                <a:cs typeface="Arial" pitchFamily="34" charset="-120"/>
              </a:rPr>
              <a:t>Hệ số ½</a:t>
            </a:r>
            <a:endParaRPr lang="en-US" sz="1700" dirty="0"/>
          </a:p>
          <a:p>
            <a:pPr marL="342900" indent="-342900">
              <a:lnSpc>
                <a:spcPct val="106000"/>
              </a:lnSpc>
              <a:spcAft>
                <a:spcPts val="1600"/>
              </a:spcAft>
              <a:buSzPct val="100000"/>
              <a:buChar char="–"/>
            </a:pPr>
            <a:r>
              <a:rPr lang="en-US" sz="1700" dirty="0">
                <a:solidFill>
                  <a:srgbClr val="111111"/>
                </a:solidFill>
                <a:latin typeface="Arial" pitchFamily="34" charset="0"/>
                <a:ea typeface="Arial" pitchFamily="34" charset="-122"/>
                <a:cs typeface="Arial" pitchFamily="34" charset="-120"/>
              </a:rPr>
              <a:t> chỉ để đạo hàm gọn; nghiệm tối ưu không đổi.</a:t>
            </a:r>
            <a:endParaRPr lang="en-US" sz="1700" dirty="0"/>
          </a:p>
          <a:p>
            <a:pPr marL="342900" indent="-342900">
              <a:lnSpc>
                <a:spcPct val="106000"/>
              </a:lnSpc>
              <a:spcAft>
                <a:spcPts val="1600"/>
              </a:spcAft>
              <a:buSzPct val="100000"/>
              <a:buChar char="–"/>
            </a:pPr>
            <a:r>
              <a:rPr lang="en-US" sz="1700" b="1" dirty="0">
                <a:solidFill>
                  <a:srgbClr val="111111"/>
                </a:solidFill>
                <a:latin typeface="Arial" pitchFamily="34" charset="0"/>
                <a:ea typeface="Arial" pitchFamily="34" charset="-122"/>
                <a:cs typeface="Arial" pitchFamily="34" charset="-120"/>
              </a:rPr>
              <a:t>Bình phương</a:t>
            </a:r>
            <a:endParaRPr lang="en-US" sz="1700" dirty="0"/>
          </a:p>
          <a:p>
            <a:pPr marL="342900" indent="-342900">
              <a:lnSpc>
                <a:spcPct val="106000"/>
              </a:lnSpc>
              <a:spcAft>
                <a:spcPts val="1600"/>
              </a:spcAft>
              <a:buSzPct val="100000"/>
              <a:buChar char="–"/>
            </a:pPr>
            <a:r>
              <a:rPr lang="en-US" sz="1700" dirty="0">
                <a:solidFill>
                  <a:srgbClr val="111111"/>
                </a:solidFill>
                <a:latin typeface="Arial" pitchFamily="34" charset="0"/>
                <a:ea typeface="Arial" pitchFamily="34" charset="-122"/>
                <a:cs typeface="Arial" pitchFamily="34" charset="-120"/>
              </a:rPr>
              <a:t> khiến sai số lớn bị phạt nặng.</a:t>
            </a:r>
            <a:endParaRPr lang="en-US" sz="1700" dirty="0"/>
          </a:p>
          <a:p>
            <a:pPr marL="342900" indent="-342900">
              <a:lnSpc>
                <a:spcPct val="106000"/>
              </a:lnSpc>
              <a:spcAft>
                <a:spcPts val="1600"/>
              </a:spcAft>
              <a:buSzPct val="100000"/>
              <a:buChar char="–"/>
            </a:pPr>
            <a:r>
              <a:rPr lang="en-US" sz="1700" b="1" dirty="0">
                <a:solidFill>
                  <a:srgbClr val="111111"/>
                </a:solidFill>
                <a:latin typeface="Arial" pitchFamily="34" charset="0"/>
                <a:ea typeface="Arial" pitchFamily="34" charset="-122"/>
                <a:cs typeface="Arial" pitchFamily="34" charset="-120"/>
              </a:rPr>
              <a:t>Chia cho n</a:t>
            </a:r>
            <a:endParaRPr lang="en-US" sz="1700" dirty="0"/>
          </a:p>
          <a:p>
            <a:pPr marL="342900" indent="-342900">
              <a:lnSpc>
                <a:spcPct val="106000"/>
              </a:lnSpc>
              <a:spcAft>
                <a:spcPts val="1600"/>
              </a:spcAft>
              <a:buSzPct val="100000"/>
              <a:buChar char="–"/>
            </a:pPr>
            <a:r>
              <a:rPr lang="en-US" sz="1700" dirty="0">
                <a:solidFill>
                  <a:srgbClr val="111111"/>
                </a:solidFill>
                <a:latin typeface="Arial" pitchFamily="34" charset="0"/>
                <a:ea typeface="Arial" pitchFamily="34" charset="-122"/>
                <a:cs typeface="Arial" pitchFamily="34" charset="-120"/>
              </a:rPr>
              <a:t> để mất mát là trung bình, so sánh được giữa các cỡ mẫu.</a:t>
            </a:r>
            <a:endParaRPr lang="en-US" sz="1700" dirty="0"/>
          </a:p>
        </p:txBody>
      </p:sp>
      <p:sp>
        <p:nvSpPr>
          <p:cNvPr id="11" name="Shape 9"/>
          <p:cNvSpPr/>
          <p:nvPr/>
        </p:nvSpPr>
        <p:spPr>
          <a:xfrm>
            <a:off x="667512" y="4736592"/>
            <a:ext cx="10853928" cy="0"/>
          </a:xfrm>
          <a:prstGeom prst="line">
            <a:avLst/>
          </a:prstGeom>
          <a:noFill/>
          <a:ln w="9525">
            <a:solidFill>
              <a:srgbClr val="D5D5D5"/>
            </a:solidFill>
            <a:prstDash val="solid"/>
          </a:ln>
        </p:spPr>
      </p:sp>
      <p:sp>
        <p:nvSpPr>
          <p:cNvPr id="12" name="Text 10"/>
          <p:cNvSpPr txBox="1"/>
          <p:nvPr/>
        </p:nvSpPr>
        <p:spPr>
          <a:xfrm>
            <a:off x="667512" y="4882896"/>
            <a:ext cx="10853928" cy="73152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Dữ liệu tổng hợp: 600 mẫu, 3 đặc trưng độc lập đều trên [−3, 3];  y = 4 + 3x</a:t>
            </a:r>
            <a:pPr indent="0" marL="0">
              <a:buNone/>
            </a:pPr>
            <a:r>
              <a:rPr lang="en-US" sz="1400" baseline="-40000" dirty="0">
                <a:solidFill>
                  <a:srgbClr val="6B6B6B"/>
                </a:solidFill>
                <a:latin typeface="Arial" pitchFamily="34" charset="0"/>
                <a:ea typeface="Arial" pitchFamily="34" charset="-122"/>
                <a:cs typeface="Arial" pitchFamily="34" charset="-120"/>
              </a:rPr>
              <a:t>1</a:t>
            </a:r>
            <a:pPr indent="0" marL="0">
              <a:buNone/>
            </a:pPr>
            <a:r>
              <a:rPr lang="en-US" sz="1400" dirty="0">
                <a:solidFill>
                  <a:srgbClr val="6B6B6B"/>
                </a:solidFill>
                <a:latin typeface="Arial" pitchFamily="34" charset="0"/>
                <a:ea typeface="Arial" pitchFamily="34" charset="-122"/>
                <a:cs typeface="Arial" pitchFamily="34" charset="-120"/>
              </a:rPr>
              <a:t> − 2x</a:t>
            </a:r>
            <a:pPr indent="0" marL="0">
              <a:buNone/>
            </a:pPr>
            <a:r>
              <a:rPr lang="en-US" sz="1400" baseline="-40000" dirty="0">
                <a:solidFill>
                  <a:srgbClr val="6B6B6B"/>
                </a:solidFill>
                <a:latin typeface="Arial" pitchFamily="34" charset="0"/>
                <a:ea typeface="Arial" pitchFamily="34" charset="-122"/>
                <a:cs typeface="Arial" pitchFamily="34" charset="-120"/>
              </a:rPr>
              <a:t>2</a:t>
            </a:r>
            <a:pPr indent="0" marL="0">
              <a:buNone/>
            </a:pPr>
            <a:r>
              <a:rPr lang="en-US" sz="1400" dirty="0">
                <a:solidFill>
                  <a:srgbClr val="6B6B6B"/>
                </a:solidFill>
                <a:latin typeface="Arial" pitchFamily="34" charset="0"/>
                <a:ea typeface="Arial" pitchFamily="34" charset="-122"/>
                <a:cs typeface="Arial" pitchFamily="34" charset="-120"/>
              </a:rPr>
              <a:t> + 1.5x</a:t>
            </a:r>
            <a:pPr indent="0" marL="0">
              <a:buNone/>
            </a:pPr>
            <a:r>
              <a:rPr lang="en-US" sz="1400" baseline="-40000" dirty="0">
                <a:solidFill>
                  <a:srgbClr val="6B6B6B"/>
                </a:solidFill>
                <a:latin typeface="Arial" pitchFamily="34" charset="0"/>
                <a:ea typeface="Arial" pitchFamily="34" charset="-122"/>
                <a:cs typeface="Arial" pitchFamily="34" charset="-120"/>
              </a:rPr>
              <a:t>3</a:t>
            </a:r>
            <a:pPr indent="0" marL="0">
              <a:buNone/>
            </a:pPr>
            <a:r>
              <a:rPr lang="en-US" sz="1400" dirty="0">
                <a:solidFill>
                  <a:srgbClr val="6B6B6B"/>
                </a:solidFill>
                <a:latin typeface="Arial" pitchFamily="34" charset="0"/>
                <a:ea typeface="Arial" pitchFamily="34" charset="-122"/>
                <a:cs typeface="Arial" pitchFamily="34" charset="-120"/>
              </a:rPr>
              <a:t> + ε,  ε ~ N(0, 0.5</a:t>
            </a:r>
            <a:pPr indent="0" marL="0">
              <a:buNone/>
            </a:pPr>
            <a:r>
              <a:rPr lang="en-US" sz="1400" baseline="30000" dirty="0">
                <a:solidFill>
                  <a:srgbClr val="6B6B6B"/>
                </a:solidFill>
                <a:latin typeface="Arial" pitchFamily="34" charset="0"/>
                <a:ea typeface="Arial" pitchFamily="34" charset="-122"/>
                <a:cs typeface="Arial" pitchFamily="34" charset="-120"/>
              </a:rPr>
              <a:t>2</a:t>
            </a:r>
            <a:pPr indent="0" marL="0">
              <a:buNone/>
            </a:pPr>
            <a:r>
              <a:rPr lang="en-US" sz="1400" dirty="0">
                <a:solidFill>
                  <a:srgbClr val="6B6B6B"/>
                </a:solidFill>
                <a:latin typeface="Arial" pitchFamily="34" charset="0"/>
                <a:ea typeface="Arial" pitchFamily="34" charset="-122"/>
                <a:cs typeface="Arial" pitchFamily="34" charset="-120"/>
              </a:rPr>
              <a:t>).</a:t>
            </a:r>
            <a:endParaRPr lang="en-US" sz="14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1 · HỒI QUY TUYẾN TÍNH</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Dẫn xuất gradient và vòng lặp Gradient Descent</a:t>
            </a:r>
            <a:endParaRPr lang="en-US" sz="2600" dirty="0"/>
          </a:p>
        </p:txBody>
      </p:sp>
      <p:sp>
        <p:nvSpPr>
          <p:cNvPr id="4" name="Text 2"/>
          <p:cNvSpPr txBox="1"/>
          <p:nvPr/>
        </p:nvSpPr>
        <p:spPr>
          <a:xfrm>
            <a:off x="667512" y="1682496"/>
            <a:ext cx="585216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Đạo hàm riêng</a:t>
            </a:r>
            <a:endParaRPr lang="en-US" sz="1100" dirty="0"/>
          </a:p>
        </p:txBody>
      </p:sp>
      <p:sp>
        <p:nvSpPr>
          <p:cNvPr id="5" name="Text 3"/>
          <p:cNvSpPr txBox="1"/>
          <p:nvPr/>
        </p:nvSpPr>
        <p:spPr>
          <a:xfrm>
            <a:off x="667512" y="1956816"/>
            <a:ext cx="6035040" cy="365760"/>
          </a:xfrm>
          <a:prstGeom prst="rect">
            <a:avLst/>
          </a:prstGeom>
          <a:noFill/>
          <a:ln/>
        </p:spPr>
        <p:txBody>
          <a:bodyPr wrap="square" lIns="0" tIns="0" rIns="0" bIns="0" rtlCol="0" anchor="t"/>
          <a:lstStyle/>
          <a:p>
            <a:pPr indent="0" marL="0">
              <a:buNone/>
            </a:pPr>
            <a:r>
              <a:rPr lang="en-US" sz="1800" dirty="0">
                <a:solidFill>
                  <a:srgbClr val="111111"/>
                </a:solidFill>
                <a:latin typeface="Arial" pitchFamily="34" charset="0"/>
                <a:ea typeface="Arial" pitchFamily="34" charset="-122"/>
                <a:cs typeface="Arial" pitchFamily="34" charset="-120"/>
              </a:rPr>
              <a:t>đặt  e</a:t>
            </a:r>
            <a:pPr indent="0" marL="0">
              <a:buNone/>
            </a:pPr>
            <a:r>
              <a:rPr lang="en-US" sz="1800" baseline="-40000" dirty="0">
                <a:solidFill>
                  <a:srgbClr val="111111"/>
                </a:solidFill>
                <a:latin typeface="Arial" pitchFamily="34" charset="0"/>
                <a:ea typeface="Arial" pitchFamily="34" charset="-122"/>
                <a:cs typeface="Arial" pitchFamily="34" charset="-120"/>
              </a:rPr>
              <a:t>i</a:t>
            </a:r>
            <a:pPr indent="0" marL="0">
              <a:buNone/>
            </a:pPr>
            <a:r>
              <a:rPr lang="en-US" sz="1800" dirty="0">
                <a:solidFill>
                  <a:srgbClr val="111111"/>
                </a:solidFill>
                <a:latin typeface="Arial" pitchFamily="34" charset="0"/>
                <a:ea typeface="Arial" pitchFamily="34" charset="-122"/>
                <a:cs typeface="Arial" pitchFamily="34" charset="-120"/>
              </a:rPr>
              <a:t> = ŷ</a:t>
            </a:r>
            <a:pPr indent="0" marL="0">
              <a:buNone/>
            </a:pPr>
            <a:r>
              <a:rPr lang="en-US" sz="1800" baseline="-40000" dirty="0">
                <a:solidFill>
                  <a:srgbClr val="111111"/>
                </a:solidFill>
                <a:latin typeface="Arial" pitchFamily="34" charset="0"/>
                <a:ea typeface="Arial" pitchFamily="34" charset="-122"/>
                <a:cs typeface="Arial" pitchFamily="34" charset="-120"/>
              </a:rPr>
              <a:t>i</a:t>
            </a:r>
            <a:pPr indent="0" marL="0">
              <a:buNone/>
            </a:pPr>
            <a:r>
              <a:rPr lang="en-US" sz="1800" dirty="0">
                <a:solidFill>
                  <a:srgbClr val="111111"/>
                </a:solidFill>
                <a:latin typeface="Arial" pitchFamily="34" charset="0"/>
                <a:ea typeface="Arial" pitchFamily="34" charset="-122"/>
                <a:cs typeface="Arial" pitchFamily="34" charset="-120"/>
              </a:rPr>
              <a:t> − y</a:t>
            </a:r>
            <a:pPr indent="0" marL="0">
              <a:buNone/>
            </a:pPr>
            <a:r>
              <a:rPr lang="en-US" sz="1800" baseline="-40000" dirty="0">
                <a:solidFill>
                  <a:srgbClr val="111111"/>
                </a:solidFill>
                <a:latin typeface="Arial" pitchFamily="34" charset="0"/>
                <a:ea typeface="Arial" pitchFamily="34" charset="-122"/>
                <a:cs typeface="Arial" pitchFamily="34" charset="-120"/>
              </a:rPr>
              <a:t>i</a:t>
            </a:r>
            <a:pPr indent="0" marL="0">
              <a:buNone/>
            </a:pPr>
            <a:r>
              <a:rPr lang="en-US" sz="1800" dirty="0">
                <a:solidFill>
                  <a:srgbClr val="111111"/>
                </a:solidFill>
                <a:latin typeface="Arial" pitchFamily="34" charset="0"/>
                <a:ea typeface="Arial" pitchFamily="34" charset="-122"/>
                <a:cs typeface="Arial" pitchFamily="34" charset="-120"/>
              </a:rPr>
              <a:t>  ⇒  ∂e</a:t>
            </a:r>
            <a:pPr indent="0" marL="0">
              <a:buNone/>
            </a:pPr>
            <a:r>
              <a:rPr lang="en-US" sz="1800" baseline="-40000" dirty="0">
                <a:solidFill>
                  <a:srgbClr val="111111"/>
                </a:solidFill>
                <a:latin typeface="Arial" pitchFamily="34" charset="0"/>
                <a:ea typeface="Arial" pitchFamily="34" charset="-122"/>
                <a:cs typeface="Arial" pitchFamily="34" charset="-120"/>
              </a:rPr>
              <a:t>i</a:t>
            </a:r>
            <a:pPr indent="0" marL="0">
              <a:buNone/>
            </a:pPr>
            <a:r>
              <a:rPr lang="en-US" sz="1800" dirty="0">
                <a:solidFill>
                  <a:srgbClr val="111111"/>
                </a:solidFill>
                <a:latin typeface="Arial" pitchFamily="34" charset="0"/>
                <a:ea typeface="Arial" pitchFamily="34" charset="-122"/>
                <a:cs typeface="Arial" pitchFamily="34" charset="-120"/>
              </a:rPr>
              <a:t> / ∂w</a:t>
            </a:r>
            <a:pPr indent="0" marL="0">
              <a:buNone/>
            </a:pPr>
            <a:r>
              <a:rPr lang="en-US" sz="1800" baseline="-40000" dirty="0">
                <a:solidFill>
                  <a:srgbClr val="111111"/>
                </a:solidFill>
                <a:latin typeface="Arial" pitchFamily="34" charset="0"/>
                <a:ea typeface="Arial" pitchFamily="34" charset="-122"/>
                <a:cs typeface="Arial" pitchFamily="34" charset="-120"/>
              </a:rPr>
              <a:t>j</a:t>
            </a:r>
            <a:pPr indent="0" marL="0">
              <a:buNone/>
            </a:pPr>
            <a:r>
              <a:rPr lang="en-US" sz="1800" dirty="0">
                <a:solidFill>
                  <a:srgbClr val="111111"/>
                </a:solidFill>
                <a:latin typeface="Arial" pitchFamily="34" charset="0"/>
                <a:ea typeface="Arial" pitchFamily="34" charset="-122"/>
                <a:cs typeface="Arial" pitchFamily="34" charset="-120"/>
              </a:rPr>
              <a:t> = x</a:t>
            </a:r>
            <a:pPr indent="0" marL="0">
              <a:buNone/>
            </a:pPr>
            <a:r>
              <a:rPr lang="en-US" sz="1800" baseline="-40000" dirty="0">
                <a:solidFill>
                  <a:srgbClr val="111111"/>
                </a:solidFill>
                <a:latin typeface="Arial" pitchFamily="34" charset="0"/>
                <a:ea typeface="Arial" pitchFamily="34" charset="-122"/>
                <a:cs typeface="Arial" pitchFamily="34" charset="-120"/>
              </a:rPr>
              <a:t>ij</a:t>
            </a:r>
            <a:endParaRPr lang="en-US" sz="1800" dirty="0"/>
          </a:p>
        </p:txBody>
      </p:sp>
      <p:sp>
        <p:nvSpPr>
          <p:cNvPr id="6" name="Text 4"/>
          <p:cNvSpPr txBox="1"/>
          <p:nvPr/>
        </p:nvSpPr>
        <p:spPr>
          <a:xfrm>
            <a:off x="667512" y="2395728"/>
            <a:ext cx="6035040" cy="411480"/>
          </a:xfrm>
          <a:prstGeom prst="rect">
            <a:avLst/>
          </a:prstGeom>
          <a:noFill/>
          <a:ln/>
        </p:spPr>
        <p:txBody>
          <a:bodyPr wrap="square" lIns="0" tIns="0" rIns="0" bIns="0" rtlCol="0" anchor="t"/>
          <a:lstStyle/>
          <a:p>
            <a:pPr indent="0" marL="0">
              <a:buNone/>
            </a:pPr>
            <a:r>
              <a:rPr lang="en-US" sz="2000" dirty="0">
                <a:solidFill>
                  <a:srgbClr val="111111"/>
                </a:solidFill>
                <a:latin typeface="Arial" pitchFamily="34" charset="0"/>
                <a:ea typeface="Arial" pitchFamily="34" charset="-122"/>
                <a:cs typeface="Arial" pitchFamily="34" charset="-120"/>
              </a:rPr>
              <a:t>∂J/∂w</a:t>
            </a:r>
            <a:pPr indent="0" marL="0">
              <a:buNone/>
            </a:pPr>
            <a:r>
              <a:rPr lang="en-US" sz="2000" baseline="-40000" dirty="0">
                <a:solidFill>
                  <a:srgbClr val="111111"/>
                </a:solidFill>
                <a:latin typeface="Arial" pitchFamily="34" charset="0"/>
                <a:ea typeface="Arial" pitchFamily="34" charset="-122"/>
                <a:cs typeface="Arial" pitchFamily="34" charset="-120"/>
              </a:rPr>
              <a:t>j</a:t>
            </a:r>
            <a:pPr indent="0" marL="0">
              <a:buNone/>
            </a:pPr>
            <a:r>
              <a:rPr lang="en-US" sz="2000" dirty="0">
                <a:solidFill>
                  <a:srgbClr val="111111"/>
                </a:solidFill>
                <a:latin typeface="Arial" pitchFamily="34" charset="0"/>
                <a:ea typeface="Arial" pitchFamily="34" charset="-122"/>
                <a:cs typeface="Arial" pitchFamily="34" charset="-120"/>
              </a:rPr>
              <a:t> = (1/n) Σ</a:t>
            </a:r>
            <a:pPr indent="0" marL="0">
              <a:buNone/>
            </a:pPr>
            <a:r>
              <a:rPr lang="en-US" sz="2000" baseline="-40000" dirty="0">
                <a:solidFill>
                  <a:srgbClr val="111111"/>
                </a:solidFill>
                <a:latin typeface="Arial" pitchFamily="34" charset="0"/>
                <a:ea typeface="Arial" pitchFamily="34" charset="-122"/>
                <a:cs typeface="Arial" pitchFamily="34" charset="-120"/>
              </a:rPr>
              <a:t>i</a:t>
            </a:r>
            <a:pPr indent="0" marL="0">
              <a:buNone/>
            </a:pPr>
            <a:r>
              <a:rPr lang="en-US" sz="2000" dirty="0">
                <a:solidFill>
                  <a:srgbClr val="111111"/>
                </a:solidFill>
                <a:latin typeface="Arial" pitchFamily="34" charset="0"/>
                <a:ea typeface="Arial" pitchFamily="34" charset="-122"/>
                <a:cs typeface="Arial" pitchFamily="34" charset="-120"/>
              </a:rPr>
              <a:t> e</a:t>
            </a:r>
            <a:pPr indent="0" marL="0">
              <a:buNone/>
            </a:pPr>
            <a:r>
              <a:rPr lang="en-US" sz="2000" baseline="-40000" dirty="0">
                <a:solidFill>
                  <a:srgbClr val="111111"/>
                </a:solidFill>
                <a:latin typeface="Arial" pitchFamily="34" charset="0"/>
                <a:ea typeface="Arial" pitchFamily="34" charset="-122"/>
                <a:cs typeface="Arial" pitchFamily="34" charset="-120"/>
              </a:rPr>
              <a:t>i</a:t>
            </a:r>
            <a:pPr indent="0" marL="0">
              <a:buNone/>
            </a:pPr>
            <a:r>
              <a:rPr lang="en-US" sz="2000" dirty="0">
                <a:solidFill>
                  <a:srgbClr val="111111"/>
                </a:solidFill>
                <a:latin typeface="Arial" pitchFamily="34" charset="0"/>
                <a:ea typeface="Arial" pitchFamily="34" charset="-122"/>
                <a:cs typeface="Arial" pitchFamily="34" charset="-120"/>
              </a:rPr>
              <a:t>x</a:t>
            </a:r>
            <a:pPr indent="0" marL="0">
              <a:buNone/>
            </a:pPr>
            <a:r>
              <a:rPr lang="en-US" sz="2000" baseline="-40000" dirty="0">
                <a:solidFill>
                  <a:srgbClr val="111111"/>
                </a:solidFill>
                <a:latin typeface="Arial" pitchFamily="34" charset="0"/>
                <a:ea typeface="Arial" pitchFamily="34" charset="-122"/>
                <a:cs typeface="Arial" pitchFamily="34" charset="-120"/>
              </a:rPr>
              <a:t>ij</a:t>
            </a:r>
            <a:pPr indent="0" marL="0">
              <a:buNone/>
            </a:pPr>
            <a:r>
              <a:rPr lang="en-US" sz="2000" dirty="0">
                <a:solidFill>
                  <a:srgbClr val="111111"/>
                </a:solidFill>
                <a:latin typeface="Arial" pitchFamily="34" charset="0"/>
                <a:ea typeface="Arial" pitchFamily="34" charset="-122"/>
                <a:cs typeface="Arial" pitchFamily="34" charset="-120"/>
              </a:rPr>
              <a:t>        ∂J/∂b = (1/n) Σ</a:t>
            </a:r>
            <a:pPr indent="0" marL="0">
              <a:buNone/>
            </a:pPr>
            <a:r>
              <a:rPr lang="en-US" sz="2000" baseline="-40000" dirty="0">
                <a:solidFill>
                  <a:srgbClr val="111111"/>
                </a:solidFill>
                <a:latin typeface="Arial" pitchFamily="34" charset="0"/>
                <a:ea typeface="Arial" pitchFamily="34" charset="-122"/>
                <a:cs typeface="Arial" pitchFamily="34" charset="-120"/>
              </a:rPr>
              <a:t>i</a:t>
            </a:r>
            <a:pPr indent="0" marL="0">
              <a:buNone/>
            </a:pPr>
            <a:r>
              <a:rPr lang="en-US" sz="2000" dirty="0">
                <a:solidFill>
                  <a:srgbClr val="111111"/>
                </a:solidFill>
                <a:latin typeface="Arial" pitchFamily="34" charset="0"/>
                <a:ea typeface="Arial" pitchFamily="34" charset="-122"/>
                <a:cs typeface="Arial" pitchFamily="34" charset="-120"/>
              </a:rPr>
              <a:t> e</a:t>
            </a:r>
            <a:pPr indent="0" marL="0">
              <a:buNone/>
            </a:pPr>
            <a:r>
              <a:rPr lang="en-US" sz="2000" baseline="-40000" dirty="0">
                <a:solidFill>
                  <a:srgbClr val="111111"/>
                </a:solidFill>
                <a:latin typeface="Arial" pitchFamily="34" charset="0"/>
                <a:ea typeface="Arial" pitchFamily="34" charset="-122"/>
                <a:cs typeface="Arial" pitchFamily="34" charset="-120"/>
              </a:rPr>
              <a:t>i</a:t>
            </a:r>
            <a:endParaRPr lang="en-US" sz="2000" dirty="0"/>
          </a:p>
        </p:txBody>
      </p:sp>
      <p:sp>
        <p:nvSpPr>
          <p:cNvPr id="7" name="Text 5"/>
          <p:cNvSpPr txBox="1"/>
          <p:nvPr/>
        </p:nvSpPr>
        <p:spPr>
          <a:xfrm>
            <a:off x="667512" y="2889504"/>
            <a:ext cx="6035040" cy="411480"/>
          </a:xfrm>
          <a:prstGeom prst="rect">
            <a:avLst/>
          </a:prstGeom>
          <a:noFill/>
          <a:ln/>
        </p:spPr>
        <p:txBody>
          <a:bodyPr wrap="square" lIns="0" tIns="0" rIns="0" bIns="0" rtlCol="0" anchor="t"/>
          <a:lstStyle/>
          <a:p>
            <a:pPr indent="0" marL="0">
              <a:buNone/>
            </a:pPr>
            <a:r>
              <a:rPr lang="en-US" sz="2000" dirty="0">
                <a:solidFill>
                  <a:srgbClr val="111111"/>
                </a:solidFill>
                <a:latin typeface="Arial" pitchFamily="34" charset="0"/>
                <a:ea typeface="Arial" pitchFamily="34" charset="-122"/>
                <a:cs typeface="Arial" pitchFamily="34" charset="-120"/>
              </a:rPr>
              <a:t>∇</a:t>
            </a:r>
            <a:pPr indent="0" marL="0">
              <a:buNone/>
            </a:pPr>
            <a:r>
              <a:rPr lang="en-US" sz="2000" baseline="-40000" dirty="0">
                <a:solidFill>
                  <a:srgbClr val="111111"/>
                </a:solidFill>
                <a:latin typeface="Arial" pitchFamily="34" charset="0"/>
                <a:ea typeface="Arial" pitchFamily="34" charset="-122"/>
                <a:cs typeface="Arial" pitchFamily="34" charset="-120"/>
              </a:rPr>
              <a:t>w</a:t>
            </a:r>
            <a:pPr indent="0" marL="0">
              <a:buNone/>
            </a:pPr>
            <a:r>
              <a:rPr lang="en-US" sz="2000" dirty="0">
                <a:solidFill>
                  <a:srgbClr val="111111"/>
                </a:solidFill>
                <a:latin typeface="Arial" pitchFamily="34" charset="0"/>
                <a:ea typeface="Arial" pitchFamily="34" charset="-122"/>
                <a:cs typeface="Arial" pitchFamily="34" charset="-120"/>
              </a:rPr>
              <a:t>J = (1/n) X</a:t>
            </a:r>
            <a:pPr indent="0" marL="0">
              <a:buNone/>
            </a:pPr>
            <a:r>
              <a:rPr lang="en-US" sz="2000" baseline="30000" dirty="0">
                <a:solidFill>
                  <a:srgbClr val="111111"/>
                </a:solidFill>
                <a:latin typeface="Arial" pitchFamily="34" charset="0"/>
                <a:ea typeface="Arial" pitchFamily="34" charset="-122"/>
                <a:cs typeface="Arial" pitchFamily="34" charset="-120"/>
              </a:rPr>
              <a:t>T</a:t>
            </a:r>
            <a:pPr indent="0" marL="0">
              <a:buNone/>
            </a:pPr>
            <a:r>
              <a:rPr lang="en-US" sz="2000" dirty="0">
                <a:solidFill>
                  <a:srgbClr val="111111"/>
                </a:solidFill>
                <a:latin typeface="Arial" pitchFamily="34" charset="0"/>
                <a:ea typeface="Arial" pitchFamily="34" charset="-122"/>
                <a:cs typeface="Arial" pitchFamily="34" charset="-120"/>
              </a:rPr>
              <a:t>(ŷ − y)</a:t>
            </a:r>
            <a:endParaRPr lang="en-US" sz="2000" dirty="0"/>
          </a:p>
        </p:txBody>
      </p:sp>
      <p:sp>
        <p:nvSpPr>
          <p:cNvPr id="8" name="Text 6"/>
          <p:cNvSpPr txBox="1"/>
          <p:nvPr/>
        </p:nvSpPr>
        <p:spPr>
          <a:xfrm>
            <a:off x="667512" y="3493008"/>
            <a:ext cx="585216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Cập nhật đồng thời</a:t>
            </a:r>
            <a:endParaRPr lang="en-US" sz="1100" dirty="0"/>
          </a:p>
        </p:txBody>
      </p:sp>
      <p:sp>
        <p:nvSpPr>
          <p:cNvPr id="9" name="Text 7"/>
          <p:cNvSpPr txBox="1"/>
          <p:nvPr/>
        </p:nvSpPr>
        <p:spPr>
          <a:xfrm>
            <a:off x="667512" y="3767328"/>
            <a:ext cx="6309360" cy="457200"/>
          </a:xfrm>
          <a:prstGeom prst="rect">
            <a:avLst/>
          </a:prstGeom>
          <a:noFill/>
          <a:ln/>
        </p:spPr>
        <p:txBody>
          <a:bodyPr wrap="square" lIns="0" tIns="0" rIns="0" bIns="0" rtlCol="0" anchor="t"/>
          <a:lstStyle/>
          <a:p>
            <a:pPr indent="0" marL="0">
              <a:buNone/>
            </a:pPr>
            <a:r>
              <a:rPr lang="en-US" sz="2000" dirty="0">
                <a:solidFill>
                  <a:srgbClr val="111111"/>
                </a:solidFill>
                <a:latin typeface="Arial" pitchFamily="34" charset="0"/>
                <a:ea typeface="Arial" pitchFamily="34" charset="-122"/>
                <a:cs typeface="Arial" pitchFamily="34" charset="-120"/>
              </a:rPr>
              <a:t>w</a:t>
            </a:r>
            <a:pPr indent="0" marL="0">
              <a:buNone/>
            </a:pPr>
            <a:r>
              <a:rPr lang="en-US" sz="2000" baseline="30000" dirty="0">
                <a:solidFill>
                  <a:srgbClr val="111111"/>
                </a:solidFill>
                <a:latin typeface="Arial" pitchFamily="34" charset="0"/>
                <a:ea typeface="Arial" pitchFamily="34" charset="-122"/>
                <a:cs typeface="Arial" pitchFamily="34" charset="-120"/>
              </a:rPr>
              <a:t>(t+1)</a:t>
            </a:r>
            <a:pPr indent="0" marL="0">
              <a:buNone/>
            </a:pPr>
            <a:r>
              <a:rPr lang="en-US" sz="2000" dirty="0">
                <a:solidFill>
                  <a:srgbClr val="111111"/>
                </a:solidFill>
                <a:latin typeface="Arial" pitchFamily="34" charset="0"/>
                <a:ea typeface="Arial" pitchFamily="34" charset="-122"/>
                <a:cs typeface="Arial" pitchFamily="34" charset="-120"/>
              </a:rPr>
              <a:t> = w</a:t>
            </a:r>
            <a:pPr indent="0" marL="0">
              <a:buNone/>
            </a:pPr>
            <a:r>
              <a:rPr lang="en-US" sz="2000" baseline="30000" dirty="0">
                <a:solidFill>
                  <a:srgbClr val="111111"/>
                </a:solidFill>
                <a:latin typeface="Arial" pitchFamily="34" charset="0"/>
                <a:ea typeface="Arial" pitchFamily="34" charset="-122"/>
                <a:cs typeface="Arial" pitchFamily="34" charset="-120"/>
              </a:rPr>
              <a:t>(t)</a:t>
            </a:r>
            <a:pPr indent="0" marL="0">
              <a:buNone/>
            </a:pPr>
            <a:r>
              <a:rPr lang="en-US" sz="2000" dirty="0">
                <a:solidFill>
                  <a:srgbClr val="111111"/>
                </a:solidFill>
                <a:latin typeface="Arial" pitchFamily="34" charset="0"/>
                <a:ea typeface="Arial" pitchFamily="34" charset="-122"/>
                <a:cs typeface="Arial" pitchFamily="34" charset="-120"/>
              </a:rPr>
              <a:t> − η · (1/n) X</a:t>
            </a:r>
            <a:pPr indent="0" marL="0">
              <a:buNone/>
            </a:pPr>
            <a:r>
              <a:rPr lang="en-US" sz="2000" baseline="30000" dirty="0">
                <a:solidFill>
                  <a:srgbClr val="111111"/>
                </a:solidFill>
                <a:latin typeface="Arial" pitchFamily="34" charset="0"/>
                <a:ea typeface="Arial" pitchFamily="34" charset="-122"/>
                <a:cs typeface="Arial" pitchFamily="34" charset="-120"/>
              </a:rPr>
              <a:t>T</a:t>
            </a:r>
            <a:pPr indent="0" marL="0">
              <a:buNone/>
            </a:pPr>
            <a:r>
              <a:rPr lang="en-US" sz="2000" dirty="0">
                <a:solidFill>
                  <a:srgbClr val="111111"/>
                </a:solidFill>
                <a:latin typeface="Arial" pitchFamily="34" charset="0"/>
                <a:ea typeface="Arial" pitchFamily="34" charset="-122"/>
                <a:cs typeface="Arial" pitchFamily="34" charset="-120"/>
              </a:rPr>
              <a:t>e</a:t>
            </a:r>
            <a:pPr indent="0" marL="0">
              <a:buNone/>
            </a:pPr>
            <a:r>
              <a:rPr lang="en-US" sz="2000" baseline="30000" dirty="0">
                <a:solidFill>
                  <a:srgbClr val="111111"/>
                </a:solidFill>
                <a:latin typeface="Arial" pitchFamily="34" charset="0"/>
                <a:ea typeface="Arial" pitchFamily="34" charset="-122"/>
                <a:cs typeface="Arial" pitchFamily="34" charset="-120"/>
              </a:rPr>
              <a:t>(t)</a:t>
            </a:r>
            <a:endParaRPr lang="en-US" sz="2000" dirty="0"/>
          </a:p>
        </p:txBody>
      </p:sp>
      <p:sp>
        <p:nvSpPr>
          <p:cNvPr id="10" name="Shape 8"/>
          <p:cNvSpPr/>
          <p:nvPr/>
        </p:nvSpPr>
        <p:spPr>
          <a:xfrm>
            <a:off x="6355080" y="1627632"/>
            <a:ext cx="0" cy="2788920"/>
          </a:xfrm>
          <a:prstGeom prst="line">
            <a:avLst/>
          </a:prstGeom>
          <a:noFill/>
          <a:ln w="9525">
            <a:solidFill>
              <a:srgbClr val="D5D5D5"/>
            </a:solidFill>
            <a:prstDash val="solid"/>
          </a:ln>
        </p:spPr>
      </p:sp>
      <p:sp>
        <p:nvSpPr>
          <p:cNvPr id="11" name="Text 9"/>
          <p:cNvSpPr txBox="1"/>
          <p:nvPr/>
        </p:nvSpPr>
        <p:spPr>
          <a:xfrm>
            <a:off x="6629400" y="1627632"/>
            <a:ext cx="4892040" cy="4517136"/>
          </a:xfrm>
          <a:prstGeom prst="rect">
            <a:avLst/>
          </a:prstGeom>
          <a:noFill/>
          <a:ln/>
        </p:spPr>
        <p:txBody>
          <a:bodyPr wrap="square" lIns="0" tIns="0" rIns="0" bIns="0" rtlCol="0" anchor="t"/>
          <a:lstStyle/>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Khởi tạo </a:t>
            </a:r>
            <a:endParaRPr lang="en-US" sz="1700" dirty="0"/>
          </a:p>
          <a:p>
            <a:pPr marL="342900" indent="-342900">
              <a:lnSpc>
                <a:spcPct val="106000"/>
              </a:lnSpc>
              <a:spcAft>
                <a:spcPts val="1500"/>
              </a:spcAft>
              <a:buSzPct val="100000"/>
              <a:buChar char="–"/>
            </a:pPr>
            <a:r>
              <a:rPr lang="en-US" sz="1700" b="1" dirty="0">
                <a:solidFill>
                  <a:srgbClr val="111111"/>
                </a:solidFill>
                <a:latin typeface="Arial" pitchFamily="34" charset="0"/>
                <a:ea typeface="Arial" pitchFamily="34" charset="-122"/>
                <a:cs typeface="Arial" pitchFamily="34" charset="-120"/>
              </a:rPr>
              <a:t>w = 0, b = 0</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 tốc độ học </a:t>
            </a:r>
            <a:endParaRPr lang="en-US" sz="1700" dirty="0"/>
          </a:p>
          <a:p>
            <a:pPr marL="342900" indent="-342900">
              <a:lnSpc>
                <a:spcPct val="106000"/>
              </a:lnSpc>
              <a:spcAft>
                <a:spcPts val="1500"/>
              </a:spcAft>
              <a:buSzPct val="100000"/>
              <a:buChar char="–"/>
            </a:pPr>
            <a:r>
              <a:rPr lang="en-US" sz="1700" b="1" dirty="0">
                <a:solidFill>
                  <a:srgbClr val="111111"/>
                </a:solidFill>
                <a:latin typeface="Arial" pitchFamily="34" charset="0"/>
                <a:ea typeface="Arial" pitchFamily="34" charset="-122"/>
                <a:cs typeface="Arial" pitchFamily="34" charset="-120"/>
              </a:rPr>
              <a:t>η = 0.3</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Dừng khi </a:t>
            </a:r>
            <a:endParaRPr lang="en-US" sz="1700" dirty="0"/>
          </a:p>
          <a:p>
            <a:pPr marL="342900" indent="-342900">
              <a:lnSpc>
                <a:spcPct val="106000"/>
              </a:lnSpc>
              <a:spcAft>
                <a:spcPts val="1500"/>
              </a:spcAft>
              <a:buSzPct val="100000"/>
              <a:buChar char="–"/>
            </a:pPr>
            <a:r>
              <a:rPr lang="en-US" sz="1700" b="1" dirty="0">
                <a:solidFill>
                  <a:srgbClr val="111111"/>
                </a:solidFill>
                <a:latin typeface="Arial" pitchFamily="34" charset="0"/>
                <a:ea typeface="Arial" pitchFamily="34" charset="-122"/>
                <a:cs typeface="Arial" pitchFamily="34" charset="-120"/>
              </a:rPr>
              <a:t>chuẩn gradient ≤ 10</a:t>
            </a:r>
            <a:endParaRPr lang="en-US" sz="1700" dirty="0"/>
          </a:p>
          <a:p>
            <a:pPr marL="342900" indent="-342900">
              <a:lnSpc>
                <a:spcPct val="106000"/>
              </a:lnSpc>
              <a:spcAft>
                <a:spcPts val="1500"/>
              </a:spcAft>
              <a:buSzPct val="100000"/>
              <a:buChar char="–"/>
            </a:pPr>
            <a:r>
              <a:rPr lang="en-US" sz="1700" baseline="30000" dirty="0">
                <a:solidFill>
                  <a:srgbClr val="111111"/>
                </a:solidFill>
                <a:latin typeface="Arial" pitchFamily="34" charset="0"/>
                <a:ea typeface="Arial" pitchFamily="34" charset="-122"/>
                <a:cs typeface="Arial" pitchFamily="34" charset="-120"/>
              </a:rPr>
              <a:t>−8</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 — chỉ dùng dữ liệu huấn luyện</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Hội tụ sau </a:t>
            </a:r>
            <a:endParaRPr lang="en-US" sz="1700" dirty="0"/>
          </a:p>
          <a:p>
            <a:pPr marL="342900" indent="-342900">
              <a:lnSpc>
                <a:spcPct val="106000"/>
              </a:lnSpc>
              <a:spcAft>
                <a:spcPts val="1500"/>
              </a:spcAft>
              <a:buSzPct val="100000"/>
              <a:buChar char="–"/>
            </a:pPr>
            <a:r>
              <a:rPr lang="en-US" sz="1700" b="1" dirty="0">
                <a:solidFill>
                  <a:srgbClr val="111111"/>
                </a:solidFill>
                <a:latin typeface="Arial" pitchFamily="34" charset="0"/>
                <a:ea typeface="Arial" pitchFamily="34" charset="-122"/>
                <a:cs typeface="Arial" pitchFamily="34" charset="-120"/>
              </a:rPr>
              <a:t>1175 vòng</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 trên 480 mẫu train</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Gradient được kiểm chứng bằng </a:t>
            </a:r>
            <a:endParaRPr lang="en-US" sz="1700" dirty="0"/>
          </a:p>
          <a:p>
            <a:pPr marL="342900" indent="-342900">
              <a:lnSpc>
                <a:spcPct val="106000"/>
              </a:lnSpc>
              <a:spcAft>
                <a:spcPts val="1500"/>
              </a:spcAft>
              <a:buSzPct val="100000"/>
              <a:buChar char="–"/>
            </a:pPr>
            <a:r>
              <a:rPr lang="en-US" sz="1700" b="1" dirty="0">
                <a:solidFill>
                  <a:srgbClr val="111111"/>
                </a:solidFill>
                <a:latin typeface="Arial" pitchFamily="34" charset="0"/>
                <a:ea typeface="Arial" pitchFamily="34" charset="-122"/>
                <a:cs typeface="Arial" pitchFamily="34" charset="-120"/>
              </a:rPr>
              <a:t>sai phân trung tâm</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 dung sai 10</a:t>
            </a:r>
            <a:endParaRPr lang="en-US" sz="1700" dirty="0"/>
          </a:p>
          <a:p>
            <a:pPr marL="342900" indent="-342900">
              <a:lnSpc>
                <a:spcPct val="106000"/>
              </a:lnSpc>
              <a:spcAft>
                <a:spcPts val="1500"/>
              </a:spcAft>
              <a:buSzPct val="100000"/>
              <a:buChar char="–"/>
            </a:pPr>
            <a:r>
              <a:rPr lang="en-US" sz="1700" baseline="30000" dirty="0">
                <a:solidFill>
                  <a:srgbClr val="111111"/>
                </a:solidFill>
                <a:latin typeface="Arial" pitchFamily="34" charset="0"/>
                <a:ea typeface="Arial" pitchFamily="34" charset="-122"/>
                <a:cs typeface="Arial" pitchFamily="34" charset="-120"/>
              </a:rPr>
              <a:t>−6</a:t>
            </a:r>
            <a:endParaRPr lang="en-US" sz="1700" dirty="0"/>
          </a:p>
        </p:txBody>
      </p:sp>
      <p:sp>
        <p:nvSpPr>
          <p:cNvPr id="12" name="Text 10"/>
          <p:cNvSpPr txBox="1"/>
          <p:nvPr/>
        </p:nvSpPr>
        <p:spPr>
          <a:xfrm>
            <a:off x="667512" y="4617720"/>
            <a:ext cx="6309360" cy="822960"/>
          </a:xfrm>
          <a:prstGeom prst="rect">
            <a:avLst/>
          </a:prstGeom>
          <a:noFill/>
          <a:ln/>
        </p:spPr>
        <p:txBody>
          <a:bodyPr wrap="square" lIns="0" tIns="0" rIns="0" bIns="0" rtlCol="0" anchor="t"/>
          <a:lstStyle/>
          <a:p>
            <a:pPr algn="l" indent="0" marL="0">
              <a:lnSpc>
                <a:spcPct val="130000"/>
              </a:lnSpc>
              <a:buNone/>
            </a:pPr>
            <a:r>
              <a:rPr lang="en-US" sz="1400" dirty="0">
                <a:solidFill>
                  <a:srgbClr val="6B6B6B"/>
                </a:solidFill>
                <a:latin typeface="Arial" pitchFamily="34" charset="0"/>
                <a:ea typeface="Arial" pitchFamily="34" charset="-122"/>
                <a:cs typeface="Arial" pitchFamily="34" charset="-120"/>
              </a:rPr>
              <a:t>Cả hai gradient được tính trước khi cập nhật tham số (full-batch). Không bao giờ dùng chỉ số test để quyết định dừng.</a:t>
            </a:r>
            <a:endParaRPr lang="en-US" sz="14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1 · HỒI QUY LOGISTIC</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Xác suất, cross-entropy và gradient</a:t>
            </a:r>
            <a:endParaRPr lang="en-US" sz="2600" dirty="0"/>
          </a:p>
        </p:txBody>
      </p:sp>
      <p:sp>
        <p:nvSpPr>
          <p:cNvPr id="4" name="Text 2"/>
          <p:cNvSpPr txBox="1"/>
          <p:nvPr/>
        </p:nvSpPr>
        <p:spPr>
          <a:xfrm>
            <a:off x="667512" y="1682496"/>
            <a:ext cx="585216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Mô hình xác suất</a:t>
            </a:r>
            <a:endParaRPr lang="en-US" sz="1100" dirty="0"/>
          </a:p>
        </p:txBody>
      </p:sp>
      <p:sp>
        <p:nvSpPr>
          <p:cNvPr id="5" name="Text 3"/>
          <p:cNvSpPr txBox="1"/>
          <p:nvPr/>
        </p:nvSpPr>
        <p:spPr>
          <a:xfrm>
            <a:off x="667512" y="1956816"/>
            <a:ext cx="6583680" cy="411480"/>
          </a:xfrm>
          <a:prstGeom prst="rect">
            <a:avLst/>
          </a:prstGeom>
          <a:noFill/>
          <a:ln/>
        </p:spPr>
        <p:txBody>
          <a:bodyPr wrap="square" lIns="0" tIns="0" rIns="0" bIns="0" rtlCol="0" anchor="t"/>
          <a:lstStyle/>
          <a:p>
            <a:pPr indent="0" marL="0">
              <a:buNone/>
            </a:pPr>
            <a:r>
              <a:rPr lang="en-US" sz="2100" dirty="0">
                <a:solidFill>
                  <a:srgbClr val="111111"/>
                </a:solidFill>
                <a:latin typeface="Arial" pitchFamily="34" charset="0"/>
                <a:ea typeface="Arial" pitchFamily="34" charset="-122"/>
                <a:cs typeface="Arial" pitchFamily="34" charset="-120"/>
              </a:rPr>
              <a:t>z = w</a:t>
            </a:r>
            <a:pPr indent="0" marL="0">
              <a:buNone/>
            </a:pPr>
            <a:r>
              <a:rPr lang="en-US" sz="2100" baseline="30000" dirty="0">
                <a:solidFill>
                  <a:srgbClr val="111111"/>
                </a:solidFill>
                <a:latin typeface="Arial" pitchFamily="34" charset="0"/>
                <a:ea typeface="Arial" pitchFamily="34" charset="-122"/>
                <a:cs typeface="Arial" pitchFamily="34" charset="-120"/>
              </a:rPr>
              <a:t>T</a:t>
            </a:r>
            <a:pPr indent="0" marL="0">
              <a:buNone/>
            </a:pPr>
            <a:r>
              <a:rPr lang="en-US" sz="2100" dirty="0">
                <a:solidFill>
                  <a:srgbClr val="111111"/>
                </a:solidFill>
                <a:latin typeface="Arial" pitchFamily="34" charset="0"/>
                <a:ea typeface="Arial" pitchFamily="34" charset="-122"/>
                <a:cs typeface="Arial" pitchFamily="34" charset="-120"/>
              </a:rPr>
              <a:t>x + b     ⇒     p = σ(z) = 1 / (1 + e</a:t>
            </a:r>
            <a:pPr indent="0" marL="0">
              <a:buNone/>
            </a:pPr>
            <a:r>
              <a:rPr lang="en-US" sz="2100" baseline="30000" dirty="0">
                <a:solidFill>
                  <a:srgbClr val="111111"/>
                </a:solidFill>
                <a:latin typeface="Arial" pitchFamily="34" charset="0"/>
                <a:ea typeface="Arial" pitchFamily="34" charset="-122"/>
                <a:cs typeface="Arial" pitchFamily="34" charset="-120"/>
              </a:rPr>
              <a:t>−z</a:t>
            </a:r>
            <a:pPr indent="0" marL="0">
              <a:buNone/>
            </a:pPr>
            <a:r>
              <a:rPr lang="en-US" sz="2100" dirty="0">
                <a:solidFill>
                  <a:srgbClr val="111111"/>
                </a:solidFill>
                <a:latin typeface="Arial" pitchFamily="34" charset="0"/>
                <a:ea typeface="Arial" pitchFamily="34" charset="-122"/>
                <a:cs typeface="Arial" pitchFamily="34" charset="-120"/>
              </a:rPr>
              <a:t>)</a:t>
            </a:r>
            <a:endParaRPr lang="en-US" sz="2100" dirty="0"/>
          </a:p>
        </p:txBody>
      </p:sp>
      <p:sp>
        <p:nvSpPr>
          <p:cNvPr id="6" name="Text 4"/>
          <p:cNvSpPr txBox="1"/>
          <p:nvPr/>
        </p:nvSpPr>
        <p:spPr>
          <a:xfrm>
            <a:off x="667512" y="2487168"/>
            <a:ext cx="6400800" cy="365760"/>
          </a:xfrm>
          <a:prstGeom prst="rect">
            <a:avLst/>
          </a:prstGeom>
          <a:noFill/>
          <a:ln/>
        </p:spPr>
        <p:txBody>
          <a:bodyPr wrap="square" lIns="0" tIns="0" rIns="0" bIns="0" rtlCol="0" anchor="t"/>
          <a:lstStyle/>
          <a:p>
            <a:pPr indent="0" marL="0">
              <a:buNone/>
            </a:pPr>
            <a:r>
              <a:rPr lang="en-US" sz="1700" dirty="0">
                <a:solidFill>
                  <a:srgbClr val="6B6B6B"/>
                </a:solidFill>
                <a:latin typeface="Arial" pitchFamily="34" charset="0"/>
                <a:ea typeface="Arial" pitchFamily="34" charset="-122"/>
                <a:cs typeface="Arial" pitchFamily="34" charset="-120"/>
              </a:rPr>
              <a:t>log (p / (1 − p)) = w</a:t>
            </a:r>
            <a:pPr indent="0" marL="0">
              <a:buNone/>
            </a:pPr>
            <a:r>
              <a:rPr lang="en-US" sz="1700" baseline="30000" dirty="0">
                <a:solidFill>
                  <a:srgbClr val="6B6B6B"/>
                </a:solidFill>
                <a:latin typeface="Arial" pitchFamily="34" charset="0"/>
                <a:ea typeface="Arial" pitchFamily="34" charset="-122"/>
                <a:cs typeface="Arial" pitchFamily="34" charset="-120"/>
              </a:rPr>
              <a:t>T</a:t>
            </a:r>
            <a:pPr indent="0" marL="0">
              <a:buNone/>
            </a:pPr>
            <a:r>
              <a:rPr lang="en-US" sz="1700" dirty="0">
                <a:solidFill>
                  <a:srgbClr val="6B6B6B"/>
                </a:solidFill>
                <a:latin typeface="Arial" pitchFamily="34" charset="0"/>
                <a:ea typeface="Arial" pitchFamily="34" charset="-122"/>
                <a:cs typeface="Arial" pitchFamily="34" charset="-120"/>
              </a:rPr>
              <a:t>x + b   →   biên quyết định tuyến tính</a:t>
            </a:r>
            <a:endParaRPr lang="en-US" sz="1700" dirty="0"/>
          </a:p>
        </p:txBody>
      </p:sp>
      <p:sp>
        <p:nvSpPr>
          <p:cNvPr id="7" name="Text 5"/>
          <p:cNvSpPr txBox="1"/>
          <p:nvPr/>
        </p:nvSpPr>
        <p:spPr>
          <a:xfrm>
            <a:off x="667512" y="3054096"/>
            <a:ext cx="585216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Mất mát: cross-entropy nhị phân</a:t>
            </a:r>
            <a:endParaRPr lang="en-US" sz="1100" dirty="0"/>
          </a:p>
        </p:txBody>
      </p:sp>
      <p:sp>
        <p:nvSpPr>
          <p:cNvPr id="8" name="Text 6"/>
          <p:cNvSpPr txBox="1"/>
          <p:nvPr/>
        </p:nvSpPr>
        <p:spPr>
          <a:xfrm>
            <a:off x="667512" y="3328416"/>
            <a:ext cx="6583680" cy="457200"/>
          </a:xfrm>
          <a:prstGeom prst="rect">
            <a:avLst/>
          </a:prstGeom>
          <a:noFill/>
          <a:ln/>
        </p:spPr>
        <p:txBody>
          <a:bodyPr wrap="square" lIns="0" tIns="0" rIns="0" bIns="0" rtlCol="0" anchor="t"/>
          <a:lstStyle/>
          <a:p>
            <a:pPr indent="0" marL="0">
              <a:buNone/>
            </a:pPr>
            <a:r>
              <a:rPr lang="en-US" sz="1900" dirty="0">
                <a:solidFill>
                  <a:srgbClr val="111111"/>
                </a:solidFill>
                <a:latin typeface="Arial" pitchFamily="34" charset="0"/>
                <a:ea typeface="Arial" pitchFamily="34" charset="-122"/>
                <a:cs typeface="Arial" pitchFamily="34" charset="-120"/>
              </a:rPr>
              <a:t>J = −(1/n) Σ</a:t>
            </a:r>
            <a:pPr indent="0" marL="0">
              <a:buNone/>
            </a:pPr>
            <a:r>
              <a:rPr lang="en-US" sz="1900" baseline="-40000" dirty="0">
                <a:solidFill>
                  <a:srgbClr val="111111"/>
                </a:solidFill>
                <a:latin typeface="Arial" pitchFamily="34" charset="0"/>
                <a:ea typeface="Arial" pitchFamily="34" charset="-122"/>
                <a:cs typeface="Arial" pitchFamily="34" charset="-120"/>
              </a:rPr>
              <a:t>i</a:t>
            </a:r>
            <a:pPr indent="0" marL="0">
              <a:buNone/>
            </a:pPr>
            <a:r>
              <a:rPr lang="en-US" sz="1900" dirty="0">
                <a:solidFill>
                  <a:srgbClr val="111111"/>
                </a:solidFill>
                <a:latin typeface="Arial" pitchFamily="34" charset="0"/>
                <a:ea typeface="Arial" pitchFamily="34" charset="-122"/>
                <a:cs typeface="Arial" pitchFamily="34" charset="-120"/>
              </a:rPr>
              <a:t> [ y</a:t>
            </a:r>
            <a:pPr indent="0" marL="0">
              <a:buNone/>
            </a:pPr>
            <a:r>
              <a:rPr lang="en-US" sz="1900" baseline="-40000" dirty="0">
                <a:solidFill>
                  <a:srgbClr val="111111"/>
                </a:solidFill>
                <a:latin typeface="Arial" pitchFamily="34" charset="0"/>
                <a:ea typeface="Arial" pitchFamily="34" charset="-122"/>
                <a:cs typeface="Arial" pitchFamily="34" charset="-120"/>
              </a:rPr>
              <a:t>i</a:t>
            </a:r>
            <a:pPr indent="0" marL="0">
              <a:buNone/>
            </a:pPr>
            <a:r>
              <a:rPr lang="en-US" sz="1900" dirty="0">
                <a:solidFill>
                  <a:srgbClr val="111111"/>
                </a:solidFill>
                <a:latin typeface="Arial" pitchFamily="34" charset="0"/>
                <a:ea typeface="Arial" pitchFamily="34" charset="-122"/>
                <a:cs typeface="Arial" pitchFamily="34" charset="-120"/>
              </a:rPr>
              <a:t> log p</a:t>
            </a:r>
            <a:pPr indent="0" marL="0">
              <a:buNone/>
            </a:pPr>
            <a:r>
              <a:rPr lang="en-US" sz="1900" baseline="-40000" dirty="0">
                <a:solidFill>
                  <a:srgbClr val="111111"/>
                </a:solidFill>
                <a:latin typeface="Arial" pitchFamily="34" charset="0"/>
                <a:ea typeface="Arial" pitchFamily="34" charset="-122"/>
                <a:cs typeface="Arial" pitchFamily="34" charset="-120"/>
              </a:rPr>
              <a:t>i</a:t>
            </a:r>
            <a:pPr indent="0" marL="0">
              <a:buNone/>
            </a:pPr>
            <a:r>
              <a:rPr lang="en-US" sz="1900" dirty="0">
                <a:solidFill>
                  <a:srgbClr val="111111"/>
                </a:solidFill>
                <a:latin typeface="Arial" pitchFamily="34" charset="0"/>
                <a:ea typeface="Arial" pitchFamily="34" charset="-122"/>
                <a:cs typeface="Arial" pitchFamily="34" charset="-120"/>
              </a:rPr>
              <a:t> + (1 − y</a:t>
            </a:r>
            <a:pPr indent="0" marL="0">
              <a:buNone/>
            </a:pPr>
            <a:r>
              <a:rPr lang="en-US" sz="1900" baseline="-40000" dirty="0">
                <a:solidFill>
                  <a:srgbClr val="111111"/>
                </a:solidFill>
                <a:latin typeface="Arial" pitchFamily="34" charset="0"/>
                <a:ea typeface="Arial" pitchFamily="34" charset="-122"/>
                <a:cs typeface="Arial" pitchFamily="34" charset="-120"/>
              </a:rPr>
              <a:t>i</a:t>
            </a:r>
            <a:pPr indent="0" marL="0">
              <a:buNone/>
            </a:pPr>
            <a:r>
              <a:rPr lang="en-US" sz="1900" dirty="0">
                <a:solidFill>
                  <a:srgbClr val="111111"/>
                </a:solidFill>
                <a:latin typeface="Arial" pitchFamily="34" charset="0"/>
                <a:ea typeface="Arial" pitchFamily="34" charset="-122"/>
                <a:cs typeface="Arial" pitchFamily="34" charset="-120"/>
              </a:rPr>
              <a:t>) log (1 − p</a:t>
            </a:r>
            <a:pPr indent="0" marL="0">
              <a:buNone/>
            </a:pPr>
            <a:r>
              <a:rPr lang="en-US" sz="1900" baseline="-40000" dirty="0">
                <a:solidFill>
                  <a:srgbClr val="111111"/>
                </a:solidFill>
                <a:latin typeface="Arial" pitchFamily="34" charset="0"/>
                <a:ea typeface="Arial" pitchFamily="34" charset="-122"/>
                <a:cs typeface="Arial" pitchFamily="34" charset="-120"/>
              </a:rPr>
              <a:t>i</a:t>
            </a:r>
            <a:pPr indent="0" marL="0">
              <a:buNone/>
            </a:pPr>
            <a:r>
              <a:rPr lang="en-US" sz="1900" dirty="0">
                <a:solidFill>
                  <a:srgbClr val="111111"/>
                </a:solidFill>
                <a:latin typeface="Arial" pitchFamily="34" charset="0"/>
                <a:ea typeface="Arial" pitchFamily="34" charset="-122"/>
                <a:cs typeface="Arial" pitchFamily="34" charset="-120"/>
              </a:rPr>
              <a:t>) ]</a:t>
            </a:r>
            <a:endParaRPr lang="en-US" sz="1900" dirty="0"/>
          </a:p>
        </p:txBody>
      </p:sp>
      <p:sp>
        <p:nvSpPr>
          <p:cNvPr id="9" name="Shape 7"/>
          <p:cNvSpPr/>
          <p:nvPr/>
        </p:nvSpPr>
        <p:spPr>
          <a:xfrm>
            <a:off x="6903720" y="1627632"/>
            <a:ext cx="0" cy="2395728"/>
          </a:xfrm>
          <a:prstGeom prst="line">
            <a:avLst/>
          </a:prstGeom>
          <a:noFill/>
          <a:ln w="9525">
            <a:solidFill>
              <a:srgbClr val="D5D5D5"/>
            </a:solidFill>
            <a:prstDash val="solid"/>
          </a:ln>
        </p:spPr>
      </p:sp>
      <p:sp>
        <p:nvSpPr>
          <p:cNvPr id="10" name="Text 8"/>
          <p:cNvSpPr txBox="1"/>
          <p:nvPr/>
        </p:nvSpPr>
        <p:spPr>
          <a:xfrm>
            <a:off x="7178040" y="1664208"/>
            <a:ext cx="4389120" cy="365760"/>
          </a:xfrm>
          <a:prstGeom prst="rect">
            <a:avLst/>
          </a:prstGeom>
          <a:noFill/>
          <a:ln/>
        </p:spPr>
        <p:txBody>
          <a:bodyPr wrap="square" lIns="0" tIns="0" rIns="0" bIns="0" rtlCol="0" anchor="t"/>
          <a:lstStyle/>
          <a:p>
            <a:pPr indent="0" marL="0">
              <a:buNone/>
            </a:pPr>
            <a:r>
              <a:rPr lang="en-US" sz="1700" dirty="0">
                <a:solidFill>
                  <a:srgbClr val="111111"/>
                </a:solidFill>
                <a:latin typeface="Arial" pitchFamily="34" charset="0"/>
                <a:ea typeface="Arial" pitchFamily="34" charset="-122"/>
                <a:cs typeface="Arial" pitchFamily="34" charset="-120"/>
              </a:rPr>
              <a:t>σ′(z) = σ(z)(1 − σ(z))</a:t>
            </a:r>
            <a:endParaRPr lang="en-US" sz="1700" dirty="0"/>
          </a:p>
        </p:txBody>
      </p:sp>
      <p:sp>
        <p:nvSpPr>
          <p:cNvPr id="11" name="Text 9"/>
          <p:cNvSpPr txBox="1"/>
          <p:nvPr/>
        </p:nvSpPr>
        <p:spPr>
          <a:xfrm>
            <a:off x="7178040" y="2121408"/>
            <a:ext cx="4389120" cy="365760"/>
          </a:xfrm>
          <a:prstGeom prst="rect">
            <a:avLst/>
          </a:prstGeom>
          <a:noFill/>
          <a:ln/>
        </p:spPr>
        <p:txBody>
          <a:bodyPr wrap="square" lIns="0" tIns="0" rIns="0" bIns="0" rtlCol="0" anchor="t"/>
          <a:lstStyle/>
          <a:p>
            <a:pPr indent="0" marL="0">
              <a:buNone/>
            </a:pPr>
            <a:r>
              <a:rPr lang="en-US" sz="1900" dirty="0">
                <a:solidFill>
                  <a:srgbClr val="111111"/>
                </a:solidFill>
                <a:latin typeface="Arial" pitchFamily="34" charset="0"/>
                <a:ea typeface="Arial" pitchFamily="34" charset="-122"/>
                <a:cs typeface="Arial" pitchFamily="34" charset="-120"/>
              </a:rPr>
              <a:t>⇒  ∂ℓ/∂z = p − y</a:t>
            </a:r>
            <a:endParaRPr lang="en-US" sz="1900" dirty="0"/>
          </a:p>
        </p:txBody>
      </p:sp>
      <p:sp>
        <p:nvSpPr>
          <p:cNvPr id="12" name="Text 10"/>
          <p:cNvSpPr txBox="1"/>
          <p:nvPr/>
        </p:nvSpPr>
        <p:spPr>
          <a:xfrm>
            <a:off x="7178040" y="2596896"/>
            <a:ext cx="4389120" cy="411480"/>
          </a:xfrm>
          <a:prstGeom prst="rect">
            <a:avLst/>
          </a:prstGeom>
          <a:noFill/>
          <a:ln/>
        </p:spPr>
        <p:txBody>
          <a:bodyPr wrap="square" lIns="0" tIns="0" rIns="0" bIns="0" rtlCol="0" anchor="t"/>
          <a:lstStyle/>
          <a:p>
            <a:pPr indent="0" marL="0">
              <a:buNone/>
            </a:pPr>
            <a:r>
              <a:rPr lang="en-US" sz="1800" dirty="0">
                <a:solidFill>
                  <a:srgbClr val="111111"/>
                </a:solidFill>
                <a:latin typeface="Arial" pitchFamily="34" charset="0"/>
                <a:ea typeface="Arial" pitchFamily="34" charset="-122"/>
                <a:cs typeface="Arial" pitchFamily="34" charset="-120"/>
              </a:rPr>
              <a:t>∇</a:t>
            </a:r>
            <a:pPr indent="0" marL="0">
              <a:buNone/>
            </a:pPr>
            <a:r>
              <a:rPr lang="en-US" sz="1800" baseline="-40000" dirty="0">
                <a:solidFill>
                  <a:srgbClr val="111111"/>
                </a:solidFill>
                <a:latin typeface="Arial" pitchFamily="34" charset="0"/>
                <a:ea typeface="Arial" pitchFamily="34" charset="-122"/>
                <a:cs typeface="Arial" pitchFamily="34" charset="-120"/>
              </a:rPr>
              <a:t>w</a:t>
            </a:r>
            <a:pPr indent="0" marL="0">
              <a:buNone/>
            </a:pPr>
            <a:r>
              <a:rPr lang="en-US" sz="1800" dirty="0">
                <a:solidFill>
                  <a:srgbClr val="111111"/>
                </a:solidFill>
                <a:latin typeface="Arial" pitchFamily="34" charset="0"/>
                <a:ea typeface="Arial" pitchFamily="34" charset="-122"/>
                <a:cs typeface="Arial" pitchFamily="34" charset="-120"/>
              </a:rPr>
              <a:t>J = (1/n) X</a:t>
            </a:r>
            <a:pPr indent="0" marL="0">
              <a:buNone/>
            </a:pPr>
            <a:r>
              <a:rPr lang="en-US" sz="1800" baseline="30000" dirty="0">
                <a:solidFill>
                  <a:srgbClr val="111111"/>
                </a:solidFill>
                <a:latin typeface="Arial" pitchFamily="34" charset="0"/>
                <a:ea typeface="Arial" pitchFamily="34" charset="-122"/>
                <a:cs typeface="Arial" pitchFamily="34" charset="-120"/>
              </a:rPr>
              <a:t>T</a:t>
            </a:r>
            <a:pPr indent="0" marL="0">
              <a:buNone/>
            </a:pPr>
            <a:r>
              <a:rPr lang="en-US" sz="1800" dirty="0">
                <a:solidFill>
                  <a:srgbClr val="111111"/>
                </a:solidFill>
                <a:latin typeface="Arial" pitchFamily="34" charset="0"/>
                <a:ea typeface="Arial" pitchFamily="34" charset="-122"/>
                <a:cs typeface="Arial" pitchFamily="34" charset="-120"/>
              </a:rPr>
              <a:t>(p − y)</a:t>
            </a:r>
            <a:endParaRPr lang="en-US" sz="1800" dirty="0"/>
          </a:p>
        </p:txBody>
      </p:sp>
      <p:sp>
        <p:nvSpPr>
          <p:cNvPr id="13" name="Text 11"/>
          <p:cNvSpPr txBox="1"/>
          <p:nvPr/>
        </p:nvSpPr>
        <p:spPr>
          <a:xfrm>
            <a:off x="7178040" y="3200400"/>
            <a:ext cx="438912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Cập nhật</a:t>
            </a:r>
            <a:endParaRPr lang="en-US" sz="1100" dirty="0"/>
          </a:p>
        </p:txBody>
      </p:sp>
      <p:sp>
        <p:nvSpPr>
          <p:cNvPr id="14" name="Text 12"/>
          <p:cNvSpPr txBox="1"/>
          <p:nvPr/>
        </p:nvSpPr>
        <p:spPr>
          <a:xfrm>
            <a:off x="7178040" y="3474720"/>
            <a:ext cx="4389120" cy="411480"/>
          </a:xfrm>
          <a:prstGeom prst="rect">
            <a:avLst/>
          </a:prstGeom>
          <a:noFill/>
          <a:ln/>
        </p:spPr>
        <p:txBody>
          <a:bodyPr wrap="square" lIns="0" tIns="0" rIns="0" bIns="0" rtlCol="0" anchor="t"/>
          <a:lstStyle/>
          <a:p>
            <a:pPr indent="0" marL="0">
              <a:buNone/>
            </a:pPr>
            <a:r>
              <a:rPr lang="en-US" sz="1800" dirty="0">
                <a:solidFill>
                  <a:srgbClr val="111111"/>
                </a:solidFill>
                <a:latin typeface="Arial" pitchFamily="34" charset="0"/>
                <a:ea typeface="Arial" pitchFamily="34" charset="-122"/>
                <a:cs typeface="Arial" pitchFamily="34" charset="-120"/>
              </a:rPr>
              <a:t>w</a:t>
            </a:r>
            <a:pPr indent="0" marL="0">
              <a:buNone/>
            </a:pPr>
            <a:r>
              <a:rPr lang="en-US" sz="1800" baseline="30000" dirty="0">
                <a:solidFill>
                  <a:srgbClr val="111111"/>
                </a:solidFill>
                <a:latin typeface="Arial" pitchFamily="34" charset="0"/>
                <a:ea typeface="Arial" pitchFamily="34" charset="-122"/>
                <a:cs typeface="Arial" pitchFamily="34" charset="-120"/>
              </a:rPr>
              <a:t>(t+1)</a:t>
            </a:r>
            <a:pPr indent="0" marL="0">
              <a:buNone/>
            </a:pPr>
            <a:r>
              <a:rPr lang="en-US" sz="1800" dirty="0">
                <a:solidFill>
                  <a:srgbClr val="111111"/>
                </a:solidFill>
                <a:latin typeface="Arial" pitchFamily="34" charset="0"/>
                <a:ea typeface="Arial" pitchFamily="34" charset="-122"/>
                <a:cs typeface="Arial" pitchFamily="34" charset="-120"/>
              </a:rPr>
              <a:t> = w</a:t>
            </a:r>
            <a:pPr indent="0" marL="0">
              <a:buNone/>
            </a:pPr>
            <a:r>
              <a:rPr lang="en-US" sz="1800" baseline="30000" dirty="0">
                <a:solidFill>
                  <a:srgbClr val="111111"/>
                </a:solidFill>
                <a:latin typeface="Arial" pitchFamily="34" charset="0"/>
                <a:ea typeface="Arial" pitchFamily="34" charset="-122"/>
                <a:cs typeface="Arial" pitchFamily="34" charset="-120"/>
              </a:rPr>
              <a:t>(t)</a:t>
            </a:r>
            <a:pPr indent="0" marL="0">
              <a:buNone/>
            </a:pPr>
            <a:r>
              <a:rPr lang="en-US" sz="1800" dirty="0">
                <a:solidFill>
                  <a:srgbClr val="111111"/>
                </a:solidFill>
                <a:latin typeface="Arial" pitchFamily="34" charset="0"/>
                <a:ea typeface="Arial" pitchFamily="34" charset="-122"/>
                <a:cs typeface="Arial" pitchFamily="34" charset="-120"/>
              </a:rPr>
              <a:t> − η·(1/n)X</a:t>
            </a:r>
            <a:pPr indent="0" marL="0">
              <a:buNone/>
            </a:pPr>
            <a:r>
              <a:rPr lang="en-US" sz="1800" baseline="30000" dirty="0">
                <a:solidFill>
                  <a:srgbClr val="111111"/>
                </a:solidFill>
                <a:latin typeface="Arial" pitchFamily="34" charset="0"/>
                <a:ea typeface="Arial" pitchFamily="34" charset="-122"/>
                <a:cs typeface="Arial" pitchFamily="34" charset="-120"/>
              </a:rPr>
              <a:t>T</a:t>
            </a:r>
            <a:pPr indent="0" marL="0">
              <a:buNone/>
            </a:pPr>
            <a:r>
              <a:rPr lang="en-US" sz="1800" dirty="0">
                <a:solidFill>
                  <a:srgbClr val="111111"/>
                </a:solidFill>
                <a:latin typeface="Arial" pitchFamily="34" charset="0"/>
                <a:ea typeface="Arial" pitchFamily="34" charset="-122"/>
                <a:cs typeface="Arial" pitchFamily="34" charset="-120"/>
              </a:rPr>
              <a:t>(p − y)</a:t>
            </a:r>
            <a:endParaRPr lang="en-US" sz="1800" dirty="0"/>
          </a:p>
        </p:txBody>
      </p:sp>
      <p:sp>
        <p:nvSpPr>
          <p:cNvPr id="15" name="Shape 13"/>
          <p:cNvSpPr/>
          <p:nvPr/>
        </p:nvSpPr>
        <p:spPr>
          <a:xfrm>
            <a:off x="667512" y="4224528"/>
            <a:ext cx="10853928" cy="0"/>
          </a:xfrm>
          <a:prstGeom prst="line">
            <a:avLst/>
          </a:prstGeom>
          <a:noFill/>
          <a:ln w="9525">
            <a:solidFill>
              <a:srgbClr val="D5D5D5"/>
            </a:solidFill>
            <a:prstDash val="solid"/>
          </a:ln>
        </p:spPr>
      </p:sp>
      <p:sp>
        <p:nvSpPr>
          <p:cNvPr id="16" name="Text 14"/>
          <p:cNvSpPr txBox="1"/>
          <p:nvPr/>
        </p:nvSpPr>
        <p:spPr>
          <a:xfrm>
            <a:off x="667512" y="4370832"/>
            <a:ext cx="10853928" cy="1773936"/>
          </a:xfrm>
          <a:prstGeom prst="rect">
            <a:avLst/>
          </a:prstGeom>
          <a:noFill/>
          <a:ln/>
        </p:spPr>
        <p:txBody>
          <a:bodyPr wrap="square" lIns="0" tIns="0" rIns="0" bIns="0" rtlCol="0" anchor="t"/>
          <a:lstStyle/>
          <a:p>
            <a:pPr marL="342900" indent="-342900">
              <a:lnSpc>
                <a:spcPct val="106000"/>
              </a:lnSpc>
              <a:spcAft>
                <a:spcPts val="800"/>
              </a:spcAft>
              <a:buSzPct val="100000"/>
              <a:buChar char="–"/>
            </a:pPr>
            <a:r>
              <a:rPr lang="en-US" sz="1550" b="1" dirty="0">
                <a:solidFill>
                  <a:srgbClr val="111111"/>
                </a:solidFill>
                <a:latin typeface="Arial" pitchFamily="34" charset="0"/>
                <a:ea typeface="Arial" pitchFamily="34" charset="-122"/>
                <a:cs typeface="Arial" pitchFamily="34" charset="-120"/>
              </a:rPr>
              <a:t>Mẫu số p(1 − p) triệt tiêu</a:t>
            </a:r>
            <a:endParaRPr lang="en-US" sz="1550" dirty="0"/>
          </a:p>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 nên gradient giống hồi quy tuyến tính nhưng thay ŷ bằng p.</a:t>
            </a:r>
            <a:endParaRPr lang="en-US" sz="1550" dirty="0"/>
          </a:p>
          <a:p>
            <a:pPr marL="342900" indent="-342900">
              <a:lnSpc>
                <a:spcPct val="106000"/>
              </a:lnSpc>
              <a:spcAft>
                <a:spcPts val="800"/>
              </a:spcAft>
              <a:buSzPct val="100000"/>
              <a:buChar char="–"/>
            </a:pPr>
            <a:r>
              <a:rPr lang="en-US" sz="1550" b="1" dirty="0">
                <a:solidFill>
                  <a:srgbClr val="111111"/>
                </a:solidFill>
                <a:latin typeface="Arial" pitchFamily="34" charset="0"/>
                <a:ea typeface="Arial" pitchFamily="34" charset="-122"/>
                <a:cs typeface="Arial" pitchFamily="34" charset="-120"/>
              </a:rPr>
              <a:t>η = 0.5, tối đa 5000 vòng</a:t>
            </a:r>
            <a:endParaRPr lang="en-US" sz="1550" dirty="0"/>
          </a:p>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 — dừng theo ngân sách, chuẩn gradient cuối ≈ 1.55 × 10</a:t>
            </a:r>
            <a:endParaRPr lang="en-US" sz="1550" dirty="0"/>
          </a:p>
          <a:p>
            <a:pPr marL="342900" indent="-342900">
              <a:lnSpc>
                <a:spcPct val="106000"/>
              </a:lnSpc>
              <a:spcAft>
                <a:spcPts val="800"/>
              </a:spcAft>
              <a:buSzPct val="100000"/>
              <a:buChar char="–"/>
            </a:pPr>
            <a:r>
              <a:rPr lang="en-US" sz="1550" baseline="30000" dirty="0">
                <a:solidFill>
                  <a:srgbClr val="111111"/>
                </a:solidFill>
                <a:latin typeface="Arial" pitchFamily="34" charset="0"/>
                <a:ea typeface="Arial" pitchFamily="34" charset="-122"/>
                <a:cs typeface="Arial" pitchFamily="34" charset="-120"/>
              </a:rPr>
              <a:t>−4</a:t>
            </a:r>
            <a:endParaRPr lang="en-US" sz="1550" dirty="0"/>
          </a:p>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a:t>
            </a:r>
            <a:endParaRPr lang="en-US" sz="1550" dirty="0"/>
          </a:p>
          <a:p>
            <a:pPr marL="342900" indent="-342900">
              <a:lnSpc>
                <a:spcPct val="106000"/>
              </a:lnSpc>
              <a:spcAft>
                <a:spcPts val="800"/>
              </a:spcAft>
              <a:buSzPct val="100000"/>
              <a:buChar char="–"/>
            </a:pPr>
            <a:r>
              <a:rPr lang="en-US" sz="1550" b="1" dirty="0">
                <a:solidFill>
                  <a:srgbClr val="111111"/>
                </a:solidFill>
                <a:latin typeface="Arial" pitchFamily="34" charset="0"/>
                <a:ea typeface="Arial" pitchFamily="34" charset="-122"/>
                <a:cs typeface="Arial" pitchFamily="34" charset="-120"/>
              </a:rPr>
              <a:t>Sigmoid và logaddexp</a:t>
            </a:r>
            <a:endParaRPr lang="en-US" sz="1550" dirty="0"/>
          </a:p>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 dạng ổn định số học; ngưỡng cố định 0.5, ROC-AUC dùng xác suất.</a:t>
            </a:r>
            <a:endParaRPr lang="en-US" sz="155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1 · KẾT QUẢ</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Hồi quy tuyến tính: học đúng quan hệ sinh dữ liệu</a:t>
            </a:r>
            <a:endParaRPr lang="en-US" sz="2600" dirty="0"/>
          </a:p>
        </p:txBody>
      </p:sp>
      <p:pic>
        <p:nvPicPr>
          <p:cNvPr id="4" name="Image 0" descr="fig_q1_linear.png">    </p:cNvPr>
          <p:cNvPicPr>
            <a:picLocks noChangeAspect="1"/>
          </p:cNvPicPr>
          <p:nvPr/>
        </p:nvPicPr>
        <p:blipFill>
          <a:blip r:embed="rId1"/>
          <a:stretch>
            <a:fillRect/>
          </a:stretch>
        </p:blipFill>
        <p:spPr>
          <a:xfrm>
            <a:off x="1158088" y="1481328"/>
            <a:ext cx="9875520" cy="3566160"/>
          </a:xfrm>
          <a:prstGeom prst="rect">
            <a:avLst/>
          </a:prstGeom>
        </p:spPr>
      </p:pic>
      <p:sp>
        <p:nvSpPr>
          <p:cNvPr id="5" name="Shape 2"/>
          <p:cNvSpPr/>
          <p:nvPr/>
        </p:nvSpPr>
        <p:spPr>
          <a:xfrm>
            <a:off x="667512" y="5138928"/>
            <a:ext cx="3361944" cy="0"/>
          </a:xfrm>
          <a:prstGeom prst="line">
            <a:avLst/>
          </a:prstGeom>
          <a:noFill/>
          <a:ln w="12700">
            <a:solidFill>
              <a:srgbClr val="2B2B2B"/>
            </a:solidFill>
            <a:prstDash val="solid"/>
          </a:ln>
        </p:spPr>
      </p:sp>
      <p:sp>
        <p:nvSpPr>
          <p:cNvPr id="6" name="Text 3"/>
          <p:cNvSpPr txBox="1"/>
          <p:nvPr/>
        </p:nvSpPr>
        <p:spPr>
          <a:xfrm>
            <a:off x="667512" y="5212080"/>
            <a:ext cx="3361944"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0.5114</a:t>
            </a:r>
            <a:endParaRPr lang="en-US" sz="2400" dirty="0"/>
          </a:p>
        </p:txBody>
      </p:sp>
      <p:sp>
        <p:nvSpPr>
          <p:cNvPr id="7" name="Text 4"/>
          <p:cNvSpPr txBox="1"/>
          <p:nvPr/>
        </p:nvSpPr>
        <p:spPr>
          <a:xfrm>
            <a:off x="667512" y="5614416"/>
            <a:ext cx="3361944"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RMSE trên tập test</a:t>
            </a:r>
            <a:endParaRPr lang="en-US" sz="1100" dirty="0"/>
          </a:p>
        </p:txBody>
      </p:sp>
      <p:sp>
        <p:nvSpPr>
          <p:cNvPr id="8" name="Shape 5"/>
          <p:cNvSpPr/>
          <p:nvPr/>
        </p:nvSpPr>
        <p:spPr>
          <a:xfrm>
            <a:off x="4285488" y="5138928"/>
            <a:ext cx="3361944" cy="0"/>
          </a:xfrm>
          <a:prstGeom prst="line">
            <a:avLst/>
          </a:prstGeom>
          <a:noFill/>
          <a:ln w="12700">
            <a:solidFill>
              <a:srgbClr val="2B2B2B"/>
            </a:solidFill>
            <a:prstDash val="solid"/>
          </a:ln>
        </p:spPr>
      </p:sp>
      <p:sp>
        <p:nvSpPr>
          <p:cNvPr id="9" name="Text 6"/>
          <p:cNvSpPr txBox="1"/>
          <p:nvPr/>
        </p:nvSpPr>
        <p:spPr>
          <a:xfrm>
            <a:off x="4285488" y="5212080"/>
            <a:ext cx="3361944"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0.9947</a:t>
            </a:r>
            <a:endParaRPr lang="en-US" sz="2400" dirty="0"/>
          </a:p>
        </p:txBody>
      </p:sp>
      <p:sp>
        <p:nvSpPr>
          <p:cNvPr id="10" name="Text 7"/>
          <p:cNvSpPr txBox="1"/>
          <p:nvPr/>
        </p:nvSpPr>
        <p:spPr>
          <a:xfrm>
            <a:off x="4285488" y="5614416"/>
            <a:ext cx="3361944"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R² trên tập test</a:t>
            </a:r>
            <a:endParaRPr lang="en-US" sz="1100" dirty="0"/>
          </a:p>
        </p:txBody>
      </p:sp>
      <p:sp>
        <p:nvSpPr>
          <p:cNvPr id="11" name="Shape 8"/>
          <p:cNvSpPr/>
          <p:nvPr/>
        </p:nvSpPr>
        <p:spPr>
          <a:xfrm>
            <a:off x="7903464" y="5138928"/>
            <a:ext cx="3361944" cy="0"/>
          </a:xfrm>
          <a:prstGeom prst="line">
            <a:avLst/>
          </a:prstGeom>
          <a:noFill/>
          <a:ln w="12700">
            <a:solidFill>
              <a:srgbClr val="2B2B2B"/>
            </a:solidFill>
            <a:prstDash val="solid"/>
          </a:ln>
        </p:spPr>
      </p:sp>
      <p:sp>
        <p:nvSpPr>
          <p:cNvPr id="12" name="Text 9"/>
          <p:cNvSpPr txBox="1"/>
          <p:nvPr/>
        </p:nvSpPr>
        <p:spPr>
          <a:xfrm>
            <a:off x="7903464" y="5212080"/>
            <a:ext cx="3361944"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2.99  ·  −2.01  ·  1.49</a:t>
            </a:r>
            <a:endParaRPr lang="en-US" sz="2400" dirty="0"/>
          </a:p>
        </p:txBody>
      </p:sp>
      <p:sp>
        <p:nvSpPr>
          <p:cNvPr id="13" name="Text 10"/>
          <p:cNvSpPr txBox="1"/>
          <p:nvPr/>
        </p:nvSpPr>
        <p:spPr>
          <a:xfrm>
            <a:off x="7903464" y="5614416"/>
            <a:ext cx="3361944"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Trọng số học được (thật: 3 · −2 · 1.5)</a:t>
            </a:r>
            <a:endParaRPr lang="en-US" sz="11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1 · KẾT QUẢ</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Hồi quy logistic: biên hợp lý, nhưng còn 30 ca sai</a:t>
            </a:r>
            <a:endParaRPr lang="en-US" sz="2600" dirty="0"/>
          </a:p>
        </p:txBody>
      </p:sp>
      <p:pic>
        <p:nvPicPr>
          <p:cNvPr id="4" name="Image 0" descr="fig_q1_logistic.png">    </p:cNvPr>
          <p:cNvPicPr>
            <a:picLocks noChangeAspect="1"/>
          </p:cNvPicPr>
          <p:nvPr/>
        </p:nvPicPr>
        <p:blipFill>
          <a:blip r:embed="rId1"/>
          <a:stretch>
            <a:fillRect/>
          </a:stretch>
        </p:blipFill>
        <p:spPr>
          <a:xfrm>
            <a:off x="1158088" y="1481328"/>
            <a:ext cx="9875520" cy="3566160"/>
          </a:xfrm>
          <a:prstGeom prst="rect">
            <a:avLst/>
          </a:prstGeom>
        </p:spPr>
      </p:pic>
      <p:sp>
        <p:nvSpPr>
          <p:cNvPr id="5" name="Shape 2"/>
          <p:cNvSpPr/>
          <p:nvPr/>
        </p:nvSpPr>
        <p:spPr>
          <a:xfrm>
            <a:off x="667512" y="5138928"/>
            <a:ext cx="2457450" cy="0"/>
          </a:xfrm>
          <a:prstGeom prst="line">
            <a:avLst/>
          </a:prstGeom>
          <a:noFill/>
          <a:ln w="12700">
            <a:solidFill>
              <a:srgbClr val="2B2B2B"/>
            </a:solidFill>
            <a:prstDash val="solid"/>
          </a:ln>
        </p:spPr>
      </p:sp>
      <p:sp>
        <p:nvSpPr>
          <p:cNvPr id="6" name="Text 3"/>
          <p:cNvSpPr txBox="1"/>
          <p:nvPr/>
        </p:nvSpPr>
        <p:spPr>
          <a:xfrm>
            <a:off x="667512" y="5212080"/>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0.8125</a:t>
            </a:r>
            <a:endParaRPr lang="en-US" sz="2400" dirty="0"/>
          </a:p>
        </p:txBody>
      </p:sp>
      <p:sp>
        <p:nvSpPr>
          <p:cNvPr id="7" name="Text 4"/>
          <p:cNvSpPr txBox="1"/>
          <p:nvPr/>
        </p:nvSpPr>
        <p:spPr>
          <a:xfrm>
            <a:off x="667512" y="5614416"/>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Accuracy trên tập test</a:t>
            </a:r>
            <a:endParaRPr lang="en-US" sz="1100" dirty="0"/>
          </a:p>
        </p:txBody>
      </p:sp>
      <p:sp>
        <p:nvSpPr>
          <p:cNvPr id="8" name="Shape 5"/>
          <p:cNvSpPr/>
          <p:nvPr/>
        </p:nvSpPr>
        <p:spPr>
          <a:xfrm>
            <a:off x="3380994" y="5138928"/>
            <a:ext cx="2457450" cy="0"/>
          </a:xfrm>
          <a:prstGeom prst="line">
            <a:avLst/>
          </a:prstGeom>
          <a:noFill/>
          <a:ln w="12700">
            <a:solidFill>
              <a:srgbClr val="2B2B2B"/>
            </a:solidFill>
            <a:prstDash val="solid"/>
          </a:ln>
        </p:spPr>
      </p:sp>
      <p:sp>
        <p:nvSpPr>
          <p:cNvPr id="9" name="Text 6"/>
          <p:cNvSpPr txBox="1"/>
          <p:nvPr/>
        </p:nvSpPr>
        <p:spPr>
          <a:xfrm>
            <a:off x="3380994" y="5212080"/>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0.8515</a:t>
            </a:r>
            <a:endParaRPr lang="en-US" sz="2400" dirty="0"/>
          </a:p>
        </p:txBody>
      </p:sp>
      <p:sp>
        <p:nvSpPr>
          <p:cNvPr id="10" name="Text 7"/>
          <p:cNvSpPr txBox="1"/>
          <p:nvPr/>
        </p:nvSpPr>
        <p:spPr>
          <a:xfrm>
            <a:off x="3380994" y="5614416"/>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F1 của lớp dương (p ≥ 0.5)</a:t>
            </a:r>
            <a:endParaRPr lang="en-US" sz="1100" dirty="0"/>
          </a:p>
        </p:txBody>
      </p:sp>
      <p:sp>
        <p:nvSpPr>
          <p:cNvPr id="11" name="Shape 8"/>
          <p:cNvSpPr/>
          <p:nvPr/>
        </p:nvSpPr>
        <p:spPr>
          <a:xfrm>
            <a:off x="6094476" y="5138928"/>
            <a:ext cx="2457450" cy="0"/>
          </a:xfrm>
          <a:prstGeom prst="line">
            <a:avLst/>
          </a:prstGeom>
          <a:noFill/>
          <a:ln w="12700">
            <a:solidFill>
              <a:srgbClr val="2B2B2B"/>
            </a:solidFill>
            <a:prstDash val="solid"/>
          </a:ln>
        </p:spPr>
      </p:sp>
      <p:sp>
        <p:nvSpPr>
          <p:cNvPr id="12" name="Text 9"/>
          <p:cNvSpPr txBox="1"/>
          <p:nvPr/>
        </p:nvSpPr>
        <p:spPr>
          <a:xfrm>
            <a:off x="6094476" y="5212080"/>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0.8576</a:t>
            </a:r>
            <a:endParaRPr lang="en-US" sz="2400" dirty="0"/>
          </a:p>
        </p:txBody>
      </p:sp>
      <p:sp>
        <p:nvSpPr>
          <p:cNvPr id="13" name="Text 10"/>
          <p:cNvSpPr txBox="1"/>
          <p:nvPr/>
        </p:nvSpPr>
        <p:spPr>
          <a:xfrm>
            <a:off x="6094476" y="5614416"/>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ROC-AUC</a:t>
            </a:r>
            <a:endParaRPr lang="en-US" sz="1100" dirty="0"/>
          </a:p>
        </p:txBody>
      </p:sp>
      <p:sp>
        <p:nvSpPr>
          <p:cNvPr id="14" name="Shape 11"/>
          <p:cNvSpPr/>
          <p:nvPr/>
        </p:nvSpPr>
        <p:spPr>
          <a:xfrm>
            <a:off x="8807958" y="5138928"/>
            <a:ext cx="2457450" cy="0"/>
          </a:xfrm>
          <a:prstGeom prst="line">
            <a:avLst/>
          </a:prstGeom>
          <a:noFill/>
          <a:ln w="12700">
            <a:solidFill>
              <a:srgbClr val="2B2B2B"/>
            </a:solidFill>
            <a:prstDash val="solid"/>
          </a:ln>
        </p:spPr>
      </p:sp>
      <p:sp>
        <p:nvSpPr>
          <p:cNvPr id="15" name="Text 12"/>
          <p:cNvSpPr txBox="1"/>
          <p:nvPr/>
        </p:nvSpPr>
        <p:spPr>
          <a:xfrm>
            <a:off x="8807958" y="5212080"/>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44/18/12/86</a:t>
            </a:r>
            <a:endParaRPr lang="en-US" sz="2400" dirty="0"/>
          </a:p>
        </p:txBody>
      </p:sp>
      <p:sp>
        <p:nvSpPr>
          <p:cNvPr id="16" name="Text 13"/>
          <p:cNvSpPr txBox="1"/>
          <p:nvPr/>
        </p:nvSpPr>
        <p:spPr>
          <a:xfrm>
            <a:off x="8807958" y="5614416"/>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Ma trận nhầm lẫn (TN/FP/FN/TP)</a:t>
            </a:r>
            <a:endParaRPr lang="en-US" sz="11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2 · DỮ LIỆU</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OpenML credit-g: 1000 hồ sơ, 20 biến, lệch lớp</a:t>
            </a:r>
            <a:endParaRPr lang="en-US" sz="2600" dirty="0"/>
          </a:p>
        </p:txBody>
      </p:sp>
      <p:pic>
        <p:nvPicPr>
          <p:cNvPr id="4" name="Image 0" descr="fig_q2_eda.png">    </p:cNvPr>
          <p:cNvPicPr>
            <a:picLocks noChangeAspect="1"/>
          </p:cNvPicPr>
          <p:nvPr/>
        </p:nvPicPr>
        <p:blipFill>
          <a:blip r:embed="rId1"/>
          <a:stretch>
            <a:fillRect/>
          </a:stretch>
        </p:blipFill>
        <p:spPr>
          <a:xfrm>
            <a:off x="1066648" y="1481328"/>
            <a:ext cx="10058400" cy="3063240"/>
          </a:xfrm>
          <a:prstGeom prst="rect">
            <a:avLst/>
          </a:prstGeom>
        </p:spPr>
      </p:pic>
      <p:sp>
        <p:nvSpPr>
          <p:cNvPr id="5" name="Shape 2"/>
          <p:cNvSpPr/>
          <p:nvPr/>
        </p:nvSpPr>
        <p:spPr>
          <a:xfrm>
            <a:off x="667512" y="4828032"/>
            <a:ext cx="2457450" cy="0"/>
          </a:xfrm>
          <a:prstGeom prst="line">
            <a:avLst/>
          </a:prstGeom>
          <a:noFill/>
          <a:ln w="12700">
            <a:solidFill>
              <a:srgbClr val="2B2B2B"/>
            </a:solidFill>
            <a:prstDash val="solid"/>
          </a:ln>
        </p:spPr>
      </p:sp>
      <p:sp>
        <p:nvSpPr>
          <p:cNvPr id="6" name="Text 3"/>
          <p:cNvSpPr txBox="1"/>
          <p:nvPr/>
        </p:nvSpPr>
        <p:spPr>
          <a:xfrm>
            <a:off x="667512" y="4901184"/>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ID 31 · v1</a:t>
            </a:r>
            <a:endParaRPr lang="en-US" sz="2400" dirty="0"/>
          </a:p>
        </p:txBody>
      </p:sp>
      <p:sp>
        <p:nvSpPr>
          <p:cNvPr id="7" name="Text 4"/>
          <p:cNvSpPr txBox="1"/>
          <p:nvPr/>
        </p:nvSpPr>
        <p:spPr>
          <a:xfrm>
            <a:off x="667512" y="5303520"/>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Nguồn gốc, MD5 đã kiểm tra</a:t>
            </a:r>
            <a:endParaRPr lang="en-US" sz="1100" dirty="0"/>
          </a:p>
        </p:txBody>
      </p:sp>
      <p:sp>
        <p:nvSpPr>
          <p:cNvPr id="8" name="Shape 5"/>
          <p:cNvSpPr/>
          <p:nvPr/>
        </p:nvSpPr>
        <p:spPr>
          <a:xfrm>
            <a:off x="3380994" y="4828032"/>
            <a:ext cx="2457450" cy="0"/>
          </a:xfrm>
          <a:prstGeom prst="line">
            <a:avLst/>
          </a:prstGeom>
          <a:noFill/>
          <a:ln w="12700">
            <a:solidFill>
              <a:srgbClr val="2B2B2B"/>
            </a:solidFill>
            <a:prstDash val="solid"/>
          </a:ln>
        </p:spPr>
      </p:sp>
      <p:sp>
        <p:nvSpPr>
          <p:cNvPr id="9" name="Text 6"/>
          <p:cNvSpPr txBox="1"/>
          <p:nvPr/>
        </p:nvSpPr>
        <p:spPr>
          <a:xfrm>
            <a:off x="3380994" y="4901184"/>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0 · 0 · 0</a:t>
            </a:r>
            <a:endParaRPr lang="en-US" sz="2400" dirty="0"/>
          </a:p>
        </p:txBody>
      </p:sp>
      <p:sp>
        <p:nvSpPr>
          <p:cNvPr id="10" name="Text 7"/>
          <p:cNvSpPr txBox="1"/>
          <p:nvPr/>
        </p:nvSpPr>
        <p:spPr>
          <a:xfrm>
            <a:off x="3380994" y="5303520"/>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Ô thiếu · dòng trùng · giá trị lạ</a:t>
            </a:r>
            <a:endParaRPr lang="en-US" sz="1100" dirty="0"/>
          </a:p>
        </p:txBody>
      </p:sp>
      <p:sp>
        <p:nvSpPr>
          <p:cNvPr id="11" name="Shape 8"/>
          <p:cNvSpPr/>
          <p:nvPr/>
        </p:nvSpPr>
        <p:spPr>
          <a:xfrm>
            <a:off x="6094476" y="4828032"/>
            <a:ext cx="2457450" cy="0"/>
          </a:xfrm>
          <a:prstGeom prst="line">
            <a:avLst/>
          </a:prstGeom>
          <a:noFill/>
          <a:ln w="12700">
            <a:solidFill>
              <a:srgbClr val="2B2B2B"/>
            </a:solidFill>
            <a:prstDash val="solid"/>
          </a:ln>
        </p:spPr>
      </p:sp>
      <p:sp>
        <p:nvSpPr>
          <p:cNvPr id="12" name="Text 9"/>
          <p:cNvSpPr txBox="1"/>
          <p:nvPr/>
        </p:nvSpPr>
        <p:spPr>
          <a:xfrm>
            <a:off x="6094476" y="4901184"/>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800 / 200</a:t>
            </a:r>
            <a:endParaRPr lang="en-US" sz="2400" dirty="0"/>
          </a:p>
        </p:txBody>
      </p:sp>
      <p:sp>
        <p:nvSpPr>
          <p:cNvPr id="13" name="Text 10"/>
          <p:cNvSpPr txBox="1"/>
          <p:nvPr/>
        </p:nvSpPr>
        <p:spPr>
          <a:xfrm>
            <a:off x="6094476" y="5303520"/>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Development / test, phân tầng, seed 42</a:t>
            </a:r>
            <a:endParaRPr lang="en-US" sz="1100" dirty="0"/>
          </a:p>
        </p:txBody>
      </p:sp>
      <p:sp>
        <p:nvSpPr>
          <p:cNvPr id="14" name="Shape 11"/>
          <p:cNvSpPr/>
          <p:nvPr/>
        </p:nvSpPr>
        <p:spPr>
          <a:xfrm>
            <a:off x="8807958" y="4828032"/>
            <a:ext cx="2457450" cy="0"/>
          </a:xfrm>
          <a:prstGeom prst="line">
            <a:avLst/>
          </a:prstGeom>
          <a:noFill/>
          <a:ln w="12700">
            <a:solidFill>
              <a:srgbClr val="2B2B2B"/>
            </a:solidFill>
            <a:prstDash val="solid"/>
          </a:ln>
        </p:spPr>
      </p:sp>
      <p:sp>
        <p:nvSpPr>
          <p:cNvPr id="15" name="Text 12"/>
          <p:cNvSpPr txBox="1"/>
          <p:nvPr/>
        </p:nvSpPr>
        <p:spPr>
          <a:xfrm>
            <a:off x="8807958" y="4901184"/>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61</a:t>
            </a:r>
            <a:endParaRPr lang="en-US" sz="2400" dirty="0"/>
          </a:p>
        </p:txBody>
      </p:sp>
      <p:sp>
        <p:nvSpPr>
          <p:cNvPr id="16" name="Text 13"/>
          <p:cNvSpPr txBox="1"/>
          <p:nvPr/>
        </p:nvSpPr>
        <p:spPr>
          <a:xfrm>
            <a:off x="8807958" y="5303520"/>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Đặc trưng sau min–max và one-hot</a:t>
            </a:r>
            <a:endParaRPr lang="en-US" sz="11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2 · QUY TRÌNH</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Chống rò rỉ dữ liệu bằng thiết kế, không bằng lời hứa</a:t>
            </a:r>
            <a:endParaRPr lang="en-US" sz="2600" dirty="0"/>
          </a:p>
        </p:txBody>
      </p:sp>
      <p:sp>
        <p:nvSpPr>
          <p:cNvPr id="4" name="Shape 2"/>
          <p:cNvSpPr/>
          <p:nvPr/>
        </p:nvSpPr>
        <p:spPr>
          <a:xfrm>
            <a:off x="667512" y="1783080"/>
            <a:ext cx="2356866" cy="1627632"/>
          </a:xfrm>
          <a:prstGeom prst="rect">
            <a:avLst/>
          </a:prstGeom>
          <a:solidFill>
            <a:srgbClr val="FFFFFF"/>
          </a:solidFill>
          <a:ln w="12700">
            <a:solidFill>
              <a:srgbClr val="8C8C8C"/>
            </a:solidFill>
            <a:prstDash val="solid"/>
          </a:ln>
        </p:spPr>
      </p:sp>
      <p:sp>
        <p:nvSpPr>
          <p:cNvPr id="5" name="Text 3"/>
          <p:cNvSpPr txBox="1"/>
          <p:nvPr/>
        </p:nvSpPr>
        <p:spPr>
          <a:xfrm>
            <a:off x="813816" y="1892808"/>
            <a:ext cx="640080" cy="256032"/>
          </a:xfrm>
          <a:prstGeom prst="rect">
            <a:avLst/>
          </a:prstGeom>
          <a:noFill/>
          <a:ln/>
        </p:spPr>
        <p:txBody>
          <a:bodyPr wrap="square" lIns="0" tIns="0" rIns="0" bIns="0" rtlCol="0" anchor="t"/>
          <a:lstStyle/>
          <a:p>
            <a:pPr indent="0" marL="0">
              <a:buNone/>
            </a:pPr>
            <a:r>
              <a:rPr lang="en-US" sz="1100" spc="100" kern="0" dirty="0">
                <a:solidFill>
                  <a:srgbClr val="6B6B6B"/>
                </a:solidFill>
                <a:latin typeface="Arial" pitchFamily="34" charset="0"/>
                <a:ea typeface="Arial" pitchFamily="34" charset="-122"/>
                <a:cs typeface="Arial" pitchFamily="34" charset="-120"/>
              </a:rPr>
              <a:t>01</a:t>
            </a:r>
            <a:endParaRPr lang="en-US" sz="1100" dirty="0"/>
          </a:p>
        </p:txBody>
      </p:sp>
      <p:sp>
        <p:nvSpPr>
          <p:cNvPr id="6" name="Text 4"/>
          <p:cNvSpPr txBox="1"/>
          <p:nvPr/>
        </p:nvSpPr>
        <p:spPr>
          <a:xfrm>
            <a:off x="813816" y="2167128"/>
            <a:ext cx="2064258" cy="548640"/>
          </a:xfrm>
          <a:prstGeom prst="rect">
            <a:avLst/>
          </a:prstGeom>
          <a:noFill/>
          <a:ln/>
        </p:spPr>
        <p:txBody>
          <a:bodyPr wrap="square" lIns="0" tIns="0" rIns="0" bIns="0" rtlCol="0" anchor="t"/>
          <a:lstStyle/>
          <a:p>
            <a:pPr indent="0" marL="0">
              <a:lnSpc>
                <a:spcPct val="105000"/>
              </a:lnSpc>
              <a:buNone/>
            </a:pPr>
            <a:r>
              <a:rPr lang="en-US" sz="1550" b="1" dirty="0">
                <a:solidFill>
                  <a:srgbClr val="111111"/>
                </a:solidFill>
                <a:latin typeface="Arial" pitchFamily="34" charset="0"/>
                <a:ea typeface="Arial" pitchFamily="34" charset="-122"/>
                <a:cs typeface="Arial" pitchFamily="34" charset="-120"/>
              </a:rPr>
              <a:t>Chia tập trước</a:t>
            </a:r>
            <a:endParaRPr lang="en-US" sz="1550" dirty="0"/>
          </a:p>
        </p:txBody>
      </p:sp>
      <p:sp>
        <p:nvSpPr>
          <p:cNvPr id="7" name="Text 5"/>
          <p:cNvSpPr txBox="1"/>
          <p:nvPr/>
        </p:nvSpPr>
        <p:spPr>
          <a:xfrm>
            <a:off x="813816" y="2715768"/>
            <a:ext cx="2064258" cy="475488"/>
          </a:xfrm>
          <a:prstGeom prst="rect">
            <a:avLst/>
          </a:prstGeom>
          <a:noFill/>
          <a:ln/>
        </p:spPr>
        <p:txBody>
          <a:bodyPr wrap="square" lIns="0" tIns="0" rIns="0" bIns="0" rtlCol="0" anchor="t"/>
          <a:lstStyle/>
          <a:p>
            <a:pPr indent="0" marL="0">
              <a:lnSpc>
                <a:spcPct val="110000"/>
              </a:lnSpc>
              <a:buNone/>
            </a:pPr>
            <a:r>
              <a:rPr lang="en-US" sz="1100" dirty="0">
                <a:solidFill>
                  <a:srgbClr val="6B6B6B"/>
                </a:solidFill>
                <a:latin typeface="Arial" pitchFamily="34" charset="0"/>
                <a:ea typeface="Arial" pitchFamily="34" charset="-122"/>
                <a:cs typeface="Arial" pitchFamily="34" charset="-120"/>
              </a:rPr>
              <a:t>800 development / 200 test, phân tầng, seed 42</a:t>
            </a:r>
            <a:endParaRPr lang="en-US" sz="1100" dirty="0"/>
          </a:p>
        </p:txBody>
      </p:sp>
      <p:sp>
        <p:nvSpPr>
          <p:cNvPr id="8" name="Text 6"/>
          <p:cNvSpPr txBox="1"/>
          <p:nvPr/>
        </p:nvSpPr>
        <p:spPr>
          <a:xfrm>
            <a:off x="3024378" y="2377440"/>
            <a:ext cx="475488" cy="365760"/>
          </a:xfrm>
          <a:prstGeom prst="rect">
            <a:avLst/>
          </a:prstGeom>
          <a:noFill/>
          <a:ln/>
        </p:spPr>
        <p:txBody>
          <a:bodyPr wrap="square" lIns="0" tIns="0" rIns="0" bIns="0" rtlCol="0" anchor="t"/>
          <a:lstStyle/>
          <a:p>
            <a:pPr algn="ctr" indent="0" marL="0">
              <a:buNone/>
            </a:pPr>
            <a:r>
              <a:rPr lang="en-US" sz="2000" dirty="0">
                <a:solidFill>
                  <a:srgbClr val="6B6B6B"/>
                </a:solidFill>
                <a:latin typeface="Arial" pitchFamily="34" charset="0"/>
                <a:ea typeface="Arial" pitchFamily="34" charset="-122"/>
                <a:cs typeface="Arial" pitchFamily="34" charset="-120"/>
              </a:rPr>
              <a:t>→</a:t>
            </a:r>
            <a:endParaRPr lang="en-US" sz="2000" dirty="0"/>
          </a:p>
        </p:txBody>
      </p:sp>
      <p:sp>
        <p:nvSpPr>
          <p:cNvPr id="9" name="Shape 7"/>
          <p:cNvSpPr/>
          <p:nvPr/>
        </p:nvSpPr>
        <p:spPr>
          <a:xfrm>
            <a:off x="3499866" y="1783080"/>
            <a:ext cx="2356866" cy="1627632"/>
          </a:xfrm>
          <a:prstGeom prst="rect">
            <a:avLst/>
          </a:prstGeom>
          <a:solidFill>
            <a:srgbClr val="FFFFFF"/>
          </a:solidFill>
          <a:ln w="12700">
            <a:solidFill>
              <a:srgbClr val="8C8C8C"/>
            </a:solidFill>
            <a:prstDash val="solid"/>
          </a:ln>
        </p:spPr>
      </p:sp>
      <p:sp>
        <p:nvSpPr>
          <p:cNvPr id="10" name="Text 8"/>
          <p:cNvSpPr txBox="1"/>
          <p:nvPr/>
        </p:nvSpPr>
        <p:spPr>
          <a:xfrm>
            <a:off x="3646170" y="1892808"/>
            <a:ext cx="640080" cy="256032"/>
          </a:xfrm>
          <a:prstGeom prst="rect">
            <a:avLst/>
          </a:prstGeom>
          <a:noFill/>
          <a:ln/>
        </p:spPr>
        <p:txBody>
          <a:bodyPr wrap="square" lIns="0" tIns="0" rIns="0" bIns="0" rtlCol="0" anchor="t"/>
          <a:lstStyle/>
          <a:p>
            <a:pPr indent="0" marL="0">
              <a:buNone/>
            </a:pPr>
            <a:r>
              <a:rPr lang="en-US" sz="1100" spc="100" kern="0" dirty="0">
                <a:solidFill>
                  <a:srgbClr val="6B6B6B"/>
                </a:solidFill>
                <a:latin typeface="Arial" pitchFamily="34" charset="0"/>
                <a:ea typeface="Arial" pitchFamily="34" charset="-122"/>
                <a:cs typeface="Arial" pitchFamily="34" charset="-120"/>
              </a:rPr>
              <a:t>02</a:t>
            </a:r>
            <a:endParaRPr lang="en-US" sz="1100" dirty="0"/>
          </a:p>
        </p:txBody>
      </p:sp>
      <p:sp>
        <p:nvSpPr>
          <p:cNvPr id="11" name="Text 9"/>
          <p:cNvSpPr txBox="1"/>
          <p:nvPr/>
        </p:nvSpPr>
        <p:spPr>
          <a:xfrm>
            <a:off x="3646170" y="2167128"/>
            <a:ext cx="2064258" cy="548640"/>
          </a:xfrm>
          <a:prstGeom prst="rect">
            <a:avLst/>
          </a:prstGeom>
          <a:noFill/>
          <a:ln/>
        </p:spPr>
        <p:txBody>
          <a:bodyPr wrap="square" lIns="0" tIns="0" rIns="0" bIns="0" rtlCol="0" anchor="t"/>
          <a:lstStyle/>
          <a:p>
            <a:pPr indent="0" marL="0">
              <a:lnSpc>
                <a:spcPct val="105000"/>
              </a:lnSpc>
              <a:buNone/>
            </a:pPr>
            <a:r>
              <a:rPr lang="en-US" sz="1550" b="1" dirty="0">
                <a:solidFill>
                  <a:srgbClr val="111111"/>
                </a:solidFill>
                <a:latin typeface="Arial" pitchFamily="34" charset="0"/>
                <a:ea typeface="Arial" pitchFamily="34" charset="-122"/>
                <a:cs typeface="Arial" pitchFamily="34" charset="-120"/>
              </a:rPr>
              <a:t>Chuẩn hóa trong từng fold</a:t>
            </a:r>
            <a:endParaRPr lang="en-US" sz="1550" dirty="0"/>
          </a:p>
        </p:txBody>
      </p:sp>
      <p:sp>
        <p:nvSpPr>
          <p:cNvPr id="12" name="Text 10"/>
          <p:cNvSpPr txBox="1"/>
          <p:nvPr/>
        </p:nvSpPr>
        <p:spPr>
          <a:xfrm>
            <a:off x="3646170" y="2715768"/>
            <a:ext cx="2064258" cy="475488"/>
          </a:xfrm>
          <a:prstGeom prst="rect">
            <a:avLst/>
          </a:prstGeom>
          <a:noFill/>
          <a:ln/>
        </p:spPr>
        <p:txBody>
          <a:bodyPr wrap="square" lIns="0" tIns="0" rIns="0" bIns="0" rtlCol="0" anchor="t"/>
          <a:lstStyle/>
          <a:p>
            <a:pPr indent="0" marL="0">
              <a:lnSpc>
                <a:spcPct val="110000"/>
              </a:lnSpc>
              <a:buNone/>
            </a:pPr>
            <a:r>
              <a:rPr lang="en-US" sz="1100" dirty="0">
                <a:solidFill>
                  <a:srgbClr val="6B6B6B"/>
                </a:solidFill>
                <a:latin typeface="Arial" pitchFamily="34" charset="0"/>
                <a:ea typeface="Arial" pitchFamily="34" charset="-122"/>
                <a:cs typeface="Arial" pitchFamily="34" charset="-120"/>
              </a:rPr>
              <a:t>min–max + one-hot, chỉ fit trên train của fold</a:t>
            </a:r>
            <a:endParaRPr lang="en-US" sz="1100" dirty="0"/>
          </a:p>
        </p:txBody>
      </p:sp>
      <p:sp>
        <p:nvSpPr>
          <p:cNvPr id="13" name="Text 11"/>
          <p:cNvSpPr txBox="1"/>
          <p:nvPr/>
        </p:nvSpPr>
        <p:spPr>
          <a:xfrm>
            <a:off x="5856732" y="2377440"/>
            <a:ext cx="475488" cy="365760"/>
          </a:xfrm>
          <a:prstGeom prst="rect">
            <a:avLst/>
          </a:prstGeom>
          <a:noFill/>
          <a:ln/>
        </p:spPr>
        <p:txBody>
          <a:bodyPr wrap="square" lIns="0" tIns="0" rIns="0" bIns="0" rtlCol="0" anchor="t"/>
          <a:lstStyle/>
          <a:p>
            <a:pPr algn="ctr" indent="0" marL="0">
              <a:buNone/>
            </a:pPr>
            <a:r>
              <a:rPr lang="en-US" sz="2000" dirty="0">
                <a:solidFill>
                  <a:srgbClr val="6B6B6B"/>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6332220" y="1783080"/>
            <a:ext cx="2356866" cy="1627632"/>
          </a:xfrm>
          <a:prstGeom prst="rect">
            <a:avLst/>
          </a:prstGeom>
          <a:solidFill>
            <a:srgbClr val="FFFFFF"/>
          </a:solidFill>
          <a:ln w="12700">
            <a:solidFill>
              <a:srgbClr val="8C8C8C"/>
            </a:solidFill>
            <a:prstDash val="solid"/>
          </a:ln>
        </p:spPr>
      </p:sp>
      <p:sp>
        <p:nvSpPr>
          <p:cNvPr id="15" name="Text 13"/>
          <p:cNvSpPr txBox="1"/>
          <p:nvPr/>
        </p:nvSpPr>
        <p:spPr>
          <a:xfrm>
            <a:off x="6478524" y="1892808"/>
            <a:ext cx="640080" cy="256032"/>
          </a:xfrm>
          <a:prstGeom prst="rect">
            <a:avLst/>
          </a:prstGeom>
          <a:noFill/>
          <a:ln/>
        </p:spPr>
        <p:txBody>
          <a:bodyPr wrap="square" lIns="0" tIns="0" rIns="0" bIns="0" rtlCol="0" anchor="t"/>
          <a:lstStyle/>
          <a:p>
            <a:pPr indent="0" marL="0">
              <a:buNone/>
            </a:pPr>
            <a:r>
              <a:rPr lang="en-US" sz="1100" spc="100" kern="0" dirty="0">
                <a:solidFill>
                  <a:srgbClr val="6B6B6B"/>
                </a:solidFill>
                <a:latin typeface="Arial" pitchFamily="34" charset="0"/>
                <a:ea typeface="Arial" pitchFamily="34" charset="-122"/>
                <a:cs typeface="Arial" pitchFamily="34" charset="-120"/>
              </a:rPr>
              <a:t>03</a:t>
            </a:r>
            <a:endParaRPr lang="en-US" sz="1100" dirty="0"/>
          </a:p>
        </p:txBody>
      </p:sp>
      <p:sp>
        <p:nvSpPr>
          <p:cNvPr id="16" name="Text 14"/>
          <p:cNvSpPr txBox="1"/>
          <p:nvPr/>
        </p:nvSpPr>
        <p:spPr>
          <a:xfrm>
            <a:off x="6478524" y="2167128"/>
            <a:ext cx="2064258" cy="548640"/>
          </a:xfrm>
          <a:prstGeom prst="rect">
            <a:avLst/>
          </a:prstGeom>
          <a:noFill/>
          <a:ln/>
        </p:spPr>
        <p:txBody>
          <a:bodyPr wrap="square" lIns="0" tIns="0" rIns="0" bIns="0" rtlCol="0" anchor="t"/>
          <a:lstStyle/>
          <a:p>
            <a:pPr indent="0" marL="0">
              <a:lnSpc>
                <a:spcPct val="105000"/>
              </a:lnSpc>
              <a:buNone/>
            </a:pPr>
            <a:r>
              <a:rPr lang="en-US" sz="1550" b="1" dirty="0">
                <a:solidFill>
                  <a:srgbClr val="111111"/>
                </a:solidFill>
                <a:latin typeface="Arial" pitchFamily="34" charset="0"/>
                <a:ea typeface="Arial" pitchFamily="34" charset="-122"/>
                <a:cs typeface="Arial" pitchFamily="34" charset="-120"/>
              </a:rPr>
              <a:t>5-fold stratified CV</a:t>
            </a:r>
            <a:endParaRPr lang="en-US" sz="1550" dirty="0"/>
          </a:p>
        </p:txBody>
      </p:sp>
      <p:sp>
        <p:nvSpPr>
          <p:cNvPr id="17" name="Text 15"/>
          <p:cNvSpPr txBox="1"/>
          <p:nvPr/>
        </p:nvSpPr>
        <p:spPr>
          <a:xfrm>
            <a:off x="6478524" y="2715768"/>
            <a:ext cx="2064258" cy="475488"/>
          </a:xfrm>
          <a:prstGeom prst="rect">
            <a:avLst/>
          </a:prstGeom>
          <a:noFill/>
          <a:ln/>
        </p:spPr>
        <p:txBody>
          <a:bodyPr wrap="square" lIns="0" tIns="0" rIns="0" bIns="0" rtlCol="0" anchor="t"/>
          <a:lstStyle/>
          <a:p>
            <a:pPr indent="0" marL="0">
              <a:lnSpc>
                <a:spcPct val="110000"/>
              </a:lnSpc>
              <a:buNone/>
            </a:pPr>
            <a:r>
              <a:rPr lang="en-US" sz="1100" dirty="0">
                <a:solidFill>
                  <a:srgbClr val="6B6B6B"/>
                </a:solidFill>
                <a:latin typeface="Arial" pitchFamily="34" charset="0"/>
                <a:ea typeface="Arial" pitchFamily="34" charset="-122"/>
                <a:cs typeface="Arial" pitchFamily="34" charset="-120"/>
              </a:rPr>
              <a:t>cùng chỉ số fold cho mọi ứng viên, chọn theo macro F1</a:t>
            </a:r>
            <a:endParaRPr lang="en-US" sz="1100" dirty="0"/>
          </a:p>
        </p:txBody>
      </p:sp>
      <p:sp>
        <p:nvSpPr>
          <p:cNvPr id="18" name="Text 16"/>
          <p:cNvSpPr txBox="1"/>
          <p:nvPr/>
        </p:nvSpPr>
        <p:spPr>
          <a:xfrm>
            <a:off x="8689086" y="2377440"/>
            <a:ext cx="475488" cy="365760"/>
          </a:xfrm>
          <a:prstGeom prst="rect">
            <a:avLst/>
          </a:prstGeom>
          <a:noFill/>
          <a:ln/>
        </p:spPr>
        <p:txBody>
          <a:bodyPr wrap="square" lIns="0" tIns="0" rIns="0" bIns="0" rtlCol="0" anchor="t"/>
          <a:lstStyle/>
          <a:p>
            <a:pPr algn="ctr" indent="0" marL="0">
              <a:buNone/>
            </a:pPr>
            <a:r>
              <a:rPr lang="en-US" sz="2000" dirty="0">
                <a:solidFill>
                  <a:srgbClr val="6B6B6B"/>
                </a:solidFill>
                <a:latin typeface="Arial" pitchFamily="34" charset="0"/>
                <a:ea typeface="Arial" pitchFamily="34" charset="-122"/>
                <a:cs typeface="Arial" pitchFamily="34" charset="-120"/>
              </a:rPr>
              <a:t>→</a:t>
            </a:r>
            <a:endParaRPr lang="en-US" sz="2000" dirty="0"/>
          </a:p>
        </p:txBody>
      </p:sp>
      <p:sp>
        <p:nvSpPr>
          <p:cNvPr id="19" name="Shape 17"/>
          <p:cNvSpPr/>
          <p:nvPr/>
        </p:nvSpPr>
        <p:spPr>
          <a:xfrm>
            <a:off x="9164574" y="1783080"/>
            <a:ext cx="2356866" cy="1627632"/>
          </a:xfrm>
          <a:prstGeom prst="rect">
            <a:avLst/>
          </a:prstGeom>
          <a:solidFill>
            <a:srgbClr val="FFFFFF"/>
          </a:solidFill>
          <a:ln w="12700">
            <a:solidFill>
              <a:srgbClr val="8C8C8C"/>
            </a:solidFill>
            <a:prstDash val="solid"/>
          </a:ln>
        </p:spPr>
      </p:sp>
      <p:sp>
        <p:nvSpPr>
          <p:cNvPr id="20" name="Text 18"/>
          <p:cNvSpPr txBox="1"/>
          <p:nvPr/>
        </p:nvSpPr>
        <p:spPr>
          <a:xfrm>
            <a:off x="9310878" y="1892808"/>
            <a:ext cx="640080" cy="256032"/>
          </a:xfrm>
          <a:prstGeom prst="rect">
            <a:avLst/>
          </a:prstGeom>
          <a:noFill/>
          <a:ln/>
        </p:spPr>
        <p:txBody>
          <a:bodyPr wrap="square" lIns="0" tIns="0" rIns="0" bIns="0" rtlCol="0" anchor="t"/>
          <a:lstStyle/>
          <a:p>
            <a:pPr indent="0" marL="0">
              <a:buNone/>
            </a:pPr>
            <a:r>
              <a:rPr lang="en-US" sz="1100" spc="100" kern="0" dirty="0">
                <a:solidFill>
                  <a:srgbClr val="6B6B6B"/>
                </a:solidFill>
                <a:latin typeface="Arial" pitchFamily="34" charset="0"/>
                <a:ea typeface="Arial" pitchFamily="34" charset="-122"/>
                <a:cs typeface="Arial" pitchFamily="34" charset="-120"/>
              </a:rPr>
              <a:t>04</a:t>
            </a:r>
            <a:endParaRPr lang="en-US" sz="1100" dirty="0"/>
          </a:p>
        </p:txBody>
      </p:sp>
      <p:sp>
        <p:nvSpPr>
          <p:cNvPr id="21" name="Text 19"/>
          <p:cNvSpPr txBox="1"/>
          <p:nvPr/>
        </p:nvSpPr>
        <p:spPr>
          <a:xfrm>
            <a:off x="9310878" y="2167128"/>
            <a:ext cx="2064258" cy="548640"/>
          </a:xfrm>
          <a:prstGeom prst="rect">
            <a:avLst/>
          </a:prstGeom>
          <a:noFill/>
          <a:ln/>
        </p:spPr>
        <p:txBody>
          <a:bodyPr wrap="square" lIns="0" tIns="0" rIns="0" bIns="0" rtlCol="0" anchor="t"/>
          <a:lstStyle/>
          <a:p>
            <a:pPr indent="0" marL="0">
              <a:lnSpc>
                <a:spcPct val="105000"/>
              </a:lnSpc>
              <a:buNone/>
            </a:pPr>
            <a:r>
              <a:rPr lang="en-US" sz="1550" b="1" dirty="0">
                <a:solidFill>
                  <a:srgbClr val="111111"/>
                </a:solidFill>
                <a:latin typeface="Arial" pitchFamily="34" charset="0"/>
                <a:ea typeface="Arial" pitchFamily="34" charset="-122"/>
                <a:cs typeface="Arial" pitchFamily="34" charset="-120"/>
              </a:rPr>
              <a:t>Test đúng một lần</a:t>
            </a:r>
            <a:endParaRPr lang="en-US" sz="1550" dirty="0"/>
          </a:p>
        </p:txBody>
      </p:sp>
      <p:sp>
        <p:nvSpPr>
          <p:cNvPr id="22" name="Text 20"/>
          <p:cNvSpPr txBox="1"/>
          <p:nvPr/>
        </p:nvSpPr>
        <p:spPr>
          <a:xfrm>
            <a:off x="9310878" y="2715768"/>
            <a:ext cx="2064258" cy="475488"/>
          </a:xfrm>
          <a:prstGeom prst="rect">
            <a:avLst/>
          </a:prstGeom>
          <a:noFill/>
          <a:ln/>
        </p:spPr>
        <p:txBody>
          <a:bodyPr wrap="square" lIns="0" tIns="0" rIns="0" bIns="0" rtlCol="0" anchor="t"/>
          <a:lstStyle/>
          <a:p>
            <a:pPr indent="0" marL="0">
              <a:lnSpc>
                <a:spcPct val="110000"/>
              </a:lnSpc>
              <a:buNone/>
            </a:pPr>
            <a:r>
              <a:rPr lang="en-US" sz="1100" dirty="0">
                <a:solidFill>
                  <a:srgbClr val="6B6B6B"/>
                </a:solidFill>
                <a:latin typeface="Arial" pitchFamily="34" charset="0"/>
                <a:ea typeface="Arial" pitchFamily="34" charset="-122"/>
                <a:cs typeface="Arial" pitchFamily="34" charset="-120"/>
              </a:rPr>
              <a:t>refit trên 800 hồ sơ rồi mới dự đoán 200 hồ sơ</a:t>
            </a:r>
            <a:endParaRPr lang="en-US" sz="1100" dirty="0"/>
          </a:p>
        </p:txBody>
      </p:sp>
      <p:sp>
        <p:nvSpPr>
          <p:cNvPr id="23" name="Shape 21"/>
          <p:cNvSpPr/>
          <p:nvPr/>
        </p:nvSpPr>
        <p:spPr>
          <a:xfrm>
            <a:off x="667512" y="3803904"/>
            <a:ext cx="10853928" cy="0"/>
          </a:xfrm>
          <a:prstGeom prst="line">
            <a:avLst/>
          </a:prstGeom>
          <a:noFill/>
          <a:ln w="9525">
            <a:solidFill>
              <a:srgbClr val="D5D5D5"/>
            </a:solidFill>
            <a:prstDash val="solid"/>
          </a:ln>
        </p:spPr>
      </p:sp>
      <p:sp>
        <p:nvSpPr>
          <p:cNvPr id="24" name="Text 22"/>
          <p:cNvSpPr txBox="1"/>
          <p:nvPr/>
        </p:nvSpPr>
        <p:spPr>
          <a:xfrm>
            <a:off x="667512" y="3968496"/>
            <a:ext cx="10853928" cy="2176272"/>
          </a:xfrm>
          <a:prstGeom prst="rect">
            <a:avLst/>
          </a:prstGeom>
          <a:noFill/>
          <a:ln/>
        </p:spPr>
        <p:txBody>
          <a:bodyPr wrap="square" lIns="0" tIns="0" rIns="0" bIns="0" rtlCol="0" anchor="t"/>
          <a:lstStyle/>
          <a:p>
            <a:pPr marL="342900" indent="-342900">
              <a:lnSpc>
                <a:spcPct val="106000"/>
              </a:lnSpc>
              <a:spcAft>
                <a:spcPts val="1400"/>
              </a:spcAft>
              <a:buSzPct val="100000"/>
              <a:buChar char="–"/>
            </a:pPr>
            <a:r>
              <a:rPr lang="en-US" sz="1750" b="1" dirty="0">
                <a:solidFill>
                  <a:srgbClr val="111111"/>
                </a:solidFill>
                <a:latin typeface="Arial" pitchFamily="34" charset="0"/>
                <a:ea typeface="Arial" pitchFamily="34" charset="-122"/>
                <a:cs typeface="Arial" pitchFamily="34" charset="-120"/>
              </a:rPr>
              <a:t>Toàn bộ lựa chọn hoàn tất trước khi sinh bất kỳ dự đoán test nào</a:t>
            </a:r>
            <a:endParaRPr lang="en-US" sz="1750" dirty="0"/>
          </a:p>
          <a:p>
            <a:pPr marL="342900" indent="-342900">
              <a:lnSpc>
                <a:spcPct val="106000"/>
              </a:lnSpc>
              <a:spcAft>
                <a:spcPts val="1400"/>
              </a:spcAft>
              <a:buSzPct val="100000"/>
              <a:buChar char="–"/>
            </a:pPr>
            <a:r>
              <a:rPr lang="en-US" sz="1750" dirty="0">
                <a:solidFill>
                  <a:srgbClr val="111111"/>
                </a:solidFill>
                <a:latin typeface="Arial" pitchFamily="34" charset="0"/>
                <a:ea typeface="Arial" pitchFamily="34" charset="-122"/>
                <a:cs typeface="Arial" pitchFamily="34" charset="-120"/>
              </a:rPr>
              <a:t>.</a:t>
            </a:r>
            <a:endParaRPr lang="en-US" sz="1750" dirty="0"/>
          </a:p>
          <a:p>
            <a:pPr marL="342900" indent="-342900">
              <a:lnSpc>
                <a:spcPct val="106000"/>
              </a:lnSpc>
              <a:spcAft>
                <a:spcPts val="1400"/>
              </a:spcAft>
              <a:buSzPct val="100000"/>
              <a:buChar char="–"/>
            </a:pPr>
            <a:r>
              <a:rPr lang="en-US" sz="1750" b="1" dirty="0">
                <a:solidFill>
                  <a:srgbClr val="111111"/>
                </a:solidFill>
                <a:latin typeface="Arial" pitchFamily="34" charset="0"/>
                <a:ea typeface="Arial" pitchFamily="34" charset="-122"/>
                <a:cs typeface="Arial" pitchFamily="34" charset="-120"/>
              </a:rPr>
              <a:t>Mọi mô hình dùng chung một phép biến đổi</a:t>
            </a:r>
            <a:endParaRPr lang="en-US" sz="1750" dirty="0"/>
          </a:p>
          <a:p>
            <a:pPr marL="342900" indent="-342900">
              <a:lnSpc>
                <a:spcPct val="106000"/>
              </a:lnSpc>
              <a:spcAft>
                <a:spcPts val="1400"/>
              </a:spcAft>
              <a:buSzPct val="100000"/>
              <a:buChar char="–"/>
            </a:pPr>
            <a:r>
              <a:rPr lang="en-US" sz="1750" dirty="0">
                <a:solidFill>
                  <a:srgbClr val="111111"/>
                </a:solidFill>
                <a:latin typeface="Arial" pitchFamily="34" charset="0"/>
                <a:ea typeface="Arial" pitchFamily="34" charset="-122"/>
                <a:cs typeface="Arial" pitchFamily="34" charset="-120"/>
              </a:rPr>
              <a:t>, nên so sánh giữa chúng là công bằng.</a:t>
            </a:r>
            <a:endParaRPr lang="en-US" sz="1750" dirty="0"/>
          </a:p>
          <a:p>
            <a:pPr marL="342900" indent="-342900">
              <a:lnSpc>
                <a:spcPct val="106000"/>
              </a:lnSpc>
              <a:spcAft>
                <a:spcPts val="1400"/>
              </a:spcAft>
              <a:buSzPct val="100000"/>
              <a:buChar char="–"/>
            </a:pPr>
            <a:r>
              <a:rPr lang="en-US" sz="1750" b="1" dirty="0">
                <a:solidFill>
                  <a:srgbClr val="111111"/>
                </a:solidFill>
                <a:latin typeface="Arial" pitchFamily="34" charset="0"/>
                <a:ea typeface="Arial" pitchFamily="34" charset="-122"/>
                <a:cs typeface="Arial" pitchFamily="34" charset="-120"/>
              </a:rPr>
              <a:t>Giữ nguyên ngoại lai hợp lệ</a:t>
            </a:r>
            <a:endParaRPr lang="en-US" sz="1750" dirty="0"/>
          </a:p>
          <a:p>
            <a:pPr marL="342900" indent="-342900">
              <a:lnSpc>
                <a:spcPct val="106000"/>
              </a:lnSpc>
              <a:spcAft>
                <a:spcPts val="1400"/>
              </a:spcAft>
              <a:buSzPct val="100000"/>
              <a:buChar char="–"/>
            </a:pPr>
            <a:r>
              <a:rPr lang="en-US" sz="1750" dirty="0">
                <a:solidFill>
                  <a:srgbClr val="111111"/>
                </a:solidFill>
                <a:latin typeface="Arial" pitchFamily="34" charset="0"/>
                <a:ea typeface="Arial" pitchFamily="34" charset="-122"/>
                <a:cs typeface="Arial" pitchFamily="34" charset="-120"/>
              </a:rPr>
              <a:t> — cờ IQR chỉ là mô tả, không phải bằng chứng dữ liệu sai.</a:t>
            </a:r>
            <a:endParaRPr lang="en-US" sz="1750" dirty="0"/>
          </a:p>
          <a:p>
            <a:pPr marL="342900" indent="-342900">
              <a:lnSpc>
                <a:spcPct val="106000"/>
              </a:lnSpc>
              <a:spcAft>
                <a:spcPts val="1400"/>
              </a:spcAft>
              <a:buSzPct val="100000"/>
              <a:buChar char="–"/>
            </a:pPr>
            <a:r>
              <a:rPr lang="en-US" sz="1750" b="1" dirty="0">
                <a:solidFill>
                  <a:srgbClr val="111111"/>
                </a:solidFill>
                <a:latin typeface="Arial" pitchFamily="34" charset="0"/>
                <a:ea typeface="Arial" pitchFamily="34" charset="-122"/>
                <a:cs typeface="Arial" pitchFamily="34" charset="-120"/>
              </a:rPr>
              <a:t>Baseline đa số</a:t>
            </a:r>
            <a:endParaRPr lang="en-US" sz="1750" dirty="0"/>
          </a:p>
          <a:p>
            <a:pPr marL="342900" indent="-342900">
              <a:lnSpc>
                <a:spcPct val="106000"/>
              </a:lnSpc>
              <a:spcAft>
                <a:spcPts val="1400"/>
              </a:spcAft>
              <a:buSzPct val="100000"/>
              <a:buChar char="–"/>
            </a:pPr>
            <a:r>
              <a:rPr lang="en-US" sz="1750" dirty="0">
                <a:solidFill>
                  <a:srgbClr val="111111"/>
                </a:solidFill>
                <a:latin typeface="Arial" pitchFamily="34" charset="0"/>
                <a:ea typeface="Arial" pitchFamily="34" charset="-122"/>
                <a:cs typeface="Arial" pitchFamily="34" charset="-120"/>
              </a:rPr>
              <a:t> đạt macro F1 0.412 trên test, dùng làm mốc tham chiếu.</a:t>
            </a:r>
            <a:endParaRPr lang="en-US" sz="175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2 · CHỌN MÔ HÌNH</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14 mô hình và một baseline, chọn bằng cross-validation</a:t>
            </a:r>
            <a:endParaRPr lang="en-US" sz="2600" dirty="0"/>
          </a:p>
        </p:txBody>
      </p:sp>
      <p:pic>
        <p:nvPicPr>
          <p:cNvPr id="4" name="Image 0" descr="fig_q2_cv.png">    </p:cNvPr>
          <p:cNvPicPr>
            <a:picLocks noChangeAspect="1"/>
          </p:cNvPicPr>
          <p:nvPr/>
        </p:nvPicPr>
        <p:blipFill>
          <a:blip r:embed="rId1"/>
          <a:stretch>
            <a:fillRect/>
          </a:stretch>
        </p:blipFill>
        <p:spPr>
          <a:xfrm>
            <a:off x="667512" y="1481328"/>
            <a:ext cx="5943600" cy="4160520"/>
          </a:xfrm>
          <a:prstGeom prst="rect">
            <a:avLst/>
          </a:prstGeom>
        </p:spPr>
      </p:pic>
      <p:sp>
        <p:nvSpPr>
          <p:cNvPr id="5" name="Text 2"/>
          <p:cNvSpPr txBox="1"/>
          <p:nvPr/>
        </p:nvSpPr>
        <p:spPr>
          <a:xfrm>
            <a:off x="6903720" y="1627632"/>
            <a:ext cx="4617720" cy="4517136"/>
          </a:xfrm>
          <a:prstGeom prst="rect">
            <a:avLst/>
          </a:prstGeom>
          <a:noFill/>
          <a:ln/>
        </p:spPr>
        <p:txBody>
          <a:bodyPr wrap="square" lIns="0" tIns="0" rIns="0" bIns="0" rtlCol="0" anchor="t"/>
          <a:lstStyle/>
          <a:p>
            <a:pPr marL="342900" indent="-342900">
              <a:lnSpc>
                <a:spcPct val="106000"/>
              </a:lnSpc>
              <a:spcAft>
                <a:spcPts val="1400"/>
              </a:spcAft>
              <a:buSzPct val="100000"/>
              <a:buChar char="–"/>
            </a:pPr>
            <a:r>
              <a:rPr lang="en-US" sz="1650" b="1" dirty="0">
                <a:solidFill>
                  <a:srgbClr val="111111"/>
                </a:solidFill>
                <a:latin typeface="Arial" pitchFamily="34" charset="0"/>
                <a:ea typeface="Arial" pitchFamily="34" charset="-122"/>
                <a:cs typeface="Arial" pitchFamily="34" charset="-120"/>
              </a:rPr>
              <a:t>Ba kernel SVM</a:t>
            </a:r>
            <a:endParaRPr lang="en-US" sz="1650" dirty="0"/>
          </a:p>
          <a:p>
            <a:pPr marL="342900" indent="-342900">
              <a:lnSpc>
                <a:spcPct val="106000"/>
              </a:lnSpc>
              <a:spcAft>
                <a:spcPts val="1400"/>
              </a:spcAft>
              <a:buSzPct val="100000"/>
              <a:buChar char="–"/>
            </a:pPr>
            <a:r>
              <a:rPr lang="en-US" sz="1650" dirty="0">
                <a:solidFill>
                  <a:srgbClr val="111111"/>
                </a:solidFill>
                <a:latin typeface="Arial" pitchFamily="34" charset="0"/>
                <a:ea typeface="Arial" pitchFamily="34" charset="-122"/>
                <a:cs typeface="Arial" pitchFamily="34" charset="-120"/>
              </a:rPr>
              <a:t> là ba biến thể của một họ, không phải ba họ độc lập.</a:t>
            </a:r>
            <a:endParaRPr lang="en-US" sz="1650" dirty="0"/>
          </a:p>
          <a:p>
            <a:pPr marL="342900" indent="-342900">
              <a:lnSpc>
                <a:spcPct val="106000"/>
              </a:lnSpc>
              <a:spcAft>
                <a:spcPts val="1400"/>
              </a:spcAft>
              <a:buSzPct val="100000"/>
              <a:buChar char="–"/>
            </a:pPr>
            <a:r>
              <a:rPr lang="en-US" sz="1650" dirty="0">
                <a:solidFill>
                  <a:srgbClr val="111111"/>
                </a:solidFill>
                <a:latin typeface="Arial" pitchFamily="34" charset="0"/>
                <a:ea typeface="Arial" pitchFamily="34" charset="-122"/>
                <a:cs typeface="Arial" pitchFamily="34" charset="-120"/>
              </a:rPr>
              <a:t>Dẫn đầu: MLP </a:t>
            </a:r>
            <a:endParaRPr lang="en-US" sz="1650" dirty="0"/>
          </a:p>
          <a:p>
            <a:pPr marL="342900" indent="-342900">
              <a:lnSpc>
                <a:spcPct val="106000"/>
              </a:lnSpc>
              <a:spcAft>
                <a:spcPts val="1400"/>
              </a:spcAft>
              <a:buSzPct val="100000"/>
              <a:buChar char="–"/>
            </a:pPr>
            <a:r>
              <a:rPr lang="en-US" sz="1650" b="1" dirty="0">
                <a:solidFill>
                  <a:srgbClr val="111111"/>
                </a:solidFill>
                <a:latin typeface="Arial" pitchFamily="34" charset="0"/>
                <a:ea typeface="Arial" pitchFamily="34" charset="-122"/>
                <a:cs typeface="Arial" pitchFamily="34" charset="-120"/>
              </a:rPr>
              <a:t>0.696</a:t>
            </a:r>
            <a:endParaRPr lang="en-US" sz="1650" dirty="0"/>
          </a:p>
          <a:p>
            <a:pPr marL="342900" indent="-342900">
              <a:lnSpc>
                <a:spcPct val="106000"/>
              </a:lnSpc>
              <a:spcAft>
                <a:spcPts val="1400"/>
              </a:spcAft>
              <a:buSzPct val="100000"/>
              <a:buChar char="–"/>
            </a:pPr>
            <a:r>
              <a:rPr lang="en-US" sz="1650" dirty="0">
                <a:solidFill>
                  <a:srgbClr val="111111"/>
                </a:solidFill>
                <a:latin typeface="Arial" pitchFamily="34" charset="0"/>
                <a:ea typeface="Arial" pitchFamily="34" charset="-122"/>
                <a:cs typeface="Arial" pitchFamily="34" charset="-120"/>
              </a:rPr>
              <a:t> · Bernoulli NB </a:t>
            </a:r>
            <a:endParaRPr lang="en-US" sz="1650" dirty="0"/>
          </a:p>
          <a:p>
            <a:pPr marL="342900" indent="-342900">
              <a:lnSpc>
                <a:spcPct val="106000"/>
              </a:lnSpc>
              <a:spcAft>
                <a:spcPts val="1400"/>
              </a:spcAft>
              <a:buSzPct val="100000"/>
              <a:buChar char="–"/>
            </a:pPr>
            <a:r>
              <a:rPr lang="en-US" sz="1650" b="1" dirty="0">
                <a:solidFill>
                  <a:srgbClr val="111111"/>
                </a:solidFill>
                <a:latin typeface="Arial" pitchFamily="34" charset="0"/>
                <a:ea typeface="Arial" pitchFamily="34" charset="-122"/>
                <a:cs typeface="Arial" pitchFamily="34" charset="-120"/>
              </a:rPr>
              <a:t>0.694</a:t>
            </a:r>
            <a:endParaRPr lang="en-US" sz="1650" dirty="0"/>
          </a:p>
          <a:p>
            <a:pPr marL="342900" indent="-342900">
              <a:lnSpc>
                <a:spcPct val="106000"/>
              </a:lnSpc>
              <a:spcAft>
                <a:spcPts val="1400"/>
              </a:spcAft>
              <a:buSzPct val="100000"/>
              <a:buChar char="–"/>
            </a:pPr>
            <a:r>
              <a:rPr lang="en-US" sz="1650" dirty="0">
                <a:solidFill>
                  <a:srgbClr val="111111"/>
                </a:solidFill>
                <a:latin typeface="Arial" pitchFamily="34" charset="0"/>
                <a:ea typeface="Arial" pitchFamily="34" charset="-122"/>
                <a:cs typeface="Arial" pitchFamily="34" charset="-120"/>
              </a:rPr>
              <a:t>Chênh lệch top 2 nhỏ hơn độ lệch chuẩn giữa các fold (±</a:t>
            </a:r>
            <a:endParaRPr lang="en-US" sz="1650" dirty="0"/>
          </a:p>
          <a:p>
            <a:pPr marL="342900" indent="-342900">
              <a:lnSpc>
                <a:spcPct val="106000"/>
              </a:lnSpc>
              <a:spcAft>
                <a:spcPts val="1400"/>
              </a:spcAft>
              <a:buSzPct val="100000"/>
              <a:buChar char="–"/>
            </a:pPr>
            <a:r>
              <a:rPr lang="en-US" sz="1650" b="1" dirty="0">
                <a:solidFill>
                  <a:srgbClr val="111111"/>
                </a:solidFill>
                <a:latin typeface="Arial" pitchFamily="34" charset="0"/>
                <a:ea typeface="Arial" pitchFamily="34" charset="-122"/>
                <a:cs typeface="Arial" pitchFamily="34" charset="-120"/>
              </a:rPr>
              <a:t>0.06</a:t>
            </a:r>
            <a:endParaRPr lang="en-US" sz="1650" dirty="0"/>
          </a:p>
          <a:p>
            <a:pPr marL="342900" indent="-342900">
              <a:lnSpc>
                <a:spcPct val="106000"/>
              </a:lnSpc>
              <a:spcAft>
                <a:spcPts val="1400"/>
              </a:spcAft>
              <a:buSzPct val="100000"/>
              <a:buChar char="–"/>
            </a:pPr>
            <a:r>
              <a:rPr lang="en-US" sz="1650" dirty="0">
                <a:solidFill>
                  <a:srgbClr val="111111"/>
                </a:solidFill>
                <a:latin typeface="Arial" pitchFamily="34" charset="0"/>
                <a:ea typeface="Arial" pitchFamily="34" charset="-122"/>
                <a:cs typeface="Arial" pitchFamily="34" charset="-120"/>
              </a:rPr>
              <a:t>) ⇒ chưa thể nói hơn kém.</a:t>
            </a:r>
            <a:endParaRPr lang="en-US" sz="1650" dirty="0"/>
          </a:p>
          <a:p>
            <a:pPr marL="342900" indent="-342900">
              <a:lnSpc>
                <a:spcPct val="106000"/>
              </a:lnSpc>
              <a:spcAft>
                <a:spcPts val="1400"/>
              </a:spcAft>
              <a:buSzPct val="100000"/>
              <a:buChar char="–"/>
            </a:pPr>
            <a:r>
              <a:rPr lang="en-US" sz="1650" b="1" dirty="0">
                <a:solidFill>
                  <a:srgbClr val="111111"/>
                </a:solidFill>
                <a:latin typeface="Arial" pitchFamily="34" charset="0"/>
                <a:ea typeface="Arial" pitchFamily="34" charset="-122"/>
                <a:cs typeface="Arial" pitchFamily="34" charset="-120"/>
              </a:rPr>
              <a:t>kNN chọn k = 1</a:t>
            </a:r>
            <a:endParaRPr lang="en-US" sz="1650" dirty="0"/>
          </a:p>
          <a:p>
            <a:pPr marL="342900" indent="-342900">
              <a:lnSpc>
                <a:spcPct val="106000"/>
              </a:lnSpc>
              <a:spcAft>
                <a:spcPts val="1400"/>
              </a:spcAft>
              <a:buSzPct val="100000"/>
              <a:buChar char="–"/>
            </a:pPr>
            <a:r>
              <a:rPr lang="en-US" sz="1650" dirty="0">
                <a:solidFill>
                  <a:srgbClr val="111111"/>
                </a:solidFill>
                <a:latin typeface="Arial" pitchFamily="34" charset="0"/>
                <a:ea typeface="Arial" pitchFamily="34" charset="-122"/>
                <a:cs typeface="Arial" pitchFamily="34" charset="-120"/>
              </a:rPr>
              <a:t> dù khoảng cách train–CV lớn: giữ đúng tiêu chí đã khai báo.</a:t>
            </a:r>
            <a:endParaRPr lang="en-US" sz="1650" dirty="0"/>
          </a:p>
        </p:txBody>
      </p:sp>
      <p:sp>
        <p:nvSpPr>
          <p:cNvPr id="6" name="Shape 3"/>
          <p:cNvSpPr/>
          <p:nvPr/>
        </p:nvSpPr>
        <p:spPr>
          <a:xfrm>
            <a:off x="6903720" y="4846320"/>
            <a:ext cx="4617720" cy="0"/>
          </a:xfrm>
          <a:prstGeom prst="line">
            <a:avLst/>
          </a:prstGeom>
          <a:noFill/>
          <a:ln w="9525">
            <a:solidFill>
              <a:srgbClr val="D5D5D5"/>
            </a:solidFill>
            <a:prstDash val="solid"/>
          </a:ln>
        </p:spPr>
      </p:sp>
      <p:sp>
        <p:nvSpPr>
          <p:cNvPr id="7" name="Text 4"/>
          <p:cNvSpPr txBox="1"/>
          <p:nvPr/>
        </p:nvSpPr>
        <p:spPr>
          <a:xfrm>
            <a:off x="6903720" y="4992624"/>
            <a:ext cx="4617720" cy="731520"/>
          </a:xfrm>
          <a:prstGeom prst="rect">
            <a:avLst/>
          </a:prstGeom>
          <a:noFill/>
          <a:ln/>
        </p:spPr>
        <p:txBody>
          <a:bodyPr wrap="square" lIns="0" tIns="0" rIns="0" bIns="0" rtlCol="0" anchor="t"/>
          <a:lstStyle/>
          <a:p>
            <a:pPr algn="l" indent="0" marL="0">
              <a:lnSpc>
                <a:spcPct val="130000"/>
              </a:lnSpc>
              <a:buNone/>
            </a:pPr>
            <a:r>
              <a:rPr lang="en-US" sz="1400" dirty="0">
                <a:solidFill>
                  <a:srgbClr val="6B6B6B"/>
                </a:solidFill>
                <a:latin typeface="Arial" pitchFamily="34" charset="0"/>
                <a:ea typeface="Arial" pitchFamily="34" charset="-122"/>
                <a:cs typeface="Arial" pitchFamily="34" charset="-120"/>
              </a:rPr>
              <a:t>Điểm CV dùng để chọn tham số nên không phải đánh giá độc lập; tập test giữ vai trò đó.</a:t>
            </a:r>
            <a:endParaRPr lang="en-US" sz="14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2 · KẾT QUẢ TEST</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Trên 200 hồ sơ chưa từng thấy, khoảng cách rất hẹp</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 y="1645920"/>
          <a:ext cx="7223760" cy="914400"/>
        </p:xfrm>
        <a:graphic>
          <a:graphicData uri="http://schemas.openxmlformats.org/drawingml/2006/table">
            <a:tbl>
              <a:tblPr/>
              <a:tblGrid>
                <a:gridCol w="2926080"/>
                <a:gridCol w="1463040"/>
                <a:gridCol w="1463040"/>
                <a:gridCol w="1371600"/>
              </a:tblGrid>
              <a:tr h="402336">
                <a:tc>
                  <a:txBody>
                    <a:bodyPr/>
                    <a:lstStyle/>
                    <a:p>
                      <a:pPr algn="l" indent="0" marL="0">
                        <a:buNone/>
                      </a:pPr>
                      <a:r>
                        <a:rPr lang="en-US" sz="1400" b="1" dirty="0">
                          <a:solidFill>
                            <a:srgbClr val="111111"/>
                          </a:solidFill>
                          <a:latin typeface="Arial" pitchFamily="34" charset="0"/>
                          <a:ea typeface="Arial" pitchFamily="34" charset="-122"/>
                          <a:cs typeface="Arial" pitchFamily="34" charset="-120"/>
                        </a:rPr>
                        <a:t>Mô hình</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2F2F2"/>
                    </a:solidFill>
                  </a:tcPr>
                </a:tc>
                <a:tc>
                  <a:txBody>
                    <a:bodyPr/>
                    <a:lstStyle/>
                    <a:p>
                      <a:pPr algn="r" indent="0" marL="0">
                        <a:buNone/>
                      </a:pPr>
                      <a:r>
                        <a:rPr lang="en-US" sz="1400" b="1" dirty="0">
                          <a:solidFill>
                            <a:srgbClr val="111111"/>
                          </a:solidFill>
                          <a:latin typeface="Arial" pitchFamily="34" charset="0"/>
                          <a:ea typeface="Arial" pitchFamily="34" charset="-122"/>
                          <a:cs typeface="Arial" pitchFamily="34" charset="-120"/>
                        </a:rPr>
                        <a:t>Accuracy</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2F2F2"/>
                    </a:solidFill>
                  </a:tcPr>
                </a:tc>
                <a:tc>
                  <a:txBody>
                    <a:bodyPr/>
                    <a:lstStyle/>
                    <a:p>
                      <a:pPr algn="r" indent="0" marL="0">
                        <a:buNone/>
                      </a:pPr>
                      <a:r>
                        <a:rPr lang="en-US" sz="1400" b="1" dirty="0">
                          <a:solidFill>
                            <a:srgbClr val="111111"/>
                          </a:solidFill>
                          <a:latin typeface="Arial" pitchFamily="34" charset="0"/>
                          <a:ea typeface="Arial" pitchFamily="34" charset="-122"/>
                          <a:cs typeface="Arial" pitchFamily="34" charset="-120"/>
                        </a:rPr>
                        <a:t>Macro F1</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2F2F2"/>
                    </a:solidFill>
                  </a:tcPr>
                </a:tc>
                <a:tc>
                  <a:txBody>
                    <a:bodyPr/>
                    <a:lstStyle/>
                    <a:p>
                      <a:pPr algn="r" indent="0" marL="0">
                        <a:buNone/>
                      </a:pPr>
                      <a:r>
                        <a:rPr lang="en-US" sz="1400" b="1" dirty="0">
                          <a:solidFill>
                            <a:srgbClr val="111111"/>
                          </a:solidFill>
                          <a:latin typeface="Arial" pitchFamily="34" charset="0"/>
                          <a:ea typeface="Arial" pitchFamily="34" charset="-122"/>
                          <a:cs typeface="Arial" pitchFamily="34" charset="-120"/>
                        </a:rPr>
                        <a:t>AUC</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2F2F2"/>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Majority baseline</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0.700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0.412</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0.500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Perceptron</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0.700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0.639</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0.720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kNN (k = 1)</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0.720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0.667</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0.667</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Decision tree</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0.645</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0.606</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0.692</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Scratch logistic</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0.780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0.730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0.801</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Polynomial SVM</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0.775</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0.713</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0.799</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AdaBoost</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0.785</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0.726</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0.790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b="1" dirty="0">
                          <a:solidFill>
                            <a:srgbClr val="111111"/>
                          </a:solidFill>
                          <a:latin typeface="Arial" pitchFamily="34" charset="0"/>
                          <a:ea typeface="Arial" pitchFamily="34" charset="-122"/>
                          <a:cs typeface="Arial" pitchFamily="34" charset="-120"/>
                        </a:rPr>
                        <a:t>MLP  (được chọn)</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8E8E8"/>
                    </a:solidFill>
                  </a:tcPr>
                </a:tc>
                <a:tc>
                  <a:txBody>
                    <a:bodyPr/>
                    <a:lstStyle/>
                    <a:p>
                      <a:pPr algn="r" indent="0" marL="0">
                        <a:buNone/>
                      </a:pPr>
                      <a:r>
                        <a:rPr lang="en-US" sz="1400" b="1" dirty="0">
                          <a:solidFill>
                            <a:srgbClr val="111111"/>
                          </a:solidFill>
                          <a:latin typeface="Arial" pitchFamily="34" charset="0"/>
                          <a:ea typeface="Arial" pitchFamily="34" charset="-122"/>
                          <a:cs typeface="Arial" pitchFamily="34" charset="-120"/>
                        </a:rPr>
                        <a:t>0.790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8E8E8"/>
                    </a:solidFill>
                  </a:tcPr>
                </a:tc>
                <a:tc>
                  <a:txBody>
                    <a:bodyPr/>
                    <a:lstStyle/>
                    <a:p>
                      <a:pPr algn="r" indent="0" marL="0">
                        <a:buNone/>
                      </a:pPr>
                      <a:r>
                        <a:rPr lang="en-US" sz="1400" b="1" dirty="0">
                          <a:solidFill>
                            <a:srgbClr val="111111"/>
                          </a:solidFill>
                          <a:latin typeface="Arial" pitchFamily="34" charset="0"/>
                          <a:ea typeface="Arial" pitchFamily="34" charset="-122"/>
                          <a:cs typeface="Arial" pitchFamily="34" charset="-120"/>
                        </a:rPr>
                        <a:t>0.730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8E8E8"/>
                    </a:solidFill>
                  </a:tcPr>
                </a:tc>
                <a:tc>
                  <a:txBody>
                    <a:bodyPr/>
                    <a:lstStyle/>
                    <a:p>
                      <a:pPr algn="r" indent="0" marL="0">
                        <a:buNone/>
                      </a:pPr>
                      <a:r>
                        <a:rPr lang="en-US" sz="1400" b="1" dirty="0">
                          <a:solidFill>
                            <a:srgbClr val="111111"/>
                          </a:solidFill>
                          <a:latin typeface="Arial" pitchFamily="34" charset="0"/>
                          <a:ea typeface="Arial" pitchFamily="34" charset="-122"/>
                          <a:cs typeface="Arial" pitchFamily="34" charset="-120"/>
                        </a:rPr>
                        <a:t>0.813</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8E8E8"/>
                    </a:solidFill>
                  </a:tcPr>
                </a:tc>
              </a:tr>
            </a:tbl>
          </a:graphicData>
        </a:graphic>
      </p:graphicFrame>
      <p:sp>
        <p:nvSpPr>
          <p:cNvPr id="5" name="Text 2"/>
          <p:cNvSpPr txBox="1"/>
          <p:nvPr/>
        </p:nvSpPr>
        <p:spPr>
          <a:xfrm>
            <a:off x="667512" y="5449824"/>
            <a:ext cx="10853928" cy="45720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Chênh lệch giữa các mô hình dẫn đầu chỉ vài phần nghìn — nhỏ hơn dao động giữa các fold (±0.064), nên không đọc thành xếp hạng.</a:t>
            </a:r>
            <a:endParaRPr lang="en-US" sz="1350" dirty="0"/>
          </a:p>
        </p:txBody>
      </p:sp>
      <p:sp>
        <p:nvSpPr>
          <p:cNvPr id="6" name="Text 3"/>
          <p:cNvSpPr txBox="1"/>
          <p:nvPr/>
        </p:nvSpPr>
        <p:spPr>
          <a:xfrm>
            <a:off x="8092440" y="1664208"/>
            <a:ext cx="3429000" cy="4480560"/>
          </a:xfrm>
          <a:prstGeom prst="rect">
            <a:avLst/>
          </a:prstGeom>
          <a:noFill/>
          <a:ln/>
        </p:spPr>
        <p:txBody>
          <a:bodyPr wrap="square" lIns="0" tIns="0" rIns="0" bIns="0" rtlCol="0" anchor="t"/>
          <a:lstStyle/>
          <a:p>
            <a:pPr marL="342900" indent="-342900">
              <a:lnSpc>
                <a:spcPct val="106000"/>
              </a:lnSpc>
              <a:spcAft>
                <a:spcPts val="1400"/>
              </a:spcAft>
              <a:buSzPct val="100000"/>
              <a:buChar char="–"/>
            </a:pPr>
            <a:r>
              <a:rPr lang="en-US" sz="1600" dirty="0">
                <a:solidFill>
                  <a:srgbClr val="111111"/>
                </a:solidFill>
                <a:latin typeface="Arial" pitchFamily="34" charset="0"/>
                <a:ea typeface="Arial" pitchFamily="34" charset="-122"/>
                <a:cs typeface="Arial" pitchFamily="34" charset="-120"/>
              </a:rPr>
              <a:t>MLP </a:t>
            </a:r>
            <a:endParaRPr lang="en-US" sz="1600" dirty="0"/>
          </a:p>
          <a:p>
            <a:pPr marL="342900" indent="-342900">
              <a:lnSpc>
                <a:spcPct val="106000"/>
              </a:lnSpc>
              <a:spcAft>
                <a:spcPts val="1400"/>
              </a:spcAft>
              <a:buSzPct val="100000"/>
              <a:buChar char="–"/>
            </a:pPr>
            <a:r>
              <a:rPr lang="en-US" sz="1600" b="1" dirty="0">
                <a:solidFill>
                  <a:srgbClr val="111111"/>
                </a:solidFill>
                <a:latin typeface="Arial" pitchFamily="34" charset="0"/>
                <a:ea typeface="Arial" pitchFamily="34" charset="-122"/>
                <a:cs typeface="Arial" pitchFamily="34" charset="-120"/>
              </a:rPr>
              <a:t>0.7305</a:t>
            </a:r>
            <a:endParaRPr lang="en-US" sz="1600" dirty="0"/>
          </a:p>
          <a:p>
            <a:pPr marL="342900" indent="-342900">
              <a:lnSpc>
                <a:spcPct val="106000"/>
              </a:lnSpc>
              <a:spcAft>
                <a:spcPts val="1400"/>
              </a:spcAft>
              <a:buSzPct val="100000"/>
              <a:buChar char="–"/>
            </a:pPr>
            <a:r>
              <a:rPr lang="en-US" sz="1600" dirty="0">
                <a:solidFill>
                  <a:srgbClr val="111111"/>
                </a:solidFill>
                <a:latin typeface="Arial" pitchFamily="34" charset="0"/>
                <a:ea typeface="Arial" pitchFamily="34" charset="-122"/>
                <a:cs typeface="Arial" pitchFamily="34" charset="-120"/>
              </a:rPr>
              <a:t> ≈ hồi quy logistic tự cài đặt </a:t>
            </a:r>
            <a:endParaRPr lang="en-US" sz="1600" dirty="0"/>
          </a:p>
          <a:p>
            <a:pPr marL="342900" indent="-342900">
              <a:lnSpc>
                <a:spcPct val="106000"/>
              </a:lnSpc>
              <a:spcAft>
                <a:spcPts val="1400"/>
              </a:spcAft>
              <a:buSzPct val="100000"/>
              <a:buChar char="–"/>
            </a:pPr>
            <a:r>
              <a:rPr lang="en-US" sz="1600" b="1" dirty="0">
                <a:solidFill>
                  <a:srgbClr val="111111"/>
                </a:solidFill>
                <a:latin typeface="Arial" pitchFamily="34" charset="0"/>
                <a:ea typeface="Arial" pitchFamily="34" charset="-122"/>
                <a:cs typeface="Arial" pitchFamily="34" charset="-120"/>
              </a:rPr>
              <a:t>0.7301</a:t>
            </a:r>
            <a:endParaRPr lang="en-US" sz="1600" dirty="0"/>
          </a:p>
          <a:p>
            <a:pPr marL="342900" indent="-342900">
              <a:lnSpc>
                <a:spcPct val="106000"/>
              </a:lnSpc>
              <a:spcAft>
                <a:spcPts val="1400"/>
              </a:spcAft>
              <a:buSzPct val="100000"/>
              <a:buChar char="–"/>
            </a:pPr>
            <a:r>
              <a:rPr lang="en-US" sz="1600" dirty="0">
                <a:solidFill>
                  <a:srgbClr val="111111"/>
                </a:solidFill>
                <a:latin typeface="Arial" pitchFamily="34" charset="0"/>
                <a:ea typeface="Arial" pitchFamily="34" charset="-122"/>
                <a:cs typeface="Arial" pitchFamily="34" charset="-120"/>
              </a:rPr>
              <a:t> — mô hình phức tạp không tạo khác biệt rõ.</a:t>
            </a:r>
            <a:endParaRPr lang="en-US" sz="1600" dirty="0"/>
          </a:p>
          <a:p>
            <a:pPr marL="342900" indent="-342900">
              <a:lnSpc>
                <a:spcPct val="106000"/>
              </a:lnSpc>
              <a:spcAft>
                <a:spcPts val="1400"/>
              </a:spcAft>
              <a:buSzPct val="100000"/>
              <a:buChar char="–"/>
            </a:pPr>
            <a:r>
              <a:rPr lang="en-US" sz="1600" dirty="0">
                <a:solidFill>
                  <a:srgbClr val="111111"/>
                </a:solidFill>
                <a:latin typeface="Arial" pitchFamily="34" charset="0"/>
                <a:ea typeface="Arial" pitchFamily="34" charset="-122"/>
                <a:cs typeface="Arial" pitchFamily="34" charset="-120"/>
              </a:rPr>
              <a:t>Accuracy cao </a:t>
            </a:r>
            <a:endParaRPr lang="en-US" sz="1600" dirty="0"/>
          </a:p>
          <a:p>
            <a:pPr marL="342900" indent="-342900">
              <a:lnSpc>
                <a:spcPct val="106000"/>
              </a:lnSpc>
              <a:spcAft>
                <a:spcPts val="1400"/>
              </a:spcAft>
              <a:buSzPct val="100000"/>
              <a:buChar char="–"/>
            </a:pPr>
            <a:r>
              <a:rPr lang="en-US" sz="1600" b="1" dirty="0">
                <a:solidFill>
                  <a:srgbClr val="111111"/>
                </a:solidFill>
                <a:latin typeface="Arial" pitchFamily="34" charset="0"/>
                <a:ea typeface="Arial" pitchFamily="34" charset="-122"/>
                <a:cs typeface="Arial" pitchFamily="34" charset="-120"/>
              </a:rPr>
              <a:t>0.79</a:t>
            </a:r>
            <a:endParaRPr lang="en-US" sz="1600" dirty="0"/>
          </a:p>
          <a:p>
            <a:pPr marL="342900" indent="-342900">
              <a:lnSpc>
                <a:spcPct val="106000"/>
              </a:lnSpc>
              <a:spcAft>
                <a:spcPts val="1400"/>
              </a:spcAft>
              <a:buSzPct val="100000"/>
              <a:buChar char="–"/>
            </a:pPr>
            <a:r>
              <a:rPr lang="en-US" sz="1600" dirty="0">
                <a:solidFill>
                  <a:srgbClr val="111111"/>
                </a:solidFill>
                <a:latin typeface="Arial" pitchFamily="34" charset="0"/>
                <a:ea typeface="Arial" pitchFamily="34" charset="-122"/>
                <a:cs typeface="Arial" pitchFamily="34" charset="-120"/>
              </a:rPr>
              <a:t> nhưng phải đọc kèm chỉ số theo lớp, vì lớp bad chỉ chiếm 30%.</a:t>
            </a:r>
            <a:endParaRPr lang="en-US" sz="1600" dirty="0"/>
          </a:p>
          <a:p>
            <a:pPr marL="342900" indent="-342900">
              <a:lnSpc>
                <a:spcPct val="106000"/>
              </a:lnSpc>
              <a:spcAft>
                <a:spcPts val="1400"/>
              </a:spcAft>
              <a:buSzPct val="100000"/>
              <a:buChar char="–"/>
            </a:pPr>
            <a:r>
              <a:rPr lang="en-US" sz="1600" b="1" dirty="0">
                <a:solidFill>
                  <a:srgbClr val="111111"/>
                </a:solidFill>
                <a:latin typeface="Arial" pitchFamily="34" charset="0"/>
                <a:ea typeface="Arial" pitchFamily="34" charset="-122"/>
                <a:cs typeface="Arial" pitchFamily="34" charset="-120"/>
              </a:rPr>
              <a:t>14 mô hình đều vượt baseline</a:t>
            </a:r>
            <a:endParaRPr lang="en-US" sz="1600" dirty="0"/>
          </a:p>
          <a:p>
            <a:pPr marL="342900" indent="-342900">
              <a:lnSpc>
                <a:spcPct val="106000"/>
              </a:lnSpc>
              <a:spcAft>
                <a:spcPts val="1400"/>
              </a:spcAft>
              <a:buSzPct val="100000"/>
              <a:buChar char="–"/>
            </a:pPr>
            <a:r>
              <a:rPr lang="en-US" sz="1600" dirty="0">
                <a:solidFill>
                  <a:srgbClr val="111111"/>
                </a:solidFill>
                <a:latin typeface="Arial" pitchFamily="34" charset="0"/>
                <a:ea typeface="Arial" pitchFamily="34" charset="-122"/>
                <a:cs typeface="Arial" pitchFamily="34" charset="-120"/>
              </a:rPr>
              <a:t>, kể cả cây quyết định có accuracy thấp hơn.</a:t>
            </a:r>
            <a:endParaRPr lang="en-US" sz="16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2 · ĐỌC KẾT QUẢ</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Một con số accuracy đẹp có thể che mất lỗi quan trọng</a:t>
            </a:r>
            <a:endParaRPr lang="en-US" sz="2600" dirty="0"/>
          </a:p>
        </p:txBody>
      </p:sp>
      <p:pic>
        <p:nvPicPr>
          <p:cNvPr id="4" name="Image 0" descr="fig_q2_test.png">    </p:cNvPr>
          <p:cNvPicPr>
            <a:picLocks noChangeAspect="1"/>
          </p:cNvPicPr>
          <p:nvPr/>
        </p:nvPicPr>
        <p:blipFill>
          <a:blip r:embed="rId1"/>
          <a:stretch>
            <a:fillRect/>
          </a:stretch>
        </p:blipFill>
        <p:spPr>
          <a:xfrm>
            <a:off x="975208" y="1481328"/>
            <a:ext cx="10241280" cy="3063240"/>
          </a:xfrm>
          <a:prstGeom prst="rect">
            <a:avLst/>
          </a:prstGeom>
        </p:spPr>
      </p:pic>
      <p:sp>
        <p:nvSpPr>
          <p:cNvPr id="5" name="Text 2"/>
          <p:cNvSpPr txBox="1"/>
          <p:nvPr/>
        </p:nvSpPr>
        <p:spPr>
          <a:xfrm>
            <a:off x="667512" y="4773168"/>
            <a:ext cx="10853928" cy="420624"/>
          </a:xfrm>
          <a:prstGeom prst="rect">
            <a:avLst/>
          </a:prstGeom>
          <a:noFill/>
          <a:ln/>
        </p:spPr>
        <p:txBody>
          <a:bodyPr wrap="square" lIns="0" tIns="0" rIns="0" bIns="0" rtlCol="0" anchor="t"/>
          <a:lstStyle/>
          <a:p>
            <a:pPr algn="l" indent="0" marL="0">
              <a:buNone/>
            </a:pPr>
            <a:r>
              <a:rPr lang="en-US" sz="1900" dirty="0">
                <a:solidFill>
                  <a:srgbClr val="111111"/>
                </a:solidFill>
                <a:latin typeface="Arial" pitchFamily="34" charset="0"/>
                <a:ea typeface="Arial" pitchFamily="34" charset="-122"/>
                <a:cs typeface="Arial" pitchFamily="34" charset="-120"/>
              </a:rPr>
              <a:t>158/200 dự đoán đúng, nhưng </a:t>
            </a:r>
            <a:pPr algn="l" indent="0" marL="0">
              <a:buNone/>
            </a:pPr>
            <a:r>
              <a:rPr lang="en-US" sz="1900" b="1" dirty="0">
                <a:solidFill>
                  <a:srgbClr val="111111"/>
                </a:solidFill>
                <a:latin typeface="Arial" pitchFamily="34" charset="0"/>
                <a:ea typeface="Arial" pitchFamily="34" charset="-122"/>
                <a:cs typeface="Arial" pitchFamily="34" charset="-120"/>
              </a:rPr>
              <a:t>bỏ sót 28/60 hồ sơ “bad”</a:t>
            </a:r>
            <a:pPr algn="l" indent="0" marL="0">
              <a:buNone/>
            </a:pPr>
            <a:r>
              <a:rPr lang="en-US" sz="1900" dirty="0">
                <a:solidFill>
                  <a:srgbClr val="111111"/>
                </a:solidFill>
                <a:latin typeface="Arial" pitchFamily="34" charset="0"/>
                <a:ea typeface="Arial" pitchFamily="34" charset="-122"/>
                <a:cs typeface="Arial" pitchFamily="34" charset="-120"/>
              </a:rPr>
              <a:t> → recall lớp bad chỉ 0.533.</a:t>
            </a:r>
            <a:endParaRPr lang="en-US" sz="1900" dirty="0"/>
          </a:p>
        </p:txBody>
      </p:sp>
      <p:sp>
        <p:nvSpPr>
          <p:cNvPr id="6" name="Text 3"/>
          <p:cNvSpPr txBox="1"/>
          <p:nvPr/>
        </p:nvSpPr>
        <p:spPr>
          <a:xfrm>
            <a:off x="667512" y="5285232"/>
            <a:ext cx="10853928" cy="859536"/>
          </a:xfrm>
          <a:prstGeom prst="rect">
            <a:avLst/>
          </a:prstGeom>
          <a:noFill/>
          <a:ln/>
        </p:spPr>
        <p:txBody>
          <a:bodyPr wrap="square" lIns="0" tIns="0" rIns="0" bIns="0" rtlCol="0" anchor="t"/>
          <a:lstStyle/>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Gaussian NB có recall bad cao nhất </a:t>
            </a:r>
            <a:endParaRPr lang="en-US" sz="1550" dirty="0"/>
          </a:p>
          <a:p>
            <a:pPr marL="342900" indent="-342900">
              <a:lnSpc>
                <a:spcPct val="106000"/>
              </a:lnSpc>
              <a:spcAft>
                <a:spcPts val="800"/>
              </a:spcAft>
              <a:buSzPct val="100000"/>
              <a:buChar char="–"/>
            </a:pPr>
            <a:r>
              <a:rPr lang="en-US" sz="1550" b="1" dirty="0">
                <a:solidFill>
                  <a:srgbClr val="111111"/>
                </a:solidFill>
                <a:latin typeface="Arial" pitchFamily="34" charset="0"/>
                <a:ea typeface="Arial" pitchFamily="34" charset="-122"/>
                <a:cs typeface="Arial" pitchFamily="34" charset="-120"/>
              </a:rPr>
              <a:t>0.650</a:t>
            </a:r>
            <a:endParaRPr lang="en-US" sz="1550" dirty="0"/>
          </a:p>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 nhưng precision chỉ 0.513: bắt được nhiều hơn, báo nhầm cũng nhiều hơn.</a:t>
            </a:r>
            <a:endParaRPr lang="en-US" sz="1550" dirty="0"/>
          </a:p>
          <a:p>
            <a:pPr marL="342900" indent="-342900">
              <a:lnSpc>
                <a:spcPct val="106000"/>
              </a:lnSpc>
              <a:spcAft>
                <a:spcPts val="800"/>
              </a:spcAft>
              <a:buSzPct val="100000"/>
              <a:buChar char="–"/>
            </a:pPr>
            <a:r>
              <a:rPr lang="en-US" sz="1550" b="1" dirty="0">
                <a:solidFill>
                  <a:srgbClr val="111111"/>
                </a:solidFill>
                <a:latin typeface="Arial" pitchFamily="34" charset="0"/>
                <a:ea typeface="Arial" pitchFamily="34" charset="-122"/>
                <a:cs typeface="Arial" pitchFamily="34" charset="-120"/>
              </a:rPr>
              <a:t>Đánh đổi này là quyết định nghiệp vụ</a:t>
            </a:r>
            <a:endParaRPr lang="en-US" sz="1550" dirty="0"/>
          </a:p>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 không phải lỗi kỹ thuật — và nhóm không hạ ngưỡng sau khi đã xem test.</a:t>
            </a:r>
            <a:endParaRPr lang="en-US" sz="155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OVERFITTING</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Bằng chứng: cây càng sâu, khoảng cách càng lớn</a:t>
            </a:r>
            <a:endParaRPr lang="en-US" sz="2600" dirty="0"/>
          </a:p>
        </p:txBody>
      </p:sp>
      <p:pic>
        <p:nvPicPr>
          <p:cNvPr id="4" name="Image 0" descr="fig_overfit.png">    </p:cNvPr>
          <p:cNvPicPr>
            <a:picLocks noChangeAspect="1"/>
          </p:cNvPicPr>
          <p:nvPr/>
        </p:nvPicPr>
        <p:blipFill>
          <a:blip r:embed="rId1"/>
          <a:stretch>
            <a:fillRect/>
          </a:stretch>
        </p:blipFill>
        <p:spPr>
          <a:xfrm>
            <a:off x="1340968" y="1481328"/>
            <a:ext cx="9509760" cy="3200400"/>
          </a:xfrm>
          <a:prstGeom prst="rect">
            <a:avLst/>
          </a:prstGeom>
        </p:spPr>
      </p:pic>
      <p:sp>
        <p:nvSpPr>
          <p:cNvPr id="5" name="Text 2"/>
          <p:cNvSpPr txBox="1"/>
          <p:nvPr/>
        </p:nvSpPr>
        <p:spPr>
          <a:xfrm>
            <a:off x="667512" y="4901184"/>
            <a:ext cx="3252216" cy="36576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0.386  →  0.121</a:t>
            </a:r>
            <a:endParaRPr lang="en-US" sz="2000" dirty="0"/>
          </a:p>
        </p:txBody>
      </p:sp>
      <p:sp>
        <p:nvSpPr>
          <p:cNvPr id="6" name="Text 3"/>
          <p:cNvSpPr txBox="1"/>
          <p:nvPr/>
        </p:nvSpPr>
        <p:spPr>
          <a:xfrm>
            <a:off x="667512" y="5303520"/>
            <a:ext cx="3252216" cy="640080"/>
          </a:xfrm>
          <a:prstGeom prst="rect">
            <a:avLst/>
          </a:prstGeom>
          <a:noFill/>
          <a:ln/>
        </p:spPr>
        <p:txBody>
          <a:bodyPr wrap="square" lIns="0" tIns="0" rIns="0" bIns="0" rtlCol="0" anchor="t"/>
          <a:lstStyle/>
          <a:p>
            <a:pPr indent="0" marL="0">
              <a:lnSpc>
                <a:spcPct val="118000"/>
              </a:lnSpc>
              <a:buNone/>
            </a:pPr>
            <a:r>
              <a:rPr lang="en-US" sz="1200" dirty="0">
                <a:solidFill>
                  <a:srgbClr val="6B6B6B"/>
                </a:solidFill>
                <a:latin typeface="Arial" pitchFamily="34" charset="0"/>
                <a:ea typeface="Arial" pitchFamily="34" charset="-122"/>
                <a:cs typeface="Arial" pitchFamily="34" charset="-120"/>
              </a:rPr>
              <a:t>Khoảng cách train − CV của cây quyết định sau khi giới hạn độ sâu 6 và tối thiểu 5 mẫu/lá.</a:t>
            </a:r>
            <a:endParaRPr lang="en-US" sz="1200" dirty="0"/>
          </a:p>
        </p:txBody>
      </p:sp>
      <p:sp>
        <p:nvSpPr>
          <p:cNvPr id="7" name="Text 4"/>
          <p:cNvSpPr txBox="1"/>
          <p:nvPr/>
        </p:nvSpPr>
        <p:spPr>
          <a:xfrm>
            <a:off x="4285488" y="4901184"/>
            <a:ext cx="3252216" cy="36576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1.00 / 0.614</a:t>
            </a:r>
            <a:endParaRPr lang="en-US" sz="2000" dirty="0"/>
          </a:p>
        </p:txBody>
      </p:sp>
      <p:sp>
        <p:nvSpPr>
          <p:cNvPr id="8" name="Text 5"/>
          <p:cNvSpPr txBox="1"/>
          <p:nvPr/>
        </p:nvSpPr>
        <p:spPr>
          <a:xfrm>
            <a:off x="4285488" y="5303520"/>
            <a:ext cx="3252216" cy="640080"/>
          </a:xfrm>
          <a:prstGeom prst="rect">
            <a:avLst/>
          </a:prstGeom>
          <a:noFill/>
          <a:ln/>
        </p:spPr>
        <p:txBody>
          <a:bodyPr wrap="square" lIns="0" tIns="0" rIns="0" bIns="0" rtlCol="0" anchor="t"/>
          <a:lstStyle/>
          <a:p>
            <a:pPr indent="0" marL="0">
              <a:lnSpc>
                <a:spcPct val="118000"/>
              </a:lnSpc>
              <a:buNone/>
            </a:pPr>
            <a:r>
              <a:rPr lang="en-US" sz="1200" dirty="0">
                <a:solidFill>
                  <a:srgbClr val="6B6B6B"/>
                </a:solidFill>
                <a:latin typeface="Arial" pitchFamily="34" charset="0"/>
                <a:ea typeface="Arial" pitchFamily="34" charset="-122"/>
                <a:cs typeface="Arial" pitchFamily="34" charset="-120"/>
              </a:rPr>
              <a:t>Cây không giới hạn: hoàn hảo trên train nhưng validation thấp hơn cây bị giới hạn.</a:t>
            </a:r>
            <a:endParaRPr lang="en-US" sz="1200" dirty="0"/>
          </a:p>
        </p:txBody>
      </p:sp>
      <p:sp>
        <p:nvSpPr>
          <p:cNvPr id="9" name="Text 6"/>
          <p:cNvSpPr txBox="1"/>
          <p:nvPr/>
        </p:nvSpPr>
        <p:spPr>
          <a:xfrm>
            <a:off x="7903464" y="4901184"/>
            <a:ext cx="3252216" cy="36576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0.324</a:t>
            </a:r>
            <a:endParaRPr lang="en-US" sz="2000" dirty="0"/>
          </a:p>
        </p:txBody>
      </p:sp>
      <p:sp>
        <p:nvSpPr>
          <p:cNvPr id="10" name="Text 7"/>
          <p:cNvSpPr txBox="1"/>
          <p:nvPr/>
        </p:nvSpPr>
        <p:spPr>
          <a:xfrm>
            <a:off x="7903464" y="5303520"/>
            <a:ext cx="3252216" cy="640080"/>
          </a:xfrm>
          <a:prstGeom prst="rect">
            <a:avLst/>
          </a:prstGeom>
          <a:noFill/>
          <a:ln/>
        </p:spPr>
        <p:txBody>
          <a:bodyPr wrap="square" lIns="0" tIns="0" rIns="0" bIns="0" rtlCol="0" anchor="t"/>
          <a:lstStyle/>
          <a:p>
            <a:pPr indent="0" marL="0">
              <a:lnSpc>
                <a:spcPct val="118000"/>
              </a:lnSpc>
              <a:buNone/>
            </a:pPr>
            <a:r>
              <a:rPr lang="en-US" sz="1200" dirty="0">
                <a:solidFill>
                  <a:srgbClr val="6B6B6B"/>
                </a:solidFill>
                <a:latin typeface="Arial" pitchFamily="34" charset="0"/>
                <a:ea typeface="Arial" pitchFamily="34" charset="-122"/>
                <a:cs typeface="Arial" pitchFamily="34" charset="-120"/>
              </a:rPr>
              <a:t>Random forest vẫn còn khoảng cách lớn — ensemble không tự chữa được overfitting.</a:t>
            </a:r>
            <a:endParaRPr lang="en-US" sz="1200" dirty="0"/>
          </a:p>
        </p:txBody>
      </p:sp>
      <p:sp>
        <p:nvSpPr>
          <p:cNvPr id="11" name="Text 8"/>
          <p:cNvSpPr txBox="1"/>
          <p:nvPr/>
        </p:nvSpPr>
        <p:spPr>
          <a:xfrm>
            <a:off x="667512" y="5760720"/>
            <a:ext cx="10853928" cy="365760"/>
          </a:xfrm>
          <a:prstGeom prst="rect">
            <a:avLst/>
          </a:prstGeom>
          <a:noFill/>
          <a:ln/>
        </p:spPr>
        <p:txBody>
          <a:bodyPr wrap="square" lIns="0" tIns="0" rIns="0" bIns="0" rtlCol="0" anchor="t"/>
          <a:lstStyle/>
          <a:p>
            <a:pPr algn="l" indent="0" marL="0">
              <a:buNone/>
            </a:pPr>
            <a:r>
              <a:rPr lang="en-US" sz="1400" dirty="0">
                <a:solidFill>
                  <a:srgbClr val="6B6B6B"/>
                </a:solidFill>
                <a:latin typeface="Arial" pitchFamily="34" charset="0"/>
                <a:ea typeface="Arial" pitchFamily="34" charset="-122"/>
                <a:cs typeface="Arial" pitchFamily="34" charset="-120"/>
              </a:rPr>
              <a:t>Biện pháp chung: giới hạn độ phức tạp · chọn tham số bằng validation · giữ tập test riêng · báo cáo cả điểm train và validation.</a:t>
            </a:r>
            <a:endParaRPr lang="en-US" sz="14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KẾT LUẬN</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Điều nhóm làm được, điều còn hạn chế</a:t>
            </a:r>
            <a:endParaRPr lang="en-US" sz="2600" dirty="0"/>
          </a:p>
        </p:txBody>
      </p:sp>
      <p:sp>
        <p:nvSpPr>
          <p:cNvPr id="4" name="Shape 2"/>
          <p:cNvSpPr/>
          <p:nvPr/>
        </p:nvSpPr>
        <p:spPr>
          <a:xfrm>
            <a:off x="667512" y="1627632"/>
            <a:ext cx="3282696" cy="0"/>
          </a:xfrm>
          <a:prstGeom prst="line">
            <a:avLst/>
          </a:prstGeom>
          <a:noFill/>
          <a:ln w="12700">
            <a:solidFill>
              <a:srgbClr val="2B2B2B"/>
            </a:solidFill>
            <a:prstDash val="solid"/>
          </a:ln>
        </p:spPr>
      </p:sp>
      <p:sp>
        <p:nvSpPr>
          <p:cNvPr id="5" name="Text 3"/>
          <p:cNvSpPr txBox="1"/>
          <p:nvPr/>
        </p:nvSpPr>
        <p:spPr>
          <a:xfrm>
            <a:off x="667512" y="1737360"/>
            <a:ext cx="3282696" cy="329184"/>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Kết quả chính</a:t>
            </a:r>
            <a:endParaRPr lang="en-US" sz="1500" dirty="0"/>
          </a:p>
        </p:txBody>
      </p:sp>
      <p:sp>
        <p:nvSpPr>
          <p:cNvPr id="6" name="Text 4"/>
          <p:cNvSpPr txBox="1"/>
          <p:nvPr/>
        </p:nvSpPr>
        <p:spPr>
          <a:xfrm>
            <a:off x="667512" y="2103120"/>
            <a:ext cx="3282696" cy="4023360"/>
          </a:xfrm>
          <a:prstGeom prst="rect">
            <a:avLst/>
          </a:prstGeom>
          <a:noFill/>
          <a:ln/>
        </p:spPr>
        <p:txBody>
          <a:bodyPr wrap="square" lIns="0" tIns="0" rIns="0" bIns="0" rtlCol="0" anchor="t"/>
          <a:lstStyle/>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Câu 1: hai mô hình tự cài đặt, gradient khớp sai phân trung tâm, RMSE xấp xỉ nhiễu sinh dữ liệu.</a:t>
            </a:r>
            <a:endParaRPr lang="en-US" sz="1450" dirty="0"/>
          </a:p>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Câu 2: 14 mô hình trên cùng bộ fold; MLP được chọn với macro F1 test 0.7305.</a:t>
            </a:r>
            <a:endParaRPr lang="en-US" sz="1450" dirty="0"/>
          </a:p>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Chi phí của accuracy: bỏ sót 28/60 hồ sơ xấu dù accuracy 0.79.</a:t>
            </a:r>
            <a:endParaRPr lang="en-US" sz="1450" dirty="0"/>
          </a:p>
        </p:txBody>
      </p:sp>
      <p:sp>
        <p:nvSpPr>
          <p:cNvPr id="7" name="Shape 5"/>
          <p:cNvSpPr/>
          <p:nvPr/>
        </p:nvSpPr>
        <p:spPr>
          <a:xfrm>
            <a:off x="4453128" y="1627632"/>
            <a:ext cx="3282696" cy="0"/>
          </a:xfrm>
          <a:prstGeom prst="line">
            <a:avLst/>
          </a:prstGeom>
          <a:noFill/>
          <a:ln w="12700">
            <a:solidFill>
              <a:srgbClr val="2B2B2B"/>
            </a:solidFill>
            <a:prstDash val="solid"/>
          </a:ln>
        </p:spPr>
      </p:sp>
      <p:sp>
        <p:nvSpPr>
          <p:cNvPr id="8" name="Text 6"/>
          <p:cNvSpPr txBox="1"/>
          <p:nvPr/>
        </p:nvSpPr>
        <p:spPr>
          <a:xfrm>
            <a:off x="4453128" y="1737360"/>
            <a:ext cx="3282696" cy="329184"/>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Bài học</a:t>
            </a:r>
            <a:endParaRPr lang="en-US" sz="1500" dirty="0"/>
          </a:p>
        </p:txBody>
      </p:sp>
      <p:sp>
        <p:nvSpPr>
          <p:cNvPr id="9" name="Text 7"/>
          <p:cNvSpPr txBox="1"/>
          <p:nvPr/>
        </p:nvSpPr>
        <p:spPr>
          <a:xfrm>
            <a:off x="4453128" y="2103120"/>
            <a:ext cx="3282696" cy="4023360"/>
          </a:xfrm>
          <a:prstGeom prst="rect">
            <a:avLst/>
          </a:prstGeom>
          <a:noFill/>
          <a:ln/>
        </p:spPr>
        <p:txBody>
          <a:bodyPr wrap="square" lIns="0" tIns="0" rIns="0" bIns="0" rtlCol="0" anchor="t"/>
          <a:lstStyle/>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Tách test trước và chuẩn hóa trong fold là điều kiện của một so sánh đáng tin.</a:t>
            </a:r>
            <a:endParaRPr lang="en-US" sz="1450" dirty="0"/>
          </a:p>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Chênh lệch nhỏ hơn dao động giữa các fold thì chưa kết luận được hơn kém.</a:t>
            </a:r>
            <a:endParaRPr lang="en-US" sz="1450" dirty="0"/>
          </a:p>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Overfitting đo được bằng khoảng cách train − validation, và giảm được bằng giới hạn độ phức tạp.</a:t>
            </a:r>
            <a:endParaRPr lang="en-US" sz="1450" dirty="0"/>
          </a:p>
        </p:txBody>
      </p:sp>
      <p:sp>
        <p:nvSpPr>
          <p:cNvPr id="10" name="Shape 8"/>
          <p:cNvSpPr/>
          <p:nvPr/>
        </p:nvSpPr>
        <p:spPr>
          <a:xfrm>
            <a:off x="8238744" y="1627632"/>
            <a:ext cx="3282696" cy="0"/>
          </a:xfrm>
          <a:prstGeom prst="line">
            <a:avLst/>
          </a:prstGeom>
          <a:noFill/>
          <a:ln w="12700">
            <a:solidFill>
              <a:srgbClr val="2B2B2B"/>
            </a:solidFill>
            <a:prstDash val="solid"/>
          </a:ln>
        </p:spPr>
      </p:sp>
      <p:sp>
        <p:nvSpPr>
          <p:cNvPr id="11" name="Text 9"/>
          <p:cNvSpPr txBox="1"/>
          <p:nvPr/>
        </p:nvSpPr>
        <p:spPr>
          <a:xfrm>
            <a:off x="8238744" y="1737360"/>
            <a:ext cx="3282696" cy="329184"/>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Hạn chế</a:t>
            </a:r>
            <a:endParaRPr lang="en-US" sz="1500" dirty="0"/>
          </a:p>
        </p:txBody>
      </p:sp>
      <p:sp>
        <p:nvSpPr>
          <p:cNvPr id="12" name="Text 10"/>
          <p:cNvSpPr txBox="1"/>
          <p:nvPr/>
        </p:nvSpPr>
        <p:spPr>
          <a:xfrm>
            <a:off x="8238744" y="2103120"/>
            <a:ext cx="3282696" cy="4023360"/>
          </a:xfrm>
          <a:prstGeom prst="rect">
            <a:avLst/>
          </a:prstGeom>
          <a:noFill/>
          <a:ln/>
        </p:spPr>
        <p:txBody>
          <a:bodyPr wrap="square" lIns="0" tIns="0" rIns="0" bIns="0" rtlCol="0" anchor="t"/>
          <a:lstStyle/>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Một bộ dữ liệu, một lần chia test, lưới tham số nhỏ.</a:t>
            </a:r>
            <a:endParaRPr lang="en-US" sz="1450" dirty="0"/>
          </a:p>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Hồi quy logistic chạm 5000 vòng, MLP chạm 500 epoch: chưa hội tụ.</a:t>
            </a:r>
            <a:endParaRPr lang="en-US" sz="1450" dirty="0"/>
          </a:p>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Không có kiểm định thống kê hay lặp lại với nhiều seed.</a:t>
            </a:r>
            <a:endParaRPr lang="en-US" sz="1450" dirty="0"/>
          </a:p>
        </p:txBody>
      </p:sp>
      <p:sp>
        <p:nvSpPr>
          <p:cNvPr id="13" name="Shape 11"/>
          <p:cNvSpPr/>
          <p:nvPr/>
        </p:nvSpPr>
        <p:spPr>
          <a:xfrm>
            <a:off x="667512" y="5532120"/>
            <a:ext cx="10853928" cy="0"/>
          </a:xfrm>
          <a:prstGeom prst="line">
            <a:avLst/>
          </a:prstGeom>
          <a:noFill/>
          <a:ln w="15240">
            <a:solidFill>
              <a:srgbClr val="2B2B2B"/>
            </a:solidFill>
            <a:prstDash val="solid"/>
          </a:ln>
        </p:spPr>
      </p:sp>
      <p:sp>
        <p:nvSpPr>
          <p:cNvPr id="14" name="Text 12"/>
          <p:cNvSpPr txBox="1"/>
          <p:nvPr/>
        </p:nvSpPr>
        <p:spPr>
          <a:xfrm>
            <a:off x="667512" y="5669280"/>
            <a:ext cx="10853928" cy="365760"/>
          </a:xfrm>
          <a:prstGeom prst="rect">
            <a:avLst/>
          </a:prstGeom>
          <a:noFill/>
          <a:ln/>
        </p:spPr>
        <p:txBody>
          <a:bodyPr wrap="square" lIns="0" tIns="0" rIns="0" bIns="0" rtlCol="0" anchor="t"/>
          <a:lstStyle/>
          <a:p>
            <a:pPr algn="l" indent="0" marL="0">
              <a:buNone/>
            </a:pPr>
            <a:r>
              <a:rPr lang="en-US" sz="1600" dirty="0">
                <a:solidFill>
                  <a:srgbClr val="6B6B6B"/>
                </a:solidFill>
                <a:latin typeface="Arial" pitchFamily="34" charset="0"/>
                <a:ea typeface="Arial" pitchFamily="34" charset="-122"/>
                <a:cs typeface="Arial" pitchFamily="34" charset="-120"/>
              </a:rPr>
              <a:t>Cảm ơn thầy và các bạn đã lắng nghe — nhóm sẵn sàng nhận câu hỏi.</a:t>
            </a:r>
            <a:endParaRPr lang="en-US" sz="16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Ton Duc Thang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Hồi quy &amp; Phân loại — Báo cáo giữa kỳ</dc:title>
  <dc:subject>Introduction to Machine Learning</dc:subject>
  <dc:creator>Ngô Lâm Tiến, Nguyễn Công Thành, Nguyễn Lê Nhật Tâm</dc:creator>
  <cp:lastModifiedBy>Ngô Lâm Tiến, Nguyễn Công Thành, Nguyễn Lê Nhật Tâm</cp:lastModifiedBy>
  <cp:revision>1</cp:revision>
  <dcterms:created xsi:type="dcterms:W3CDTF">2026-10-26T04:55:16Z</dcterms:created>
  <dcterms:modified xsi:type="dcterms:W3CDTF">2026-10-26T04:55:16Z</dcterms:modified>
</cp:coreProperties>
</file>