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fea85a70-7a24-0483-a429-d7fb2b647ad3}">
          <p14:sldIdLst>
            <p14:sldId id="256"/>
            <p14:sldId id="257"/>
          </p14:sldIdLst>
        </p14:section>
        <p14:section name="Câu 1" id="{1404695e-347a-033c-430a-568c0afa4060}">
          <p14:sldIdLst>
            <p14:sldId id="258"/>
            <p14:sldId id="259"/>
            <p14:sldId id="260"/>
            <p14:sldId id="261"/>
            <p14:sldId id="262"/>
          </p14:sldIdLst>
        </p14:section>
        <p14:section name="Câu 2" id="{ce4722b9-a38b-5930-7d1e-469267311f20}">
          <p14:sldIdLst>
            <p14:sldId id="263"/>
            <p14:sldId id="264"/>
            <p14:sldId id="265"/>
            <p14:sldId id="266"/>
            <p14:sldId id="267"/>
          </p14:sldIdLst>
        </p14:section>
        <p14:section name="Overfitting" id="{56fdecfc-c8fd-0cc1-8589-031c6c992300}">
          <p14:sldIdLst>
            <p14:sldId id="268"/>
          </p14:sldIdLst>
        </p14:section>
        <p14:section name="Kết luận" id="{da46ca7f-5c76-ac47-ffbd-e292bf578002}">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thầy và các bạn. Nhóm em gồm ba thành viên xin trình bày báo cáo giữa kỳ môn Introduction to Machine Learning. Bài gồm hai câu: câu một tự cài đặt hồi quy tuyến tính và logistic bằng Gradient Descent; câu hai so sánh các bộ phân loại trên bộ credit-g của OpenML. Phần trình bày khoảng mười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chia ba phần. Em trình bày câu một: tự cài đặt hai mô hình hồi quy, dẫn xuất gradient và đánh giá. Bạn Thành trình bày câu hai: dữ liệu credit-g, quy trình chống rò rỉ và so sánh mười bốn mô hình cùng baseline. Bạn Tâm trình bày overfitting và kết luận. Câu hỏi xuyên suốt: mô hình học được gì, và làm sao biết nó tổng quát hóa?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Hồi quy tuyến tính dự đoán một số thực bằng tổng có trọng số của các đặc trưng cộng hệ số chặn. Vì đầu ra là số thực nên đây là bài toán hồi quy. Hàm mất mát là trung bình bình phương sai số, chia đôi. Hệ số một phần hai chỉ để khi đạo hàm, số hai triệt tiêu, không đổi nghiệm tối ưu. Chia cho n giúp mất mát là trung bình, so sánh được giữa các cỡ mẫu. Còn bình phương khiến sai số lớn bị phạt nặng.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Đạo hàm theo quy tắc chuỗi: gọi e là phần dư, đạo hàm của e theo trọng số chính là giá trị đặc trưng. Vậy gradient theo trọng số là trung bình của phần dư nhân đặc trưng, gradient theo hệ số chặn là trung bình phần dư. Viết dạng ma trận được công thức ở giữa. Thực nghiệm khởi tạo bằng không, tốc độ học không phẩy ba, dừng khi chuẩn gradient nhỏ hơn mười mũ trừ tám, sau một nghìn một trăm bảy mươi lăm vòng. Nhóm kiểm chứng lại gradient bằng sai phân trung tâm, dung sai mười mũ trừ sáu.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Hồi quy logistic đưa cùng một điểm tuyến tính qua sigmoid để ra xác suất trong khoảng không đến một. Logit của xác suất là hàm tuyến tính nên biên vẫn là siêu phẳng. Mất mát là cross-entropy, tức âm log hợp lý Bernoulli, phạt rất nặng dự đoán tự tin mà sai. Khi đạo hàm, đạo hàm sigmoid là p nhân một trừ p, triệt tiêu mẫu số của cross-entropy, nên gradient chỉ còn p trừ y, rất gọn. Nhóm dùng tốc độ học không phẩy năm, tối đa năm nghìn vòng, và vòng lặp chạm ngân sách trước khi đạt dung 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kết quả chạy thật. Mất mát giảm từ ba mươi phẩy chín xuống không phẩy một hai sáu sau một nghìn một trăm bảy mươi lăm vòng, đơn điệu nên không phân kỳ. Trên một trăm hai mươi mẫu test, các điểm bám sát đường chéo. RMSE không phẩy năm một, đúng bằng độ lệch chuẩn của nhiễu, R bình phương không phẩy chín chín bốn bảy. Trọng số học được rất gần giá trị thật ba, trừ hai, một phẩy năm. Nhưng đây là dữ liệu tổng hợp tuyến tính, nên điểm cao là kỳ vọng, không phải bằng chứng cho dữ liệu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logistic, nhãn sinh ngẫu nhiên nên hai lớp chồng lấn. Cross-entropy giảm từ không phẩy sáu chín ba một, đúng bằng log hai của mô hình đoán ngẫu nhiên, xuống không phẩy bốn năm hai. Trên tập test, mô hình đúng một trăm ba mươi trên một trăm sáu mươi, tức tám mươi mốt phẩy hai lăm phần trăm, F1 lớp dương không phẩy tám năm một, AUC không phẩy tám năm bảy. Các vòng tròn là mẫu phân loại sai, tập trung đúng ở vùng chồng lấn. Phần câu một đến đây là hết, em mời bạn Thành trình bày câu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là credit-g, mã 31 phiên bản một trên OpenML: một nghìn hồ sơ, hai mươi biến, trong đó bảy biến số và mười ba biến phân loại. Nhãn gồm bảy trăm good và ba trăm bad, nên đây là bài toán mất cân bằng. Một mô hình luôn đoán good đã đạt bảy mươi phần trăm accuracy mà không phát hiện hồ sơ xấu nào, vì vậy nhóm không dùng accuracy làm tiêu chí chính. Kiểm tra dữ liệu sạch: không ô thiếu, không dòng trùng, không giá trị lạ, nên giữ nguyên một nghìn hồ sơ.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nhóm muốn nhấn mạnh là quy trình. Tập test tách ngay từ đầu và chỉ dùng một lần, sau khi mọi lựa chọn xong. Trong tám trăm hồ sơ development, nhóm chạy năm fold phân tầng, và chuẩn hóa nằm trong pipeline nên mỗi fold chỉ học min–max từ train của chính nó. Nếu chuẩn hóa trước rồi mới chia fold thì thông tin validation đã rò rỉ và điểm sẽ đẹp giả tạo. Tiêu chí chọn là macro F1 vì cho hai lớp trọng số ngang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so sánh mười bốn mô hình cùng một baseline trên cùng bộ fold. Ba kernel SVM là ba biến thể của một họ, không phải ba họ thuật toán. MLP dẫn đầu với macro F1 không phẩy sáu chín sáu, Bernoulli NB bám sát không phẩy sáu chín bốn, polynomial SVM không phẩy sáu tám sáu. Nhưng độ lệch chuẩn giữa các fold khoảng không phẩy không sáu, lớn hơn khoảng cách hai mô hình đầu, nên nhóm không tuyên bố MLP vượt trội. Điểm CV đã dùng để chọn tham số nên không phải đánh giá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kết quả trên hai trăm hồ sơ test chưa từng dùng để chọn mô hình. MLP có accuracy không phẩy bảy chín, macro F1 không phẩy bảy ba không, AUC không phẩy tám một ba. Đáng chú ý: hồi quy logistic tự cài đặt ở câu một đạt macro F1 không phẩy bảy ba không một, gần như bằng MLP. Trong bài toán nhỏ này, mô hình phức tạp hơn không mang lại lợi ích rõ rệt. Mọi mô hình học đều vượt baseline, nhưng chênh lệch chỉ vài phần nghìn. Em mời bạn Tâm trình bày phần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Bức tranh này là bài học chính của câu hai. MLP đúng một trăm năm mươi tám trên hai trăm, nghe rất tốt. Nhưng trong sáu mươi hồ sơ thực sự xấu, mô hình bỏ sót hai mươi tám, tức recall lớp bad chỉ không phẩy năm ba ba. Đây là cái bẫy của dữ liệu mất cân bằng: lớp đa số kéo accuracy lên trong khi lớp cần phát hiện bị bỏ qua. Nếu là bài toán tín dụng thật, bỏ sót hồ sơ xấu thường tốn kém hơn báo nhầm. Nhóm không hạ ngưỡng sau khi xem test, vì làm vậy là dùng test để tinh chỉnh.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Biểu đồ bên trái tách riêng ảnh hưởng của độ sâu cây: độ sâu tăng thì điểm train leo lên một, nhưng validation chỉ tăng đến khoảng độ sâu sáu rồi giảm. Cây không giới hạn đạt một phẩy không trên train nhưng chỉ không phẩy sáu một bốn trên validation. Giới hạn độ sâu sáu và tối thiểu năm mẫu mỗi lá, khoảng cách thu hẹp từ không phẩy ba tám sáu xuống không phẩy một hai một, điểm validation tăng. Nhưng random forest sau khi chọn tham số vẫn còn khoảng cách không phẩy ba hai bốn. Ensemble giảm phương sai nhưng không miễn nhiễm với việc ghi nhớ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lại, câu một cho thấy hai mô hình tự cài đặt học đúng: gradient khớp kiểm tra sai phân, sai số xấp xỉ mức nhiễu. Câu hai cho thấy trên dữ liệu nhỏ và mất cân bằng, mô hình phức tạp nhất không vượt trội rõ rệt, và accuracy có thể che mất lỗi ở lớp thiểu số. Hạn chế: một bộ dữ liệu, một lần chia test, lưới tham số nhỏ; logistic và MLP đều chạm ngân sách vòng lặp nên chưa hội tụ; không có kiểm định thống kê. Em xin kết thúc và cảm ơn thầy, các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RAME">
    <p:bg>
      <p:bgPr>
        <a:solidFill>
          <a:srgbClr val="FFFFFF"/>
        </a:solidFill>
      </p:bgPr>
    </p:bg>
    <p:spTree>
      <p:nvGrpSpPr>
        <p:cNvPr id="1" name=""/>
        <p:cNvGrpSpPr/>
        <p:nvPr/>
      </p:nvGrpSpPr>
      <p:grpSpPr>
        <a:xfrm>
          <a:off x="0" y="0"/>
          <a:ext cx="0" cy="0"/>
          <a:chOff x="0" y="0"/>
          <a:chExt cx="0" cy="0"/>
        </a:xfrm>
      </p:grpSpPr>
      <p:pic>
        <p:nvPicPr>
          <p:cNvPr id="2" name="Image 0" descr="/home/towfienes/TDTU/ML/MidTerm/report/assets/tdtu-logo.png">    </p:cNvPr>
          <p:cNvPicPr>
            <a:picLocks noChangeAspect="1"/>
          </p:cNvPicPr>
          <p:nvPr/>
        </p:nvPicPr>
        <p:blipFill>
          <a:blip r:embed="rId1"/>
          <a:stretch>
            <a:fillRect/>
          </a:stretch>
        </p:blipFill>
        <p:spPr>
          <a:xfrm>
            <a:off x="402336" y="192024"/>
            <a:ext cx="1505102" cy="833018"/>
          </a:xfrm>
          <a:prstGeom prst="rect">
            <a:avLst/>
          </a:prstGeom>
        </p:spPr>
      </p:pic>
      <p:sp>
        <p:nvSpPr>
          <p:cNvPr id="3" name="Shape 0"/>
          <p:cNvSpPr/>
          <p:nvPr/>
        </p:nvSpPr>
        <p:spPr>
          <a:xfrm>
            <a:off x="402336" y="1188720"/>
            <a:ext cx="11384280" cy="0"/>
          </a:xfrm>
          <a:prstGeom prst="line">
            <a:avLst/>
          </a:prstGeom>
          <a:noFill/>
          <a:ln w="12700">
            <a:solidFill>
              <a:srgbClr val="2B2B2B"/>
            </a:solidFill>
            <a:prstDash val="solid"/>
          </a:ln>
        </p:spPr>
      </p:sp>
      <p:sp>
        <p:nvSpPr>
          <p:cNvPr id="4" name="Text 1"/>
          <p:cNvSpPr/>
          <p:nvPr/>
        </p:nvSpPr>
        <p:spPr>
          <a:xfrm>
            <a:off x="0" y="0"/>
            <a:ext cx="9144000" cy="0"/>
          </a:xfrm>
          <a:prstGeom prst="rect">
            <a:avLst/>
          </a:prstGeom>
          <a:noFill/>
          <a:ln/>
        </p:spPr>
        <p:txBody>
          <a:bodyPr wrap="square" rtlCol="0" anchor="ctr"/>
          <a:lstStyle/>
          <a:p>
            <a:pPr indent="0" marL="0">
              <a:buNone/>
            </a:pPr>
            <a:r>
              <a:rPr lang="en-US" dirty="0">
                <a:solidFill>
                  <a:srgbClr val="000000"/>
                </a:solidFill>
              </a:rPr>
              <a:t>Introduction to Machine Learning  ·  Báo cáo giữa kỳ  ·  Ngô Lâm Tiến 524H0195 · Nguyễn Công Thành 524H0191 · Nguyễn Lê Nhật Tâm 524H0186</a:t>
            </a:r>
            <a:endParaRPr lang="en-US"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towfienes/TDTU/ML/MidTerm/report/assets/tdtu-logo.png">    </p:cNvPr>
          <p:cNvPicPr>
            <a:picLocks noChangeAspect="1"/>
          </p:cNvPicPr>
          <p:nvPr/>
        </p:nvPicPr>
        <p:blipFill>
          <a:blip r:embed="rId1"/>
          <a:stretch>
            <a:fillRect/>
          </a:stretch>
        </p:blipFill>
        <p:spPr>
          <a:xfrm>
            <a:off x="402336" y="192024"/>
            <a:ext cx="1505102" cy="833018"/>
          </a:xfrm>
          <a:prstGeom prst="rect">
            <a:avLst/>
          </a:prstGeom>
        </p:spPr>
      </p:pic>
      <p:sp>
        <p:nvSpPr>
          <p:cNvPr id="3" name="Shape 0"/>
          <p:cNvSpPr/>
          <p:nvPr/>
        </p:nvSpPr>
        <p:spPr>
          <a:xfrm>
            <a:off x="402336" y="1188720"/>
            <a:ext cx="11384280" cy="0"/>
          </a:xfrm>
          <a:prstGeom prst="line">
            <a:avLst/>
          </a:prstGeom>
          <a:noFill/>
          <a:ln w="12700">
            <a:solidFill>
              <a:srgbClr val="2B2B2B"/>
            </a:solidFill>
            <a:prstDash val="solid"/>
          </a:ln>
        </p:spPr>
      </p:sp>
      <p:sp>
        <p:nvSpPr>
          <p:cNvPr id="4" name="Text 1"/>
          <p:cNvSpPr/>
          <p:nvPr/>
        </p:nvSpPr>
        <p:spPr>
          <a:xfrm>
            <a:off x="0" y="0"/>
            <a:ext cx="9144000" cy="0"/>
          </a:xfrm>
          <a:prstGeom prst="rect">
            <a:avLst/>
          </a:prstGeom>
          <a:noFill/>
          <a:ln/>
        </p:spPr>
        <p:txBody>
          <a:bodyPr wrap="square" rtlCol="0" anchor="ctr"/>
          <a:lstStyle/>
          <a:p>
            <a:pPr indent="0" marL="0">
              <a:buNone/>
            </a:pPr>
            <a:r>
              <a:rPr lang="en-US" dirty="0">
                <a:solidFill>
                  <a:srgbClr val="000000"/>
                </a:solidFill>
              </a:rPr>
              <a:t>Introduction to Machine Learning  ·  Báo cáo giữa kỳ  ·  Ngô Lâm Tiến 524H0195 · Nguyễn Công Thành 524H0191 · Nguyễn Lê Nhật Tâm 524H0186</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67512" y="1572768"/>
            <a:ext cx="8229600" cy="274320"/>
          </a:xfrm>
          <a:prstGeom prst="rect">
            <a:avLst/>
          </a:prstGeom>
          <a:noFill/>
          <a:ln/>
        </p:spPr>
        <p:txBody>
          <a:bodyPr wrap="square" lIns="0" tIns="0" rIns="0" bIns="0" rtlCol="0" anchor="t"/>
          <a:lstStyle/>
          <a:p>
            <a:pPr algn="l" indent="0" marL="0">
              <a:buNone/>
            </a:pPr>
            <a:r>
              <a:rPr lang="en-US" sz="1100" spc="220" kern="0" dirty="0">
                <a:solidFill>
                  <a:srgbClr val="6B6B6B"/>
                </a:solidFill>
                <a:latin typeface="Arial" pitchFamily="34" charset="0"/>
                <a:ea typeface="Arial" pitchFamily="34" charset="-122"/>
                <a:cs typeface="Arial" pitchFamily="34" charset="-120"/>
              </a:rPr>
              <a:t>BÁO CÁO GIỮA KỲ  ·  INTRODUCTION TO MACHINE LEARNING</a:t>
            </a:r>
            <a:endParaRPr lang="en-US" sz="1100" dirty="0"/>
          </a:p>
        </p:txBody>
      </p:sp>
      <p:sp>
        <p:nvSpPr>
          <p:cNvPr id="3" name="Text 1"/>
          <p:cNvSpPr txBox="1"/>
          <p:nvPr/>
        </p:nvSpPr>
        <p:spPr>
          <a:xfrm>
            <a:off x="667512" y="1938528"/>
            <a:ext cx="10058400" cy="868680"/>
          </a:xfrm>
          <a:prstGeom prst="rect">
            <a:avLst/>
          </a:prstGeom>
          <a:noFill/>
          <a:ln/>
        </p:spPr>
        <p:txBody>
          <a:bodyPr wrap="square" lIns="0" tIns="0" rIns="0" bIns="0" rtlCol="0" anchor="t"/>
          <a:lstStyle/>
          <a:p>
            <a:pPr algn="l" indent="0" marL="0">
              <a:buNone/>
            </a:pPr>
            <a:r>
              <a:rPr lang="en-US" sz="4600" b="1" dirty="0">
                <a:solidFill>
                  <a:srgbClr val="111111"/>
                </a:solidFill>
                <a:latin typeface="Arial" pitchFamily="34" charset="0"/>
                <a:ea typeface="Arial" pitchFamily="34" charset="-122"/>
                <a:cs typeface="Arial" pitchFamily="34" charset="-120"/>
              </a:rPr>
              <a:t>Hồi quy &amp; Phân loại</a:t>
            </a:r>
            <a:endParaRPr lang="en-US" sz="4600" dirty="0"/>
          </a:p>
        </p:txBody>
      </p:sp>
      <p:sp>
        <p:nvSpPr>
          <p:cNvPr id="4" name="Text 2"/>
          <p:cNvSpPr txBox="1"/>
          <p:nvPr/>
        </p:nvSpPr>
        <p:spPr>
          <a:xfrm>
            <a:off x="667512" y="2788920"/>
            <a:ext cx="9692640" cy="457200"/>
          </a:xfrm>
          <a:prstGeom prst="rect">
            <a:avLst/>
          </a:prstGeom>
          <a:noFill/>
          <a:ln/>
        </p:spPr>
        <p:txBody>
          <a:bodyPr wrap="square" lIns="0" tIns="0" rIns="0" bIns="0" rtlCol="0" anchor="t"/>
          <a:lstStyle/>
          <a:p>
            <a:pPr algn="l" indent="0" marL="0">
              <a:buNone/>
            </a:pPr>
            <a:r>
              <a:rPr lang="en-US" sz="2000" dirty="0">
                <a:solidFill>
                  <a:srgbClr val="6B6B6B"/>
                </a:solidFill>
                <a:latin typeface="Arial" pitchFamily="34" charset="0"/>
                <a:ea typeface="Arial" pitchFamily="34" charset="-122"/>
                <a:cs typeface="Arial" pitchFamily="34" charset="-120"/>
              </a:rPr>
              <a:t>Từ Gradient Descent tự cài đặt đến so sánh 14 bộ phân loại trên OpenML</a:t>
            </a:r>
            <a:endParaRPr lang="en-US" sz="2000" dirty="0"/>
          </a:p>
        </p:txBody>
      </p:sp>
      <p:sp>
        <p:nvSpPr>
          <p:cNvPr id="5" name="Shape 3"/>
          <p:cNvSpPr/>
          <p:nvPr/>
        </p:nvSpPr>
        <p:spPr>
          <a:xfrm>
            <a:off x="667512" y="3493008"/>
            <a:ext cx="3840480" cy="0"/>
          </a:xfrm>
          <a:prstGeom prst="line">
            <a:avLst/>
          </a:prstGeom>
          <a:noFill/>
          <a:ln w="17780">
            <a:solidFill>
              <a:srgbClr val="2B2B2B"/>
            </a:solidFill>
            <a:prstDash val="solid"/>
          </a:ln>
        </p:spPr>
      </p:sp>
      <p:sp>
        <p:nvSpPr>
          <p:cNvPr id="6" name="Text 4"/>
          <p:cNvSpPr txBox="1"/>
          <p:nvPr/>
        </p:nvSpPr>
        <p:spPr>
          <a:xfrm>
            <a:off x="667512" y="3675888"/>
            <a:ext cx="5669280" cy="292608"/>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Giảng viên hướng dẫn</a:t>
            </a:r>
            <a:endParaRPr lang="en-US" sz="1400" dirty="0"/>
          </a:p>
        </p:txBody>
      </p:sp>
      <p:sp>
        <p:nvSpPr>
          <p:cNvPr id="7" name="Text 5"/>
          <p:cNvSpPr txBox="1"/>
          <p:nvPr/>
        </p:nvSpPr>
        <p:spPr>
          <a:xfrm>
            <a:off x="667512" y="3968496"/>
            <a:ext cx="5669280" cy="329184"/>
          </a:xfrm>
          <a:prstGeom prst="rect">
            <a:avLst/>
          </a:prstGeom>
          <a:noFill/>
          <a:ln/>
        </p:spPr>
        <p:txBody>
          <a:bodyPr wrap="square" lIns="0" tIns="0" rIns="0" bIns="0" rtlCol="0" anchor="t"/>
          <a:lstStyle/>
          <a:p>
            <a:pPr algn="l" indent="0" marL="0">
              <a:buNone/>
            </a:pPr>
            <a:r>
              <a:rPr lang="en-US" sz="1700" dirty="0">
                <a:solidFill>
                  <a:srgbClr val="111111"/>
                </a:solidFill>
                <a:latin typeface="Arial" pitchFamily="34" charset="0"/>
                <a:ea typeface="Arial" pitchFamily="34" charset="-122"/>
                <a:cs typeface="Arial" pitchFamily="34" charset="-120"/>
              </a:rPr>
              <a:t>Lê Anh Cường, Ph.D.</a:t>
            </a:r>
            <a:endParaRPr lang="en-US" sz="1700" dirty="0"/>
          </a:p>
        </p:txBody>
      </p:sp>
      <p:sp>
        <p:nvSpPr>
          <p:cNvPr id="8" name="Text 6"/>
          <p:cNvSpPr txBox="1"/>
          <p:nvPr/>
        </p:nvSpPr>
        <p:spPr>
          <a:xfrm>
            <a:off x="6537960" y="3675888"/>
            <a:ext cx="4937760" cy="292608"/>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Sinh viên thực hiện</a:t>
            </a:r>
            <a:endParaRPr lang="en-US" sz="1400" dirty="0"/>
          </a:p>
        </p:txBody>
      </p:sp>
      <p:sp>
        <p:nvSpPr>
          <p:cNvPr id="9" name="Text 7"/>
          <p:cNvSpPr txBox="1"/>
          <p:nvPr/>
        </p:nvSpPr>
        <p:spPr>
          <a:xfrm>
            <a:off x="6537960" y="3968496"/>
            <a:ext cx="4937760" cy="914400"/>
          </a:xfrm>
          <a:prstGeom prst="rect">
            <a:avLst/>
          </a:prstGeom>
          <a:noFill/>
          <a:ln/>
        </p:spPr>
        <p:txBody>
          <a:bodyPr wrap="square" lIns="0" tIns="0" rIns="0" bIns="0" rtlCol="0" anchor="t"/>
          <a:lstStyle/>
          <a:p>
            <a:pPr algn="l" indent="0" marL="0">
              <a:lnSpc>
                <a:spcPct val="145000"/>
              </a:lnSpc>
              <a:buNone/>
            </a:pPr>
            <a:r>
              <a:rPr lang="en-US" sz="1500" dirty="0">
                <a:solidFill>
                  <a:srgbClr val="111111"/>
                </a:solidFill>
                <a:latin typeface="Arial" pitchFamily="34" charset="0"/>
                <a:ea typeface="Arial" pitchFamily="34" charset="-122"/>
                <a:cs typeface="Arial" pitchFamily="34" charset="-120"/>
              </a:rPr>
              <a:t>Ngô Lâm Tiến — 524H0195</a:t>
            </a:r>
            <a:endParaRPr lang="en-US" sz="1500" dirty="0"/>
          </a:p>
          <a:p>
            <a:pPr algn="l" indent="0" marL="0">
              <a:lnSpc>
                <a:spcPct val="145000"/>
              </a:lnSpc>
              <a:buNone/>
            </a:pPr>
            <a:r>
              <a:rPr lang="en-US" sz="1500" dirty="0">
                <a:solidFill>
                  <a:srgbClr val="111111"/>
                </a:solidFill>
                <a:latin typeface="Arial" pitchFamily="34" charset="0"/>
                <a:ea typeface="Arial" pitchFamily="34" charset="-122"/>
                <a:cs typeface="Arial" pitchFamily="34" charset="-120"/>
              </a:rPr>
              <a:t>Nguyễn Công Thành — 524H0191</a:t>
            </a:r>
            <a:endParaRPr lang="en-US" sz="1500" dirty="0"/>
          </a:p>
          <a:p>
            <a:pPr algn="l" indent="0" marL="0">
              <a:lnSpc>
                <a:spcPct val="145000"/>
              </a:lnSpc>
              <a:buNone/>
            </a:pPr>
            <a:r>
              <a:rPr lang="en-US" sz="1500" dirty="0">
                <a:solidFill>
                  <a:srgbClr val="111111"/>
                </a:solidFill>
                <a:latin typeface="Arial" pitchFamily="34" charset="0"/>
                <a:ea typeface="Arial" pitchFamily="34" charset="-122"/>
                <a:cs typeface="Arial" pitchFamily="34" charset="-120"/>
              </a:rPr>
              <a:t>Nguyễn Lê Nhật Tâm — 524H0186</a:t>
            </a:r>
            <a:endParaRPr lang="en-US" sz="1500" dirty="0"/>
          </a:p>
        </p:txBody>
      </p:sp>
      <p:sp>
        <p:nvSpPr>
          <p:cNvPr id="10" name="Text 8"/>
          <p:cNvSpPr txBox="1"/>
          <p:nvPr/>
        </p:nvSpPr>
        <p:spPr>
          <a:xfrm>
            <a:off x="667512" y="5230368"/>
            <a:ext cx="5669280" cy="292608"/>
          </a:xfrm>
          <a:prstGeom prst="rect">
            <a:avLst/>
          </a:prstGeom>
          <a:noFill/>
          <a:ln/>
        </p:spPr>
        <p:txBody>
          <a:bodyPr wrap="square" lIns="0" tIns="0" rIns="0" bIns="0" rtlCol="0" anchor="t"/>
          <a:lstStyle/>
          <a:p>
            <a:pPr algn="l" indent="0" marL="0">
              <a:buNone/>
            </a:pPr>
            <a:r>
              <a:rPr lang="en-US" sz="1300" dirty="0">
                <a:solidFill>
                  <a:srgbClr val="6B6B6B"/>
                </a:solidFill>
                <a:latin typeface="Arial" pitchFamily="34" charset="0"/>
                <a:ea typeface="Arial" pitchFamily="34" charset="-122"/>
                <a:cs typeface="Arial" pitchFamily="34" charset="-120"/>
              </a:rPr>
              <a:t>Tháng 10 năm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NỘI DUNG</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Ba phần, ba người trình bày</a:t>
            </a:r>
            <a:endParaRPr lang="en-US" sz="2600" dirty="0"/>
          </a:p>
        </p:txBody>
      </p:sp>
      <p:sp>
        <p:nvSpPr>
          <p:cNvPr id="4" name="Text 2"/>
          <p:cNvSpPr txBox="1"/>
          <p:nvPr/>
        </p:nvSpPr>
        <p:spPr>
          <a:xfrm>
            <a:off x="667512" y="1591056"/>
            <a:ext cx="822960" cy="457200"/>
          </a:xfrm>
          <a:prstGeom prst="rect">
            <a:avLst/>
          </a:prstGeom>
          <a:noFill/>
          <a:ln/>
        </p:spPr>
        <p:txBody>
          <a:bodyPr wrap="square" lIns="0" tIns="0" rIns="0" bIns="0" rtlCol="0" anchor="t"/>
          <a:lstStyle/>
          <a:p>
            <a:pPr indent="0" marL="0">
              <a:buNone/>
            </a:pPr>
            <a:r>
              <a:rPr lang="en-US" sz="2600" b="1" dirty="0">
                <a:solidFill>
                  <a:srgbClr val="C9C9C9"/>
                </a:solidFill>
                <a:latin typeface="Arial" pitchFamily="34" charset="0"/>
                <a:ea typeface="Arial" pitchFamily="34" charset="-122"/>
                <a:cs typeface="Arial" pitchFamily="34" charset="-120"/>
              </a:rPr>
              <a:t>01</a:t>
            </a:r>
            <a:endParaRPr lang="en-US" sz="2600" dirty="0"/>
          </a:p>
        </p:txBody>
      </p:sp>
      <p:sp>
        <p:nvSpPr>
          <p:cNvPr id="5" name="Text 3"/>
          <p:cNvSpPr txBox="1"/>
          <p:nvPr/>
        </p:nvSpPr>
        <p:spPr>
          <a:xfrm>
            <a:off x="1536192" y="1572768"/>
            <a:ext cx="7470648" cy="347472"/>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Câu 1 · Gradient Descent tự cài đặt</a:t>
            </a:r>
            <a:endParaRPr lang="en-US" sz="1900" dirty="0"/>
          </a:p>
        </p:txBody>
      </p:sp>
      <p:sp>
        <p:nvSpPr>
          <p:cNvPr id="6" name="Text 4"/>
          <p:cNvSpPr txBox="1"/>
          <p:nvPr/>
        </p:nvSpPr>
        <p:spPr>
          <a:xfrm>
            <a:off x="1536192" y="1920240"/>
            <a:ext cx="7470648" cy="548640"/>
          </a:xfrm>
          <a:prstGeom prst="rect">
            <a:avLst/>
          </a:prstGeom>
          <a:noFill/>
          <a:ln/>
        </p:spPr>
        <p:txBody>
          <a:bodyPr wrap="square" lIns="0" tIns="0" rIns="0" bIns="0" rtlCol="0" anchor="t"/>
          <a:lstStyle/>
          <a:p>
            <a:pPr indent="0" marL="0">
              <a:lnSpc>
                <a:spcPct val="112000"/>
              </a:lnSpc>
              <a:buNone/>
            </a:pPr>
            <a:r>
              <a:rPr lang="en-US" sz="1300" dirty="0">
                <a:solidFill>
                  <a:srgbClr val="6B6B6B"/>
                </a:solidFill>
                <a:latin typeface="Arial" pitchFamily="34" charset="0"/>
                <a:ea typeface="Arial" pitchFamily="34" charset="-122"/>
                <a:cs typeface="Arial" pitchFamily="34" charset="-120"/>
              </a:rPr>
              <a:t>Hồi quy tuyến tính và logistic: mô hình, mất mát, dẫn xuất gradient, kết quả</a:t>
            </a:r>
            <a:endParaRPr lang="en-US" sz="1300" dirty="0"/>
          </a:p>
        </p:txBody>
      </p:sp>
      <p:sp>
        <p:nvSpPr>
          <p:cNvPr id="7" name="Text 5"/>
          <p:cNvSpPr txBox="1"/>
          <p:nvPr/>
        </p:nvSpPr>
        <p:spPr>
          <a:xfrm>
            <a:off x="9098280" y="1627632"/>
            <a:ext cx="2423160" cy="310896"/>
          </a:xfrm>
          <a:prstGeom prst="rect">
            <a:avLst/>
          </a:prstGeom>
          <a:noFill/>
          <a:ln/>
        </p:spPr>
        <p:txBody>
          <a:bodyPr wrap="square" lIns="0" tIns="0" rIns="0" bIns="0" rtlCol="0" anchor="t"/>
          <a:lstStyle/>
          <a:p>
            <a:pPr algn="r" indent="0" marL="0">
              <a:buNone/>
            </a:pPr>
            <a:r>
              <a:rPr lang="en-US" sz="1300" dirty="0">
                <a:solidFill>
                  <a:srgbClr val="111111"/>
                </a:solidFill>
                <a:latin typeface="Arial" pitchFamily="34" charset="0"/>
                <a:ea typeface="Arial" pitchFamily="34" charset="-122"/>
                <a:cs typeface="Arial" pitchFamily="34" charset="-120"/>
              </a:rPr>
              <a:t>Ngô Lâm Tiến</a:t>
            </a:r>
            <a:endParaRPr lang="en-US" sz="1300" dirty="0"/>
          </a:p>
        </p:txBody>
      </p:sp>
      <p:sp>
        <p:nvSpPr>
          <p:cNvPr id="8" name="Shape 6"/>
          <p:cNvSpPr/>
          <p:nvPr/>
        </p:nvSpPr>
        <p:spPr>
          <a:xfrm>
            <a:off x="667512" y="2432304"/>
            <a:ext cx="10853928" cy="0"/>
          </a:xfrm>
          <a:prstGeom prst="line">
            <a:avLst/>
          </a:prstGeom>
          <a:noFill/>
          <a:ln w="9525">
            <a:solidFill>
              <a:srgbClr val="D5D5D5"/>
            </a:solidFill>
            <a:prstDash val="solid"/>
          </a:ln>
        </p:spPr>
      </p:sp>
      <p:sp>
        <p:nvSpPr>
          <p:cNvPr id="9" name="Text 7"/>
          <p:cNvSpPr txBox="1"/>
          <p:nvPr/>
        </p:nvSpPr>
        <p:spPr>
          <a:xfrm>
            <a:off x="667512" y="2615184"/>
            <a:ext cx="822960" cy="457200"/>
          </a:xfrm>
          <a:prstGeom prst="rect">
            <a:avLst/>
          </a:prstGeom>
          <a:noFill/>
          <a:ln/>
        </p:spPr>
        <p:txBody>
          <a:bodyPr wrap="square" lIns="0" tIns="0" rIns="0" bIns="0" rtlCol="0" anchor="t"/>
          <a:lstStyle/>
          <a:p>
            <a:pPr indent="0" marL="0">
              <a:buNone/>
            </a:pPr>
            <a:r>
              <a:rPr lang="en-US" sz="2600" b="1" dirty="0">
                <a:solidFill>
                  <a:srgbClr val="C9C9C9"/>
                </a:solidFill>
                <a:latin typeface="Arial" pitchFamily="34" charset="0"/>
                <a:ea typeface="Arial" pitchFamily="34" charset="-122"/>
                <a:cs typeface="Arial" pitchFamily="34" charset="-120"/>
              </a:rPr>
              <a:t>02</a:t>
            </a:r>
            <a:endParaRPr lang="en-US" sz="2600" dirty="0"/>
          </a:p>
        </p:txBody>
      </p:sp>
      <p:sp>
        <p:nvSpPr>
          <p:cNvPr id="10" name="Text 8"/>
          <p:cNvSpPr txBox="1"/>
          <p:nvPr/>
        </p:nvSpPr>
        <p:spPr>
          <a:xfrm>
            <a:off x="1536192" y="2596896"/>
            <a:ext cx="7470648" cy="347472"/>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Câu 2 · Phân loại trên OpenML credit-g</a:t>
            </a:r>
            <a:endParaRPr lang="en-US" sz="1900" dirty="0"/>
          </a:p>
        </p:txBody>
      </p:sp>
      <p:sp>
        <p:nvSpPr>
          <p:cNvPr id="11" name="Text 9"/>
          <p:cNvSpPr txBox="1"/>
          <p:nvPr/>
        </p:nvSpPr>
        <p:spPr>
          <a:xfrm>
            <a:off x="1536192" y="2944368"/>
            <a:ext cx="7470648" cy="548640"/>
          </a:xfrm>
          <a:prstGeom prst="rect">
            <a:avLst/>
          </a:prstGeom>
          <a:noFill/>
          <a:ln/>
        </p:spPr>
        <p:txBody>
          <a:bodyPr wrap="square" lIns="0" tIns="0" rIns="0" bIns="0" rtlCol="0" anchor="t"/>
          <a:lstStyle/>
          <a:p>
            <a:pPr indent="0" marL="0">
              <a:lnSpc>
                <a:spcPct val="112000"/>
              </a:lnSpc>
              <a:buNone/>
            </a:pPr>
            <a:r>
              <a:rPr lang="en-US" sz="1300" dirty="0">
                <a:solidFill>
                  <a:srgbClr val="6B6B6B"/>
                </a:solidFill>
                <a:latin typeface="Arial" pitchFamily="34" charset="0"/>
                <a:ea typeface="Arial" pitchFamily="34" charset="-122"/>
                <a:cs typeface="Arial" pitchFamily="34" charset="-120"/>
              </a:rPr>
              <a:t>Tiền xử lý, quy trình chống rò rỉ dữ liệu, 14 mô hình và baseline</a:t>
            </a:r>
            <a:endParaRPr lang="en-US" sz="1300" dirty="0"/>
          </a:p>
        </p:txBody>
      </p:sp>
      <p:sp>
        <p:nvSpPr>
          <p:cNvPr id="12" name="Text 10"/>
          <p:cNvSpPr txBox="1"/>
          <p:nvPr/>
        </p:nvSpPr>
        <p:spPr>
          <a:xfrm>
            <a:off x="9098280" y="2651760"/>
            <a:ext cx="2423160" cy="310896"/>
          </a:xfrm>
          <a:prstGeom prst="rect">
            <a:avLst/>
          </a:prstGeom>
          <a:noFill/>
          <a:ln/>
        </p:spPr>
        <p:txBody>
          <a:bodyPr wrap="square" lIns="0" tIns="0" rIns="0" bIns="0" rtlCol="0" anchor="t"/>
          <a:lstStyle/>
          <a:p>
            <a:pPr algn="r" indent="0" marL="0">
              <a:buNone/>
            </a:pPr>
            <a:r>
              <a:rPr lang="en-US" sz="1300" dirty="0">
                <a:solidFill>
                  <a:srgbClr val="111111"/>
                </a:solidFill>
                <a:latin typeface="Arial" pitchFamily="34" charset="0"/>
                <a:ea typeface="Arial" pitchFamily="34" charset="-122"/>
                <a:cs typeface="Arial" pitchFamily="34" charset="-120"/>
              </a:rPr>
              <a:t>Nguyễn Công Thành</a:t>
            </a:r>
            <a:endParaRPr lang="en-US" sz="1300" dirty="0"/>
          </a:p>
        </p:txBody>
      </p:sp>
      <p:sp>
        <p:nvSpPr>
          <p:cNvPr id="13" name="Shape 11"/>
          <p:cNvSpPr/>
          <p:nvPr/>
        </p:nvSpPr>
        <p:spPr>
          <a:xfrm>
            <a:off x="667512" y="3456432"/>
            <a:ext cx="10853928" cy="0"/>
          </a:xfrm>
          <a:prstGeom prst="line">
            <a:avLst/>
          </a:prstGeom>
          <a:noFill/>
          <a:ln w="9525">
            <a:solidFill>
              <a:srgbClr val="D5D5D5"/>
            </a:solidFill>
            <a:prstDash val="solid"/>
          </a:ln>
        </p:spPr>
      </p:sp>
      <p:sp>
        <p:nvSpPr>
          <p:cNvPr id="14" name="Text 12"/>
          <p:cNvSpPr txBox="1"/>
          <p:nvPr/>
        </p:nvSpPr>
        <p:spPr>
          <a:xfrm>
            <a:off x="667512" y="3639312"/>
            <a:ext cx="822960" cy="457200"/>
          </a:xfrm>
          <a:prstGeom prst="rect">
            <a:avLst/>
          </a:prstGeom>
          <a:noFill/>
          <a:ln/>
        </p:spPr>
        <p:txBody>
          <a:bodyPr wrap="square" lIns="0" tIns="0" rIns="0" bIns="0" rtlCol="0" anchor="t"/>
          <a:lstStyle/>
          <a:p>
            <a:pPr indent="0" marL="0">
              <a:buNone/>
            </a:pPr>
            <a:r>
              <a:rPr lang="en-US" sz="2600" b="1" dirty="0">
                <a:solidFill>
                  <a:srgbClr val="C9C9C9"/>
                </a:solidFill>
                <a:latin typeface="Arial" pitchFamily="34" charset="0"/>
                <a:ea typeface="Arial" pitchFamily="34" charset="-122"/>
                <a:cs typeface="Arial" pitchFamily="34" charset="-120"/>
              </a:rPr>
              <a:t>03</a:t>
            </a:r>
            <a:endParaRPr lang="en-US" sz="2600" dirty="0"/>
          </a:p>
        </p:txBody>
      </p:sp>
      <p:sp>
        <p:nvSpPr>
          <p:cNvPr id="15" name="Text 13"/>
          <p:cNvSpPr txBox="1"/>
          <p:nvPr/>
        </p:nvSpPr>
        <p:spPr>
          <a:xfrm>
            <a:off x="1536192" y="3621024"/>
            <a:ext cx="7470648" cy="347472"/>
          </a:xfrm>
          <a:prstGeom prst="rect">
            <a:avLst/>
          </a:prstGeom>
          <a:noFill/>
          <a:ln/>
        </p:spPr>
        <p:txBody>
          <a:bodyPr wrap="square" lIns="0" tIns="0" rIns="0" bIns="0" rtlCol="0" anchor="t"/>
          <a:lstStyle/>
          <a:p>
            <a:pPr indent="0" marL="0">
              <a:buNone/>
            </a:pPr>
            <a:r>
              <a:rPr lang="en-US" sz="1900" b="1" dirty="0">
                <a:solidFill>
                  <a:srgbClr val="111111"/>
                </a:solidFill>
                <a:latin typeface="Arial" pitchFamily="34" charset="0"/>
                <a:ea typeface="Arial" pitchFamily="34" charset="-122"/>
                <a:cs typeface="Arial" pitchFamily="34" charset="-120"/>
              </a:rPr>
              <a:t>Overfitting và cách khắc phục</a:t>
            </a:r>
            <a:endParaRPr lang="en-US" sz="1900" dirty="0"/>
          </a:p>
        </p:txBody>
      </p:sp>
      <p:sp>
        <p:nvSpPr>
          <p:cNvPr id="16" name="Text 14"/>
          <p:cNvSpPr txBox="1"/>
          <p:nvPr/>
        </p:nvSpPr>
        <p:spPr>
          <a:xfrm>
            <a:off x="1536192" y="3968496"/>
            <a:ext cx="7470648" cy="548640"/>
          </a:xfrm>
          <a:prstGeom prst="rect">
            <a:avLst/>
          </a:prstGeom>
          <a:noFill/>
          <a:ln/>
        </p:spPr>
        <p:txBody>
          <a:bodyPr wrap="square" lIns="0" tIns="0" rIns="0" bIns="0" rtlCol="0" anchor="t"/>
          <a:lstStyle/>
          <a:p>
            <a:pPr indent="0" marL="0">
              <a:lnSpc>
                <a:spcPct val="112000"/>
              </a:lnSpc>
              <a:buNone/>
            </a:pPr>
            <a:r>
              <a:rPr lang="en-US" sz="1300" dirty="0">
                <a:solidFill>
                  <a:srgbClr val="6B6B6B"/>
                </a:solidFill>
                <a:latin typeface="Arial" pitchFamily="34" charset="0"/>
                <a:ea typeface="Arial" pitchFamily="34" charset="-122"/>
                <a:cs typeface="Arial" pitchFamily="34" charset="-120"/>
              </a:rPr>
              <a:t>Bằng chứng thực nghiệm, các biện pháp, kết luận và hạn chế của bài làm</a:t>
            </a:r>
            <a:endParaRPr lang="en-US" sz="1300" dirty="0"/>
          </a:p>
        </p:txBody>
      </p:sp>
      <p:sp>
        <p:nvSpPr>
          <p:cNvPr id="17" name="Text 15"/>
          <p:cNvSpPr txBox="1"/>
          <p:nvPr/>
        </p:nvSpPr>
        <p:spPr>
          <a:xfrm>
            <a:off x="9098280" y="3675888"/>
            <a:ext cx="2423160" cy="310896"/>
          </a:xfrm>
          <a:prstGeom prst="rect">
            <a:avLst/>
          </a:prstGeom>
          <a:noFill/>
          <a:ln/>
        </p:spPr>
        <p:txBody>
          <a:bodyPr wrap="square" lIns="0" tIns="0" rIns="0" bIns="0" rtlCol="0" anchor="t"/>
          <a:lstStyle/>
          <a:p>
            <a:pPr algn="r" indent="0" marL="0">
              <a:buNone/>
            </a:pPr>
            <a:r>
              <a:rPr lang="en-US" sz="1300" dirty="0">
                <a:solidFill>
                  <a:srgbClr val="111111"/>
                </a:solidFill>
                <a:latin typeface="Arial" pitchFamily="34" charset="0"/>
                <a:ea typeface="Arial" pitchFamily="34" charset="-122"/>
                <a:cs typeface="Arial" pitchFamily="34" charset="-120"/>
              </a:rPr>
              <a:t>Nguyễn Lê Nhật Tâm</a:t>
            </a:r>
            <a:endParaRPr lang="en-US" sz="1300" dirty="0"/>
          </a:p>
        </p:txBody>
      </p:sp>
      <p:sp>
        <p:nvSpPr>
          <p:cNvPr id="18" name="Shape 16"/>
          <p:cNvSpPr/>
          <p:nvPr/>
        </p:nvSpPr>
        <p:spPr>
          <a:xfrm>
            <a:off x="667512" y="4956048"/>
            <a:ext cx="10853928" cy="0"/>
          </a:xfrm>
          <a:prstGeom prst="line">
            <a:avLst/>
          </a:prstGeom>
          <a:noFill/>
          <a:ln w="9525">
            <a:solidFill>
              <a:srgbClr val="D5D5D5"/>
            </a:solidFill>
            <a:prstDash val="solid"/>
          </a:ln>
        </p:spPr>
      </p:sp>
      <p:sp>
        <p:nvSpPr>
          <p:cNvPr id="19" name="Text 17"/>
          <p:cNvSpPr txBox="1"/>
          <p:nvPr/>
        </p:nvSpPr>
        <p:spPr>
          <a:xfrm>
            <a:off x="667512" y="5120640"/>
            <a:ext cx="10853928" cy="365760"/>
          </a:xfrm>
          <a:prstGeom prst="rect">
            <a:avLst/>
          </a:prstGeom>
          <a:noFill/>
          <a:ln/>
        </p:spPr>
        <p:txBody>
          <a:bodyPr wrap="square" lIns="0" tIns="0" rIns="0" bIns="0" rtlCol="0" anchor="t"/>
          <a:lstStyle/>
          <a:p>
            <a:pPr algn="l" indent="0" marL="0">
              <a:buNone/>
            </a:pPr>
            <a:r>
              <a:rPr lang="en-US" sz="1600" i="1" dirty="0">
                <a:solidFill>
                  <a:srgbClr val="6B6B6B"/>
                </a:solidFill>
                <a:latin typeface="Arial" pitchFamily="34" charset="0"/>
                <a:ea typeface="Arial" pitchFamily="34" charset="-122"/>
                <a:cs typeface="Arial" pitchFamily="34" charset="-120"/>
              </a:rPr>
              <a:t>Câu hỏi xuyên suốt: mô hình học được gì từ dữ liệu, và làm sao biết nó thật sự tổng quát hóa?</a:t>
            </a:r>
            <a:endParaRPr lang="en-US" sz="160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CÂU 1 · HỒI QUY TUYẾN TÍNH</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Mô hình và hàm mất mát</a:t>
            </a:r>
            <a:endParaRPr lang="en-US" sz="2600" dirty="0"/>
          </a:p>
        </p:txBody>
      </p:sp>
      <p:sp>
        <p:nvSpPr>
          <p:cNvPr id="4" name="Text 2"/>
          <p:cNvSpPr txBox="1"/>
          <p:nvPr/>
        </p:nvSpPr>
        <p:spPr>
          <a:xfrm>
            <a:off x="667512" y="1682496"/>
            <a:ext cx="5486400" cy="274320"/>
          </a:xfrm>
          <a:prstGeom prst="rect">
            <a:avLst/>
          </a:prstGeom>
          <a:noFill/>
          <a:ln/>
        </p:spPr>
        <p:txBody>
          <a:bodyPr wrap="square" lIns="0" tIns="0" rIns="0" bIns="0" rtlCol="0" anchor="t"/>
          <a:lstStyle/>
          <a:p>
            <a:pPr indent="0" marL="0">
              <a:buNone/>
            </a:pPr>
            <a:r>
              <a:rPr lang="en-US" sz="1100" spc="140" kern="0" dirty="0">
                <a:solidFill>
                  <a:srgbClr val="6B6B6B"/>
                </a:solidFill>
                <a:latin typeface="Arial" pitchFamily="34" charset="0"/>
                <a:ea typeface="Arial" pitchFamily="34" charset="-122"/>
                <a:cs typeface="Arial" pitchFamily="34" charset="-120"/>
              </a:rPr>
              <a:t>Dự đoán</a:t>
            </a:r>
            <a:endParaRPr lang="en-US" sz="1100" dirty="0"/>
          </a:p>
        </p:txBody>
      </p:sp>
      <p:sp>
        <p:nvSpPr>
          <p:cNvPr id="5" name="Text 3"/>
          <p:cNvSpPr txBox="1"/>
          <p:nvPr/>
        </p:nvSpPr>
        <p:spPr>
          <a:xfrm>
            <a:off x="667512" y="1956816"/>
            <a:ext cx="5577840" cy="457200"/>
          </a:xfrm>
          <a:prstGeom prst="rect">
            <a:avLst/>
          </a:prstGeom>
          <a:noFill/>
          <a:ln/>
        </p:spPr>
        <p:txBody>
          <a:bodyPr wrap="square" lIns="0" tIns="0" rIns="0" bIns="0" rtlCol="0" anchor="t"/>
          <a:lstStyle/>
          <a:p>
            <a:pPr indent="0" marL="0">
              <a:buNone/>
            </a:pPr>
            <a:r>
              <a:rPr lang="en-US" sz="2300" dirty="0">
                <a:solidFill>
                  <a:srgbClr val="111111"/>
                </a:solidFill>
                <a:latin typeface="Arial" pitchFamily="34" charset="0"/>
                <a:ea typeface="Arial" pitchFamily="34" charset="-122"/>
                <a:cs typeface="Arial" pitchFamily="34" charset="-120"/>
              </a:rPr>
              <a:t>ŷ</a:t>
            </a:r>
            <a:pPr indent="0" marL="0">
              <a:buNone/>
            </a:pPr>
            <a:r>
              <a:rPr lang="en-US" sz="2300" baseline="-40000" dirty="0">
                <a:solidFill>
                  <a:srgbClr val="111111"/>
                </a:solidFill>
                <a:latin typeface="Arial" pitchFamily="34" charset="0"/>
                <a:ea typeface="Arial" pitchFamily="34" charset="-122"/>
                <a:cs typeface="Arial" pitchFamily="34" charset="-120"/>
              </a:rPr>
              <a:t>i</a:t>
            </a:r>
            <a:pPr indent="0" marL="0">
              <a:buNone/>
            </a:pPr>
            <a:r>
              <a:rPr lang="en-US" sz="2300" dirty="0">
                <a:solidFill>
                  <a:srgbClr val="111111"/>
                </a:solidFill>
                <a:latin typeface="Arial" pitchFamily="34" charset="0"/>
                <a:ea typeface="Arial" pitchFamily="34" charset="-122"/>
                <a:cs typeface="Arial" pitchFamily="34" charset="-120"/>
              </a:rPr>
              <a:t> = w</a:t>
            </a:r>
            <a:pPr indent="0" marL="0">
              <a:buNone/>
            </a:pPr>
            <a:r>
              <a:rPr lang="en-US" sz="2300" baseline="30000" dirty="0">
                <a:solidFill>
                  <a:srgbClr val="111111"/>
                </a:solidFill>
                <a:latin typeface="Arial" pitchFamily="34" charset="0"/>
                <a:ea typeface="Arial" pitchFamily="34" charset="-122"/>
                <a:cs typeface="Arial" pitchFamily="34" charset="-120"/>
              </a:rPr>
              <a:t>T</a:t>
            </a:r>
            <a:pPr indent="0" marL="0">
              <a:buNone/>
            </a:pPr>
            <a:r>
              <a:rPr lang="en-US" sz="2300" dirty="0">
                <a:solidFill>
                  <a:srgbClr val="111111"/>
                </a:solidFill>
                <a:latin typeface="Arial" pitchFamily="34" charset="0"/>
                <a:ea typeface="Arial" pitchFamily="34" charset="-122"/>
                <a:cs typeface="Arial" pitchFamily="34" charset="-120"/>
              </a:rPr>
              <a:t>x</a:t>
            </a:r>
            <a:pPr indent="0" marL="0">
              <a:buNone/>
            </a:pPr>
            <a:r>
              <a:rPr lang="en-US" sz="2300" baseline="-40000" dirty="0">
                <a:solidFill>
                  <a:srgbClr val="111111"/>
                </a:solidFill>
                <a:latin typeface="Arial" pitchFamily="34" charset="0"/>
                <a:ea typeface="Arial" pitchFamily="34" charset="-122"/>
                <a:cs typeface="Arial" pitchFamily="34" charset="-120"/>
              </a:rPr>
              <a:t>i</a:t>
            </a:r>
            <a:pPr indent="0" marL="0">
              <a:buNone/>
            </a:pPr>
            <a:r>
              <a:rPr lang="en-US" sz="2300" dirty="0">
                <a:solidFill>
                  <a:srgbClr val="111111"/>
                </a:solidFill>
                <a:latin typeface="Arial" pitchFamily="34" charset="0"/>
                <a:ea typeface="Arial" pitchFamily="34" charset="-122"/>
                <a:cs typeface="Arial" pitchFamily="34" charset="-120"/>
              </a:rPr>
              <a:t> + b</a:t>
            </a:r>
            <a:endParaRPr lang="en-US" sz="2300" dirty="0"/>
          </a:p>
        </p:txBody>
      </p:sp>
      <p:sp>
        <p:nvSpPr>
          <p:cNvPr id="6" name="Text 4"/>
          <p:cNvSpPr txBox="1"/>
          <p:nvPr/>
        </p:nvSpPr>
        <p:spPr>
          <a:xfrm>
            <a:off x="667512" y="2432304"/>
            <a:ext cx="5577840" cy="3657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một đặc trưng → đường thẳng · nhiều đặc trưng → siêu phẳng</a:t>
            </a:r>
            <a:endParaRPr lang="en-US" sz="1500" dirty="0"/>
          </a:p>
        </p:txBody>
      </p:sp>
      <p:sp>
        <p:nvSpPr>
          <p:cNvPr id="7" name="Text 5"/>
          <p:cNvSpPr txBox="1"/>
          <p:nvPr/>
        </p:nvSpPr>
        <p:spPr>
          <a:xfrm>
            <a:off x="667512" y="3054096"/>
            <a:ext cx="5486400" cy="274320"/>
          </a:xfrm>
          <a:prstGeom prst="rect">
            <a:avLst/>
          </a:prstGeom>
          <a:noFill/>
          <a:ln/>
        </p:spPr>
        <p:txBody>
          <a:bodyPr wrap="square" lIns="0" tIns="0" rIns="0" bIns="0" rtlCol="0" anchor="t"/>
          <a:lstStyle/>
          <a:p>
            <a:pPr indent="0" marL="0">
              <a:buNone/>
            </a:pPr>
            <a:r>
              <a:rPr lang="en-US" sz="1100" spc="140" kern="0" dirty="0">
                <a:solidFill>
                  <a:srgbClr val="6B6B6B"/>
                </a:solidFill>
                <a:latin typeface="Arial" pitchFamily="34" charset="0"/>
                <a:ea typeface="Arial" pitchFamily="34" charset="-122"/>
                <a:cs typeface="Arial" pitchFamily="34" charset="-120"/>
              </a:rPr>
              <a:t>Mất mát: trung bình bình phương sai số</a:t>
            </a:r>
            <a:endParaRPr lang="en-US" sz="1100" dirty="0"/>
          </a:p>
        </p:txBody>
      </p:sp>
      <p:sp>
        <p:nvSpPr>
          <p:cNvPr id="8" name="Text 6"/>
          <p:cNvSpPr txBox="1"/>
          <p:nvPr/>
        </p:nvSpPr>
        <p:spPr>
          <a:xfrm>
            <a:off x="667512" y="3328416"/>
            <a:ext cx="5577840" cy="548640"/>
          </a:xfrm>
          <a:prstGeom prst="rect">
            <a:avLst/>
          </a:prstGeom>
          <a:noFill/>
          <a:ln/>
        </p:spPr>
        <p:txBody>
          <a:bodyPr wrap="square" lIns="0" tIns="0" rIns="0" bIns="0" rtlCol="0" anchor="t"/>
          <a:lstStyle/>
          <a:p>
            <a:pPr indent="0" marL="0">
              <a:buNone/>
            </a:pPr>
            <a:r>
              <a:rPr lang="en-US" sz="2100" dirty="0">
                <a:solidFill>
                  <a:srgbClr val="111111"/>
                </a:solidFill>
                <a:latin typeface="Arial" pitchFamily="34" charset="0"/>
                <a:ea typeface="Arial" pitchFamily="34" charset="-122"/>
                <a:cs typeface="Arial" pitchFamily="34" charset="-120"/>
              </a:rPr>
              <a:t>J(w, b) = (1/2n) · Σ</a:t>
            </a:r>
            <a:pPr indent="0" marL="0">
              <a:buNone/>
            </a:pPr>
            <a:r>
              <a:rPr lang="en-US" sz="2100" baseline="-40000" dirty="0">
                <a:solidFill>
                  <a:srgbClr val="111111"/>
                </a:solidFill>
                <a:latin typeface="Arial" pitchFamily="34" charset="0"/>
                <a:ea typeface="Arial" pitchFamily="34" charset="-122"/>
                <a:cs typeface="Arial" pitchFamily="34" charset="-120"/>
              </a:rPr>
              <a:t>i</a:t>
            </a:r>
            <a:pPr indent="0" marL="0">
              <a:buNone/>
            </a:pPr>
            <a:r>
              <a:rPr lang="en-US" sz="2100" dirty="0">
                <a:solidFill>
                  <a:srgbClr val="111111"/>
                </a:solidFill>
                <a:latin typeface="Arial" pitchFamily="34" charset="0"/>
                <a:ea typeface="Arial" pitchFamily="34" charset="-122"/>
                <a:cs typeface="Arial" pitchFamily="34" charset="-120"/>
              </a:rPr>
              <a:t> (ŷ</a:t>
            </a:r>
            <a:pPr indent="0" marL="0">
              <a:buNone/>
            </a:pPr>
            <a:r>
              <a:rPr lang="en-US" sz="2100" baseline="-40000" dirty="0">
                <a:solidFill>
                  <a:srgbClr val="111111"/>
                </a:solidFill>
                <a:latin typeface="Arial" pitchFamily="34" charset="0"/>
                <a:ea typeface="Arial" pitchFamily="34" charset="-122"/>
                <a:cs typeface="Arial" pitchFamily="34" charset="-120"/>
              </a:rPr>
              <a:t>i</a:t>
            </a:r>
            <a:pPr indent="0" marL="0">
              <a:buNone/>
            </a:pPr>
            <a:r>
              <a:rPr lang="en-US" sz="2100" dirty="0">
                <a:solidFill>
                  <a:srgbClr val="111111"/>
                </a:solidFill>
                <a:latin typeface="Arial" pitchFamily="34" charset="0"/>
                <a:ea typeface="Arial" pitchFamily="34" charset="-122"/>
                <a:cs typeface="Arial" pitchFamily="34" charset="-120"/>
              </a:rPr>
              <a:t> − y</a:t>
            </a:r>
            <a:pPr indent="0" marL="0">
              <a:buNone/>
            </a:pPr>
            <a:r>
              <a:rPr lang="en-US" sz="2100" baseline="-40000" dirty="0">
                <a:solidFill>
                  <a:srgbClr val="111111"/>
                </a:solidFill>
                <a:latin typeface="Arial" pitchFamily="34" charset="0"/>
                <a:ea typeface="Arial" pitchFamily="34" charset="-122"/>
                <a:cs typeface="Arial" pitchFamily="34" charset="-120"/>
              </a:rPr>
              <a:t>i</a:t>
            </a:r>
            <a:pPr indent="0" marL="0">
              <a:buNone/>
            </a:pPr>
            <a:r>
              <a:rPr lang="en-US" sz="2100" dirty="0">
                <a:solidFill>
                  <a:srgbClr val="111111"/>
                </a:solidFill>
                <a:latin typeface="Arial" pitchFamily="34" charset="0"/>
                <a:ea typeface="Arial" pitchFamily="34" charset="-122"/>
                <a:cs typeface="Arial" pitchFamily="34" charset="-120"/>
              </a:rPr>
              <a:t>)</a:t>
            </a:r>
            <a:pPr indent="0" marL="0">
              <a:buNone/>
            </a:pPr>
            <a:r>
              <a:rPr lang="en-US" sz="2100" baseline="30000" dirty="0">
                <a:solidFill>
                  <a:srgbClr val="111111"/>
                </a:solidFill>
                <a:latin typeface="Arial" pitchFamily="34" charset="0"/>
                <a:ea typeface="Arial" pitchFamily="34" charset="-122"/>
                <a:cs typeface="Arial" pitchFamily="34" charset="-120"/>
              </a:rPr>
              <a:t>2</a:t>
            </a:r>
            <a:endParaRPr lang="en-US" sz="2100" dirty="0"/>
          </a:p>
        </p:txBody>
      </p:sp>
      <p:sp>
        <p:nvSpPr>
          <p:cNvPr id="9" name="Shape 7"/>
          <p:cNvSpPr/>
          <p:nvPr/>
        </p:nvSpPr>
        <p:spPr>
          <a:xfrm>
            <a:off x="6355080" y="1627632"/>
            <a:ext cx="0" cy="2788920"/>
          </a:xfrm>
          <a:prstGeom prst="line">
            <a:avLst/>
          </a:prstGeom>
          <a:noFill/>
          <a:ln w="9525">
            <a:solidFill>
              <a:srgbClr val="D5D5D5"/>
            </a:solidFill>
            <a:prstDash val="solid"/>
          </a:ln>
        </p:spPr>
      </p:sp>
      <p:sp>
        <p:nvSpPr>
          <p:cNvPr id="10" name="Text 8"/>
          <p:cNvSpPr txBox="1"/>
          <p:nvPr/>
        </p:nvSpPr>
        <p:spPr>
          <a:xfrm>
            <a:off x="6629400" y="1627632"/>
            <a:ext cx="4892040" cy="4517136"/>
          </a:xfrm>
          <a:prstGeom prst="rect">
            <a:avLst/>
          </a:prstGeom>
          <a:noFill/>
          <a:ln/>
        </p:spPr>
        <p:txBody>
          <a:bodyPr wrap="square" lIns="0" tIns="0" rIns="0" bIns="0" rtlCol="0" anchor="t"/>
          <a:lstStyle/>
          <a:p>
            <a:pPr marL="342900" indent="-342900">
              <a:lnSpc>
                <a:spcPct val="106000"/>
              </a:lnSpc>
              <a:spcAft>
                <a:spcPts val="1600"/>
              </a:spcAft>
              <a:buSzPct val="100000"/>
              <a:buChar char="–"/>
            </a:pPr>
            <a:r>
              <a:rPr lang="en-US" sz="1700" b="1" dirty="0">
                <a:solidFill>
                  <a:srgbClr val="111111"/>
                </a:solidFill>
                <a:latin typeface="Arial" pitchFamily="34" charset="0"/>
                <a:ea typeface="Arial" pitchFamily="34" charset="-122"/>
                <a:cs typeface="Arial" pitchFamily="34" charset="-120"/>
              </a:rPr>
              <a:t>Đầu ra là số thực</a:t>
            </a:r>
            <a:endParaRPr lang="en-US" sz="1700" dirty="0"/>
          </a:p>
          <a:p>
            <a:pPr marL="342900" indent="-342900">
              <a:lnSpc>
                <a:spcPct val="106000"/>
              </a:lnSpc>
              <a:spcAft>
                <a:spcPts val="1600"/>
              </a:spcAft>
              <a:buSzPct val="100000"/>
              <a:buChar char="–"/>
            </a:pPr>
            <a:r>
              <a:rPr lang="en-US" sz="1700" dirty="0">
                <a:solidFill>
                  <a:srgbClr val="111111"/>
                </a:solidFill>
                <a:latin typeface="Arial" pitchFamily="34" charset="0"/>
                <a:ea typeface="Arial" pitchFamily="34" charset="-122"/>
                <a:cs typeface="Arial" pitchFamily="34" charset="-120"/>
              </a:rPr>
              <a:t> — bài toán hồi quy, không phải phân loại.</a:t>
            </a:r>
            <a:endParaRPr lang="en-US" sz="1700" dirty="0"/>
          </a:p>
          <a:p>
            <a:pPr marL="342900" indent="-342900">
              <a:lnSpc>
                <a:spcPct val="106000"/>
              </a:lnSpc>
              <a:spcAft>
                <a:spcPts val="1600"/>
              </a:spcAft>
              <a:buSzPct val="100000"/>
              <a:buChar char="–"/>
            </a:pPr>
            <a:r>
              <a:rPr lang="en-US" sz="1700" b="1" dirty="0">
                <a:solidFill>
                  <a:srgbClr val="111111"/>
                </a:solidFill>
                <a:latin typeface="Arial" pitchFamily="34" charset="0"/>
                <a:ea typeface="Arial" pitchFamily="34" charset="-122"/>
                <a:cs typeface="Arial" pitchFamily="34" charset="-120"/>
              </a:rPr>
              <a:t>Hệ số ½</a:t>
            </a:r>
            <a:endParaRPr lang="en-US" sz="1700" dirty="0"/>
          </a:p>
          <a:p>
            <a:pPr marL="342900" indent="-342900">
              <a:lnSpc>
                <a:spcPct val="106000"/>
              </a:lnSpc>
              <a:spcAft>
                <a:spcPts val="1600"/>
              </a:spcAft>
              <a:buSzPct val="100000"/>
              <a:buChar char="–"/>
            </a:pPr>
            <a:r>
              <a:rPr lang="en-US" sz="1700" dirty="0">
                <a:solidFill>
                  <a:srgbClr val="111111"/>
                </a:solidFill>
                <a:latin typeface="Arial" pitchFamily="34" charset="0"/>
                <a:ea typeface="Arial" pitchFamily="34" charset="-122"/>
                <a:cs typeface="Arial" pitchFamily="34" charset="-120"/>
              </a:rPr>
              <a:t> chỉ để đạo hàm gọn; nghiệm tối ưu không đổi.</a:t>
            </a:r>
            <a:endParaRPr lang="en-US" sz="1700" dirty="0"/>
          </a:p>
          <a:p>
            <a:pPr marL="342900" indent="-342900">
              <a:lnSpc>
                <a:spcPct val="106000"/>
              </a:lnSpc>
              <a:spcAft>
                <a:spcPts val="1600"/>
              </a:spcAft>
              <a:buSzPct val="100000"/>
              <a:buChar char="–"/>
            </a:pPr>
            <a:r>
              <a:rPr lang="en-US" sz="1700" b="1" dirty="0">
                <a:solidFill>
                  <a:srgbClr val="111111"/>
                </a:solidFill>
                <a:latin typeface="Arial" pitchFamily="34" charset="0"/>
                <a:ea typeface="Arial" pitchFamily="34" charset="-122"/>
                <a:cs typeface="Arial" pitchFamily="34" charset="-120"/>
              </a:rPr>
              <a:t>Bình phương</a:t>
            </a:r>
            <a:endParaRPr lang="en-US" sz="1700" dirty="0"/>
          </a:p>
          <a:p>
            <a:pPr marL="342900" indent="-342900">
              <a:lnSpc>
                <a:spcPct val="106000"/>
              </a:lnSpc>
              <a:spcAft>
                <a:spcPts val="1600"/>
              </a:spcAft>
              <a:buSzPct val="100000"/>
              <a:buChar char="–"/>
            </a:pPr>
            <a:r>
              <a:rPr lang="en-US" sz="1700" dirty="0">
                <a:solidFill>
                  <a:srgbClr val="111111"/>
                </a:solidFill>
                <a:latin typeface="Arial" pitchFamily="34" charset="0"/>
                <a:ea typeface="Arial" pitchFamily="34" charset="-122"/>
                <a:cs typeface="Arial" pitchFamily="34" charset="-120"/>
              </a:rPr>
              <a:t> khiến sai số lớn bị phạt nặng.</a:t>
            </a:r>
            <a:endParaRPr lang="en-US" sz="1700" dirty="0"/>
          </a:p>
          <a:p>
            <a:pPr marL="342900" indent="-342900">
              <a:lnSpc>
                <a:spcPct val="106000"/>
              </a:lnSpc>
              <a:spcAft>
                <a:spcPts val="1600"/>
              </a:spcAft>
              <a:buSzPct val="100000"/>
              <a:buChar char="–"/>
            </a:pPr>
            <a:r>
              <a:rPr lang="en-US" sz="1700" b="1" dirty="0">
                <a:solidFill>
                  <a:srgbClr val="111111"/>
                </a:solidFill>
                <a:latin typeface="Arial" pitchFamily="34" charset="0"/>
                <a:ea typeface="Arial" pitchFamily="34" charset="-122"/>
                <a:cs typeface="Arial" pitchFamily="34" charset="-120"/>
              </a:rPr>
              <a:t>Chia cho n</a:t>
            </a:r>
            <a:endParaRPr lang="en-US" sz="1700" dirty="0"/>
          </a:p>
          <a:p>
            <a:pPr marL="342900" indent="-342900">
              <a:lnSpc>
                <a:spcPct val="106000"/>
              </a:lnSpc>
              <a:spcAft>
                <a:spcPts val="1600"/>
              </a:spcAft>
              <a:buSzPct val="100000"/>
              <a:buChar char="–"/>
            </a:pPr>
            <a:r>
              <a:rPr lang="en-US" sz="1700" dirty="0">
                <a:solidFill>
                  <a:srgbClr val="111111"/>
                </a:solidFill>
                <a:latin typeface="Arial" pitchFamily="34" charset="0"/>
                <a:ea typeface="Arial" pitchFamily="34" charset="-122"/>
                <a:cs typeface="Arial" pitchFamily="34" charset="-120"/>
              </a:rPr>
              <a:t> để mất mát là trung bình, so sánh được giữa các cỡ mẫu.</a:t>
            </a:r>
            <a:endParaRPr lang="en-US" sz="1700" dirty="0"/>
          </a:p>
        </p:txBody>
      </p:sp>
      <p:sp>
        <p:nvSpPr>
          <p:cNvPr id="11" name="Shape 9"/>
          <p:cNvSpPr/>
          <p:nvPr/>
        </p:nvSpPr>
        <p:spPr>
          <a:xfrm>
            <a:off x="667512" y="4736592"/>
            <a:ext cx="10853928" cy="0"/>
          </a:xfrm>
          <a:prstGeom prst="line">
            <a:avLst/>
          </a:prstGeom>
          <a:noFill/>
          <a:ln w="9525">
            <a:solidFill>
              <a:srgbClr val="D5D5D5"/>
            </a:solidFill>
            <a:prstDash val="solid"/>
          </a:ln>
        </p:spPr>
      </p:sp>
      <p:sp>
        <p:nvSpPr>
          <p:cNvPr id="12" name="Text 10"/>
          <p:cNvSpPr txBox="1"/>
          <p:nvPr/>
        </p:nvSpPr>
        <p:spPr>
          <a:xfrm>
            <a:off x="667512" y="4882896"/>
            <a:ext cx="10853928" cy="73152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Dữ liệu tổng hợp: 600 mẫu, 3 đặc trưng độc lập đều trên [−3, 3];  y = 4 + 3x</a:t>
            </a:r>
            <a:pPr indent="0" marL="0">
              <a:buNone/>
            </a:pPr>
            <a:r>
              <a:rPr lang="en-US" sz="1400" baseline="-40000" dirty="0">
                <a:solidFill>
                  <a:srgbClr val="6B6B6B"/>
                </a:solidFill>
                <a:latin typeface="Arial" pitchFamily="34" charset="0"/>
                <a:ea typeface="Arial" pitchFamily="34" charset="-122"/>
                <a:cs typeface="Arial" pitchFamily="34" charset="-120"/>
              </a:rPr>
              <a:t>1</a:t>
            </a:r>
            <a:pPr indent="0" marL="0">
              <a:buNone/>
            </a:pPr>
            <a:r>
              <a:rPr lang="en-US" sz="1400" dirty="0">
                <a:solidFill>
                  <a:srgbClr val="6B6B6B"/>
                </a:solidFill>
                <a:latin typeface="Arial" pitchFamily="34" charset="0"/>
                <a:ea typeface="Arial" pitchFamily="34" charset="-122"/>
                <a:cs typeface="Arial" pitchFamily="34" charset="-120"/>
              </a:rPr>
              <a:t> − 2x</a:t>
            </a:r>
            <a:pPr indent="0" marL="0">
              <a:buNone/>
            </a:pPr>
            <a:r>
              <a:rPr lang="en-US" sz="1400" baseline="-40000" dirty="0">
                <a:solidFill>
                  <a:srgbClr val="6B6B6B"/>
                </a:solidFill>
                <a:latin typeface="Arial" pitchFamily="34" charset="0"/>
                <a:ea typeface="Arial" pitchFamily="34" charset="-122"/>
                <a:cs typeface="Arial" pitchFamily="34" charset="-120"/>
              </a:rPr>
              <a:t>2</a:t>
            </a:r>
            <a:pPr indent="0" marL="0">
              <a:buNone/>
            </a:pPr>
            <a:r>
              <a:rPr lang="en-US" sz="1400" dirty="0">
                <a:solidFill>
                  <a:srgbClr val="6B6B6B"/>
                </a:solidFill>
                <a:latin typeface="Arial" pitchFamily="34" charset="0"/>
                <a:ea typeface="Arial" pitchFamily="34" charset="-122"/>
                <a:cs typeface="Arial" pitchFamily="34" charset="-120"/>
              </a:rPr>
              <a:t> + 1.5x</a:t>
            </a:r>
            <a:pPr indent="0" marL="0">
              <a:buNone/>
            </a:pPr>
            <a:r>
              <a:rPr lang="en-US" sz="1400" baseline="-40000" dirty="0">
                <a:solidFill>
                  <a:srgbClr val="6B6B6B"/>
                </a:solidFill>
                <a:latin typeface="Arial" pitchFamily="34" charset="0"/>
                <a:ea typeface="Arial" pitchFamily="34" charset="-122"/>
                <a:cs typeface="Arial" pitchFamily="34" charset="-120"/>
              </a:rPr>
              <a:t>3</a:t>
            </a:r>
            <a:pPr indent="0" marL="0">
              <a:buNone/>
            </a:pPr>
            <a:r>
              <a:rPr lang="en-US" sz="1400" dirty="0">
                <a:solidFill>
                  <a:srgbClr val="6B6B6B"/>
                </a:solidFill>
                <a:latin typeface="Arial" pitchFamily="34" charset="0"/>
                <a:ea typeface="Arial" pitchFamily="34" charset="-122"/>
                <a:cs typeface="Arial" pitchFamily="34" charset="-120"/>
              </a:rPr>
              <a:t> + ε,  ε ~ N(0, 0.5</a:t>
            </a:r>
            <a:pPr indent="0" marL="0">
              <a:buNone/>
            </a:pPr>
            <a:r>
              <a:rPr lang="en-US" sz="1400" baseline="30000" dirty="0">
                <a:solidFill>
                  <a:srgbClr val="6B6B6B"/>
                </a:solidFill>
                <a:latin typeface="Arial" pitchFamily="34" charset="0"/>
                <a:ea typeface="Arial" pitchFamily="34" charset="-122"/>
                <a:cs typeface="Arial" pitchFamily="34" charset="-120"/>
              </a:rPr>
              <a:t>2</a:t>
            </a:r>
            <a:pPr indent="0" marL="0">
              <a:buNone/>
            </a:pPr>
            <a:r>
              <a:rPr lang="en-US" sz="1400" dirty="0">
                <a:solidFill>
                  <a:srgbClr val="6B6B6B"/>
                </a:solidFill>
                <a:latin typeface="Arial" pitchFamily="34" charset="0"/>
                <a:ea typeface="Arial" pitchFamily="34" charset="-122"/>
                <a:cs typeface="Arial" pitchFamily="34" charset="-120"/>
              </a:rPr>
              <a:t>).</a:t>
            </a:r>
            <a:endParaRPr lang="en-US" sz="140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CÂU 1 · HỒI QUY TUYẾN TÍNH</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Dẫn xuất gradient và vòng lặp Gradient Descent</a:t>
            </a:r>
            <a:endParaRPr lang="en-US" sz="2600" dirty="0"/>
          </a:p>
        </p:txBody>
      </p:sp>
      <p:sp>
        <p:nvSpPr>
          <p:cNvPr id="4" name="Text 2"/>
          <p:cNvSpPr txBox="1"/>
          <p:nvPr/>
        </p:nvSpPr>
        <p:spPr>
          <a:xfrm>
            <a:off x="667512" y="1682496"/>
            <a:ext cx="5852160" cy="274320"/>
          </a:xfrm>
          <a:prstGeom prst="rect">
            <a:avLst/>
          </a:prstGeom>
          <a:noFill/>
          <a:ln/>
        </p:spPr>
        <p:txBody>
          <a:bodyPr wrap="square" lIns="0" tIns="0" rIns="0" bIns="0" rtlCol="0" anchor="t"/>
          <a:lstStyle/>
          <a:p>
            <a:pPr indent="0" marL="0">
              <a:buNone/>
            </a:pPr>
            <a:r>
              <a:rPr lang="en-US" sz="1100" spc="140" kern="0" dirty="0">
                <a:solidFill>
                  <a:srgbClr val="6B6B6B"/>
                </a:solidFill>
                <a:latin typeface="Arial" pitchFamily="34" charset="0"/>
                <a:ea typeface="Arial" pitchFamily="34" charset="-122"/>
                <a:cs typeface="Arial" pitchFamily="34" charset="-120"/>
              </a:rPr>
              <a:t>Đạo hàm riêng</a:t>
            </a:r>
            <a:endParaRPr lang="en-US" sz="1100" dirty="0"/>
          </a:p>
        </p:txBody>
      </p:sp>
      <p:sp>
        <p:nvSpPr>
          <p:cNvPr id="5" name="Text 3"/>
          <p:cNvSpPr txBox="1"/>
          <p:nvPr/>
        </p:nvSpPr>
        <p:spPr>
          <a:xfrm>
            <a:off x="667512" y="1956816"/>
            <a:ext cx="6035040" cy="36576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đặt  e</a:t>
            </a:r>
            <a:pPr indent="0" marL="0">
              <a:buNone/>
            </a:pPr>
            <a:r>
              <a:rPr lang="en-US" sz="1800" baseline="-40000" dirty="0">
                <a:solidFill>
                  <a:srgbClr val="111111"/>
                </a:solidFill>
                <a:latin typeface="Arial" pitchFamily="34" charset="0"/>
                <a:ea typeface="Arial" pitchFamily="34" charset="-122"/>
                <a:cs typeface="Arial" pitchFamily="34" charset="-120"/>
              </a:rPr>
              <a:t>i</a:t>
            </a:r>
            <a:pPr indent="0" marL="0">
              <a:buNone/>
            </a:pPr>
            <a:r>
              <a:rPr lang="en-US" sz="1800" dirty="0">
                <a:solidFill>
                  <a:srgbClr val="111111"/>
                </a:solidFill>
                <a:latin typeface="Arial" pitchFamily="34" charset="0"/>
                <a:ea typeface="Arial" pitchFamily="34" charset="-122"/>
                <a:cs typeface="Arial" pitchFamily="34" charset="-120"/>
              </a:rPr>
              <a:t> = ŷ</a:t>
            </a:r>
            <a:pPr indent="0" marL="0">
              <a:buNone/>
            </a:pPr>
            <a:r>
              <a:rPr lang="en-US" sz="1800" baseline="-40000" dirty="0">
                <a:solidFill>
                  <a:srgbClr val="111111"/>
                </a:solidFill>
                <a:latin typeface="Arial" pitchFamily="34" charset="0"/>
                <a:ea typeface="Arial" pitchFamily="34" charset="-122"/>
                <a:cs typeface="Arial" pitchFamily="34" charset="-120"/>
              </a:rPr>
              <a:t>i</a:t>
            </a:r>
            <a:pPr indent="0" marL="0">
              <a:buNone/>
            </a:pPr>
            <a:r>
              <a:rPr lang="en-US" sz="1800" dirty="0">
                <a:solidFill>
                  <a:srgbClr val="111111"/>
                </a:solidFill>
                <a:latin typeface="Arial" pitchFamily="34" charset="0"/>
                <a:ea typeface="Arial" pitchFamily="34" charset="-122"/>
                <a:cs typeface="Arial" pitchFamily="34" charset="-120"/>
              </a:rPr>
              <a:t> − y</a:t>
            </a:r>
            <a:pPr indent="0" marL="0">
              <a:buNone/>
            </a:pPr>
            <a:r>
              <a:rPr lang="en-US" sz="1800" baseline="-40000" dirty="0">
                <a:solidFill>
                  <a:srgbClr val="111111"/>
                </a:solidFill>
                <a:latin typeface="Arial" pitchFamily="34" charset="0"/>
                <a:ea typeface="Arial" pitchFamily="34" charset="-122"/>
                <a:cs typeface="Arial" pitchFamily="34" charset="-120"/>
              </a:rPr>
              <a:t>i</a:t>
            </a:r>
            <a:pPr indent="0" marL="0">
              <a:buNone/>
            </a:pPr>
            <a:r>
              <a:rPr lang="en-US" sz="1800" dirty="0">
                <a:solidFill>
                  <a:srgbClr val="111111"/>
                </a:solidFill>
                <a:latin typeface="Arial" pitchFamily="34" charset="0"/>
                <a:ea typeface="Arial" pitchFamily="34" charset="-122"/>
                <a:cs typeface="Arial" pitchFamily="34" charset="-120"/>
              </a:rPr>
              <a:t>  ⇒  ∂e</a:t>
            </a:r>
            <a:pPr indent="0" marL="0">
              <a:buNone/>
            </a:pPr>
            <a:r>
              <a:rPr lang="en-US" sz="1800" baseline="-40000" dirty="0">
                <a:solidFill>
                  <a:srgbClr val="111111"/>
                </a:solidFill>
                <a:latin typeface="Arial" pitchFamily="34" charset="0"/>
                <a:ea typeface="Arial" pitchFamily="34" charset="-122"/>
                <a:cs typeface="Arial" pitchFamily="34" charset="-120"/>
              </a:rPr>
              <a:t>i</a:t>
            </a:r>
            <a:pPr indent="0" marL="0">
              <a:buNone/>
            </a:pPr>
            <a:r>
              <a:rPr lang="en-US" sz="1800" dirty="0">
                <a:solidFill>
                  <a:srgbClr val="111111"/>
                </a:solidFill>
                <a:latin typeface="Arial" pitchFamily="34" charset="0"/>
                <a:ea typeface="Arial" pitchFamily="34" charset="-122"/>
                <a:cs typeface="Arial" pitchFamily="34" charset="-120"/>
              </a:rPr>
              <a:t> / ∂w</a:t>
            </a:r>
            <a:pPr indent="0" marL="0">
              <a:buNone/>
            </a:pPr>
            <a:r>
              <a:rPr lang="en-US" sz="1800" baseline="-40000" dirty="0">
                <a:solidFill>
                  <a:srgbClr val="111111"/>
                </a:solidFill>
                <a:latin typeface="Arial" pitchFamily="34" charset="0"/>
                <a:ea typeface="Arial" pitchFamily="34" charset="-122"/>
                <a:cs typeface="Arial" pitchFamily="34" charset="-120"/>
              </a:rPr>
              <a:t>j</a:t>
            </a:r>
            <a:pPr indent="0" marL="0">
              <a:buNone/>
            </a:pPr>
            <a:r>
              <a:rPr lang="en-US" sz="1800" dirty="0">
                <a:solidFill>
                  <a:srgbClr val="111111"/>
                </a:solidFill>
                <a:latin typeface="Arial" pitchFamily="34" charset="0"/>
                <a:ea typeface="Arial" pitchFamily="34" charset="-122"/>
                <a:cs typeface="Arial" pitchFamily="34" charset="-120"/>
              </a:rPr>
              <a:t> = x</a:t>
            </a:r>
            <a:pPr indent="0" marL="0">
              <a:buNone/>
            </a:pPr>
            <a:r>
              <a:rPr lang="en-US" sz="1800" baseline="-40000" dirty="0">
                <a:solidFill>
                  <a:srgbClr val="111111"/>
                </a:solidFill>
                <a:latin typeface="Arial" pitchFamily="34" charset="0"/>
                <a:ea typeface="Arial" pitchFamily="34" charset="-122"/>
                <a:cs typeface="Arial" pitchFamily="34" charset="-120"/>
              </a:rPr>
              <a:t>ij</a:t>
            </a:r>
            <a:endParaRPr lang="en-US" sz="1800" dirty="0"/>
          </a:p>
        </p:txBody>
      </p:sp>
      <p:sp>
        <p:nvSpPr>
          <p:cNvPr id="6" name="Text 4"/>
          <p:cNvSpPr txBox="1"/>
          <p:nvPr/>
        </p:nvSpPr>
        <p:spPr>
          <a:xfrm>
            <a:off x="667512" y="2395728"/>
            <a:ext cx="6035040" cy="411480"/>
          </a:xfrm>
          <a:prstGeom prst="rect">
            <a:avLst/>
          </a:prstGeom>
          <a:noFill/>
          <a:ln/>
        </p:spPr>
        <p:txBody>
          <a:bodyPr wrap="square" lIns="0" tIns="0" rIns="0" bIns="0" rtlCol="0" anchor="t"/>
          <a:lstStyle/>
          <a:p>
            <a:pPr indent="0" marL="0">
              <a:buNone/>
            </a:pPr>
            <a:r>
              <a:rPr lang="en-US" sz="2000" dirty="0">
                <a:solidFill>
                  <a:srgbClr val="111111"/>
                </a:solidFill>
                <a:latin typeface="Arial" pitchFamily="34" charset="0"/>
                <a:ea typeface="Arial" pitchFamily="34" charset="-122"/>
                <a:cs typeface="Arial" pitchFamily="34" charset="-120"/>
              </a:rPr>
              <a:t>∂J/∂w</a:t>
            </a:r>
            <a:pPr indent="0" marL="0">
              <a:buNone/>
            </a:pPr>
            <a:r>
              <a:rPr lang="en-US" sz="2000" baseline="-40000" dirty="0">
                <a:solidFill>
                  <a:srgbClr val="111111"/>
                </a:solidFill>
                <a:latin typeface="Arial" pitchFamily="34" charset="0"/>
                <a:ea typeface="Arial" pitchFamily="34" charset="-122"/>
                <a:cs typeface="Arial" pitchFamily="34" charset="-120"/>
              </a:rPr>
              <a:t>j</a:t>
            </a:r>
            <a:pPr indent="0" marL="0">
              <a:buNone/>
            </a:pPr>
            <a:r>
              <a:rPr lang="en-US" sz="2000" dirty="0">
                <a:solidFill>
                  <a:srgbClr val="111111"/>
                </a:solidFill>
                <a:latin typeface="Arial" pitchFamily="34" charset="0"/>
                <a:ea typeface="Arial" pitchFamily="34" charset="-122"/>
                <a:cs typeface="Arial" pitchFamily="34" charset="-120"/>
              </a:rPr>
              <a:t> = (1/n) Σ</a:t>
            </a:r>
            <a:pPr indent="0" marL="0">
              <a:buNone/>
            </a:pPr>
            <a:r>
              <a:rPr lang="en-US" sz="2000" baseline="-40000" dirty="0">
                <a:solidFill>
                  <a:srgbClr val="111111"/>
                </a:solidFill>
                <a:latin typeface="Arial" pitchFamily="34" charset="0"/>
                <a:ea typeface="Arial" pitchFamily="34" charset="-122"/>
                <a:cs typeface="Arial" pitchFamily="34" charset="-120"/>
              </a:rPr>
              <a:t>i</a:t>
            </a:r>
            <a:pPr indent="0" marL="0">
              <a:buNone/>
            </a:pPr>
            <a:r>
              <a:rPr lang="en-US" sz="2000" dirty="0">
                <a:solidFill>
                  <a:srgbClr val="111111"/>
                </a:solidFill>
                <a:latin typeface="Arial" pitchFamily="34" charset="0"/>
                <a:ea typeface="Arial" pitchFamily="34" charset="-122"/>
                <a:cs typeface="Arial" pitchFamily="34" charset="-120"/>
              </a:rPr>
              <a:t> e</a:t>
            </a:r>
            <a:pPr indent="0" marL="0">
              <a:buNone/>
            </a:pPr>
            <a:r>
              <a:rPr lang="en-US" sz="2000" baseline="-40000" dirty="0">
                <a:solidFill>
                  <a:srgbClr val="111111"/>
                </a:solidFill>
                <a:latin typeface="Arial" pitchFamily="34" charset="0"/>
                <a:ea typeface="Arial" pitchFamily="34" charset="-122"/>
                <a:cs typeface="Arial" pitchFamily="34" charset="-120"/>
              </a:rPr>
              <a:t>i</a:t>
            </a:r>
            <a:pPr indent="0" marL="0">
              <a:buNone/>
            </a:pPr>
            <a:r>
              <a:rPr lang="en-US" sz="2000" dirty="0">
                <a:solidFill>
                  <a:srgbClr val="111111"/>
                </a:solidFill>
                <a:latin typeface="Arial" pitchFamily="34" charset="0"/>
                <a:ea typeface="Arial" pitchFamily="34" charset="-122"/>
                <a:cs typeface="Arial" pitchFamily="34" charset="-120"/>
              </a:rPr>
              <a:t>x</a:t>
            </a:r>
            <a:pPr indent="0" marL="0">
              <a:buNone/>
            </a:pPr>
            <a:r>
              <a:rPr lang="en-US" sz="2000" baseline="-40000" dirty="0">
                <a:solidFill>
                  <a:srgbClr val="111111"/>
                </a:solidFill>
                <a:latin typeface="Arial" pitchFamily="34" charset="0"/>
                <a:ea typeface="Arial" pitchFamily="34" charset="-122"/>
                <a:cs typeface="Arial" pitchFamily="34" charset="-120"/>
              </a:rPr>
              <a:t>ij</a:t>
            </a:r>
            <a:pPr indent="0" marL="0">
              <a:buNone/>
            </a:pPr>
            <a:r>
              <a:rPr lang="en-US" sz="2000" dirty="0">
                <a:solidFill>
                  <a:srgbClr val="111111"/>
                </a:solidFill>
                <a:latin typeface="Arial" pitchFamily="34" charset="0"/>
                <a:ea typeface="Arial" pitchFamily="34" charset="-122"/>
                <a:cs typeface="Arial" pitchFamily="34" charset="-120"/>
              </a:rPr>
              <a:t>        ∂J/∂b = (1/n) Σ</a:t>
            </a:r>
            <a:pPr indent="0" marL="0">
              <a:buNone/>
            </a:pPr>
            <a:r>
              <a:rPr lang="en-US" sz="2000" baseline="-40000" dirty="0">
                <a:solidFill>
                  <a:srgbClr val="111111"/>
                </a:solidFill>
                <a:latin typeface="Arial" pitchFamily="34" charset="0"/>
                <a:ea typeface="Arial" pitchFamily="34" charset="-122"/>
                <a:cs typeface="Arial" pitchFamily="34" charset="-120"/>
              </a:rPr>
              <a:t>i</a:t>
            </a:r>
            <a:pPr indent="0" marL="0">
              <a:buNone/>
            </a:pPr>
            <a:r>
              <a:rPr lang="en-US" sz="2000" dirty="0">
                <a:solidFill>
                  <a:srgbClr val="111111"/>
                </a:solidFill>
                <a:latin typeface="Arial" pitchFamily="34" charset="0"/>
                <a:ea typeface="Arial" pitchFamily="34" charset="-122"/>
                <a:cs typeface="Arial" pitchFamily="34" charset="-120"/>
              </a:rPr>
              <a:t> e</a:t>
            </a:r>
            <a:pPr indent="0" marL="0">
              <a:buNone/>
            </a:pPr>
            <a:r>
              <a:rPr lang="en-US" sz="2000" baseline="-40000" dirty="0">
                <a:solidFill>
                  <a:srgbClr val="111111"/>
                </a:solidFill>
                <a:latin typeface="Arial" pitchFamily="34" charset="0"/>
                <a:ea typeface="Arial" pitchFamily="34" charset="-122"/>
                <a:cs typeface="Arial" pitchFamily="34" charset="-120"/>
              </a:rPr>
              <a:t>i</a:t>
            </a:r>
            <a:endParaRPr lang="en-US" sz="2000" dirty="0"/>
          </a:p>
        </p:txBody>
      </p:sp>
      <p:sp>
        <p:nvSpPr>
          <p:cNvPr id="7" name="Text 5"/>
          <p:cNvSpPr txBox="1"/>
          <p:nvPr/>
        </p:nvSpPr>
        <p:spPr>
          <a:xfrm>
            <a:off x="667512" y="2889504"/>
            <a:ext cx="6035040" cy="411480"/>
          </a:xfrm>
          <a:prstGeom prst="rect">
            <a:avLst/>
          </a:prstGeom>
          <a:noFill/>
          <a:ln/>
        </p:spPr>
        <p:txBody>
          <a:bodyPr wrap="square" lIns="0" tIns="0" rIns="0" bIns="0" rtlCol="0" anchor="t"/>
          <a:lstStyle/>
          <a:p>
            <a:pPr indent="0" marL="0">
              <a:buNone/>
            </a:pPr>
            <a:r>
              <a:rPr lang="en-US" sz="2000" dirty="0">
                <a:solidFill>
                  <a:srgbClr val="111111"/>
                </a:solidFill>
                <a:latin typeface="Arial" pitchFamily="34" charset="0"/>
                <a:ea typeface="Arial" pitchFamily="34" charset="-122"/>
                <a:cs typeface="Arial" pitchFamily="34" charset="-120"/>
              </a:rPr>
              <a:t>∇</a:t>
            </a:r>
            <a:pPr indent="0" marL="0">
              <a:buNone/>
            </a:pPr>
            <a:r>
              <a:rPr lang="en-US" sz="2000" baseline="-40000" dirty="0">
                <a:solidFill>
                  <a:srgbClr val="111111"/>
                </a:solidFill>
                <a:latin typeface="Arial" pitchFamily="34" charset="0"/>
                <a:ea typeface="Arial" pitchFamily="34" charset="-122"/>
                <a:cs typeface="Arial" pitchFamily="34" charset="-120"/>
              </a:rPr>
              <a:t>w</a:t>
            </a:r>
            <a:pPr indent="0" marL="0">
              <a:buNone/>
            </a:pPr>
            <a:r>
              <a:rPr lang="en-US" sz="2000" dirty="0">
                <a:solidFill>
                  <a:srgbClr val="111111"/>
                </a:solidFill>
                <a:latin typeface="Arial" pitchFamily="34" charset="0"/>
                <a:ea typeface="Arial" pitchFamily="34" charset="-122"/>
                <a:cs typeface="Arial" pitchFamily="34" charset="-120"/>
              </a:rPr>
              <a:t>J = (1/n) X</a:t>
            </a:r>
            <a:pPr indent="0" marL="0">
              <a:buNone/>
            </a:pPr>
            <a:r>
              <a:rPr lang="en-US" sz="2000" baseline="30000" dirty="0">
                <a:solidFill>
                  <a:srgbClr val="111111"/>
                </a:solidFill>
                <a:latin typeface="Arial" pitchFamily="34" charset="0"/>
                <a:ea typeface="Arial" pitchFamily="34" charset="-122"/>
                <a:cs typeface="Arial" pitchFamily="34" charset="-120"/>
              </a:rPr>
              <a:t>T</a:t>
            </a:r>
            <a:pPr indent="0" marL="0">
              <a:buNone/>
            </a:pPr>
            <a:r>
              <a:rPr lang="en-US" sz="2000" dirty="0">
                <a:solidFill>
                  <a:srgbClr val="111111"/>
                </a:solidFill>
                <a:latin typeface="Arial" pitchFamily="34" charset="0"/>
                <a:ea typeface="Arial" pitchFamily="34" charset="-122"/>
                <a:cs typeface="Arial" pitchFamily="34" charset="-120"/>
              </a:rPr>
              <a:t>(ŷ − y)</a:t>
            </a:r>
            <a:endParaRPr lang="en-US" sz="2000" dirty="0"/>
          </a:p>
        </p:txBody>
      </p:sp>
      <p:sp>
        <p:nvSpPr>
          <p:cNvPr id="8" name="Text 6"/>
          <p:cNvSpPr txBox="1"/>
          <p:nvPr/>
        </p:nvSpPr>
        <p:spPr>
          <a:xfrm>
            <a:off x="667512" y="3493008"/>
            <a:ext cx="5852160" cy="274320"/>
          </a:xfrm>
          <a:prstGeom prst="rect">
            <a:avLst/>
          </a:prstGeom>
          <a:noFill/>
          <a:ln/>
        </p:spPr>
        <p:txBody>
          <a:bodyPr wrap="square" lIns="0" tIns="0" rIns="0" bIns="0" rtlCol="0" anchor="t"/>
          <a:lstStyle/>
          <a:p>
            <a:pPr indent="0" marL="0">
              <a:buNone/>
            </a:pPr>
            <a:r>
              <a:rPr lang="en-US" sz="1100" spc="140" kern="0" dirty="0">
                <a:solidFill>
                  <a:srgbClr val="6B6B6B"/>
                </a:solidFill>
                <a:latin typeface="Arial" pitchFamily="34" charset="0"/>
                <a:ea typeface="Arial" pitchFamily="34" charset="-122"/>
                <a:cs typeface="Arial" pitchFamily="34" charset="-120"/>
              </a:rPr>
              <a:t>Cập nhật đồng thời</a:t>
            </a:r>
            <a:endParaRPr lang="en-US" sz="1100" dirty="0"/>
          </a:p>
        </p:txBody>
      </p:sp>
      <p:sp>
        <p:nvSpPr>
          <p:cNvPr id="9" name="Text 7"/>
          <p:cNvSpPr txBox="1"/>
          <p:nvPr/>
        </p:nvSpPr>
        <p:spPr>
          <a:xfrm>
            <a:off x="667512" y="3767328"/>
            <a:ext cx="6309360" cy="457200"/>
          </a:xfrm>
          <a:prstGeom prst="rect">
            <a:avLst/>
          </a:prstGeom>
          <a:noFill/>
          <a:ln/>
        </p:spPr>
        <p:txBody>
          <a:bodyPr wrap="square" lIns="0" tIns="0" rIns="0" bIns="0" rtlCol="0" anchor="t"/>
          <a:lstStyle/>
          <a:p>
            <a:pPr indent="0" marL="0">
              <a:buNone/>
            </a:pPr>
            <a:r>
              <a:rPr lang="en-US" sz="2000" dirty="0">
                <a:solidFill>
                  <a:srgbClr val="111111"/>
                </a:solidFill>
                <a:latin typeface="Arial" pitchFamily="34" charset="0"/>
                <a:ea typeface="Arial" pitchFamily="34" charset="-122"/>
                <a:cs typeface="Arial" pitchFamily="34" charset="-120"/>
              </a:rPr>
              <a:t>w</a:t>
            </a:r>
            <a:pPr indent="0" marL="0">
              <a:buNone/>
            </a:pPr>
            <a:r>
              <a:rPr lang="en-US" sz="2000" baseline="30000" dirty="0">
                <a:solidFill>
                  <a:srgbClr val="111111"/>
                </a:solidFill>
                <a:latin typeface="Arial" pitchFamily="34" charset="0"/>
                <a:ea typeface="Arial" pitchFamily="34" charset="-122"/>
                <a:cs typeface="Arial" pitchFamily="34" charset="-120"/>
              </a:rPr>
              <a:t>(t+1)</a:t>
            </a:r>
            <a:pPr indent="0" marL="0">
              <a:buNone/>
            </a:pPr>
            <a:r>
              <a:rPr lang="en-US" sz="2000" dirty="0">
                <a:solidFill>
                  <a:srgbClr val="111111"/>
                </a:solidFill>
                <a:latin typeface="Arial" pitchFamily="34" charset="0"/>
                <a:ea typeface="Arial" pitchFamily="34" charset="-122"/>
                <a:cs typeface="Arial" pitchFamily="34" charset="-120"/>
              </a:rPr>
              <a:t> = w</a:t>
            </a:r>
            <a:pPr indent="0" marL="0">
              <a:buNone/>
            </a:pPr>
            <a:r>
              <a:rPr lang="en-US" sz="2000" baseline="30000" dirty="0">
                <a:solidFill>
                  <a:srgbClr val="111111"/>
                </a:solidFill>
                <a:latin typeface="Arial" pitchFamily="34" charset="0"/>
                <a:ea typeface="Arial" pitchFamily="34" charset="-122"/>
                <a:cs typeface="Arial" pitchFamily="34" charset="-120"/>
              </a:rPr>
              <a:t>(t)</a:t>
            </a:r>
            <a:pPr indent="0" marL="0">
              <a:buNone/>
            </a:pPr>
            <a:r>
              <a:rPr lang="en-US" sz="2000" dirty="0">
                <a:solidFill>
                  <a:srgbClr val="111111"/>
                </a:solidFill>
                <a:latin typeface="Arial" pitchFamily="34" charset="0"/>
                <a:ea typeface="Arial" pitchFamily="34" charset="-122"/>
                <a:cs typeface="Arial" pitchFamily="34" charset="-120"/>
              </a:rPr>
              <a:t> − η · (1/n) X</a:t>
            </a:r>
            <a:pPr indent="0" marL="0">
              <a:buNone/>
            </a:pPr>
            <a:r>
              <a:rPr lang="en-US" sz="2000" baseline="30000" dirty="0">
                <a:solidFill>
                  <a:srgbClr val="111111"/>
                </a:solidFill>
                <a:latin typeface="Arial" pitchFamily="34" charset="0"/>
                <a:ea typeface="Arial" pitchFamily="34" charset="-122"/>
                <a:cs typeface="Arial" pitchFamily="34" charset="-120"/>
              </a:rPr>
              <a:t>T</a:t>
            </a:r>
            <a:pPr indent="0" marL="0">
              <a:buNone/>
            </a:pPr>
            <a:r>
              <a:rPr lang="en-US" sz="2000" dirty="0">
                <a:solidFill>
                  <a:srgbClr val="111111"/>
                </a:solidFill>
                <a:latin typeface="Arial" pitchFamily="34" charset="0"/>
                <a:ea typeface="Arial" pitchFamily="34" charset="-122"/>
                <a:cs typeface="Arial" pitchFamily="34" charset="-120"/>
              </a:rPr>
              <a:t>e</a:t>
            </a:r>
            <a:pPr indent="0" marL="0">
              <a:buNone/>
            </a:pPr>
            <a:r>
              <a:rPr lang="en-US" sz="2000" baseline="30000" dirty="0">
                <a:solidFill>
                  <a:srgbClr val="111111"/>
                </a:solidFill>
                <a:latin typeface="Arial" pitchFamily="34" charset="0"/>
                <a:ea typeface="Arial" pitchFamily="34" charset="-122"/>
                <a:cs typeface="Arial" pitchFamily="34" charset="-120"/>
              </a:rPr>
              <a:t>(t)</a:t>
            </a:r>
            <a:endParaRPr lang="en-US" sz="2000" dirty="0"/>
          </a:p>
        </p:txBody>
      </p:sp>
      <p:sp>
        <p:nvSpPr>
          <p:cNvPr id="10" name="Shape 8"/>
          <p:cNvSpPr/>
          <p:nvPr/>
        </p:nvSpPr>
        <p:spPr>
          <a:xfrm>
            <a:off x="6355080" y="1627632"/>
            <a:ext cx="0" cy="2788920"/>
          </a:xfrm>
          <a:prstGeom prst="line">
            <a:avLst/>
          </a:prstGeom>
          <a:noFill/>
          <a:ln w="9525">
            <a:solidFill>
              <a:srgbClr val="D5D5D5"/>
            </a:solidFill>
            <a:prstDash val="solid"/>
          </a:ln>
        </p:spPr>
      </p:sp>
      <p:sp>
        <p:nvSpPr>
          <p:cNvPr id="11" name="Text 9"/>
          <p:cNvSpPr txBox="1"/>
          <p:nvPr/>
        </p:nvSpPr>
        <p:spPr>
          <a:xfrm>
            <a:off x="6629400" y="1627632"/>
            <a:ext cx="4892040" cy="4517136"/>
          </a:xfrm>
          <a:prstGeom prst="rect">
            <a:avLst/>
          </a:prstGeom>
          <a:noFill/>
          <a:ln/>
        </p:spPr>
        <p:txBody>
          <a:bodyPr wrap="square" lIns="0" tIns="0" rIns="0" bIns="0" rtlCol="0" anchor="t"/>
          <a:lstStyle/>
          <a:p>
            <a:pPr marL="342900" indent="-342900">
              <a:lnSpc>
                <a:spcPct val="106000"/>
              </a:lnSpc>
              <a:spcAft>
                <a:spcPts val="1500"/>
              </a:spcAft>
              <a:buSzPct val="100000"/>
              <a:buChar char="–"/>
            </a:pPr>
            <a:r>
              <a:rPr lang="en-US" sz="1700" dirty="0">
                <a:solidFill>
                  <a:srgbClr val="111111"/>
                </a:solidFill>
                <a:latin typeface="Arial" pitchFamily="34" charset="0"/>
                <a:ea typeface="Arial" pitchFamily="34" charset="-122"/>
                <a:cs typeface="Arial" pitchFamily="34" charset="-120"/>
              </a:rPr>
              <a:t>Khởi tạo </a:t>
            </a:r>
            <a:endParaRPr lang="en-US" sz="1700" dirty="0"/>
          </a:p>
          <a:p>
            <a:pPr marL="342900" indent="-342900">
              <a:lnSpc>
                <a:spcPct val="106000"/>
              </a:lnSpc>
              <a:spcAft>
                <a:spcPts val="1500"/>
              </a:spcAft>
              <a:buSzPct val="100000"/>
              <a:buChar char="–"/>
            </a:pPr>
            <a:r>
              <a:rPr lang="en-US" sz="1700" b="1" dirty="0">
                <a:solidFill>
                  <a:srgbClr val="111111"/>
                </a:solidFill>
                <a:latin typeface="Arial" pitchFamily="34" charset="0"/>
                <a:ea typeface="Arial" pitchFamily="34" charset="-122"/>
                <a:cs typeface="Arial" pitchFamily="34" charset="-120"/>
              </a:rPr>
              <a:t>w = 0, b = 0</a:t>
            </a:r>
            <a:endParaRPr lang="en-US" sz="1700" dirty="0"/>
          </a:p>
          <a:p>
            <a:pPr marL="342900" indent="-342900">
              <a:lnSpc>
                <a:spcPct val="106000"/>
              </a:lnSpc>
              <a:spcAft>
                <a:spcPts val="1500"/>
              </a:spcAft>
              <a:buSzPct val="100000"/>
              <a:buChar char="–"/>
            </a:pPr>
            <a:r>
              <a:rPr lang="en-US" sz="1700" dirty="0">
                <a:solidFill>
                  <a:srgbClr val="111111"/>
                </a:solidFill>
                <a:latin typeface="Arial" pitchFamily="34" charset="0"/>
                <a:ea typeface="Arial" pitchFamily="34" charset="-122"/>
                <a:cs typeface="Arial" pitchFamily="34" charset="-120"/>
              </a:rPr>
              <a:t>; tốc độ học </a:t>
            </a:r>
            <a:endParaRPr lang="en-US" sz="1700" dirty="0"/>
          </a:p>
          <a:p>
            <a:pPr marL="342900" indent="-342900">
              <a:lnSpc>
                <a:spcPct val="106000"/>
              </a:lnSpc>
              <a:spcAft>
                <a:spcPts val="1500"/>
              </a:spcAft>
              <a:buSzPct val="100000"/>
              <a:buChar char="–"/>
            </a:pPr>
            <a:r>
              <a:rPr lang="en-US" sz="1700" b="1" dirty="0">
                <a:solidFill>
                  <a:srgbClr val="111111"/>
                </a:solidFill>
                <a:latin typeface="Arial" pitchFamily="34" charset="0"/>
                <a:ea typeface="Arial" pitchFamily="34" charset="-122"/>
                <a:cs typeface="Arial" pitchFamily="34" charset="-120"/>
              </a:rPr>
              <a:t>η = 0.3</a:t>
            </a:r>
            <a:endParaRPr lang="en-US" sz="1700" dirty="0"/>
          </a:p>
          <a:p>
            <a:pPr marL="342900" indent="-342900">
              <a:lnSpc>
                <a:spcPct val="106000"/>
              </a:lnSpc>
              <a:spcAft>
                <a:spcPts val="1500"/>
              </a:spcAft>
              <a:buSzPct val="100000"/>
              <a:buChar char="–"/>
            </a:pPr>
            <a:r>
              <a:rPr lang="en-US" sz="1700" dirty="0">
                <a:solidFill>
                  <a:srgbClr val="111111"/>
                </a:solidFill>
                <a:latin typeface="Arial" pitchFamily="34" charset="0"/>
                <a:ea typeface="Arial" pitchFamily="34" charset="-122"/>
                <a:cs typeface="Arial" pitchFamily="34" charset="-120"/>
              </a:rPr>
              <a:t>Dừng khi </a:t>
            </a:r>
            <a:endParaRPr lang="en-US" sz="1700" dirty="0"/>
          </a:p>
          <a:p>
            <a:pPr marL="342900" indent="-342900">
              <a:lnSpc>
                <a:spcPct val="106000"/>
              </a:lnSpc>
              <a:spcAft>
                <a:spcPts val="1500"/>
              </a:spcAft>
              <a:buSzPct val="100000"/>
              <a:buChar char="–"/>
            </a:pPr>
            <a:r>
              <a:rPr lang="en-US" sz="1700" b="1" dirty="0">
                <a:solidFill>
                  <a:srgbClr val="111111"/>
                </a:solidFill>
                <a:latin typeface="Arial" pitchFamily="34" charset="0"/>
                <a:ea typeface="Arial" pitchFamily="34" charset="-122"/>
                <a:cs typeface="Arial" pitchFamily="34" charset="-120"/>
              </a:rPr>
              <a:t>chuẩn gradient ≤ 10</a:t>
            </a:r>
            <a:endParaRPr lang="en-US" sz="1700" dirty="0"/>
          </a:p>
          <a:p>
            <a:pPr marL="342900" indent="-342900">
              <a:lnSpc>
                <a:spcPct val="106000"/>
              </a:lnSpc>
              <a:spcAft>
                <a:spcPts val="1500"/>
              </a:spcAft>
              <a:buSzPct val="100000"/>
              <a:buChar char="–"/>
            </a:pPr>
            <a:r>
              <a:rPr lang="en-US" sz="1700" baseline="30000" dirty="0">
                <a:solidFill>
                  <a:srgbClr val="111111"/>
                </a:solidFill>
                <a:latin typeface="Arial" pitchFamily="34" charset="0"/>
                <a:ea typeface="Arial" pitchFamily="34" charset="-122"/>
                <a:cs typeface="Arial" pitchFamily="34" charset="-120"/>
              </a:rPr>
              <a:t>−8</a:t>
            </a:r>
            <a:endParaRPr lang="en-US" sz="1700" dirty="0"/>
          </a:p>
          <a:p>
            <a:pPr marL="342900" indent="-342900">
              <a:lnSpc>
                <a:spcPct val="106000"/>
              </a:lnSpc>
              <a:spcAft>
                <a:spcPts val="1500"/>
              </a:spcAft>
              <a:buSzPct val="100000"/>
              <a:buChar char="–"/>
            </a:pPr>
            <a:r>
              <a:rPr lang="en-US" sz="1700" dirty="0">
                <a:solidFill>
                  <a:srgbClr val="111111"/>
                </a:solidFill>
                <a:latin typeface="Arial" pitchFamily="34" charset="0"/>
                <a:ea typeface="Arial" pitchFamily="34" charset="-122"/>
                <a:cs typeface="Arial" pitchFamily="34" charset="-120"/>
              </a:rPr>
              <a:t> — chỉ dùng dữ liệu huấn luyện</a:t>
            </a:r>
            <a:endParaRPr lang="en-US" sz="1700" dirty="0"/>
          </a:p>
          <a:p>
            <a:pPr marL="342900" indent="-342900">
              <a:lnSpc>
                <a:spcPct val="106000"/>
              </a:lnSpc>
              <a:spcAft>
                <a:spcPts val="1500"/>
              </a:spcAft>
              <a:buSzPct val="100000"/>
              <a:buChar char="–"/>
            </a:pPr>
            <a:r>
              <a:rPr lang="en-US" sz="1700" dirty="0">
                <a:solidFill>
                  <a:srgbClr val="111111"/>
                </a:solidFill>
                <a:latin typeface="Arial" pitchFamily="34" charset="0"/>
                <a:ea typeface="Arial" pitchFamily="34" charset="-122"/>
                <a:cs typeface="Arial" pitchFamily="34" charset="-120"/>
              </a:rPr>
              <a:t>Hội tụ sau </a:t>
            </a:r>
            <a:endParaRPr lang="en-US" sz="1700" dirty="0"/>
          </a:p>
          <a:p>
            <a:pPr marL="342900" indent="-342900">
              <a:lnSpc>
                <a:spcPct val="106000"/>
              </a:lnSpc>
              <a:spcAft>
                <a:spcPts val="1500"/>
              </a:spcAft>
              <a:buSzPct val="100000"/>
              <a:buChar char="–"/>
            </a:pPr>
            <a:r>
              <a:rPr lang="en-US" sz="1700" b="1" dirty="0">
                <a:solidFill>
                  <a:srgbClr val="111111"/>
                </a:solidFill>
                <a:latin typeface="Arial" pitchFamily="34" charset="0"/>
                <a:ea typeface="Arial" pitchFamily="34" charset="-122"/>
                <a:cs typeface="Arial" pitchFamily="34" charset="-120"/>
              </a:rPr>
              <a:t>1175 vòng</a:t>
            </a:r>
            <a:endParaRPr lang="en-US" sz="1700" dirty="0"/>
          </a:p>
          <a:p>
            <a:pPr marL="342900" indent="-342900">
              <a:lnSpc>
                <a:spcPct val="106000"/>
              </a:lnSpc>
              <a:spcAft>
                <a:spcPts val="1500"/>
              </a:spcAft>
              <a:buSzPct val="100000"/>
              <a:buChar char="–"/>
            </a:pPr>
            <a:r>
              <a:rPr lang="en-US" sz="1700" dirty="0">
                <a:solidFill>
                  <a:srgbClr val="111111"/>
                </a:solidFill>
                <a:latin typeface="Arial" pitchFamily="34" charset="0"/>
                <a:ea typeface="Arial" pitchFamily="34" charset="-122"/>
                <a:cs typeface="Arial" pitchFamily="34" charset="-120"/>
              </a:rPr>
              <a:t> trên 480 mẫu train</a:t>
            </a:r>
            <a:endParaRPr lang="en-US" sz="1700" dirty="0"/>
          </a:p>
          <a:p>
            <a:pPr marL="342900" indent="-342900">
              <a:lnSpc>
                <a:spcPct val="106000"/>
              </a:lnSpc>
              <a:spcAft>
                <a:spcPts val="1500"/>
              </a:spcAft>
              <a:buSzPct val="100000"/>
              <a:buChar char="–"/>
            </a:pPr>
            <a:r>
              <a:rPr lang="en-US" sz="1700" dirty="0">
                <a:solidFill>
                  <a:srgbClr val="111111"/>
                </a:solidFill>
                <a:latin typeface="Arial" pitchFamily="34" charset="0"/>
                <a:ea typeface="Arial" pitchFamily="34" charset="-122"/>
                <a:cs typeface="Arial" pitchFamily="34" charset="-120"/>
              </a:rPr>
              <a:t>Gradient được kiểm chứng bằng </a:t>
            </a:r>
            <a:endParaRPr lang="en-US" sz="1700" dirty="0"/>
          </a:p>
          <a:p>
            <a:pPr marL="342900" indent="-342900">
              <a:lnSpc>
                <a:spcPct val="106000"/>
              </a:lnSpc>
              <a:spcAft>
                <a:spcPts val="1500"/>
              </a:spcAft>
              <a:buSzPct val="100000"/>
              <a:buChar char="–"/>
            </a:pPr>
            <a:r>
              <a:rPr lang="en-US" sz="1700" b="1" dirty="0">
                <a:solidFill>
                  <a:srgbClr val="111111"/>
                </a:solidFill>
                <a:latin typeface="Arial" pitchFamily="34" charset="0"/>
                <a:ea typeface="Arial" pitchFamily="34" charset="-122"/>
                <a:cs typeface="Arial" pitchFamily="34" charset="-120"/>
              </a:rPr>
              <a:t>sai phân trung tâm</a:t>
            </a:r>
            <a:endParaRPr lang="en-US" sz="1700" dirty="0"/>
          </a:p>
          <a:p>
            <a:pPr marL="342900" indent="-342900">
              <a:lnSpc>
                <a:spcPct val="106000"/>
              </a:lnSpc>
              <a:spcAft>
                <a:spcPts val="1500"/>
              </a:spcAft>
              <a:buSzPct val="100000"/>
              <a:buChar char="–"/>
            </a:pPr>
            <a:r>
              <a:rPr lang="en-US" sz="1700" dirty="0">
                <a:solidFill>
                  <a:srgbClr val="111111"/>
                </a:solidFill>
                <a:latin typeface="Arial" pitchFamily="34" charset="0"/>
                <a:ea typeface="Arial" pitchFamily="34" charset="-122"/>
                <a:cs typeface="Arial" pitchFamily="34" charset="-120"/>
              </a:rPr>
              <a:t>, dung sai 10</a:t>
            </a:r>
            <a:endParaRPr lang="en-US" sz="1700" dirty="0"/>
          </a:p>
          <a:p>
            <a:pPr marL="342900" indent="-342900">
              <a:lnSpc>
                <a:spcPct val="106000"/>
              </a:lnSpc>
              <a:spcAft>
                <a:spcPts val="1500"/>
              </a:spcAft>
              <a:buSzPct val="100000"/>
              <a:buChar char="–"/>
            </a:pPr>
            <a:r>
              <a:rPr lang="en-US" sz="1700" baseline="30000" dirty="0">
                <a:solidFill>
                  <a:srgbClr val="111111"/>
                </a:solidFill>
                <a:latin typeface="Arial" pitchFamily="34" charset="0"/>
                <a:ea typeface="Arial" pitchFamily="34" charset="-122"/>
                <a:cs typeface="Arial" pitchFamily="34" charset="-120"/>
              </a:rPr>
              <a:t>−6</a:t>
            </a:r>
            <a:endParaRPr lang="en-US" sz="1700" dirty="0"/>
          </a:p>
        </p:txBody>
      </p:sp>
      <p:sp>
        <p:nvSpPr>
          <p:cNvPr id="12" name="Text 10"/>
          <p:cNvSpPr txBox="1"/>
          <p:nvPr/>
        </p:nvSpPr>
        <p:spPr>
          <a:xfrm>
            <a:off x="667512" y="4617720"/>
            <a:ext cx="6309360" cy="822960"/>
          </a:xfrm>
          <a:prstGeom prst="rect">
            <a:avLst/>
          </a:prstGeom>
          <a:noFill/>
          <a:ln/>
        </p:spPr>
        <p:txBody>
          <a:bodyPr wrap="square" lIns="0" tIns="0" rIns="0" bIns="0" rtlCol="0" anchor="t"/>
          <a:lstStyle/>
          <a:p>
            <a:pPr algn="l" indent="0" marL="0">
              <a:lnSpc>
                <a:spcPct val="130000"/>
              </a:lnSpc>
              <a:buNone/>
            </a:pPr>
            <a:r>
              <a:rPr lang="en-US" sz="1400" dirty="0">
                <a:solidFill>
                  <a:srgbClr val="6B6B6B"/>
                </a:solidFill>
                <a:latin typeface="Arial" pitchFamily="34" charset="0"/>
                <a:ea typeface="Arial" pitchFamily="34" charset="-122"/>
                <a:cs typeface="Arial" pitchFamily="34" charset="-120"/>
              </a:rPr>
              <a:t>Cả hai gradient được tính trước khi cập nhật tham số (full-batch). Không bao giờ dùng chỉ số test để quyết định dừng.</a:t>
            </a:r>
            <a:endParaRPr lang="en-US" sz="140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CÂU 1 · HỒI QUY LOGISTIC</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Xác suất, cross-entropy và gradient</a:t>
            </a:r>
            <a:endParaRPr lang="en-US" sz="2600" dirty="0"/>
          </a:p>
        </p:txBody>
      </p:sp>
      <p:sp>
        <p:nvSpPr>
          <p:cNvPr id="4" name="Text 2"/>
          <p:cNvSpPr txBox="1"/>
          <p:nvPr/>
        </p:nvSpPr>
        <p:spPr>
          <a:xfrm>
            <a:off x="667512" y="1682496"/>
            <a:ext cx="5852160" cy="274320"/>
          </a:xfrm>
          <a:prstGeom prst="rect">
            <a:avLst/>
          </a:prstGeom>
          <a:noFill/>
          <a:ln/>
        </p:spPr>
        <p:txBody>
          <a:bodyPr wrap="square" lIns="0" tIns="0" rIns="0" bIns="0" rtlCol="0" anchor="t"/>
          <a:lstStyle/>
          <a:p>
            <a:pPr indent="0" marL="0">
              <a:buNone/>
            </a:pPr>
            <a:r>
              <a:rPr lang="en-US" sz="1100" spc="140" kern="0" dirty="0">
                <a:solidFill>
                  <a:srgbClr val="6B6B6B"/>
                </a:solidFill>
                <a:latin typeface="Arial" pitchFamily="34" charset="0"/>
                <a:ea typeface="Arial" pitchFamily="34" charset="-122"/>
                <a:cs typeface="Arial" pitchFamily="34" charset="-120"/>
              </a:rPr>
              <a:t>Mô hình xác suất</a:t>
            </a:r>
            <a:endParaRPr lang="en-US" sz="1100" dirty="0"/>
          </a:p>
        </p:txBody>
      </p:sp>
      <p:sp>
        <p:nvSpPr>
          <p:cNvPr id="5" name="Text 3"/>
          <p:cNvSpPr txBox="1"/>
          <p:nvPr/>
        </p:nvSpPr>
        <p:spPr>
          <a:xfrm>
            <a:off x="667512" y="1956816"/>
            <a:ext cx="6583680" cy="411480"/>
          </a:xfrm>
          <a:prstGeom prst="rect">
            <a:avLst/>
          </a:prstGeom>
          <a:noFill/>
          <a:ln/>
        </p:spPr>
        <p:txBody>
          <a:bodyPr wrap="square" lIns="0" tIns="0" rIns="0" bIns="0" rtlCol="0" anchor="t"/>
          <a:lstStyle/>
          <a:p>
            <a:pPr indent="0" marL="0">
              <a:buNone/>
            </a:pPr>
            <a:r>
              <a:rPr lang="en-US" sz="2100" dirty="0">
                <a:solidFill>
                  <a:srgbClr val="111111"/>
                </a:solidFill>
                <a:latin typeface="Arial" pitchFamily="34" charset="0"/>
                <a:ea typeface="Arial" pitchFamily="34" charset="-122"/>
                <a:cs typeface="Arial" pitchFamily="34" charset="-120"/>
              </a:rPr>
              <a:t>z = w</a:t>
            </a:r>
            <a:pPr indent="0" marL="0">
              <a:buNone/>
            </a:pPr>
            <a:r>
              <a:rPr lang="en-US" sz="2100" baseline="30000" dirty="0">
                <a:solidFill>
                  <a:srgbClr val="111111"/>
                </a:solidFill>
                <a:latin typeface="Arial" pitchFamily="34" charset="0"/>
                <a:ea typeface="Arial" pitchFamily="34" charset="-122"/>
                <a:cs typeface="Arial" pitchFamily="34" charset="-120"/>
              </a:rPr>
              <a:t>T</a:t>
            </a:r>
            <a:pPr indent="0" marL="0">
              <a:buNone/>
            </a:pPr>
            <a:r>
              <a:rPr lang="en-US" sz="2100" dirty="0">
                <a:solidFill>
                  <a:srgbClr val="111111"/>
                </a:solidFill>
                <a:latin typeface="Arial" pitchFamily="34" charset="0"/>
                <a:ea typeface="Arial" pitchFamily="34" charset="-122"/>
                <a:cs typeface="Arial" pitchFamily="34" charset="-120"/>
              </a:rPr>
              <a:t>x + b     ⇒     p = σ(z) = 1 / (1 + e</a:t>
            </a:r>
            <a:pPr indent="0" marL="0">
              <a:buNone/>
            </a:pPr>
            <a:r>
              <a:rPr lang="en-US" sz="2100" baseline="30000" dirty="0">
                <a:solidFill>
                  <a:srgbClr val="111111"/>
                </a:solidFill>
                <a:latin typeface="Arial" pitchFamily="34" charset="0"/>
                <a:ea typeface="Arial" pitchFamily="34" charset="-122"/>
                <a:cs typeface="Arial" pitchFamily="34" charset="-120"/>
              </a:rPr>
              <a:t>−z</a:t>
            </a:r>
            <a:pPr indent="0" marL="0">
              <a:buNone/>
            </a:pPr>
            <a:r>
              <a:rPr lang="en-US" sz="2100" dirty="0">
                <a:solidFill>
                  <a:srgbClr val="111111"/>
                </a:solidFill>
                <a:latin typeface="Arial" pitchFamily="34" charset="0"/>
                <a:ea typeface="Arial" pitchFamily="34" charset="-122"/>
                <a:cs typeface="Arial" pitchFamily="34" charset="-120"/>
              </a:rPr>
              <a:t>)</a:t>
            </a:r>
            <a:endParaRPr lang="en-US" sz="2100" dirty="0"/>
          </a:p>
        </p:txBody>
      </p:sp>
      <p:sp>
        <p:nvSpPr>
          <p:cNvPr id="6" name="Text 4"/>
          <p:cNvSpPr txBox="1"/>
          <p:nvPr/>
        </p:nvSpPr>
        <p:spPr>
          <a:xfrm>
            <a:off x="667512" y="2487168"/>
            <a:ext cx="6400800" cy="365760"/>
          </a:xfrm>
          <a:prstGeom prst="rect">
            <a:avLst/>
          </a:prstGeom>
          <a:noFill/>
          <a:ln/>
        </p:spPr>
        <p:txBody>
          <a:bodyPr wrap="square" lIns="0" tIns="0" rIns="0" bIns="0" rtlCol="0" anchor="t"/>
          <a:lstStyle/>
          <a:p>
            <a:pPr indent="0" marL="0">
              <a:buNone/>
            </a:pPr>
            <a:r>
              <a:rPr lang="en-US" sz="1700" dirty="0">
                <a:solidFill>
                  <a:srgbClr val="6B6B6B"/>
                </a:solidFill>
                <a:latin typeface="Arial" pitchFamily="34" charset="0"/>
                <a:ea typeface="Arial" pitchFamily="34" charset="-122"/>
                <a:cs typeface="Arial" pitchFamily="34" charset="-120"/>
              </a:rPr>
              <a:t>log (p / (1 − p)) = w</a:t>
            </a:r>
            <a:pPr indent="0" marL="0">
              <a:buNone/>
            </a:pPr>
            <a:r>
              <a:rPr lang="en-US" sz="1700" baseline="30000" dirty="0">
                <a:solidFill>
                  <a:srgbClr val="6B6B6B"/>
                </a:solidFill>
                <a:latin typeface="Arial" pitchFamily="34" charset="0"/>
                <a:ea typeface="Arial" pitchFamily="34" charset="-122"/>
                <a:cs typeface="Arial" pitchFamily="34" charset="-120"/>
              </a:rPr>
              <a:t>T</a:t>
            </a:r>
            <a:pPr indent="0" marL="0">
              <a:buNone/>
            </a:pPr>
            <a:r>
              <a:rPr lang="en-US" sz="1700" dirty="0">
                <a:solidFill>
                  <a:srgbClr val="6B6B6B"/>
                </a:solidFill>
                <a:latin typeface="Arial" pitchFamily="34" charset="0"/>
                <a:ea typeface="Arial" pitchFamily="34" charset="-122"/>
                <a:cs typeface="Arial" pitchFamily="34" charset="-120"/>
              </a:rPr>
              <a:t>x + b   →   biên quyết định tuyến tính</a:t>
            </a:r>
            <a:endParaRPr lang="en-US" sz="1700" dirty="0"/>
          </a:p>
        </p:txBody>
      </p:sp>
      <p:sp>
        <p:nvSpPr>
          <p:cNvPr id="7" name="Text 5"/>
          <p:cNvSpPr txBox="1"/>
          <p:nvPr/>
        </p:nvSpPr>
        <p:spPr>
          <a:xfrm>
            <a:off x="667512" y="3054096"/>
            <a:ext cx="5852160" cy="274320"/>
          </a:xfrm>
          <a:prstGeom prst="rect">
            <a:avLst/>
          </a:prstGeom>
          <a:noFill/>
          <a:ln/>
        </p:spPr>
        <p:txBody>
          <a:bodyPr wrap="square" lIns="0" tIns="0" rIns="0" bIns="0" rtlCol="0" anchor="t"/>
          <a:lstStyle/>
          <a:p>
            <a:pPr indent="0" marL="0">
              <a:buNone/>
            </a:pPr>
            <a:r>
              <a:rPr lang="en-US" sz="1100" spc="140" kern="0" dirty="0">
                <a:solidFill>
                  <a:srgbClr val="6B6B6B"/>
                </a:solidFill>
                <a:latin typeface="Arial" pitchFamily="34" charset="0"/>
                <a:ea typeface="Arial" pitchFamily="34" charset="-122"/>
                <a:cs typeface="Arial" pitchFamily="34" charset="-120"/>
              </a:rPr>
              <a:t>Mất mát: cross-entropy nhị phân</a:t>
            </a:r>
            <a:endParaRPr lang="en-US" sz="1100" dirty="0"/>
          </a:p>
        </p:txBody>
      </p:sp>
      <p:sp>
        <p:nvSpPr>
          <p:cNvPr id="8" name="Text 6"/>
          <p:cNvSpPr txBox="1"/>
          <p:nvPr/>
        </p:nvSpPr>
        <p:spPr>
          <a:xfrm>
            <a:off x="667512" y="3328416"/>
            <a:ext cx="6583680" cy="457200"/>
          </a:xfrm>
          <a:prstGeom prst="rect">
            <a:avLst/>
          </a:prstGeom>
          <a:noFill/>
          <a:ln/>
        </p:spPr>
        <p:txBody>
          <a:bodyPr wrap="square" lIns="0" tIns="0" rIns="0" bIns="0" rtlCol="0" anchor="t"/>
          <a:lstStyle/>
          <a:p>
            <a:pPr indent="0" marL="0">
              <a:buNone/>
            </a:pPr>
            <a:r>
              <a:rPr lang="en-US" sz="1900" dirty="0">
                <a:solidFill>
                  <a:srgbClr val="111111"/>
                </a:solidFill>
                <a:latin typeface="Arial" pitchFamily="34" charset="0"/>
                <a:ea typeface="Arial" pitchFamily="34" charset="-122"/>
                <a:cs typeface="Arial" pitchFamily="34" charset="-120"/>
              </a:rPr>
              <a:t>J = −(1/n) Σ</a:t>
            </a:r>
            <a:pPr indent="0" marL="0">
              <a:buNone/>
            </a:pPr>
            <a:r>
              <a:rPr lang="en-US" sz="1900" baseline="-40000" dirty="0">
                <a:solidFill>
                  <a:srgbClr val="111111"/>
                </a:solidFill>
                <a:latin typeface="Arial" pitchFamily="34" charset="0"/>
                <a:ea typeface="Arial" pitchFamily="34" charset="-122"/>
                <a:cs typeface="Arial" pitchFamily="34" charset="-120"/>
              </a:rPr>
              <a:t>i</a:t>
            </a:r>
            <a:pPr indent="0" marL="0">
              <a:buNone/>
            </a:pPr>
            <a:r>
              <a:rPr lang="en-US" sz="1900" dirty="0">
                <a:solidFill>
                  <a:srgbClr val="111111"/>
                </a:solidFill>
                <a:latin typeface="Arial" pitchFamily="34" charset="0"/>
                <a:ea typeface="Arial" pitchFamily="34" charset="-122"/>
                <a:cs typeface="Arial" pitchFamily="34" charset="-120"/>
              </a:rPr>
              <a:t> [ y</a:t>
            </a:r>
            <a:pPr indent="0" marL="0">
              <a:buNone/>
            </a:pPr>
            <a:r>
              <a:rPr lang="en-US" sz="1900" baseline="-40000" dirty="0">
                <a:solidFill>
                  <a:srgbClr val="111111"/>
                </a:solidFill>
                <a:latin typeface="Arial" pitchFamily="34" charset="0"/>
                <a:ea typeface="Arial" pitchFamily="34" charset="-122"/>
                <a:cs typeface="Arial" pitchFamily="34" charset="-120"/>
              </a:rPr>
              <a:t>i</a:t>
            </a:r>
            <a:pPr indent="0" marL="0">
              <a:buNone/>
            </a:pPr>
            <a:r>
              <a:rPr lang="en-US" sz="1900" dirty="0">
                <a:solidFill>
                  <a:srgbClr val="111111"/>
                </a:solidFill>
                <a:latin typeface="Arial" pitchFamily="34" charset="0"/>
                <a:ea typeface="Arial" pitchFamily="34" charset="-122"/>
                <a:cs typeface="Arial" pitchFamily="34" charset="-120"/>
              </a:rPr>
              <a:t> log p</a:t>
            </a:r>
            <a:pPr indent="0" marL="0">
              <a:buNone/>
            </a:pPr>
            <a:r>
              <a:rPr lang="en-US" sz="1900" baseline="-40000" dirty="0">
                <a:solidFill>
                  <a:srgbClr val="111111"/>
                </a:solidFill>
                <a:latin typeface="Arial" pitchFamily="34" charset="0"/>
                <a:ea typeface="Arial" pitchFamily="34" charset="-122"/>
                <a:cs typeface="Arial" pitchFamily="34" charset="-120"/>
              </a:rPr>
              <a:t>i</a:t>
            </a:r>
            <a:pPr indent="0" marL="0">
              <a:buNone/>
            </a:pPr>
            <a:r>
              <a:rPr lang="en-US" sz="1900" dirty="0">
                <a:solidFill>
                  <a:srgbClr val="111111"/>
                </a:solidFill>
                <a:latin typeface="Arial" pitchFamily="34" charset="0"/>
                <a:ea typeface="Arial" pitchFamily="34" charset="-122"/>
                <a:cs typeface="Arial" pitchFamily="34" charset="-120"/>
              </a:rPr>
              <a:t> + (1 − y</a:t>
            </a:r>
            <a:pPr indent="0" marL="0">
              <a:buNone/>
            </a:pPr>
            <a:r>
              <a:rPr lang="en-US" sz="1900" baseline="-40000" dirty="0">
                <a:solidFill>
                  <a:srgbClr val="111111"/>
                </a:solidFill>
                <a:latin typeface="Arial" pitchFamily="34" charset="0"/>
                <a:ea typeface="Arial" pitchFamily="34" charset="-122"/>
                <a:cs typeface="Arial" pitchFamily="34" charset="-120"/>
              </a:rPr>
              <a:t>i</a:t>
            </a:r>
            <a:pPr indent="0" marL="0">
              <a:buNone/>
            </a:pPr>
            <a:r>
              <a:rPr lang="en-US" sz="1900" dirty="0">
                <a:solidFill>
                  <a:srgbClr val="111111"/>
                </a:solidFill>
                <a:latin typeface="Arial" pitchFamily="34" charset="0"/>
                <a:ea typeface="Arial" pitchFamily="34" charset="-122"/>
                <a:cs typeface="Arial" pitchFamily="34" charset="-120"/>
              </a:rPr>
              <a:t>) log (1 − p</a:t>
            </a:r>
            <a:pPr indent="0" marL="0">
              <a:buNone/>
            </a:pPr>
            <a:r>
              <a:rPr lang="en-US" sz="1900" baseline="-40000" dirty="0">
                <a:solidFill>
                  <a:srgbClr val="111111"/>
                </a:solidFill>
                <a:latin typeface="Arial" pitchFamily="34" charset="0"/>
                <a:ea typeface="Arial" pitchFamily="34" charset="-122"/>
                <a:cs typeface="Arial" pitchFamily="34" charset="-120"/>
              </a:rPr>
              <a:t>i</a:t>
            </a:r>
            <a:pPr indent="0" marL="0">
              <a:buNone/>
            </a:pPr>
            <a:r>
              <a:rPr lang="en-US" sz="1900" dirty="0">
                <a:solidFill>
                  <a:srgbClr val="111111"/>
                </a:solidFill>
                <a:latin typeface="Arial" pitchFamily="34" charset="0"/>
                <a:ea typeface="Arial" pitchFamily="34" charset="-122"/>
                <a:cs typeface="Arial" pitchFamily="34" charset="-120"/>
              </a:rPr>
              <a:t>) ]</a:t>
            </a:r>
            <a:endParaRPr lang="en-US" sz="1900" dirty="0"/>
          </a:p>
        </p:txBody>
      </p:sp>
      <p:sp>
        <p:nvSpPr>
          <p:cNvPr id="9" name="Shape 7"/>
          <p:cNvSpPr/>
          <p:nvPr/>
        </p:nvSpPr>
        <p:spPr>
          <a:xfrm>
            <a:off x="6903720" y="1627632"/>
            <a:ext cx="0" cy="2395728"/>
          </a:xfrm>
          <a:prstGeom prst="line">
            <a:avLst/>
          </a:prstGeom>
          <a:noFill/>
          <a:ln w="9525">
            <a:solidFill>
              <a:srgbClr val="D5D5D5"/>
            </a:solidFill>
            <a:prstDash val="solid"/>
          </a:ln>
        </p:spPr>
      </p:sp>
      <p:sp>
        <p:nvSpPr>
          <p:cNvPr id="10" name="Text 8"/>
          <p:cNvSpPr txBox="1"/>
          <p:nvPr/>
        </p:nvSpPr>
        <p:spPr>
          <a:xfrm>
            <a:off x="7178040" y="1664208"/>
            <a:ext cx="4389120" cy="365760"/>
          </a:xfrm>
          <a:prstGeom prst="rect">
            <a:avLst/>
          </a:prstGeom>
          <a:noFill/>
          <a:ln/>
        </p:spPr>
        <p:txBody>
          <a:bodyPr wrap="square" lIns="0" tIns="0" rIns="0" bIns="0" rtlCol="0" anchor="t"/>
          <a:lstStyle/>
          <a:p>
            <a:pPr indent="0" marL="0">
              <a:buNone/>
            </a:pPr>
            <a:r>
              <a:rPr lang="en-US" sz="1700" dirty="0">
                <a:solidFill>
                  <a:srgbClr val="111111"/>
                </a:solidFill>
                <a:latin typeface="Arial" pitchFamily="34" charset="0"/>
                <a:ea typeface="Arial" pitchFamily="34" charset="-122"/>
                <a:cs typeface="Arial" pitchFamily="34" charset="-120"/>
              </a:rPr>
              <a:t>σ′(z) = σ(z)(1 − σ(z))</a:t>
            </a:r>
            <a:endParaRPr lang="en-US" sz="1700" dirty="0"/>
          </a:p>
        </p:txBody>
      </p:sp>
      <p:sp>
        <p:nvSpPr>
          <p:cNvPr id="11" name="Text 9"/>
          <p:cNvSpPr txBox="1"/>
          <p:nvPr/>
        </p:nvSpPr>
        <p:spPr>
          <a:xfrm>
            <a:off x="7178040" y="2121408"/>
            <a:ext cx="4389120" cy="365760"/>
          </a:xfrm>
          <a:prstGeom prst="rect">
            <a:avLst/>
          </a:prstGeom>
          <a:noFill/>
          <a:ln/>
        </p:spPr>
        <p:txBody>
          <a:bodyPr wrap="square" lIns="0" tIns="0" rIns="0" bIns="0" rtlCol="0" anchor="t"/>
          <a:lstStyle/>
          <a:p>
            <a:pPr indent="0" marL="0">
              <a:buNone/>
            </a:pPr>
            <a:r>
              <a:rPr lang="en-US" sz="1900" dirty="0">
                <a:solidFill>
                  <a:srgbClr val="111111"/>
                </a:solidFill>
                <a:latin typeface="Arial" pitchFamily="34" charset="0"/>
                <a:ea typeface="Arial" pitchFamily="34" charset="-122"/>
                <a:cs typeface="Arial" pitchFamily="34" charset="-120"/>
              </a:rPr>
              <a:t>⇒  ∂ℓ/∂z = p − y</a:t>
            </a:r>
            <a:endParaRPr lang="en-US" sz="1900" dirty="0"/>
          </a:p>
        </p:txBody>
      </p:sp>
      <p:sp>
        <p:nvSpPr>
          <p:cNvPr id="12" name="Text 10"/>
          <p:cNvSpPr txBox="1"/>
          <p:nvPr/>
        </p:nvSpPr>
        <p:spPr>
          <a:xfrm>
            <a:off x="7178040" y="2596896"/>
            <a:ext cx="4389120" cy="4114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a:t>
            </a:r>
            <a:pPr indent="0" marL="0">
              <a:buNone/>
            </a:pPr>
            <a:r>
              <a:rPr lang="en-US" sz="1800" baseline="-40000" dirty="0">
                <a:solidFill>
                  <a:srgbClr val="111111"/>
                </a:solidFill>
                <a:latin typeface="Arial" pitchFamily="34" charset="0"/>
                <a:ea typeface="Arial" pitchFamily="34" charset="-122"/>
                <a:cs typeface="Arial" pitchFamily="34" charset="-120"/>
              </a:rPr>
              <a:t>w</a:t>
            </a:r>
            <a:pPr indent="0" marL="0">
              <a:buNone/>
            </a:pPr>
            <a:r>
              <a:rPr lang="en-US" sz="1800" dirty="0">
                <a:solidFill>
                  <a:srgbClr val="111111"/>
                </a:solidFill>
                <a:latin typeface="Arial" pitchFamily="34" charset="0"/>
                <a:ea typeface="Arial" pitchFamily="34" charset="-122"/>
                <a:cs typeface="Arial" pitchFamily="34" charset="-120"/>
              </a:rPr>
              <a:t>J = (1/n) X</a:t>
            </a:r>
            <a:pPr indent="0" marL="0">
              <a:buNone/>
            </a:pPr>
            <a:r>
              <a:rPr lang="en-US" sz="1800" baseline="30000" dirty="0">
                <a:solidFill>
                  <a:srgbClr val="111111"/>
                </a:solidFill>
                <a:latin typeface="Arial" pitchFamily="34" charset="0"/>
                <a:ea typeface="Arial" pitchFamily="34" charset="-122"/>
                <a:cs typeface="Arial" pitchFamily="34" charset="-120"/>
              </a:rPr>
              <a:t>T</a:t>
            </a:r>
            <a:pPr indent="0" marL="0">
              <a:buNone/>
            </a:pPr>
            <a:r>
              <a:rPr lang="en-US" sz="1800" dirty="0">
                <a:solidFill>
                  <a:srgbClr val="111111"/>
                </a:solidFill>
                <a:latin typeface="Arial" pitchFamily="34" charset="0"/>
                <a:ea typeface="Arial" pitchFamily="34" charset="-122"/>
                <a:cs typeface="Arial" pitchFamily="34" charset="-120"/>
              </a:rPr>
              <a:t>(p − y)</a:t>
            </a:r>
            <a:endParaRPr lang="en-US" sz="1800" dirty="0"/>
          </a:p>
        </p:txBody>
      </p:sp>
      <p:sp>
        <p:nvSpPr>
          <p:cNvPr id="13" name="Text 11"/>
          <p:cNvSpPr txBox="1"/>
          <p:nvPr/>
        </p:nvSpPr>
        <p:spPr>
          <a:xfrm>
            <a:off x="7178040" y="3200400"/>
            <a:ext cx="4389120" cy="274320"/>
          </a:xfrm>
          <a:prstGeom prst="rect">
            <a:avLst/>
          </a:prstGeom>
          <a:noFill/>
          <a:ln/>
        </p:spPr>
        <p:txBody>
          <a:bodyPr wrap="square" lIns="0" tIns="0" rIns="0" bIns="0" rtlCol="0" anchor="t"/>
          <a:lstStyle/>
          <a:p>
            <a:pPr indent="0" marL="0">
              <a:buNone/>
            </a:pPr>
            <a:r>
              <a:rPr lang="en-US" sz="1100" spc="140" kern="0" dirty="0">
                <a:solidFill>
                  <a:srgbClr val="6B6B6B"/>
                </a:solidFill>
                <a:latin typeface="Arial" pitchFamily="34" charset="0"/>
                <a:ea typeface="Arial" pitchFamily="34" charset="-122"/>
                <a:cs typeface="Arial" pitchFamily="34" charset="-120"/>
              </a:rPr>
              <a:t>Cập nhật</a:t>
            </a:r>
            <a:endParaRPr lang="en-US" sz="1100" dirty="0"/>
          </a:p>
        </p:txBody>
      </p:sp>
      <p:sp>
        <p:nvSpPr>
          <p:cNvPr id="14" name="Text 12"/>
          <p:cNvSpPr txBox="1"/>
          <p:nvPr/>
        </p:nvSpPr>
        <p:spPr>
          <a:xfrm>
            <a:off x="7178040" y="3474720"/>
            <a:ext cx="4389120" cy="4114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w</a:t>
            </a:r>
            <a:pPr indent="0" marL="0">
              <a:buNone/>
            </a:pPr>
            <a:r>
              <a:rPr lang="en-US" sz="1800" baseline="30000" dirty="0">
                <a:solidFill>
                  <a:srgbClr val="111111"/>
                </a:solidFill>
                <a:latin typeface="Arial" pitchFamily="34" charset="0"/>
                <a:ea typeface="Arial" pitchFamily="34" charset="-122"/>
                <a:cs typeface="Arial" pitchFamily="34" charset="-120"/>
              </a:rPr>
              <a:t>(t+1)</a:t>
            </a:r>
            <a:pPr indent="0" marL="0">
              <a:buNone/>
            </a:pPr>
            <a:r>
              <a:rPr lang="en-US" sz="1800" dirty="0">
                <a:solidFill>
                  <a:srgbClr val="111111"/>
                </a:solidFill>
                <a:latin typeface="Arial" pitchFamily="34" charset="0"/>
                <a:ea typeface="Arial" pitchFamily="34" charset="-122"/>
                <a:cs typeface="Arial" pitchFamily="34" charset="-120"/>
              </a:rPr>
              <a:t> = w</a:t>
            </a:r>
            <a:pPr indent="0" marL="0">
              <a:buNone/>
            </a:pPr>
            <a:r>
              <a:rPr lang="en-US" sz="1800" baseline="30000" dirty="0">
                <a:solidFill>
                  <a:srgbClr val="111111"/>
                </a:solidFill>
                <a:latin typeface="Arial" pitchFamily="34" charset="0"/>
                <a:ea typeface="Arial" pitchFamily="34" charset="-122"/>
                <a:cs typeface="Arial" pitchFamily="34" charset="-120"/>
              </a:rPr>
              <a:t>(t)</a:t>
            </a:r>
            <a:pPr indent="0" marL="0">
              <a:buNone/>
            </a:pPr>
            <a:r>
              <a:rPr lang="en-US" sz="1800" dirty="0">
                <a:solidFill>
                  <a:srgbClr val="111111"/>
                </a:solidFill>
                <a:latin typeface="Arial" pitchFamily="34" charset="0"/>
                <a:ea typeface="Arial" pitchFamily="34" charset="-122"/>
                <a:cs typeface="Arial" pitchFamily="34" charset="-120"/>
              </a:rPr>
              <a:t> − η·(1/n)X</a:t>
            </a:r>
            <a:pPr indent="0" marL="0">
              <a:buNone/>
            </a:pPr>
            <a:r>
              <a:rPr lang="en-US" sz="1800" baseline="30000" dirty="0">
                <a:solidFill>
                  <a:srgbClr val="111111"/>
                </a:solidFill>
                <a:latin typeface="Arial" pitchFamily="34" charset="0"/>
                <a:ea typeface="Arial" pitchFamily="34" charset="-122"/>
                <a:cs typeface="Arial" pitchFamily="34" charset="-120"/>
              </a:rPr>
              <a:t>T</a:t>
            </a:r>
            <a:pPr indent="0" marL="0">
              <a:buNone/>
            </a:pPr>
            <a:r>
              <a:rPr lang="en-US" sz="1800" dirty="0">
                <a:solidFill>
                  <a:srgbClr val="111111"/>
                </a:solidFill>
                <a:latin typeface="Arial" pitchFamily="34" charset="0"/>
                <a:ea typeface="Arial" pitchFamily="34" charset="-122"/>
                <a:cs typeface="Arial" pitchFamily="34" charset="-120"/>
              </a:rPr>
              <a:t>(p − y)</a:t>
            </a:r>
            <a:endParaRPr lang="en-US" sz="1800" dirty="0"/>
          </a:p>
        </p:txBody>
      </p:sp>
      <p:sp>
        <p:nvSpPr>
          <p:cNvPr id="15" name="Shape 13"/>
          <p:cNvSpPr/>
          <p:nvPr/>
        </p:nvSpPr>
        <p:spPr>
          <a:xfrm>
            <a:off x="667512" y="4224528"/>
            <a:ext cx="10853928" cy="0"/>
          </a:xfrm>
          <a:prstGeom prst="line">
            <a:avLst/>
          </a:prstGeom>
          <a:noFill/>
          <a:ln w="9525">
            <a:solidFill>
              <a:srgbClr val="D5D5D5"/>
            </a:solidFill>
            <a:prstDash val="solid"/>
          </a:ln>
        </p:spPr>
      </p:sp>
      <p:sp>
        <p:nvSpPr>
          <p:cNvPr id="16" name="Text 14"/>
          <p:cNvSpPr txBox="1"/>
          <p:nvPr/>
        </p:nvSpPr>
        <p:spPr>
          <a:xfrm>
            <a:off x="667512" y="4370832"/>
            <a:ext cx="10853928" cy="1773936"/>
          </a:xfrm>
          <a:prstGeom prst="rect">
            <a:avLst/>
          </a:prstGeom>
          <a:noFill/>
          <a:ln/>
        </p:spPr>
        <p:txBody>
          <a:bodyPr wrap="square" lIns="0" tIns="0" rIns="0" bIns="0" rtlCol="0" anchor="t"/>
          <a:lstStyle/>
          <a:p>
            <a:pPr marL="342900" indent="-342900">
              <a:lnSpc>
                <a:spcPct val="106000"/>
              </a:lnSpc>
              <a:spcAft>
                <a:spcPts val="800"/>
              </a:spcAft>
              <a:buSzPct val="100000"/>
              <a:buChar char="–"/>
            </a:pPr>
            <a:r>
              <a:rPr lang="en-US" sz="1550" b="1" dirty="0">
                <a:solidFill>
                  <a:srgbClr val="111111"/>
                </a:solidFill>
                <a:latin typeface="Arial" pitchFamily="34" charset="0"/>
                <a:ea typeface="Arial" pitchFamily="34" charset="-122"/>
                <a:cs typeface="Arial" pitchFamily="34" charset="-120"/>
              </a:rPr>
              <a:t>Mẫu số p(1 − p) triệt tiêu</a:t>
            </a:r>
            <a:endParaRPr lang="en-US" sz="1550" dirty="0"/>
          </a:p>
          <a:p>
            <a:pPr marL="342900" indent="-342900">
              <a:lnSpc>
                <a:spcPct val="106000"/>
              </a:lnSpc>
              <a:spcAft>
                <a:spcPts val="800"/>
              </a:spcAft>
              <a:buSzPct val="100000"/>
              <a:buChar char="–"/>
            </a:pPr>
            <a:r>
              <a:rPr lang="en-US" sz="1550" dirty="0">
                <a:solidFill>
                  <a:srgbClr val="111111"/>
                </a:solidFill>
                <a:latin typeface="Arial" pitchFamily="34" charset="0"/>
                <a:ea typeface="Arial" pitchFamily="34" charset="-122"/>
                <a:cs typeface="Arial" pitchFamily="34" charset="-120"/>
              </a:rPr>
              <a:t>, nên gradient giống hồi quy tuyến tính nhưng thay ŷ bằng p.</a:t>
            </a:r>
            <a:endParaRPr lang="en-US" sz="1550" dirty="0"/>
          </a:p>
          <a:p>
            <a:pPr marL="342900" indent="-342900">
              <a:lnSpc>
                <a:spcPct val="106000"/>
              </a:lnSpc>
              <a:spcAft>
                <a:spcPts val="800"/>
              </a:spcAft>
              <a:buSzPct val="100000"/>
              <a:buChar char="–"/>
            </a:pPr>
            <a:r>
              <a:rPr lang="en-US" sz="1550" b="1" dirty="0">
                <a:solidFill>
                  <a:srgbClr val="111111"/>
                </a:solidFill>
                <a:latin typeface="Arial" pitchFamily="34" charset="0"/>
                <a:ea typeface="Arial" pitchFamily="34" charset="-122"/>
                <a:cs typeface="Arial" pitchFamily="34" charset="-120"/>
              </a:rPr>
              <a:t>η = 0.5, tối đa 5000 vòng</a:t>
            </a:r>
            <a:endParaRPr lang="en-US" sz="1550" dirty="0"/>
          </a:p>
          <a:p>
            <a:pPr marL="342900" indent="-342900">
              <a:lnSpc>
                <a:spcPct val="106000"/>
              </a:lnSpc>
              <a:spcAft>
                <a:spcPts val="800"/>
              </a:spcAft>
              <a:buSzPct val="100000"/>
              <a:buChar char="–"/>
            </a:pPr>
            <a:r>
              <a:rPr lang="en-US" sz="1550" dirty="0">
                <a:solidFill>
                  <a:srgbClr val="111111"/>
                </a:solidFill>
                <a:latin typeface="Arial" pitchFamily="34" charset="0"/>
                <a:ea typeface="Arial" pitchFamily="34" charset="-122"/>
                <a:cs typeface="Arial" pitchFamily="34" charset="-120"/>
              </a:rPr>
              <a:t> — dừng theo ngân sách, chuẩn gradient cuối ≈ 1.55 × 10</a:t>
            </a:r>
            <a:endParaRPr lang="en-US" sz="1550" dirty="0"/>
          </a:p>
          <a:p>
            <a:pPr marL="342900" indent="-342900">
              <a:lnSpc>
                <a:spcPct val="106000"/>
              </a:lnSpc>
              <a:spcAft>
                <a:spcPts val="800"/>
              </a:spcAft>
              <a:buSzPct val="100000"/>
              <a:buChar char="–"/>
            </a:pPr>
            <a:r>
              <a:rPr lang="en-US" sz="1550" baseline="30000" dirty="0">
                <a:solidFill>
                  <a:srgbClr val="111111"/>
                </a:solidFill>
                <a:latin typeface="Arial" pitchFamily="34" charset="0"/>
                <a:ea typeface="Arial" pitchFamily="34" charset="-122"/>
                <a:cs typeface="Arial" pitchFamily="34" charset="-120"/>
              </a:rPr>
              <a:t>−4</a:t>
            </a:r>
            <a:endParaRPr lang="en-US" sz="1550" dirty="0"/>
          </a:p>
          <a:p>
            <a:pPr marL="342900" indent="-342900">
              <a:lnSpc>
                <a:spcPct val="106000"/>
              </a:lnSpc>
              <a:spcAft>
                <a:spcPts val="800"/>
              </a:spcAft>
              <a:buSzPct val="100000"/>
              <a:buChar char="–"/>
            </a:pPr>
            <a:r>
              <a:rPr lang="en-US" sz="1550" dirty="0">
                <a:solidFill>
                  <a:srgbClr val="111111"/>
                </a:solidFill>
                <a:latin typeface="Arial" pitchFamily="34" charset="0"/>
                <a:ea typeface="Arial" pitchFamily="34" charset="-122"/>
                <a:cs typeface="Arial" pitchFamily="34" charset="-120"/>
              </a:rPr>
              <a:t>.</a:t>
            </a:r>
            <a:endParaRPr lang="en-US" sz="1550" dirty="0"/>
          </a:p>
          <a:p>
            <a:pPr marL="342900" indent="-342900">
              <a:lnSpc>
                <a:spcPct val="106000"/>
              </a:lnSpc>
              <a:spcAft>
                <a:spcPts val="800"/>
              </a:spcAft>
              <a:buSzPct val="100000"/>
              <a:buChar char="–"/>
            </a:pPr>
            <a:r>
              <a:rPr lang="en-US" sz="1550" b="1" dirty="0">
                <a:solidFill>
                  <a:srgbClr val="111111"/>
                </a:solidFill>
                <a:latin typeface="Arial" pitchFamily="34" charset="0"/>
                <a:ea typeface="Arial" pitchFamily="34" charset="-122"/>
                <a:cs typeface="Arial" pitchFamily="34" charset="-120"/>
              </a:rPr>
              <a:t>Sigmoid và logaddexp</a:t>
            </a:r>
            <a:endParaRPr lang="en-US" sz="1550" dirty="0"/>
          </a:p>
          <a:p>
            <a:pPr marL="342900" indent="-342900">
              <a:lnSpc>
                <a:spcPct val="106000"/>
              </a:lnSpc>
              <a:spcAft>
                <a:spcPts val="800"/>
              </a:spcAft>
              <a:buSzPct val="100000"/>
              <a:buChar char="–"/>
            </a:pPr>
            <a:r>
              <a:rPr lang="en-US" sz="1550" dirty="0">
                <a:solidFill>
                  <a:srgbClr val="111111"/>
                </a:solidFill>
                <a:latin typeface="Arial" pitchFamily="34" charset="0"/>
                <a:ea typeface="Arial" pitchFamily="34" charset="-122"/>
                <a:cs typeface="Arial" pitchFamily="34" charset="-120"/>
              </a:rPr>
              <a:t> dạng ổn định số học; ngưỡng cố định 0.5, ROC-AUC dùng xác suất.</a:t>
            </a:r>
            <a:endParaRPr lang="en-US" sz="155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CÂU 1 · KẾT QUẢ</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Hồi quy tuyến tính: học đúng quan hệ sinh dữ liệu</a:t>
            </a:r>
            <a:endParaRPr lang="en-US" sz="2600" dirty="0"/>
          </a:p>
        </p:txBody>
      </p:sp>
      <p:pic>
        <p:nvPicPr>
          <p:cNvPr id="4" name="Image 0" descr="/home/towfienes/TDTU/ML/MidTerm/presentation/figures/fig_q1_linear.png">    </p:cNvPr>
          <p:cNvPicPr>
            <a:picLocks noChangeAspect="1"/>
          </p:cNvPicPr>
          <p:nvPr/>
        </p:nvPicPr>
        <p:blipFill>
          <a:blip r:embed="rId1"/>
          <a:stretch>
            <a:fillRect/>
          </a:stretch>
        </p:blipFill>
        <p:spPr>
          <a:xfrm>
            <a:off x="1158088" y="1481328"/>
            <a:ext cx="9875520" cy="3566160"/>
          </a:xfrm>
          <a:prstGeom prst="rect">
            <a:avLst/>
          </a:prstGeom>
        </p:spPr>
      </p:pic>
      <p:sp>
        <p:nvSpPr>
          <p:cNvPr id="5" name="Shape 2"/>
          <p:cNvSpPr/>
          <p:nvPr/>
        </p:nvSpPr>
        <p:spPr>
          <a:xfrm>
            <a:off x="667512" y="5138928"/>
            <a:ext cx="3361944" cy="0"/>
          </a:xfrm>
          <a:prstGeom prst="line">
            <a:avLst/>
          </a:prstGeom>
          <a:noFill/>
          <a:ln w="12700">
            <a:solidFill>
              <a:srgbClr val="2B2B2B"/>
            </a:solidFill>
            <a:prstDash val="solid"/>
          </a:ln>
        </p:spPr>
      </p:sp>
      <p:sp>
        <p:nvSpPr>
          <p:cNvPr id="6" name="Text 3"/>
          <p:cNvSpPr txBox="1"/>
          <p:nvPr/>
        </p:nvSpPr>
        <p:spPr>
          <a:xfrm>
            <a:off x="667512" y="5212080"/>
            <a:ext cx="3361944" cy="384048"/>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0.5114</a:t>
            </a:r>
            <a:endParaRPr lang="en-US" sz="2400" dirty="0"/>
          </a:p>
        </p:txBody>
      </p:sp>
      <p:sp>
        <p:nvSpPr>
          <p:cNvPr id="7" name="Text 4"/>
          <p:cNvSpPr txBox="1"/>
          <p:nvPr/>
        </p:nvSpPr>
        <p:spPr>
          <a:xfrm>
            <a:off x="667512" y="5614416"/>
            <a:ext cx="3361944" cy="457200"/>
          </a:xfrm>
          <a:prstGeom prst="rect">
            <a:avLst/>
          </a:prstGeom>
          <a:noFill/>
          <a:ln/>
        </p:spPr>
        <p:txBody>
          <a:bodyPr wrap="square" lIns="0" tIns="0" rIns="0" bIns="0" rtlCol="0" anchor="t"/>
          <a:lstStyle/>
          <a:p>
            <a:pPr indent="0" marL="0">
              <a:lnSpc>
                <a:spcPct val="115000"/>
              </a:lnSpc>
              <a:buNone/>
            </a:pPr>
            <a:r>
              <a:rPr lang="en-US" sz="1100" dirty="0">
                <a:solidFill>
                  <a:srgbClr val="6B6B6B"/>
                </a:solidFill>
                <a:latin typeface="Arial" pitchFamily="34" charset="0"/>
                <a:ea typeface="Arial" pitchFamily="34" charset="-122"/>
                <a:cs typeface="Arial" pitchFamily="34" charset="-120"/>
              </a:rPr>
              <a:t>RMSE trên tập test</a:t>
            </a:r>
            <a:endParaRPr lang="en-US" sz="1100" dirty="0"/>
          </a:p>
        </p:txBody>
      </p:sp>
      <p:sp>
        <p:nvSpPr>
          <p:cNvPr id="8" name="Shape 5"/>
          <p:cNvSpPr/>
          <p:nvPr/>
        </p:nvSpPr>
        <p:spPr>
          <a:xfrm>
            <a:off x="4285488" y="5138928"/>
            <a:ext cx="3361944" cy="0"/>
          </a:xfrm>
          <a:prstGeom prst="line">
            <a:avLst/>
          </a:prstGeom>
          <a:noFill/>
          <a:ln w="12700">
            <a:solidFill>
              <a:srgbClr val="2B2B2B"/>
            </a:solidFill>
            <a:prstDash val="solid"/>
          </a:ln>
        </p:spPr>
      </p:sp>
      <p:sp>
        <p:nvSpPr>
          <p:cNvPr id="9" name="Text 6"/>
          <p:cNvSpPr txBox="1"/>
          <p:nvPr/>
        </p:nvSpPr>
        <p:spPr>
          <a:xfrm>
            <a:off x="4285488" y="5212080"/>
            <a:ext cx="3361944" cy="384048"/>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0.9947</a:t>
            </a:r>
            <a:endParaRPr lang="en-US" sz="2400" dirty="0"/>
          </a:p>
        </p:txBody>
      </p:sp>
      <p:sp>
        <p:nvSpPr>
          <p:cNvPr id="10" name="Text 7"/>
          <p:cNvSpPr txBox="1"/>
          <p:nvPr/>
        </p:nvSpPr>
        <p:spPr>
          <a:xfrm>
            <a:off x="4285488" y="5614416"/>
            <a:ext cx="3361944" cy="457200"/>
          </a:xfrm>
          <a:prstGeom prst="rect">
            <a:avLst/>
          </a:prstGeom>
          <a:noFill/>
          <a:ln/>
        </p:spPr>
        <p:txBody>
          <a:bodyPr wrap="square" lIns="0" tIns="0" rIns="0" bIns="0" rtlCol="0" anchor="t"/>
          <a:lstStyle/>
          <a:p>
            <a:pPr indent="0" marL="0">
              <a:lnSpc>
                <a:spcPct val="115000"/>
              </a:lnSpc>
              <a:buNone/>
            </a:pPr>
            <a:r>
              <a:rPr lang="en-US" sz="1100" dirty="0">
                <a:solidFill>
                  <a:srgbClr val="6B6B6B"/>
                </a:solidFill>
                <a:latin typeface="Arial" pitchFamily="34" charset="0"/>
                <a:ea typeface="Arial" pitchFamily="34" charset="-122"/>
                <a:cs typeface="Arial" pitchFamily="34" charset="-120"/>
              </a:rPr>
              <a:t>R² trên tập test</a:t>
            </a:r>
            <a:endParaRPr lang="en-US" sz="1100" dirty="0"/>
          </a:p>
        </p:txBody>
      </p:sp>
      <p:sp>
        <p:nvSpPr>
          <p:cNvPr id="11" name="Shape 8"/>
          <p:cNvSpPr/>
          <p:nvPr/>
        </p:nvSpPr>
        <p:spPr>
          <a:xfrm>
            <a:off x="7903464" y="5138928"/>
            <a:ext cx="3361944" cy="0"/>
          </a:xfrm>
          <a:prstGeom prst="line">
            <a:avLst/>
          </a:prstGeom>
          <a:noFill/>
          <a:ln w="12700">
            <a:solidFill>
              <a:srgbClr val="2B2B2B"/>
            </a:solidFill>
            <a:prstDash val="solid"/>
          </a:ln>
        </p:spPr>
      </p:sp>
      <p:sp>
        <p:nvSpPr>
          <p:cNvPr id="12" name="Text 9"/>
          <p:cNvSpPr txBox="1"/>
          <p:nvPr/>
        </p:nvSpPr>
        <p:spPr>
          <a:xfrm>
            <a:off x="7903464" y="5212080"/>
            <a:ext cx="3361944" cy="384048"/>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2.99  ·  −2.01  ·  1.49</a:t>
            </a:r>
            <a:endParaRPr lang="en-US" sz="2400" dirty="0"/>
          </a:p>
        </p:txBody>
      </p:sp>
      <p:sp>
        <p:nvSpPr>
          <p:cNvPr id="13" name="Text 10"/>
          <p:cNvSpPr txBox="1"/>
          <p:nvPr/>
        </p:nvSpPr>
        <p:spPr>
          <a:xfrm>
            <a:off x="7903464" y="5614416"/>
            <a:ext cx="3361944" cy="457200"/>
          </a:xfrm>
          <a:prstGeom prst="rect">
            <a:avLst/>
          </a:prstGeom>
          <a:noFill/>
          <a:ln/>
        </p:spPr>
        <p:txBody>
          <a:bodyPr wrap="square" lIns="0" tIns="0" rIns="0" bIns="0" rtlCol="0" anchor="t"/>
          <a:lstStyle/>
          <a:p>
            <a:pPr indent="0" marL="0">
              <a:lnSpc>
                <a:spcPct val="115000"/>
              </a:lnSpc>
              <a:buNone/>
            </a:pPr>
            <a:r>
              <a:rPr lang="en-US" sz="1100" dirty="0">
                <a:solidFill>
                  <a:srgbClr val="6B6B6B"/>
                </a:solidFill>
                <a:latin typeface="Arial" pitchFamily="34" charset="0"/>
                <a:ea typeface="Arial" pitchFamily="34" charset="-122"/>
                <a:cs typeface="Arial" pitchFamily="34" charset="-120"/>
              </a:rPr>
              <a:t>Trọng số học được (thật: 3 · −2 · 1.5)</a:t>
            </a:r>
            <a:endParaRPr lang="en-US" sz="110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CÂU 1 · KẾT QUẢ</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Hồi quy logistic: biên hợp lý, nhưng còn 30 ca sai</a:t>
            </a:r>
            <a:endParaRPr lang="en-US" sz="2600" dirty="0"/>
          </a:p>
        </p:txBody>
      </p:sp>
      <p:pic>
        <p:nvPicPr>
          <p:cNvPr id="4" name="Image 0" descr="/home/towfienes/TDTU/ML/MidTerm/presentation/figures/fig_q1_logistic.png">    </p:cNvPr>
          <p:cNvPicPr>
            <a:picLocks noChangeAspect="1"/>
          </p:cNvPicPr>
          <p:nvPr/>
        </p:nvPicPr>
        <p:blipFill>
          <a:blip r:embed="rId1"/>
          <a:stretch>
            <a:fillRect/>
          </a:stretch>
        </p:blipFill>
        <p:spPr>
          <a:xfrm>
            <a:off x="1158088" y="1481328"/>
            <a:ext cx="9875520" cy="3566160"/>
          </a:xfrm>
          <a:prstGeom prst="rect">
            <a:avLst/>
          </a:prstGeom>
        </p:spPr>
      </p:pic>
      <p:sp>
        <p:nvSpPr>
          <p:cNvPr id="5" name="Shape 2"/>
          <p:cNvSpPr/>
          <p:nvPr/>
        </p:nvSpPr>
        <p:spPr>
          <a:xfrm>
            <a:off x="667512" y="5138928"/>
            <a:ext cx="2457450" cy="0"/>
          </a:xfrm>
          <a:prstGeom prst="line">
            <a:avLst/>
          </a:prstGeom>
          <a:noFill/>
          <a:ln w="12700">
            <a:solidFill>
              <a:srgbClr val="2B2B2B"/>
            </a:solidFill>
            <a:prstDash val="solid"/>
          </a:ln>
        </p:spPr>
      </p:sp>
      <p:sp>
        <p:nvSpPr>
          <p:cNvPr id="6" name="Text 3"/>
          <p:cNvSpPr txBox="1"/>
          <p:nvPr/>
        </p:nvSpPr>
        <p:spPr>
          <a:xfrm>
            <a:off x="667512" y="5212080"/>
            <a:ext cx="2457450" cy="384048"/>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0.8125</a:t>
            </a:r>
            <a:endParaRPr lang="en-US" sz="2400" dirty="0"/>
          </a:p>
        </p:txBody>
      </p:sp>
      <p:sp>
        <p:nvSpPr>
          <p:cNvPr id="7" name="Text 4"/>
          <p:cNvSpPr txBox="1"/>
          <p:nvPr/>
        </p:nvSpPr>
        <p:spPr>
          <a:xfrm>
            <a:off x="667512" y="5614416"/>
            <a:ext cx="2457450" cy="457200"/>
          </a:xfrm>
          <a:prstGeom prst="rect">
            <a:avLst/>
          </a:prstGeom>
          <a:noFill/>
          <a:ln/>
        </p:spPr>
        <p:txBody>
          <a:bodyPr wrap="square" lIns="0" tIns="0" rIns="0" bIns="0" rtlCol="0" anchor="t"/>
          <a:lstStyle/>
          <a:p>
            <a:pPr indent="0" marL="0">
              <a:lnSpc>
                <a:spcPct val="115000"/>
              </a:lnSpc>
              <a:buNone/>
            </a:pPr>
            <a:r>
              <a:rPr lang="en-US" sz="1100" dirty="0">
                <a:solidFill>
                  <a:srgbClr val="6B6B6B"/>
                </a:solidFill>
                <a:latin typeface="Arial" pitchFamily="34" charset="0"/>
                <a:ea typeface="Arial" pitchFamily="34" charset="-122"/>
                <a:cs typeface="Arial" pitchFamily="34" charset="-120"/>
              </a:rPr>
              <a:t>Accuracy trên tập test</a:t>
            </a:r>
            <a:endParaRPr lang="en-US" sz="1100" dirty="0"/>
          </a:p>
        </p:txBody>
      </p:sp>
      <p:sp>
        <p:nvSpPr>
          <p:cNvPr id="8" name="Shape 5"/>
          <p:cNvSpPr/>
          <p:nvPr/>
        </p:nvSpPr>
        <p:spPr>
          <a:xfrm>
            <a:off x="3380994" y="5138928"/>
            <a:ext cx="2457450" cy="0"/>
          </a:xfrm>
          <a:prstGeom prst="line">
            <a:avLst/>
          </a:prstGeom>
          <a:noFill/>
          <a:ln w="12700">
            <a:solidFill>
              <a:srgbClr val="2B2B2B"/>
            </a:solidFill>
            <a:prstDash val="solid"/>
          </a:ln>
        </p:spPr>
      </p:sp>
      <p:sp>
        <p:nvSpPr>
          <p:cNvPr id="9" name="Text 6"/>
          <p:cNvSpPr txBox="1"/>
          <p:nvPr/>
        </p:nvSpPr>
        <p:spPr>
          <a:xfrm>
            <a:off x="3380994" y="5212080"/>
            <a:ext cx="2457450" cy="384048"/>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0.8515</a:t>
            </a:r>
            <a:endParaRPr lang="en-US" sz="2400" dirty="0"/>
          </a:p>
        </p:txBody>
      </p:sp>
      <p:sp>
        <p:nvSpPr>
          <p:cNvPr id="10" name="Text 7"/>
          <p:cNvSpPr txBox="1"/>
          <p:nvPr/>
        </p:nvSpPr>
        <p:spPr>
          <a:xfrm>
            <a:off x="3380994" y="5614416"/>
            <a:ext cx="2457450" cy="457200"/>
          </a:xfrm>
          <a:prstGeom prst="rect">
            <a:avLst/>
          </a:prstGeom>
          <a:noFill/>
          <a:ln/>
        </p:spPr>
        <p:txBody>
          <a:bodyPr wrap="square" lIns="0" tIns="0" rIns="0" bIns="0" rtlCol="0" anchor="t"/>
          <a:lstStyle/>
          <a:p>
            <a:pPr indent="0" marL="0">
              <a:lnSpc>
                <a:spcPct val="115000"/>
              </a:lnSpc>
              <a:buNone/>
            </a:pPr>
            <a:r>
              <a:rPr lang="en-US" sz="1100" dirty="0">
                <a:solidFill>
                  <a:srgbClr val="6B6B6B"/>
                </a:solidFill>
                <a:latin typeface="Arial" pitchFamily="34" charset="0"/>
                <a:ea typeface="Arial" pitchFamily="34" charset="-122"/>
                <a:cs typeface="Arial" pitchFamily="34" charset="-120"/>
              </a:rPr>
              <a:t>F1 của lớp dương (p ≥ 0.5)</a:t>
            </a:r>
            <a:endParaRPr lang="en-US" sz="1100" dirty="0"/>
          </a:p>
        </p:txBody>
      </p:sp>
      <p:sp>
        <p:nvSpPr>
          <p:cNvPr id="11" name="Shape 8"/>
          <p:cNvSpPr/>
          <p:nvPr/>
        </p:nvSpPr>
        <p:spPr>
          <a:xfrm>
            <a:off x="6094476" y="5138928"/>
            <a:ext cx="2457450" cy="0"/>
          </a:xfrm>
          <a:prstGeom prst="line">
            <a:avLst/>
          </a:prstGeom>
          <a:noFill/>
          <a:ln w="12700">
            <a:solidFill>
              <a:srgbClr val="2B2B2B"/>
            </a:solidFill>
            <a:prstDash val="solid"/>
          </a:ln>
        </p:spPr>
      </p:sp>
      <p:sp>
        <p:nvSpPr>
          <p:cNvPr id="12" name="Text 9"/>
          <p:cNvSpPr txBox="1"/>
          <p:nvPr/>
        </p:nvSpPr>
        <p:spPr>
          <a:xfrm>
            <a:off x="6094476" y="5212080"/>
            <a:ext cx="2457450" cy="384048"/>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0.8576</a:t>
            </a:r>
            <a:endParaRPr lang="en-US" sz="2400" dirty="0"/>
          </a:p>
        </p:txBody>
      </p:sp>
      <p:sp>
        <p:nvSpPr>
          <p:cNvPr id="13" name="Text 10"/>
          <p:cNvSpPr txBox="1"/>
          <p:nvPr/>
        </p:nvSpPr>
        <p:spPr>
          <a:xfrm>
            <a:off x="6094476" y="5614416"/>
            <a:ext cx="2457450" cy="457200"/>
          </a:xfrm>
          <a:prstGeom prst="rect">
            <a:avLst/>
          </a:prstGeom>
          <a:noFill/>
          <a:ln/>
        </p:spPr>
        <p:txBody>
          <a:bodyPr wrap="square" lIns="0" tIns="0" rIns="0" bIns="0" rtlCol="0" anchor="t"/>
          <a:lstStyle/>
          <a:p>
            <a:pPr indent="0" marL="0">
              <a:lnSpc>
                <a:spcPct val="115000"/>
              </a:lnSpc>
              <a:buNone/>
            </a:pPr>
            <a:r>
              <a:rPr lang="en-US" sz="1100" dirty="0">
                <a:solidFill>
                  <a:srgbClr val="6B6B6B"/>
                </a:solidFill>
                <a:latin typeface="Arial" pitchFamily="34" charset="0"/>
                <a:ea typeface="Arial" pitchFamily="34" charset="-122"/>
                <a:cs typeface="Arial" pitchFamily="34" charset="-120"/>
              </a:rPr>
              <a:t>ROC-AUC</a:t>
            </a:r>
            <a:endParaRPr lang="en-US" sz="1100" dirty="0"/>
          </a:p>
        </p:txBody>
      </p:sp>
      <p:sp>
        <p:nvSpPr>
          <p:cNvPr id="14" name="Shape 11"/>
          <p:cNvSpPr/>
          <p:nvPr/>
        </p:nvSpPr>
        <p:spPr>
          <a:xfrm>
            <a:off x="8807958" y="5138928"/>
            <a:ext cx="2457450" cy="0"/>
          </a:xfrm>
          <a:prstGeom prst="line">
            <a:avLst/>
          </a:prstGeom>
          <a:noFill/>
          <a:ln w="12700">
            <a:solidFill>
              <a:srgbClr val="2B2B2B"/>
            </a:solidFill>
            <a:prstDash val="solid"/>
          </a:ln>
        </p:spPr>
      </p:sp>
      <p:sp>
        <p:nvSpPr>
          <p:cNvPr id="15" name="Text 12"/>
          <p:cNvSpPr txBox="1"/>
          <p:nvPr/>
        </p:nvSpPr>
        <p:spPr>
          <a:xfrm>
            <a:off x="8807958" y="5212080"/>
            <a:ext cx="2457450" cy="384048"/>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44/18/12/86</a:t>
            </a:r>
            <a:endParaRPr lang="en-US" sz="2400" dirty="0"/>
          </a:p>
        </p:txBody>
      </p:sp>
      <p:sp>
        <p:nvSpPr>
          <p:cNvPr id="16" name="Text 13"/>
          <p:cNvSpPr txBox="1"/>
          <p:nvPr/>
        </p:nvSpPr>
        <p:spPr>
          <a:xfrm>
            <a:off x="8807958" y="5614416"/>
            <a:ext cx="2457450" cy="457200"/>
          </a:xfrm>
          <a:prstGeom prst="rect">
            <a:avLst/>
          </a:prstGeom>
          <a:noFill/>
          <a:ln/>
        </p:spPr>
        <p:txBody>
          <a:bodyPr wrap="square" lIns="0" tIns="0" rIns="0" bIns="0" rtlCol="0" anchor="t"/>
          <a:lstStyle/>
          <a:p>
            <a:pPr indent="0" marL="0">
              <a:lnSpc>
                <a:spcPct val="115000"/>
              </a:lnSpc>
              <a:buNone/>
            </a:pPr>
            <a:r>
              <a:rPr lang="en-US" sz="1100" dirty="0">
                <a:solidFill>
                  <a:srgbClr val="6B6B6B"/>
                </a:solidFill>
                <a:latin typeface="Arial" pitchFamily="34" charset="0"/>
                <a:ea typeface="Arial" pitchFamily="34" charset="-122"/>
                <a:cs typeface="Arial" pitchFamily="34" charset="-120"/>
              </a:rPr>
              <a:t>Ma trận nhầm lẫn (TN/FP/FN/TP)</a:t>
            </a:r>
            <a:endParaRPr lang="en-US" sz="110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CÂU 2 · DỮ LIỆU</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OpenML credit-g: 1000 hồ sơ, 20 biến, lệch lớp</a:t>
            </a:r>
            <a:endParaRPr lang="en-US" sz="2600" dirty="0"/>
          </a:p>
        </p:txBody>
      </p:sp>
      <p:pic>
        <p:nvPicPr>
          <p:cNvPr id="4" name="Image 0" descr="/home/towfienes/TDTU/ML/MidTerm/presentation/figures/fig_q2_eda.png">    </p:cNvPr>
          <p:cNvPicPr>
            <a:picLocks noChangeAspect="1"/>
          </p:cNvPicPr>
          <p:nvPr/>
        </p:nvPicPr>
        <p:blipFill>
          <a:blip r:embed="rId1"/>
          <a:stretch>
            <a:fillRect/>
          </a:stretch>
        </p:blipFill>
        <p:spPr>
          <a:xfrm>
            <a:off x="1066648" y="1481328"/>
            <a:ext cx="10058400" cy="3063240"/>
          </a:xfrm>
          <a:prstGeom prst="rect">
            <a:avLst/>
          </a:prstGeom>
        </p:spPr>
      </p:pic>
      <p:sp>
        <p:nvSpPr>
          <p:cNvPr id="5" name="Shape 2"/>
          <p:cNvSpPr/>
          <p:nvPr/>
        </p:nvSpPr>
        <p:spPr>
          <a:xfrm>
            <a:off x="667512" y="4828032"/>
            <a:ext cx="2457450" cy="0"/>
          </a:xfrm>
          <a:prstGeom prst="line">
            <a:avLst/>
          </a:prstGeom>
          <a:noFill/>
          <a:ln w="12700">
            <a:solidFill>
              <a:srgbClr val="2B2B2B"/>
            </a:solidFill>
            <a:prstDash val="solid"/>
          </a:ln>
        </p:spPr>
      </p:sp>
      <p:sp>
        <p:nvSpPr>
          <p:cNvPr id="6" name="Text 3"/>
          <p:cNvSpPr txBox="1"/>
          <p:nvPr/>
        </p:nvSpPr>
        <p:spPr>
          <a:xfrm>
            <a:off x="667512" y="4901184"/>
            <a:ext cx="2457450" cy="384048"/>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ID 31 · v1</a:t>
            </a:r>
            <a:endParaRPr lang="en-US" sz="2400" dirty="0"/>
          </a:p>
        </p:txBody>
      </p:sp>
      <p:sp>
        <p:nvSpPr>
          <p:cNvPr id="7" name="Text 4"/>
          <p:cNvSpPr txBox="1"/>
          <p:nvPr/>
        </p:nvSpPr>
        <p:spPr>
          <a:xfrm>
            <a:off x="667512" y="5303520"/>
            <a:ext cx="2457450" cy="457200"/>
          </a:xfrm>
          <a:prstGeom prst="rect">
            <a:avLst/>
          </a:prstGeom>
          <a:noFill/>
          <a:ln/>
        </p:spPr>
        <p:txBody>
          <a:bodyPr wrap="square" lIns="0" tIns="0" rIns="0" bIns="0" rtlCol="0" anchor="t"/>
          <a:lstStyle/>
          <a:p>
            <a:pPr indent="0" marL="0">
              <a:lnSpc>
                <a:spcPct val="115000"/>
              </a:lnSpc>
              <a:buNone/>
            </a:pPr>
            <a:r>
              <a:rPr lang="en-US" sz="1100" dirty="0">
                <a:solidFill>
                  <a:srgbClr val="6B6B6B"/>
                </a:solidFill>
                <a:latin typeface="Arial" pitchFamily="34" charset="0"/>
                <a:ea typeface="Arial" pitchFamily="34" charset="-122"/>
                <a:cs typeface="Arial" pitchFamily="34" charset="-120"/>
              </a:rPr>
              <a:t>Nguồn gốc, MD5 đã kiểm tra</a:t>
            </a:r>
            <a:endParaRPr lang="en-US" sz="1100" dirty="0"/>
          </a:p>
        </p:txBody>
      </p:sp>
      <p:sp>
        <p:nvSpPr>
          <p:cNvPr id="8" name="Shape 5"/>
          <p:cNvSpPr/>
          <p:nvPr/>
        </p:nvSpPr>
        <p:spPr>
          <a:xfrm>
            <a:off x="3380994" y="4828032"/>
            <a:ext cx="2457450" cy="0"/>
          </a:xfrm>
          <a:prstGeom prst="line">
            <a:avLst/>
          </a:prstGeom>
          <a:noFill/>
          <a:ln w="12700">
            <a:solidFill>
              <a:srgbClr val="2B2B2B"/>
            </a:solidFill>
            <a:prstDash val="solid"/>
          </a:ln>
        </p:spPr>
      </p:sp>
      <p:sp>
        <p:nvSpPr>
          <p:cNvPr id="9" name="Text 6"/>
          <p:cNvSpPr txBox="1"/>
          <p:nvPr/>
        </p:nvSpPr>
        <p:spPr>
          <a:xfrm>
            <a:off x="3380994" y="4901184"/>
            <a:ext cx="2457450" cy="384048"/>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0 · 0 · 0</a:t>
            </a:r>
            <a:endParaRPr lang="en-US" sz="2400" dirty="0"/>
          </a:p>
        </p:txBody>
      </p:sp>
      <p:sp>
        <p:nvSpPr>
          <p:cNvPr id="10" name="Text 7"/>
          <p:cNvSpPr txBox="1"/>
          <p:nvPr/>
        </p:nvSpPr>
        <p:spPr>
          <a:xfrm>
            <a:off x="3380994" y="5303520"/>
            <a:ext cx="2457450" cy="457200"/>
          </a:xfrm>
          <a:prstGeom prst="rect">
            <a:avLst/>
          </a:prstGeom>
          <a:noFill/>
          <a:ln/>
        </p:spPr>
        <p:txBody>
          <a:bodyPr wrap="square" lIns="0" tIns="0" rIns="0" bIns="0" rtlCol="0" anchor="t"/>
          <a:lstStyle/>
          <a:p>
            <a:pPr indent="0" marL="0">
              <a:lnSpc>
                <a:spcPct val="115000"/>
              </a:lnSpc>
              <a:buNone/>
            </a:pPr>
            <a:r>
              <a:rPr lang="en-US" sz="1100" dirty="0">
                <a:solidFill>
                  <a:srgbClr val="6B6B6B"/>
                </a:solidFill>
                <a:latin typeface="Arial" pitchFamily="34" charset="0"/>
                <a:ea typeface="Arial" pitchFamily="34" charset="-122"/>
                <a:cs typeface="Arial" pitchFamily="34" charset="-120"/>
              </a:rPr>
              <a:t>Ô thiếu · dòng trùng · giá trị lạ</a:t>
            </a:r>
            <a:endParaRPr lang="en-US" sz="1100" dirty="0"/>
          </a:p>
        </p:txBody>
      </p:sp>
      <p:sp>
        <p:nvSpPr>
          <p:cNvPr id="11" name="Shape 8"/>
          <p:cNvSpPr/>
          <p:nvPr/>
        </p:nvSpPr>
        <p:spPr>
          <a:xfrm>
            <a:off x="6094476" y="4828032"/>
            <a:ext cx="2457450" cy="0"/>
          </a:xfrm>
          <a:prstGeom prst="line">
            <a:avLst/>
          </a:prstGeom>
          <a:noFill/>
          <a:ln w="12700">
            <a:solidFill>
              <a:srgbClr val="2B2B2B"/>
            </a:solidFill>
            <a:prstDash val="solid"/>
          </a:ln>
        </p:spPr>
      </p:sp>
      <p:sp>
        <p:nvSpPr>
          <p:cNvPr id="12" name="Text 9"/>
          <p:cNvSpPr txBox="1"/>
          <p:nvPr/>
        </p:nvSpPr>
        <p:spPr>
          <a:xfrm>
            <a:off x="6094476" y="4901184"/>
            <a:ext cx="2457450" cy="384048"/>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800 / 200</a:t>
            </a:r>
            <a:endParaRPr lang="en-US" sz="2400" dirty="0"/>
          </a:p>
        </p:txBody>
      </p:sp>
      <p:sp>
        <p:nvSpPr>
          <p:cNvPr id="13" name="Text 10"/>
          <p:cNvSpPr txBox="1"/>
          <p:nvPr/>
        </p:nvSpPr>
        <p:spPr>
          <a:xfrm>
            <a:off x="6094476" y="5303520"/>
            <a:ext cx="2457450" cy="457200"/>
          </a:xfrm>
          <a:prstGeom prst="rect">
            <a:avLst/>
          </a:prstGeom>
          <a:noFill/>
          <a:ln/>
        </p:spPr>
        <p:txBody>
          <a:bodyPr wrap="square" lIns="0" tIns="0" rIns="0" bIns="0" rtlCol="0" anchor="t"/>
          <a:lstStyle/>
          <a:p>
            <a:pPr indent="0" marL="0">
              <a:lnSpc>
                <a:spcPct val="115000"/>
              </a:lnSpc>
              <a:buNone/>
            </a:pPr>
            <a:r>
              <a:rPr lang="en-US" sz="1100" dirty="0">
                <a:solidFill>
                  <a:srgbClr val="6B6B6B"/>
                </a:solidFill>
                <a:latin typeface="Arial" pitchFamily="34" charset="0"/>
                <a:ea typeface="Arial" pitchFamily="34" charset="-122"/>
                <a:cs typeface="Arial" pitchFamily="34" charset="-120"/>
              </a:rPr>
              <a:t>Development / test, phân tầng, seed 42</a:t>
            </a:r>
            <a:endParaRPr lang="en-US" sz="1100" dirty="0"/>
          </a:p>
        </p:txBody>
      </p:sp>
      <p:sp>
        <p:nvSpPr>
          <p:cNvPr id="14" name="Shape 11"/>
          <p:cNvSpPr/>
          <p:nvPr/>
        </p:nvSpPr>
        <p:spPr>
          <a:xfrm>
            <a:off x="8807958" y="4828032"/>
            <a:ext cx="2457450" cy="0"/>
          </a:xfrm>
          <a:prstGeom prst="line">
            <a:avLst/>
          </a:prstGeom>
          <a:noFill/>
          <a:ln w="12700">
            <a:solidFill>
              <a:srgbClr val="2B2B2B"/>
            </a:solidFill>
            <a:prstDash val="solid"/>
          </a:ln>
        </p:spPr>
      </p:sp>
      <p:sp>
        <p:nvSpPr>
          <p:cNvPr id="15" name="Text 12"/>
          <p:cNvSpPr txBox="1"/>
          <p:nvPr/>
        </p:nvSpPr>
        <p:spPr>
          <a:xfrm>
            <a:off x="8807958" y="4901184"/>
            <a:ext cx="2457450" cy="384048"/>
          </a:xfrm>
          <a:prstGeom prst="rect">
            <a:avLst/>
          </a:prstGeom>
          <a:noFill/>
          <a:ln/>
        </p:spPr>
        <p:txBody>
          <a:bodyPr wrap="square" lIns="0" tIns="0" rIns="0" bIns="0" rtlCol="0" anchor="t"/>
          <a:lstStyle/>
          <a:p>
            <a:pPr indent="0" marL="0">
              <a:buNone/>
            </a:pPr>
            <a:r>
              <a:rPr lang="en-US" sz="2400" b="1" dirty="0">
                <a:solidFill>
                  <a:srgbClr val="111111"/>
                </a:solidFill>
                <a:latin typeface="Arial" pitchFamily="34" charset="0"/>
                <a:ea typeface="Arial" pitchFamily="34" charset="-122"/>
                <a:cs typeface="Arial" pitchFamily="34" charset="-120"/>
              </a:rPr>
              <a:t>61</a:t>
            </a:r>
            <a:endParaRPr lang="en-US" sz="2400" dirty="0"/>
          </a:p>
        </p:txBody>
      </p:sp>
      <p:sp>
        <p:nvSpPr>
          <p:cNvPr id="16" name="Text 13"/>
          <p:cNvSpPr txBox="1"/>
          <p:nvPr/>
        </p:nvSpPr>
        <p:spPr>
          <a:xfrm>
            <a:off x="8807958" y="5303520"/>
            <a:ext cx="2457450" cy="457200"/>
          </a:xfrm>
          <a:prstGeom prst="rect">
            <a:avLst/>
          </a:prstGeom>
          <a:noFill/>
          <a:ln/>
        </p:spPr>
        <p:txBody>
          <a:bodyPr wrap="square" lIns="0" tIns="0" rIns="0" bIns="0" rtlCol="0" anchor="t"/>
          <a:lstStyle/>
          <a:p>
            <a:pPr indent="0" marL="0">
              <a:lnSpc>
                <a:spcPct val="115000"/>
              </a:lnSpc>
              <a:buNone/>
            </a:pPr>
            <a:r>
              <a:rPr lang="en-US" sz="1100" dirty="0">
                <a:solidFill>
                  <a:srgbClr val="6B6B6B"/>
                </a:solidFill>
                <a:latin typeface="Arial" pitchFamily="34" charset="0"/>
                <a:ea typeface="Arial" pitchFamily="34" charset="-122"/>
                <a:cs typeface="Arial" pitchFamily="34" charset="-120"/>
              </a:rPr>
              <a:t>Đặc trưng sau min–max và one-hot</a:t>
            </a:r>
            <a:endParaRPr lang="en-US" sz="110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CÂU 2 · QUY TRÌNH</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Chống rò rỉ dữ liệu bằng thiết kế, không bằng lời hứa</a:t>
            </a:r>
            <a:endParaRPr lang="en-US" sz="2600" dirty="0"/>
          </a:p>
        </p:txBody>
      </p:sp>
      <p:sp>
        <p:nvSpPr>
          <p:cNvPr id="4" name="Shape 2"/>
          <p:cNvSpPr/>
          <p:nvPr/>
        </p:nvSpPr>
        <p:spPr>
          <a:xfrm>
            <a:off x="667512" y="1783080"/>
            <a:ext cx="2356866" cy="1627632"/>
          </a:xfrm>
          <a:prstGeom prst="rect">
            <a:avLst/>
          </a:prstGeom>
          <a:solidFill>
            <a:srgbClr val="FFFFFF"/>
          </a:solidFill>
          <a:ln w="12700">
            <a:solidFill>
              <a:srgbClr val="8C8C8C"/>
            </a:solidFill>
            <a:prstDash val="solid"/>
          </a:ln>
        </p:spPr>
      </p:sp>
      <p:sp>
        <p:nvSpPr>
          <p:cNvPr id="5" name="Text 3"/>
          <p:cNvSpPr txBox="1"/>
          <p:nvPr/>
        </p:nvSpPr>
        <p:spPr>
          <a:xfrm>
            <a:off x="813816" y="1892808"/>
            <a:ext cx="640080" cy="256032"/>
          </a:xfrm>
          <a:prstGeom prst="rect">
            <a:avLst/>
          </a:prstGeom>
          <a:noFill/>
          <a:ln/>
        </p:spPr>
        <p:txBody>
          <a:bodyPr wrap="square" lIns="0" tIns="0" rIns="0" bIns="0" rtlCol="0" anchor="t"/>
          <a:lstStyle/>
          <a:p>
            <a:pPr indent="0" marL="0">
              <a:buNone/>
            </a:pPr>
            <a:r>
              <a:rPr lang="en-US" sz="1100" spc="100" kern="0" dirty="0">
                <a:solidFill>
                  <a:srgbClr val="6B6B6B"/>
                </a:solidFill>
                <a:latin typeface="Arial" pitchFamily="34" charset="0"/>
                <a:ea typeface="Arial" pitchFamily="34" charset="-122"/>
                <a:cs typeface="Arial" pitchFamily="34" charset="-120"/>
              </a:rPr>
              <a:t>01</a:t>
            </a:r>
            <a:endParaRPr lang="en-US" sz="1100" dirty="0"/>
          </a:p>
        </p:txBody>
      </p:sp>
      <p:sp>
        <p:nvSpPr>
          <p:cNvPr id="6" name="Text 4"/>
          <p:cNvSpPr txBox="1"/>
          <p:nvPr/>
        </p:nvSpPr>
        <p:spPr>
          <a:xfrm>
            <a:off x="813816" y="2167128"/>
            <a:ext cx="2064258" cy="548640"/>
          </a:xfrm>
          <a:prstGeom prst="rect">
            <a:avLst/>
          </a:prstGeom>
          <a:noFill/>
          <a:ln/>
        </p:spPr>
        <p:txBody>
          <a:bodyPr wrap="square" lIns="0" tIns="0" rIns="0" bIns="0" rtlCol="0" anchor="t"/>
          <a:lstStyle/>
          <a:p>
            <a:pPr indent="0" marL="0">
              <a:lnSpc>
                <a:spcPct val="105000"/>
              </a:lnSpc>
              <a:buNone/>
            </a:pPr>
            <a:r>
              <a:rPr lang="en-US" sz="1550" b="1" dirty="0">
                <a:solidFill>
                  <a:srgbClr val="111111"/>
                </a:solidFill>
                <a:latin typeface="Arial" pitchFamily="34" charset="0"/>
                <a:ea typeface="Arial" pitchFamily="34" charset="-122"/>
                <a:cs typeface="Arial" pitchFamily="34" charset="-120"/>
              </a:rPr>
              <a:t>Chia tập trước</a:t>
            </a:r>
            <a:endParaRPr lang="en-US" sz="1550" dirty="0"/>
          </a:p>
        </p:txBody>
      </p:sp>
      <p:sp>
        <p:nvSpPr>
          <p:cNvPr id="7" name="Text 5"/>
          <p:cNvSpPr txBox="1"/>
          <p:nvPr/>
        </p:nvSpPr>
        <p:spPr>
          <a:xfrm>
            <a:off x="813816" y="2715768"/>
            <a:ext cx="2064258" cy="475488"/>
          </a:xfrm>
          <a:prstGeom prst="rect">
            <a:avLst/>
          </a:prstGeom>
          <a:noFill/>
          <a:ln/>
        </p:spPr>
        <p:txBody>
          <a:bodyPr wrap="square" lIns="0" tIns="0" rIns="0" bIns="0" rtlCol="0" anchor="t"/>
          <a:lstStyle/>
          <a:p>
            <a:pPr indent="0" marL="0">
              <a:lnSpc>
                <a:spcPct val="110000"/>
              </a:lnSpc>
              <a:buNone/>
            </a:pPr>
            <a:r>
              <a:rPr lang="en-US" sz="1100" dirty="0">
                <a:solidFill>
                  <a:srgbClr val="6B6B6B"/>
                </a:solidFill>
                <a:latin typeface="Arial" pitchFamily="34" charset="0"/>
                <a:ea typeface="Arial" pitchFamily="34" charset="-122"/>
                <a:cs typeface="Arial" pitchFamily="34" charset="-120"/>
              </a:rPr>
              <a:t>800 development / 200 test, phân tầng, seed 42</a:t>
            </a:r>
            <a:endParaRPr lang="en-US" sz="1100" dirty="0"/>
          </a:p>
        </p:txBody>
      </p:sp>
      <p:sp>
        <p:nvSpPr>
          <p:cNvPr id="8" name="Text 6"/>
          <p:cNvSpPr txBox="1"/>
          <p:nvPr/>
        </p:nvSpPr>
        <p:spPr>
          <a:xfrm>
            <a:off x="3024378" y="2377440"/>
            <a:ext cx="475488" cy="365760"/>
          </a:xfrm>
          <a:prstGeom prst="rect">
            <a:avLst/>
          </a:prstGeom>
          <a:noFill/>
          <a:ln/>
        </p:spPr>
        <p:txBody>
          <a:bodyPr wrap="square" lIns="0" tIns="0" rIns="0" bIns="0" rtlCol="0" anchor="t"/>
          <a:lstStyle/>
          <a:p>
            <a:pPr algn="ctr" indent="0" marL="0">
              <a:buNone/>
            </a:pPr>
            <a:r>
              <a:rPr lang="en-US" sz="2000" dirty="0">
                <a:solidFill>
                  <a:srgbClr val="6B6B6B"/>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3499866" y="1783080"/>
            <a:ext cx="2356866" cy="1627632"/>
          </a:xfrm>
          <a:prstGeom prst="rect">
            <a:avLst/>
          </a:prstGeom>
          <a:solidFill>
            <a:srgbClr val="FFFFFF"/>
          </a:solidFill>
          <a:ln w="12700">
            <a:solidFill>
              <a:srgbClr val="8C8C8C"/>
            </a:solidFill>
            <a:prstDash val="solid"/>
          </a:ln>
        </p:spPr>
      </p:sp>
      <p:sp>
        <p:nvSpPr>
          <p:cNvPr id="10" name="Text 8"/>
          <p:cNvSpPr txBox="1"/>
          <p:nvPr/>
        </p:nvSpPr>
        <p:spPr>
          <a:xfrm>
            <a:off x="3646170" y="1892808"/>
            <a:ext cx="640080" cy="256032"/>
          </a:xfrm>
          <a:prstGeom prst="rect">
            <a:avLst/>
          </a:prstGeom>
          <a:noFill/>
          <a:ln/>
        </p:spPr>
        <p:txBody>
          <a:bodyPr wrap="square" lIns="0" tIns="0" rIns="0" bIns="0" rtlCol="0" anchor="t"/>
          <a:lstStyle/>
          <a:p>
            <a:pPr indent="0" marL="0">
              <a:buNone/>
            </a:pPr>
            <a:r>
              <a:rPr lang="en-US" sz="1100" spc="100" kern="0" dirty="0">
                <a:solidFill>
                  <a:srgbClr val="6B6B6B"/>
                </a:solidFill>
                <a:latin typeface="Arial" pitchFamily="34" charset="0"/>
                <a:ea typeface="Arial" pitchFamily="34" charset="-122"/>
                <a:cs typeface="Arial" pitchFamily="34" charset="-120"/>
              </a:rPr>
              <a:t>02</a:t>
            </a:r>
            <a:endParaRPr lang="en-US" sz="1100" dirty="0"/>
          </a:p>
        </p:txBody>
      </p:sp>
      <p:sp>
        <p:nvSpPr>
          <p:cNvPr id="11" name="Text 9"/>
          <p:cNvSpPr txBox="1"/>
          <p:nvPr/>
        </p:nvSpPr>
        <p:spPr>
          <a:xfrm>
            <a:off x="3646170" y="2167128"/>
            <a:ext cx="2064258" cy="548640"/>
          </a:xfrm>
          <a:prstGeom prst="rect">
            <a:avLst/>
          </a:prstGeom>
          <a:noFill/>
          <a:ln/>
        </p:spPr>
        <p:txBody>
          <a:bodyPr wrap="square" lIns="0" tIns="0" rIns="0" bIns="0" rtlCol="0" anchor="t"/>
          <a:lstStyle/>
          <a:p>
            <a:pPr indent="0" marL="0">
              <a:lnSpc>
                <a:spcPct val="105000"/>
              </a:lnSpc>
              <a:buNone/>
            </a:pPr>
            <a:r>
              <a:rPr lang="en-US" sz="1550" b="1" dirty="0">
                <a:solidFill>
                  <a:srgbClr val="111111"/>
                </a:solidFill>
                <a:latin typeface="Arial" pitchFamily="34" charset="0"/>
                <a:ea typeface="Arial" pitchFamily="34" charset="-122"/>
                <a:cs typeface="Arial" pitchFamily="34" charset="-120"/>
              </a:rPr>
              <a:t>Chuẩn hóa trong từng fold</a:t>
            </a:r>
            <a:endParaRPr lang="en-US" sz="1550" dirty="0"/>
          </a:p>
        </p:txBody>
      </p:sp>
      <p:sp>
        <p:nvSpPr>
          <p:cNvPr id="12" name="Text 10"/>
          <p:cNvSpPr txBox="1"/>
          <p:nvPr/>
        </p:nvSpPr>
        <p:spPr>
          <a:xfrm>
            <a:off x="3646170" y="2715768"/>
            <a:ext cx="2064258" cy="475488"/>
          </a:xfrm>
          <a:prstGeom prst="rect">
            <a:avLst/>
          </a:prstGeom>
          <a:noFill/>
          <a:ln/>
        </p:spPr>
        <p:txBody>
          <a:bodyPr wrap="square" lIns="0" tIns="0" rIns="0" bIns="0" rtlCol="0" anchor="t"/>
          <a:lstStyle/>
          <a:p>
            <a:pPr indent="0" marL="0">
              <a:lnSpc>
                <a:spcPct val="110000"/>
              </a:lnSpc>
              <a:buNone/>
            </a:pPr>
            <a:r>
              <a:rPr lang="en-US" sz="1100" dirty="0">
                <a:solidFill>
                  <a:srgbClr val="6B6B6B"/>
                </a:solidFill>
                <a:latin typeface="Arial" pitchFamily="34" charset="0"/>
                <a:ea typeface="Arial" pitchFamily="34" charset="-122"/>
                <a:cs typeface="Arial" pitchFamily="34" charset="-120"/>
              </a:rPr>
              <a:t>min–max + one-hot, chỉ fit trên train của fold</a:t>
            </a:r>
            <a:endParaRPr lang="en-US" sz="1100" dirty="0"/>
          </a:p>
        </p:txBody>
      </p:sp>
      <p:sp>
        <p:nvSpPr>
          <p:cNvPr id="13" name="Text 11"/>
          <p:cNvSpPr txBox="1"/>
          <p:nvPr/>
        </p:nvSpPr>
        <p:spPr>
          <a:xfrm>
            <a:off x="5856732" y="2377440"/>
            <a:ext cx="475488" cy="365760"/>
          </a:xfrm>
          <a:prstGeom prst="rect">
            <a:avLst/>
          </a:prstGeom>
          <a:noFill/>
          <a:ln/>
        </p:spPr>
        <p:txBody>
          <a:bodyPr wrap="square" lIns="0" tIns="0" rIns="0" bIns="0" rtlCol="0" anchor="t"/>
          <a:lstStyle/>
          <a:p>
            <a:pPr algn="ctr" indent="0" marL="0">
              <a:buNone/>
            </a:pPr>
            <a:r>
              <a:rPr lang="en-US" sz="2000" dirty="0">
                <a:solidFill>
                  <a:srgbClr val="6B6B6B"/>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6332220" y="1783080"/>
            <a:ext cx="2356866" cy="1627632"/>
          </a:xfrm>
          <a:prstGeom prst="rect">
            <a:avLst/>
          </a:prstGeom>
          <a:solidFill>
            <a:srgbClr val="FFFFFF"/>
          </a:solidFill>
          <a:ln w="12700">
            <a:solidFill>
              <a:srgbClr val="8C8C8C"/>
            </a:solidFill>
            <a:prstDash val="solid"/>
          </a:ln>
        </p:spPr>
      </p:sp>
      <p:sp>
        <p:nvSpPr>
          <p:cNvPr id="15" name="Text 13"/>
          <p:cNvSpPr txBox="1"/>
          <p:nvPr/>
        </p:nvSpPr>
        <p:spPr>
          <a:xfrm>
            <a:off x="6478524" y="1892808"/>
            <a:ext cx="640080" cy="256032"/>
          </a:xfrm>
          <a:prstGeom prst="rect">
            <a:avLst/>
          </a:prstGeom>
          <a:noFill/>
          <a:ln/>
        </p:spPr>
        <p:txBody>
          <a:bodyPr wrap="square" lIns="0" tIns="0" rIns="0" bIns="0" rtlCol="0" anchor="t"/>
          <a:lstStyle/>
          <a:p>
            <a:pPr indent="0" marL="0">
              <a:buNone/>
            </a:pPr>
            <a:r>
              <a:rPr lang="en-US" sz="1100" spc="100" kern="0" dirty="0">
                <a:solidFill>
                  <a:srgbClr val="6B6B6B"/>
                </a:solidFill>
                <a:latin typeface="Arial" pitchFamily="34" charset="0"/>
                <a:ea typeface="Arial" pitchFamily="34" charset="-122"/>
                <a:cs typeface="Arial" pitchFamily="34" charset="-120"/>
              </a:rPr>
              <a:t>03</a:t>
            </a:r>
            <a:endParaRPr lang="en-US" sz="1100" dirty="0"/>
          </a:p>
        </p:txBody>
      </p:sp>
      <p:sp>
        <p:nvSpPr>
          <p:cNvPr id="16" name="Text 14"/>
          <p:cNvSpPr txBox="1"/>
          <p:nvPr/>
        </p:nvSpPr>
        <p:spPr>
          <a:xfrm>
            <a:off x="6478524" y="2167128"/>
            <a:ext cx="2064258" cy="548640"/>
          </a:xfrm>
          <a:prstGeom prst="rect">
            <a:avLst/>
          </a:prstGeom>
          <a:noFill/>
          <a:ln/>
        </p:spPr>
        <p:txBody>
          <a:bodyPr wrap="square" lIns="0" tIns="0" rIns="0" bIns="0" rtlCol="0" anchor="t"/>
          <a:lstStyle/>
          <a:p>
            <a:pPr indent="0" marL="0">
              <a:lnSpc>
                <a:spcPct val="105000"/>
              </a:lnSpc>
              <a:buNone/>
            </a:pPr>
            <a:r>
              <a:rPr lang="en-US" sz="1550" b="1" dirty="0">
                <a:solidFill>
                  <a:srgbClr val="111111"/>
                </a:solidFill>
                <a:latin typeface="Arial" pitchFamily="34" charset="0"/>
                <a:ea typeface="Arial" pitchFamily="34" charset="-122"/>
                <a:cs typeface="Arial" pitchFamily="34" charset="-120"/>
              </a:rPr>
              <a:t>5-fold stratified CV</a:t>
            </a:r>
            <a:endParaRPr lang="en-US" sz="1550" dirty="0"/>
          </a:p>
        </p:txBody>
      </p:sp>
      <p:sp>
        <p:nvSpPr>
          <p:cNvPr id="17" name="Text 15"/>
          <p:cNvSpPr txBox="1"/>
          <p:nvPr/>
        </p:nvSpPr>
        <p:spPr>
          <a:xfrm>
            <a:off x="6478524" y="2715768"/>
            <a:ext cx="2064258" cy="475488"/>
          </a:xfrm>
          <a:prstGeom prst="rect">
            <a:avLst/>
          </a:prstGeom>
          <a:noFill/>
          <a:ln/>
        </p:spPr>
        <p:txBody>
          <a:bodyPr wrap="square" lIns="0" tIns="0" rIns="0" bIns="0" rtlCol="0" anchor="t"/>
          <a:lstStyle/>
          <a:p>
            <a:pPr indent="0" marL="0">
              <a:lnSpc>
                <a:spcPct val="110000"/>
              </a:lnSpc>
              <a:buNone/>
            </a:pPr>
            <a:r>
              <a:rPr lang="en-US" sz="1100" dirty="0">
                <a:solidFill>
                  <a:srgbClr val="6B6B6B"/>
                </a:solidFill>
                <a:latin typeface="Arial" pitchFamily="34" charset="0"/>
                <a:ea typeface="Arial" pitchFamily="34" charset="-122"/>
                <a:cs typeface="Arial" pitchFamily="34" charset="-120"/>
              </a:rPr>
              <a:t>cùng chỉ số fold cho mọi ứng viên, chọn theo macro F1</a:t>
            </a:r>
            <a:endParaRPr lang="en-US" sz="1100" dirty="0"/>
          </a:p>
        </p:txBody>
      </p:sp>
      <p:sp>
        <p:nvSpPr>
          <p:cNvPr id="18" name="Text 16"/>
          <p:cNvSpPr txBox="1"/>
          <p:nvPr/>
        </p:nvSpPr>
        <p:spPr>
          <a:xfrm>
            <a:off x="8689086" y="2377440"/>
            <a:ext cx="475488" cy="365760"/>
          </a:xfrm>
          <a:prstGeom prst="rect">
            <a:avLst/>
          </a:prstGeom>
          <a:noFill/>
          <a:ln/>
        </p:spPr>
        <p:txBody>
          <a:bodyPr wrap="square" lIns="0" tIns="0" rIns="0" bIns="0" rtlCol="0" anchor="t"/>
          <a:lstStyle/>
          <a:p>
            <a:pPr algn="ctr" indent="0" marL="0">
              <a:buNone/>
            </a:pPr>
            <a:r>
              <a:rPr lang="en-US" sz="2000" dirty="0">
                <a:solidFill>
                  <a:srgbClr val="6B6B6B"/>
                </a:solidFill>
                <a:latin typeface="Arial" pitchFamily="34" charset="0"/>
                <a:ea typeface="Arial" pitchFamily="34" charset="-122"/>
                <a:cs typeface="Arial" pitchFamily="34" charset="-120"/>
              </a:rPr>
              <a:t>→</a:t>
            </a:r>
            <a:endParaRPr lang="en-US" sz="2000" dirty="0"/>
          </a:p>
        </p:txBody>
      </p:sp>
      <p:sp>
        <p:nvSpPr>
          <p:cNvPr id="19" name="Shape 17"/>
          <p:cNvSpPr/>
          <p:nvPr/>
        </p:nvSpPr>
        <p:spPr>
          <a:xfrm>
            <a:off x="9164574" y="1783080"/>
            <a:ext cx="2356866" cy="1627632"/>
          </a:xfrm>
          <a:prstGeom prst="rect">
            <a:avLst/>
          </a:prstGeom>
          <a:solidFill>
            <a:srgbClr val="FFFFFF"/>
          </a:solidFill>
          <a:ln w="12700">
            <a:solidFill>
              <a:srgbClr val="8C8C8C"/>
            </a:solidFill>
            <a:prstDash val="solid"/>
          </a:ln>
        </p:spPr>
      </p:sp>
      <p:sp>
        <p:nvSpPr>
          <p:cNvPr id="20" name="Text 18"/>
          <p:cNvSpPr txBox="1"/>
          <p:nvPr/>
        </p:nvSpPr>
        <p:spPr>
          <a:xfrm>
            <a:off x="9310878" y="1892808"/>
            <a:ext cx="640080" cy="256032"/>
          </a:xfrm>
          <a:prstGeom prst="rect">
            <a:avLst/>
          </a:prstGeom>
          <a:noFill/>
          <a:ln/>
        </p:spPr>
        <p:txBody>
          <a:bodyPr wrap="square" lIns="0" tIns="0" rIns="0" bIns="0" rtlCol="0" anchor="t"/>
          <a:lstStyle/>
          <a:p>
            <a:pPr indent="0" marL="0">
              <a:buNone/>
            </a:pPr>
            <a:r>
              <a:rPr lang="en-US" sz="1100" spc="100" kern="0" dirty="0">
                <a:solidFill>
                  <a:srgbClr val="6B6B6B"/>
                </a:solidFill>
                <a:latin typeface="Arial" pitchFamily="34" charset="0"/>
                <a:ea typeface="Arial" pitchFamily="34" charset="-122"/>
                <a:cs typeface="Arial" pitchFamily="34" charset="-120"/>
              </a:rPr>
              <a:t>04</a:t>
            </a:r>
            <a:endParaRPr lang="en-US" sz="1100" dirty="0"/>
          </a:p>
        </p:txBody>
      </p:sp>
      <p:sp>
        <p:nvSpPr>
          <p:cNvPr id="21" name="Text 19"/>
          <p:cNvSpPr txBox="1"/>
          <p:nvPr/>
        </p:nvSpPr>
        <p:spPr>
          <a:xfrm>
            <a:off x="9310878" y="2167128"/>
            <a:ext cx="2064258" cy="548640"/>
          </a:xfrm>
          <a:prstGeom prst="rect">
            <a:avLst/>
          </a:prstGeom>
          <a:noFill/>
          <a:ln/>
        </p:spPr>
        <p:txBody>
          <a:bodyPr wrap="square" lIns="0" tIns="0" rIns="0" bIns="0" rtlCol="0" anchor="t"/>
          <a:lstStyle/>
          <a:p>
            <a:pPr indent="0" marL="0">
              <a:lnSpc>
                <a:spcPct val="105000"/>
              </a:lnSpc>
              <a:buNone/>
            </a:pPr>
            <a:r>
              <a:rPr lang="en-US" sz="1550" b="1" dirty="0">
                <a:solidFill>
                  <a:srgbClr val="111111"/>
                </a:solidFill>
                <a:latin typeface="Arial" pitchFamily="34" charset="0"/>
                <a:ea typeface="Arial" pitchFamily="34" charset="-122"/>
                <a:cs typeface="Arial" pitchFamily="34" charset="-120"/>
              </a:rPr>
              <a:t>Test đúng một lần</a:t>
            </a:r>
            <a:endParaRPr lang="en-US" sz="1550" dirty="0"/>
          </a:p>
        </p:txBody>
      </p:sp>
      <p:sp>
        <p:nvSpPr>
          <p:cNvPr id="22" name="Text 20"/>
          <p:cNvSpPr txBox="1"/>
          <p:nvPr/>
        </p:nvSpPr>
        <p:spPr>
          <a:xfrm>
            <a:off x="9310878" y="2715768"/>
            <a:ext cx="2064258" cy="475488"/>
          </a:xfrm>
          <a:prstGeom prst="rect">
            <a:avLst/>
          </a:prstGeom>
          <a:noFill/>
          <a:ln/>
        </p:spPr>
        <p:txBody>
          <a:bodyPr wrap="square" lIns="0" tIns="0" rIns="0" bIns="0" rtlCol="0" anchor="t"/>
          <a:lstStyle/>
          <a:p>
            <a:pPr indent="0" marL="0">
              <a:lnSpc>
                <a:spcPct val="110000"/>
              </a:lnSpc>
              <a:buNone/>
            </a:pPr>
            <a:r>
              <a:rPr lang="en-US" sz="1100" dirty="0">
                <a:solidFill>
                  <a:srgbClr val="6B6B6B"/>
                </a:solidFill>
                <a:latin typeface="Arial" pitchFamily="34" charset="0"/>
                <a:ea typeface="Arial" pitchFamily="34" charset="-122"/>
                <a:cs typeface="Arial" pitchFamily="34" charset="-120"/>
              </a:rPr>
              <a:t>refit trên 800 hồ sơ rồi mới dự đoán 200 hồ sơ</a:t>
            </a:r>
            <a:endParaRPr lang="en-US" sz="1100" dirty="0"/>
          </a:p>
        </p:txBody>
      </p:sp>
      <p:sp>
        <p:nvSpPr>
          <p:cNvPr id="23" name="Shape 21"/>
          <p:cNvSpPr/>
          <p:nvPr/>
        </p:nvSpPr>
        <p:spPr>
          <a:xfrm>
            <a:off x="667512" y="3803904"/>
            <a:ext cx="10853928" cy="0"/>
          </a:xfrm>
          <a:prstGeom prst="line">
            <a:avLst/>
          </a:prstGeom>
          <a:noFill/>
          <a:ln w="9525">
            <a:solidFill>
              <a:srgbClr val="D5D5D5"/>
            </a:solidFill>
            <a:prstDash val="solid"/>
          </a:ln>
        </p:spPr>
      </p:sp>
      <p:sp>
        <p:nvSpPr>
          <p:cNvPr id="24" name="Text 22"/>
          <p:cNvSpPr txBox="1"/>
          <p:nvPr/>
        </p:nvSpPr>
        <p:spPr>
          <a:xfrm>
            <a:off x="667512" y="3968496"/>
            <a:ext cx="10853928" cy="2176272"/>
          </a:xfrm>
          <a:prstGeom prst="rect">
            <a:avLst/>
          </a:prstGeom>
          <a:noFill/>
          <a:ln/>
        </p:spPr>
        <p:txBody>
          <a:bodyPr wrap="square" lIns="0" tIns="0" rIns="0" bIns="0" rtlCol="0" anchor="t"/>
          <a:lstStyle/>
          <a:p>
            <a:pPr marL="342900" indent="-342900">
              <a:lnSpc>
                <a:spcPct val="106000"/>
              </a:lnSpc>
              <a:spcAft>
                <a:spcPts val="1400"/>
              </a:spcAft>
              <a:buSzPct val="100000"/>
              <a:buChar char="–"/>
            </a:pPr>
            <a:r>
              <a:rPr lang="en-US" sz="1750" b="1" dirty="0">
                <a:solidFill>
                  <a:srgbClr val="111111"/>
                </a:solidFill>
                <a:latin typeface="Arial" pitchFamily="34" charset="0"/>
                <a:ea typeface="Arial" pitchFamily="34" charset="-122"/>
                <a:cs typeface="Arial" pitchFamily="34" charset="-120"/>
              </a:rPr>
              <a:t>Toàn bộ lựa chọn hoàn tất trước khi sinh bất kỳ dự đoán test nào</a:t>
            </a:r>
            <a:endParaRPr lang="en-US" sz="1750" dirty="0"/>
          </a:p>
          <a:p>
            <a:pPr marL="342900" indent="-342900">
              <a:lnSpc>
                <a:spcPct val="106000"/>
              </a:lnSpc>
              <a:spcAft>
                <a:spcPts val="1400"/>
              </a:spcAft>
              <a:buSzPct val="100000"/>
              <a:buChar char="–"/>
            </a:pPr>
            <a:r>
              <a:rPr lang="en-US" sz="1750" dirty="0">
                <a:solidFill>
                  <a:srgbClr val="111111"/>
                </a:solidFill>
                <a:latin typeface="Arial" pitchFamily="34" charset="0"/>
                <a:ea typeface="Arial" pitchFamily="34" charset="-122"/>
                <a:cs typeface="Arial" pitchFamily="34" charset="-120"/>
              </a:rPr>
              <a:t>.</a:t>
            </a:r>
            <a:endParaRPr lang="en-US" sz="1750" dirty="0"/>
          </a:p>
          <a:p>
            <a:pPr marL="342900" indent="-342900">
              <a:lnSpc>
                <a:spcPct val="106000"/>
              </a:lnSpc>
              <a:spcAft>
                <a:spcPts val="1400"/>
              </a:spcAft>
              <a:buSzPct val="100000"/>
              <a:buChar char="–"/>
            </a:pPr>
            <a:r>
              <a:rPr lang="en-US" sz="1750" b="1" dirty="0">
                <a:solidFill>
                  <a:srgbClr val="111111"/>
                </a:solidFill>
                <a:latin typeface="Arial" pitchFamily="34" charset="0"/>
                <a:ea typeface="Arial" pitchFamily="34" charset="-122"/>
                <a:cs typeface="Arial" pitchFamily="34" charset="-120"/>
              </a:rPr>
              <a:t>Mọi mô hình dùng chung một phép biến đổi</a:t>
            </a:r>
            <a:endParaRPr lang="en-US" sz="1750" dirty="0"/>
          </a:p>
          <a:p>
            <a:pPr marL="342900" indent="-342900">
              <a:lnSpc>
                <a:spcPct val="106000"/>
              </a:lnSpc>
              <a:spcAft>
                <a:spcPts val="1400"/>
              </a:spcAft>
              <a:buSzPct val="100000"/>
              <a:buChar char="–"/>
            </a:pPr>
            <a:r>
              <a:rPr lang="en-US" sz="1750" dirty="0">
                <a:solidFill>
                  <a:srgbClr val="111111"/>
                </a:solidFill>
                <a:latin typeface="Arial" pitchFamily="34" charset="0"/>
                <a:ea typeface="Arial" pitchFamily="34" charset="-122"/>
                <a:cs typeface="Arial" pitchFamily="34" charset="-120"/>
              </a:rPr>
              <a:t>, nên so sánh giữa chúng là công bằng.</a:t>
            </a:r>
            <a:endParaRPr lang="en-US" sz="1750" dirty="0"/>
          </a:p>
          <a:p>
            <a:pPr marL="342900" indent="-342900">
              <a:lnSpc>
                <a:spcPct val="106000"/>
              </a:lnSpc>
              <a:spcAft>
                <a:spcPts val="1400"/>
              </a:spcAft>
              <a:buSzPct val="100000"/>
              <a:buChar char="–"/>
            </a:pPr>
            <a:r>
              <a:rPr lang="en-US" sz="1750" b="1" dirty="0">
                <a:solidFill>
                  <a:srgbClr val="111111"/>
                </a:solidFill>
                <a:latin typeface="Arial" pitchFamily="34" charset="0"/>
                <a:ea typeface="Arial" pitchFamily="34" charset="-122"/>
                <a:cs typeface="Arial" pitchFamily="34" charset="-120"/>
              </a:rPr>
              <a:t>Giữ nguyên ngoại lai hợp lệ</a:t>
            </a:r>
            <a:endParaRPr lang="en-US" sz="1750" dirty="0"/>
          </a:p>
          <a:p>
            <a:pPr marL="342900" indent="-342900">
              <a:lnSpc>
                <a:spcPct val="106000"/>
              </a:lnSpc>
              <a:spcAft>
                <a:spcPts val="1400"/>
              </a:spcAft>
              <a:buSzPct val="100000"/>
              <a:buChar char="–"/>
            </a:pPr>
            <a:r>
              <a:rPr lang="en-US" sz="1750" dirty="0">
                <a:solidFill>
                  <a:srgbClr val="111111"/>
                </a:solidFill>
                <a:latin typeface="Arial" pitchFamily="34" charset="0"/>
                <a:ea typeface="Arial" pitchFamily="34" charset="-122"/>
                <a:cs typeface="Arial" pitchFamily="34" charset="-120"/>
              </a:rPr>
              <a:t> — cờ IQR chỉ là mô tả, không phải bằng chứng dữ liệu sai.</a:t>
            </a:r>
            <a:endParaRPr lang="en-US" sz="1750" dirty="0"/>
          </a:p>
          <a:p>
            <a:pPr marL="342900" indent="-342900">
              <a:lnSpc>
                <a:spcPct val="106000"/>
              </a:lnSpc>
              <a:spcAft>
                <a:spcPts val="1400"/>
              </a:spcAft>
              <a:buSzPct val="100000"/>
              <a:buChar char="–"/>
            </a:pPr>
            <a:r>
              <a:rPr lang="en-US" sz="1750" b="1" dirty="0">
                <a:solidFill>
                  <a:srgbClr val="111111"/>
                </a:solidFill>
                <a:latin typeface="Arial" pitchFamily="34" charset="0"/>
                <a:ea typeface="Arial" pitchFamily="34" charset="-122"/>
                <a:cs typeface="Arial" pitchFamily="34" charset="-120"/>
              </a:rPr>
              <a:t>Baseline đa số</a:t>
            </a:r>
            <a:endParaRPr lang="en-US" sz="1750" dirty="0"/>
          </a:p>
          <a:p>
            <a:pPr marL="342900" indent="-342900">
              <a:lnSpc>
                <a:spcPct val="106000"/>
              </a:lnSpc>
              <a:spcAft>
                <a:spcPts val="1400"/>
              </a:spcAft>
              <a:buSzPct val="100000"/>
              <a:buChar char="–"/>
            </a:pPr>
            <a:r>
              <a:rPr lang="en-US" sz="1750" dirty="0">
                <a:solidFill>
                  <a:srgbClr val="111111"/>
                </a:solidFill>
                <a:latin typeface="Arial" pitchFamily="34" charset="0"/>
                <a:ea typeface="Arial" pitchFamily="34" charset="-122"/>
                <a:cs typeface="Arial" pitchFamily="34" charset="-120"/>
              </a:rPr>
              <a:t> đạt macro F1 0.412 trên test, dùng làm mốc tham chiếu.</a:t>
            </a:r>
            <a:endParaRPr lang="en-US" sz="175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CÂU 2 · CHỌN MÔ HÌNH</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14 mô hình và một baseline, chọn bằng cross-validation</a:t>
            </a:r>
            <a:endParaRPr lang="en-US" sz="2600" dirty="0"/>
          </a:p>
        </p:txBody>
      </p:sp>
      <p:pic>
        <p:nvPicPr>
          <p:cNvPr id="4" name="Image 0" descr="/home/towfienes/TDTU/ML/MidTerm/presentation/figures/fig_q2_cv.png">    </p:cNvPr>
          <p:cNvPicPr>
            <a:picLocks noChangeAspect="1"/>
          </p:cNvPicPr>
          <p:nvPr/>
        </p:nvPicPr>
        <p:blipFill>
          <a:blip r:embed="rId1"/>
          <a:stretch>
            <a:fillRect/>
          </a:stretch>
        </p:blipFill>
        <p:spPr>
          <a:xfrm>
            <a:off x="667512" y="1481328"/>
            <a:ext cx="5943600" cy="4160520"/>
          </a:xfrm>
          <a:prstGeom prst="rect">
            <a:avLst/>
          </a:prstGeom>
        </p:spPr>
      </p:pic>
      <p:sp>
        <p:nvSpPr>
          <p:cNvPr id="5" name="Text 2"/>
          <p:cNvSpPr txBox="1"/>
          <p:nvPr/>
        </p:nvSpPr>
        <p:spPr>
          <a:xfrm>
            <a:off x="6903720" y="1627632"/>
            <a:ext cx="4617720" cy="4517136"/>
          </a:xfrm>
          <a:prstGeom prst="rect">
            <a:avLst/>
          </a:prstGeom>
          <a:noFill/>
          <a:ln/>
        </p:spPr>
        <p:txBody>
          <a:bodyPr wrap="square" lIns="0" tIns="0" rIns="0" bIns="0" rtlCol="0" anchor="t"/>
          <a:lstStyle/>
          <a:p>
            <a:pPr marL="342900" indent="-342900">
              <a:lnSpc>
                <a:spcPct val="106000"/>
              </a:lnSpc>
              <a:spcAft>
                <a:spcPts val="1400"/>
              </a:spcAft>
              <a:buSzPct val="100000"/>
              <a:buChar char="–"/>
            </a:pPr>
            <a:r>
              <a:rPr lang="en-US" sz="1650" b="1" dirty="0">
                <a:solidFill>
                  <a:srgbClr val="111111"/>
                </a:solidFill>
                <a:latin typeface="Arial" pitchFamily="34" charset="0"/>
                <a:ea typeface="Arial" pitchFamily="34" charset="-122"/>
                <a:cs typeface="Arial" pitchFamily="34" charset="-120"/>
              </a:rPr>
              <a:t>Ba kernel SVM</a:t>
            </a:r>
            <a:endParaRPr lang="en-US" sz="1650" dirty="0"/>
          </a:p>
          <a:p>
            <a:pPr marL="342900" indent="-342900">
              <a:lnSpc>
                <a:spcPct val="106000"/>
              </a:lnSpc>
              <a:spcAft>
                <a:spcPts val="1400"/>
              </a:spcAft>
              <a:buSzPct val="100000"/>
              <a:buChar char="–"/>
            </a:pPr>
            <a:r>
              <a:rPr lang="en-US" sz="1650" dirty="0">
                <a:solidFill>
                  <a:srgbClr val="111111"/>
                </a:solidFill>
                <a:latin typeface="Arial" pitchFamily="34" charset="0"/>
                <a:ea typeface="Arial" pitchFamily="34" charset="-122"/>
                <a:cs typeface="Arial" pitchFamily="34" charset="-120"/>
              </a:rPr>
              <a:t> là ba biến thể của một họ, không phải ba họ độc lập.</a:t>
            </a:r>
            <a:endParaRPr lang="en-US" sz="1650" dirty="0"/>
          </a:p>
          <a:p>
            <a:pPr marL="342900" indent="-342900">
              <a:lnSpc>
                <a:spcPct val="106000"/>
              </a:lnSpc>
              <a:spcAft>
                <a:spcPts val="1400"/>
              </a:spcAft>
              <a:buSzPct val="100000"/>
              <a:buChar char="–"/>
            </a:pPr>
            <a:r>
              <a:rPr lang="en-US" sz="1650" dirty="0">
                <a:solidFill>
                  <a:srgbClr val="111111"/>
                </a:solidFill>
                <a:latin typeface="Arial" pitchFamily="34" charset="0"/>
                <a:ea typeface="Arial" pitchFamily="34" charset="-122"/>
                <a:cs typeface="Arial" pitchFamily="34" charset="-120"/>
              </a:rPr>
              <a:t>Dẫn đầu: MLP </a:t>
            </a:r>
            <a:endParaRPr lang="en-US" sz="1650" dirty="0"/>
          </a:p>
          <a:p>
            <a:pPr marL="342900" indent="-342900">
              <a:lnSpc>
                <a:spcPct val="106000"/>
              </a:lnSpc>
              <a:spcAft>
                <a:spcPts val="1400"/>
              </a:spcAft>
              <a:buSzPct val="100000"/>
              <a:buChar char="–"/>
            </a:pPr>
            <a:r>
              <a:rPr lang="en-US" sz="1650" b="1" dirty="0">
                <a:solidFill>
                  <a:srgbClr val="111111"/>
                </a:solidFill>
                <a:latin typeface="Arial" pitchFamily="34" charset="0"/>
                <a:ea typeface="Arial" pitchFamily="34" charset="-122"/>
                <a:cs typeface="Arial" pitchFamily="34" charset="-120"/>
              </a:rPr>
              <a:t>0.696</a:t>
            </a:r>
            <a:endParaRPr lang="en-US" sz="1650" dirty="0"/>
          </a:p>
          <a:p>
            <a:pPr marL="342900" indent="-342900">
              <a:lnSpc>
                <a:spcPct val="106000"/>
              </a:lnSpc>
              <a:spcAft>
                <a:spcPts val="1400"/>
              </a:spcAft>
              <a:buSzPct val="100000"/>
              <a:buChar char="–"/>
            </a:pPr>
            <a:r>
              <a:rPr lang="en-US" sz="1650" dirty="0">
                <a:solidFill>
                  <a:srgbClr val="111111"/>
                </a:solidFill>
                <a:latin typeface="Arial" pitchFamily="34" charset="0"/>
                <a:ea typeface="Arial" pitchFamily="34" charset="-122"/>
                <a:cs typeface="Arial" pitchFamily="34" charset="-120"/>
              </a:rPr>
              <a:t> · Bernoulli NB </a:t>
            </a:r>
            <a:endParaRPr lang="en-US" sz="1650" dirty="0"/>
          </a:p>
          <a:p>
            <a:pPr marL="342900" indent="-342900">
              <a:lnSpc>
                <a:spcPct val="106000"/>
              </a:lnSpc>
              <a:spcAft>
                <a:spcPts val="1400"/>
              </a:spcAft>
              <a:buSzPct val="100000"/>
              <a:buChar char="–"/>
            </a:pPr>
            <a:r>
              <a:rPr lang="en-US" sz="1650" b="1" dirty="0">
                <a:solidFill>
                  <a:srgbClr val="111111"/>
                </a:solidFill>
                <a:latin typeface="Arial" pitchFamily="34" charset="0"/>
                <a:ea typeface="Arial" pitchFamily="34" charset="-122"/>
                <a:cs typeface="Arial" pitchFamily="34" charset="-120"/>
              </a:rPr>
              <a:t>0.694</a:t>
            </a:r>
            <a:endParaRPr lang="en-US" sz="1650" dirty="0"/>
          </a:p>
          <a:p>
            <a:pPr marL="342900" indent="-342900">
              <a:lnSpc>
                <a:spcPct val="106000"/>
              </a:lnSpc>
              <a:spcAft>
                <a:spcPts val="1400"/>
              </a:spcAft>
              <a:buSzPct val="100000"/>
              <a:buChar char="–"/>
            </a:pPr>
            <a:r>
              <a:rPr lang="en-US" sz="1650" dirty="0">
                <a:solidFill>
                  <a:srgbClr val="111111"/>
                </a:solidFill>
                <a:latin typeface="Arial" pitchFamily="34" charset="0"/>
                <a:ea typeface="Arial" pitchFamily="34" charset="-122"/>
                <a:cs typeface="Arial" pitchFamily="34" charset="-120"/>
              </a:rPr>
              <a:t>Chênh lệch top 2 nhỏ hơn độ lệch chuẩn giữa các fold (±</a:t>
            </a:r>
            <a:endParaRPr lang="en-US" sz="1650" dirty="0"/>
          </a:p>
          <a:p>
            <a:pPr marL="342900" indent="-342900">
              <a:lnSpc>
                <a:spcPct val="106000"/>
              </a:lnSpc>
              <a:spcAft>
                <a:spcPts val="1400"/>
              </a:spcAft>
              <a:buSzPct val="100000"/>
              <a:buChar char="–"/>
            </a:pPr>
            <a:r>
              <a:rPr lang="en-US" sz="1650" b="1" dirty="0">
                <a:solidFill>
                  <a:srgbClr val="111111"/>
                </a:solidFill>
                <a:latin typeface="Arial" pitchFamily="34" charset="0"/>
                <a:ea typeface="Arial" pitchFamily="34" charset="-122"/>
                <a:cs typeface="Arial" pitchFamily="34" charset="-120"/>
              </a:rPr>
              <a:t>0.06</a:t>
            </a:r>
            <a:endParaRPr lang="en-US" sz="1650" dirty="0"/>
          </a:p>
          <a:p>
            <a:pPr marL="342900" indent="-342900">
              <a:lnSpc>
                <a:spcPct val="106000"/>
              </a:lnSpc>
              <a:spcAft>
                <a:spcPts val="1400"/>
              </a:spcAft>
              <a:buSzPct val="100000"/>
              <a:buChar char="–"/>
            </a:pPr>
            <a:r>
              <a:rPr lang="en-US" sz="1650" dirty="0">
                <a:solidFill>
                  <a:srgbClr val="111111"/>
                </a:solidFill>
                <a:latin typeface="Arial" pitchFamily="34" charset="0"/>
                <a:ea typeface="Arial" pitchFamily="34" charset="-122"/>
                <a:cs typeface="Arial" pitchFamily="34" charset="-120"/>
              </a:rPr>
              <a:t>) ⇒ chưa thể nói hơn kém.</a:t>
            </a:r>
            <a:endParaRPr lang="en-US" sz="1650" dirty="0"/>
          </a:p>
          <a:p>
            <a:pPr marL="342900" indent="-342900">
              <a:lnSpc>
                <a:spcPct val="106000"/>
              </a:lnSpc>
              <a:spcAft>
                <a:spcPts val="1400"/>
              </a:spcAft>
              <a:buSzPct val="100000"/>
              <a:buChar char="–"/>
            </a:pPr>
            <a:r>
              <a:rPr lang="en-US" sz="1650" b="1" dirty="0">
                <a:solidFill>
                  <a:srgbClr val="111111"/>
                </a:solidFill>
                <a:latin typeface="Arial" pitchFamily="34" charset="0"/>
                <a:ea typeface="Arial" pitchFamily="34" charset="-122"/>
                <a:cs typeface="Arial" pitchFamily="34" charset="-120"/>
              </a:rPr>
              <a:t>kNN chọn k = 1</a:t>
            </a:r>
            <a:endParaRPr lang="en-US" sz="1650" dirty="0"/>
          </a:p>
          <a:p>
            <a:pPr marL="342900" indent="-342900">
              <a:lnSpc>
                <a:spcPct val="106000"/>
              </a:lnSpc>
              <a:spcAft>
                <a:spcPts val="1400"/>
              </a:spcAft>
              <a:buSzPct val="100000"/>
              <a:buChar char="–"/>
            </a:pPr>
            <a:r>
              <a:rPr lang="en-US" sz="1650" dirty="0">
                <a:solidFill>
                  <a:srgbClr val="111111"/>
                </a:solidFill>
                <a:latin typeface="Arial" pitchFamily="34" charset="0"/>
                <a:ea typeface="Arial" pitchFamily="34" charset="-122"/>
                <a:cs typeface="Arial" pitchFamily="34" charset="-120"/>
              </a:rPr>
              <a:t> dù khoảng cách train–CV lớn: giữ đúng tiêu chí đã khai báo.</a:t>
            </a:r>
            <a:endParaRPr lang="en-US" sz="1650" dirty="0"/>
          </a:p>
        </p:txBody>
      </p:sp>
      <p:sp>
        <p:nvSpPr>
          <p:cNvPr id="6" name="Shape 3"/>
          <p:cNvSpPr/>
          <p:nvPr/>
        </p:nvSpPr>
        <p:spPr>
          <a:xfrm>
            <a:off x="6903720" y="4846320"/>
            <a:ext cx="4617720" cy="0"/>
          </a:xfrm>
          <a:prstGeom prst="line">
            <a:avLst/>
          </a:prstGeom>
          <a:noFill/>
          <a:ln w="9525">
            <a:solidFill>
              <a:srgbClr val="D5D5D5"/>
            </a:solidFill>
            <a:prstDash val="solid"/>
          </a:ln>
        </p:spPr>
      </p:sp>
      <p:sp>
        <p:nvSpPr>
          <p:cNvPr id="7" name="Text 4"/>
          <p:cNvSpPr txBox="1"/>
          <p:nvPr/>
        </p:nvSpPr>
        <p:spPr>
          <a:xfrm>
            <a:off x="6903720" y="4992624"/>
            <a:ext cx="4617720" cy="731520"/>
          </a:xfrm>
          <a:prstGeom prst="rect">
            <a:avLst/>
          </a:prstGeom>
          <a:noFill/>
          <a:ln/>
        </p:spPr>
        <p:txBody>
          <a:bodyPr wrap="square" lIns="0" tIns="0" rIns="0" bIns="0" rtlCol="0" anchor="t"/>
          <a:lstStyle/>
          <a:p>
            <a:pPr algn="l" indent="0" marL="0">
              <a:lnSpc>
                <a:spcPct val="130000"/>
              </a:lnSpc>
              <a:buNone/>
            </a:pPr>
            <a:r>
              <a:rPr lang="en-US" sz="1400" dirty="0">
                <a:solidFill>
                  <a:srgbClr val="6B6B6B"/>
                </a:solidFill>
                <a:latin typeface="Arial" pitchFamily="34" charset="0"/>
                <a:ea typeface="Arial" pitchFamily="34" charset="-122"/>
                <a:cs typeface="Arial" pitchFamily="34" charset="-120"/>
              </a:rPr>
              <a:t>Điểm CV dùng để chọn tham số nên không phải đánh giá độc lập; tập test giữ vai trò đó.</a:t>
            </a:r>
            <a:endParaRPr lang="en-US" sz="140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CÂU 2 · KẾT QUẢ TEST</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Trên 200 hồ sơ chưa từng thấy, khoảng cách rất hẹp</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7512" y="1645920"/>
          <a:ext cx="7223760" cy="914400"/>
        </p:xfrm>
        <a:graphic>
          <a:graphicData uri="http://schemas.openxmlformats.org/drawingml/2006/table">
            <a:tbl>
              <a:tblPr/>
              <a:tblGrid>
                <a:gridCol w="2926080"/>
                <a:gridCol w="1463040"/>
                <a:gridCol w="1463040"/>
                <a:gridCol w="1371600"/>
              </a:tblGrid>
              <a:tr h="402336">
                <a:tc>
                  <a:txBody>
                    <a:bodyPr/>
                    <a:lstStyle/>
                    <a:p>
                      <a:pPr algn="l" indent="0" marL="0">
                        <a:buNone/>
                      </a:pPr>
                      <a:r>
                        <a:rPr lang="en-US" sz="1400" b="1" dirty="0">
                          <a:solidFill>
                            <a:srgbClr val="111111"/>
                          </a:solidFill>
                          <a:latin typeface="Arial" pitchFamily="34" charset="0"/>
                          <a:ea typeface="Arial" pitchFamily="34" charset="-122"/>
                          <a:cs typeface="Arial" pitchFamily="34" charset="-120"/>
                        </a:rPr>
                        <a:t>Mô hình</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2F2F2"/>
                    </a:solidFill>
                  </a:tcPr>
                </a:tc>
                <a:tc>
                  <a:txBody>
                    <a:bodyPr/>
                    <a:lstStyle/>
                    <a:p>
                      <a:pPr algn="r" indent="0" marL="0">
                        <a:buNone/>
                      </a:pPr>
                      <a:r>
                        <a:rPr lang="en-US" sz="1400" b="1" dirty="0">
                          <a:solidFill>
                            <a:srgbClr val="111111"/>
                          </a:solidFill>
                          <a:latin typeface="Arial" pitchFamily="34" charset="0"/>
                          <a:ea typeface="Arial" pitchFamily="34" charset="-122"/>
                          <a:cs typeface="Arial" pitchFamily="34" charset="-120"/>
                        </a:rPr>
                        <a:t>Accuracy</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2F2F2"/>
                    </a:solidFill>
                  </a:tcPr>
                </a:tc>
                <a:tc>
                  <a:txBody>
                    <a:bodyPr/>
                    <a:lstStyle/>
                    <a:p>
                      <a:pPr algn="r" indent="0" marL="0">
                        <a:buNone/>
                      </a:pPr>
                      <a:r>
                        <a:rPr lang="en-US" sz="1400" b="1" dirty="0">
                          <a:solidFill>
                            <a:srgbClr val="111111"/>
                          </a:solidFill>
                          <a:latin typeface="Arial" pitchFamily="34" charset="0"/>
                          <a:ea typeface="Arial" pitchFamily="34" charset="-122"/>
                          <a:cs typeface="Arial" pitchFamily="34" charset="-120"/>
                        </a:rPr>
                        <a:t>Macro F1</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2F2F2"/>
                    </a:solidFill>
                  </a:tcPr>
                </a:tc>
                <a:tc>
                  <a:txBody>
                    <a:bodyPr/>
                    <a:lstStyle/>
                    <a:p>
                      <a:pPr algn="r" indent="0" marL="0">
                        <a:buNone/>
                      </a:pPr>
                      <a:r>
                        <a:rPr lang="en-US" sz="1400" b="1" dirty="0">
                          <a:solidFill>
                            <a:srgbClr val="111111"/>
                          </a:solidFill>
                          <a:latin typeface="Arial" pitchFamily="34" charset="0"/>
                          <a:ea typeface="Arial" pitchFamily="34" charset="-122"/>
                          <a:cs typeface="Arial" pitchFamily="34" charset="-120"/>
                        </a:rPr>
                        <a:t>AUC</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2F2F2"/>
                    </a:solidFill>
                  </a:tcPr>
                </a:tc>
              </a:tr>
              <a:tr h="402336">
                <a:tc>
                  <a:txBody>
                    <a:bodyPr/>
                    <a:lstStyle/>
                    <a:p>
                      <a:pPr algn="l" indent="0" marL="0">
                        <a:buNone/>
                      </a:pPr>
                      <a:r>
                        <a:rPr lang="en-US" sz="1400" dirty="0">
                          <a:solidFill>
                            <a:srgbClr val="111111"/>
                          </a:solidFill>
                          <a:latin typeface="Arial" pitchFamily="34" charset="0"/>
                          <a:ea typeface="Arial" pitchFamily="34" charset="-122"/>
                          <a:cs typeface="Arial" pitchFamily="34" charset="-120"/>
                        </a:rPr>
                        <a:t>Majority baseline</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0.700</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0.412</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0.500</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11111"/>
                          </a:solidFill>
                          <a:latin typeface="Arial" pitchFamily="34" charset="0"/>
                          <a:ea typeface="Arial" pitchFamily="34" charset="-122"/>
                          <a:cs typeface="Arial" pitchFamily="34" charset="-120"/>
                        </a:rPr>
                        <a:t>Perceptron</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0.700</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0.639</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0.720</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11111"/>
                          </a:solidFill>
                          <a:latin typeface="Arial" pitchFamily="34" charset="0"/>
                          <a:ea typeface="Arial" pitchFamily="34" charset="-122"/>
                          <a:cs typeface="Arial" pitchFamily="34" charset="-120"/>
                        </a:rPr>
                        <a:t>kNN (k = 1)</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0.720</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0.667</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0.667</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11111"/>
                          </a:solidFill>
                          <a:latin typeface="Arial" pitchFamily="34" charset="0"/>
                          <a:ea typeface="Arial" pitchFamily="34" charset="-122"/>
                          <a:cs typeface="Arial" pitchFamily="34" charset="-120"/>
                        </a:rPr>
                        <a:t>Decision tree</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0.645</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0.606</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0.692</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11111"/>
                          </a:solidFill>
                          <a:latin typeface="Arial" pitchFamily="34" charset="0"/>
                          <a:ea typeface="Arial" pitchFamily="34" charset="-122"/>
                          <a:cs typeface="Arial" pitchFamily="34" charset="-120"/>
                        </a:rPr>
                        <a:t>Scratch logistic</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0.780</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0.730</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0.801</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11111"/>
                          </a:solidFill>
                          <a:latin typeface="Arial" pitchFamily="34" charset="0"/>
                          <a:ea typeface="Arial" pitchFamily="34" charset="-122"/>
                          <a:cs typeface="Arial" pitchFamily="34" charset="-120"/>
                        </a:rPr>
                        <a:t>Polynomial SVM</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0.775</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0.713</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0.799</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11111"/>
                          </a:solidFill>
                          <a:latin typeface="Arial" pitchFamily="34" charset="0"/>
                          <a:ea typeface="Arial" pitchFamily="34" charset="-122"/>
                          <a:cs typeface="Arial" pitchFamily="34" charset="-120"/>
                        </a:rPr>
                        <a:t>AdaBoost</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0.785</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0.726</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11111"/>
                          </a:solidFill>
                          <a:latin typeface="Arial" pitchFamily="34" charset="0"/>
                          <a:ea typeface="Arial" pitchFamily="34" charset="-122"/>
                          <a:cs typeface="Arial" pitchFamily="34" charset="-120"/>
                        </a:rPr>
                        <a:t>0.790</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FFFFFF"/>
                    </a:solidFill>
                  </a:tcPr>
                </a:tc>
              </a:tr>
              <a:tr h="402336">
                <a:tc>
                  <a:txBody>
                    <a:bodyPr/>
                    <a:lstStyle/>
                    <a:p>
                      <a:pPr algn="l" indent="0" marL="0">
                        <a:buNone/>
                      </a:pPr>
                      <a:r>
                        <a:rPr lang="en-US" sz="1400" b="1" dirty="0">
                          <a:solidFill>
                            <a:srgbClr val="111111"/>
                          </a:solidFill>
                          <a:latin typeface="Arial" pitchFamily="34" charset="0"/>
                          <a:ea typeface="Arial" pitchFamily="34" charset="-122"/>
                          <a:cs typeface="Arial" pitchFamily="34" charset="-120"/>
                        </a:rPr>
                        <a:t>MLP  (được chọn)</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8E8E8"/>
                    </a:solidFill>
                  </a:tcPr>
                </a:tc>
                <a:tc>
                  <a:txBody>
                    <a:bodyPr/>
                    <a:lstStyle/>
                    <a:p>
                      <a:pPr algn="r" indent="0" marL="0">
                        <a:buNone/>
                      </a:pPr>
                      <a:r>
                        <a:rPr lang="en-US" sz="1400" b="1" dirty="0">
                          <a:solidFill>
                            <a:srgbClr val="111111"/>
                          </a:solidFill>
                          <a:latin typeface="Arial" pitchFamily="34" charset="0"/>
                          <a:ea typeface="Arial" pitchFamily="34" charset="-122"/>
                          <a:cs typeface="Arial" pitchFamily="34" charset="-120"/>
                        </a:rPr>
                        <a:t>0.790</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8E8E8"/>
                    </a:solidFill>
                  </a:tcPr>
                </a:tc>
                <a:tc>
                  <a:txBody>
                    <a:bodyPr/>
                    <a:lstStyle/>
                    <a:p>
                      <a:pPr algn="r" indent="0" marL="0">
                        <a:buNone/>
                      </a:pPr>
                      <a:r>
                        <a:rPr lang="en-US" sz="1400" b="1" dirty="0">
                          <a:solidFill>
                            <a:srgbClr val="111111"/>
                          </a:solidFill>
                          <a:latin typeface="Arial" pitchFamily="34" charset="0"/>
                          <a:ea typeface="Arial" pitchFamily="34" charset="-122"/>
                          <a:cs typeface="Arial" pitchFamily="34" charset="-120"/>
                        </a:rPr>
                        <a:t>0.730</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8E8E8"/>
                    </a:solidFill>
                  </a:tcPr>
                </a:tc>
                <a:tc>
                  <a:txBody>
                    <a:bodyPr/>
                    <a:lstStyle/>
                    <a:p>
                      <a:pPr algn="r" indent="0" marL="0">
                        <a:buNone/>
                      </a:pPr>
                      <a:r>
                        <a:rPr lang="en-US" sz="1400" b="1" dirty="0">
                          <a:solidFill>
                            <a:srgbClr val="111111"/>
                          </a:solidFill>
                          <a:latin typeface="Arial" pitchFamily="34" charset="0"/>
                          <a:ea typeface="Arial" pitchFamily="34" charset="-122"/>
                          <a:cs typeface="Arial" pitchFamily="34" charset="-120"/>
                        </a:rPr>
                        <a:t>0.813</a:t>
                      </a:r>
                      <a:endParaRPr lang="en-US" sz="1400" dirty="0">
                        <a:latin typeface="Arial" charset="0"/>
                        <a:ea typeface="Arial" charset="0"/>
                        <a:cs typeface="Arial" charset="0"/>
                      </a:endParaRPr>
                    </a:p>
                  </a:txBody>
                  <a:tcPr marL="64008" marR="64008" marT="64008" marB="64008" anchor="ctr">
                    <a:lnL w="6350" cap="flat" cmpd="sng" algn="ctr">
                      <a:solidFill>
                        <a:srgbClr val="D5D5D5"/>
                      </a:solidFill>
                      <a:prstDash val="solid"/>
                      <a:round/>
                      <a:headEnd type="none" w="med" len="med"/>
                      <a:tailEnd type="none" w="med" len="med"/>
                    </a:lnL>
                    <a:lnR w="6350" cap="flat" cmpd="sng" algn="ctr">
                      <a:solidFill>
                        <a:srgbClr val="D5D5D5"/>
                      </a:solidFill>
                      <a:prstDash val="solid"/>
                      <a:round/>
                      <a:headEnd type="none" w="med" len="med"/>
                      <a:tailEnd type="none" w="med" len="med"/>
                    </a:lnR>
                    <a:lnT w="6350" cap="flat" cmpd="sng" algn="ctr">
                      <a:solidFill>
                        <a:srgbClr val="D5D5D5"/>
                      </a:solidFill>
                      <a:prstDash val="solid"/>
                      <a:round/>
                      <a:headEnd type="none" w="med" len="med"/>
                      <a:tailEnd type="none" w="med" len="med"/>
                    </a:lnT>
                    <a:lnB w="6350" cap="flat" cmpd="sng" algn="ctr">
                      <a:solidFill>
                        <a:srgbClr val="D5D5D5"/>
                      </a:solidFill>
                      <a:prstDash val="solid"/>
                      <a:round/>
                      <a:headEnd type="none" w="med" len="med"/>
                      <a:tailEnd type="none" w="med" len="med"/>
                    </a:lnB>
                    <a:solidFill>
                      <a:srgbClr val="E8E8E8"/>
                    </a:solidFill>
                  </a:tcPr>
                </a:tc>
              </a:tr>
            </a:tbl>
          </a:graphicData>
        </a:graphic>
      </p:graphicFrame>
      <p:sp>
        <p:nvSpPr>
          <p:cNvPr id="5" name="Text 2"/>
          <p:cNvSpPr txBox="1"/>
          <p:nvPr/>
        </p:nvSpPr>
        <p:spPr>
          <a:xfrm>
            <a:off x="667512" y="5449824"/>
            <a:ext cx="10853928" cy="457200"/>
          </a:xfrm>
          <a:prstGeom prst="rect">
            <a:avLst/>
          </a:prstGeom>
          <a:noFill/>
          <a:ln/>
        </p:spPr>
        <p:txBody>
          <a:bodyPr wrap="square" lIns="0" tIns="0" rIns="0" bIns="0" rtlCol="0" anchor="t"/>
          <a:lstStyle/>
          <a:p>
            <a:pPr algn="l" indent="0" marL="0">
              <a:buNone/>
            </a:pPr>
            <a:r>
              <a:rPr lang="en-US" sz="1350" dirty="0">
                <a:solidFill>
                  <a:srgbClr val="6B6B6B"/>
                </a:solidFill>
                <a:latin typeface="Arial" pitchFamily="34" charset="0"/>
                <a:ea typeface="Arial" pitchFamily="34" charset="-122"/>
                <a:cs typeface="Arial" pitchFamily="34" charset="-120"/>
              </a:rPr>
              <a:t>Chênh lệch giữa các mô hình dẫn đầu chỉ vài phần nghìn — nhỏ hơn dao động giữa các fold (±0.064), nên không đọc thành xếp hạng.</a:t>
            </a:r>
            <a:endParaRPr lang="en-US" sz="1350" dirty="0"/>
          </a:p>
        </p:txBody>
      </p:sp>
      <p:sp>
        <p:nvSpPr>
          <p:cNvPr id="6" name="Text 3"/>
          <p:cNvSpPr txBox="1"/>
          <p:nvPr/>
        </p:nvSpPr>
        <p:spPr>
          <a:xfrm>
            <a:off x="8092440" y="1664208"/>
            <a:ext cx="3429000" cy="4480560"/>
          </a:xfrm>
          <a:prstGeom prst="rect">
            <a:avLst/>
          </a:prstGeom>
          <a:noFill/>
          <a:ln/>
        </p:spPr>
        <p:txBody>
          <a:bodyPr wrap="square" lIns="0" tIns="0" rIns="0" bIns="0" rtlCol="0" anchor="t"/>
          <a:lstStyle/>
          <a:p>
            <a:pPr marL="342900" indent="-342900">
              <a:lnSpc>
                <a:spcPct val="106000"/>
              </a:lnSpc>
              <a:spcAft>
                <a:spcPts val="1400"/>
              </a:spcAft>
              <a:buSzPct val="100000"/>
              <a:buChar char="–"/>
            </a:pPr>
            <a:r>
              <a:rPr lang="en-US" sz="1600" dirty="0">
                <a:solidFill>
                  <a:srgbClr val="111111"/>
                </a:solidFill>
                <a:latin typeface="Arial" pitchFamily="34" charset="0"/>
                <a:ea typeface="Arial" pitchFamily="34" charset="-122"/>
                <a:cs typeface="Arial" pitchFamily="34" charset="-120"/>
              </a:rPr>
              <a:t>MLP </a:t>
            </a:r>
            <a:endParaRPr lang="en-US" sz="1600" dirty="0"/>
          </a:p>
          <a:p>
            <a:pPr marL="342900" indent="-342900">
              <a:lnSpc>
                <a:spcPct val="106000"/>
              </a:lnSpc>
              <a:spcAft>
                <a:spcPts val="1400"/>
              </a:spcAft>
              <a:buSzPct val="100000"/>
              <a:buChar char="–"/>
            </a:pPr>
            <a:r>
              <a:rPr lang="en-US" sz="1600" b="1" dirty="0">
                <a:solidFill>
                  <a:srgbClr val="111111"/>
                </a:solidFill>
                <a:latin typeface="Arial" pitchFamily="34" charset="0"/>
                <a:ea typeface="Arial" pitchFamily="34" charset="-122"/>
                <a:cs typeface="Arial" pitchFamily="34" charset="-120"/>
              </a:rPr>
              <a:t>0.7305</a:t>
            </a:r>
            <a:endParaRPr lang="en-US" sz="1600" dirty="0"/>
          </a:p>
          <a:p>
            <a:pPr marL="342900" indent="-342900">
              <a:lnSpc>
                <a:spcPct val="106000"/>
              </a:lnSpc>
              <a:spcAft>
                <a:spcPts val="1400"/>
              </a:spcAft>
              <a:buSzPct val="100000"/>
              <a:buChar char="–"/>
            </a:pPr>
            <a:r>
              <a:rPr lang="en-US" sz="1600" dirty="0">
                <a:solidFill>
                  <a:srgbClr val="111111"/>
                </a:solidFill>
                <a:latin typeface="Arial" pitchFamily="34" charset="0"/>
                <a:ea typeface="Arial" pitchFamily="34" charset="-122"/>
                <a:cs typeface="Arial" pitchFamily="34" charset="-120"/>
              </a:rPr>
              <a:t> ≈ hồi quy logistic tự cài đặt </a:t>
            </a:r>
            <a:endParaRPr lang="en-US" sz="1600" dirty="0"/>
          </a:p>
          <a:p>
            <a:pPr marL="342900" indent="-342900">
              <a:lnSpc>
                <a:spcPct val="106000"/>
              </a:lnSpc>
              <a:spcAft>
                <a:spcPts val="1400"/>
              </a:spcAft>
              <a:buSzPct val="100000"/>
              <a:buChar char="–"/>
            </a:pPr>
            <a:r>
              <a:rPr lang="en-US" sz="1600" b="1" dirty="0">
                <a:solidFill>
                  <a:srgbClr val="111111"/>
                </a:solidFill>
                <a:latin typeface="Arial" pitchFamily="34" charset="0"/>
                <a:ea typeface="Arial" pitchFamily="34" charset="-122"/>
                <a:cs typeface="Arial" pitchFamily="34" charset="-120"/>
              </a:rPr>
              <a:t>0.7301</a:t>
            </a:r>
            <a:endParaRPr lang="en-US" sz="1600" dirty="0"/>
          </a:p>
          <a:p>
            <a:pPr marL="342900" indent="-342900">
              <a:lnSpc>
                <a:spcPct val="106000"/>
              </a:lnSpc>
              <a:spcAft>
                <a:spcPts val="1400"/>
              </a:spcAft>
              <a:buSzPct val="100000"/>
              <a:buChar char="–"/>
            </a:pPr>
            <a:r>
              <a:rPr lang="en-US" sz="1600" dirty="0">
                <a:solidFill>
                  <a:srgbClr val="111111"/>
                </a:solidFill>
                <a:latin typeface="Arial" pitchFamily="34" charset="0"/>
                <a:ea typeface="Arial" pitchFamily="34" charset="-122"/>
                <a:cs typeface="Arial" pitchFamily="34" charset="-120"/>
              </a:rPr>
              <a:t> — mô hình phức tạp không tạo khác biệt rõ.</a:t>
            </a:r>
            <a:endParaRPr lang="en-US" sz="1600" dirty="0"/>
          </a:p>
          <a:p>
            <a:pPr marL="342900" indent="-342900">
              <a:lnSpc>
                <a:spcPct val="106000"/>
              </a:lnSpc>
              <a:spcAft>
                <a:spcPts val="1400"/>
              </a:spcAft>
              <a:buSzPct val="100000"/>
              <a:buChar char="–"/>
            </a:pPr>
            <a:r>
              <a:rPr lang="en-US" sz="1600" dirty="0">
                <a:solidFill>
                  <a:srgbClr val="111111"/>
                </a:solidFill>
                <a:latin typeface="Arial" pitchFamily="34" charset="0"/>
                <a:ea typeface="Arial" pitchFamily="34" charset="-122"/>
                <a:cs typeface="Arial" pitchFamily="34" charset="-120"/>
              </a:rPr>
              <a:t>Accuracy cao </a:t>
            </a:r>
            <a:endParaRPr lang="en-US" sz="1600" dirty="0"/>
          </a:p>
          <a:p>
            <a:pPr marL="342900" indent="-342900">
              <a:lnSpc>
                <a:spcPct val="106000"/>
              </a:lnSpc>
              <a:spcAft>
                <a:spcPts val="1400"/>
              </a:spcAft>
              <a:buSzPct val="100000"/>
              <a:buChar char="–"/>
            </a:pPr>
            <a:r>
              <a:rPr lang="en-US" sz="1600" b="1" dirty="0">
                <a:solidFill>
                  <a:srgbClr val="111111"/>
                </a:solidFill>
                <a:latin typeface="Arial" pitchFamily="34" charset="0"/>
                <a:ea typeface="Arial" pitchFamily="34" charset="-122"/>
                <a:cs typeface="Arial" pitchFamily="34" charset="-120"/>
              </a:rPr>
              <a:t>0.79</a:t>
            </a:r>
            <a:endParaRPr lang="en-US" sz="1600" dirty="0"/>
          </a:p>
          <a:p>
            <a:pPr marL="342900" indent="-342900">
              <a:lnSpc>
                <a:spcPct val="106000"/>
              </a:lnSpc>
              <a:spcAft>
                <a:spcPts val="1400"/>
              </a:spcAft>
              <a:buSzPct val="100000"/>
              <a:buChar char="–"/>
            </a:pPr>
            <a:r>
              <a:rPr lang="en-US" sz="1600" dirty="0">
                <a:solidFill>
                  <a:srgbClr val="111111"/>
                </a:solidFill>
                <a:latin typeface="Arial" pitchFamily="34" charset="0"/>
                <a:ea typeface="Arial" pitchFamily="34" charset="-122"/>
                <a:cs typeface="Arial" pitchFamily="34" charset="-120"/>
              </a:rPr>
              <a:t> nhưng phải đọc kèm chỉ số theo lớp, vì lớp bad chỉ chiếm 30%.</a:t>
            </a:r>
            <a:endParaRPr lang="en-US" sz="1600" dirty="0"/>
          </a:p>
          <a:p>
            <a:pPr marL="342900" indent="-342900">
              <a:lnSpc>
                <a:spcPct val="106000"/>
              </a:lnSpc>
              <a:spcAft>
                <a:spcPts val="1400"/>
              </a:spcAft>
              <a:buSzPct val="100000"/>
              <a:buChar char="–"/>
            </a:pPr>
            <a:r>
              <a:rPr lang="en-US" sz="1600" b="1" dirty="0">
                <a:solidFill>
                  <a:srgbClr val="111111"/>
                </a:solidFill>
                <a:latin typeface="Arial" pitchFamily="34" charset="0"/>
                <a:ea typeface="Arial" pitchFamily="34" charset="-122"/>
                <a:cs typeface="Arial" pitchFamily="34" charset="-120"/>
              </a:rPr>
              <a:t>16 mô hình đều vượt baseline</a:t>
            </a:r>
            <a:endParaRPr lang="en-US" sz="1600" dirty="0"/>
          </a:p>
          <a:p>
            <a:pPr marL="342900" indent="-342900">
              <a:lnSpc>
                <a:spcPct val="106000"/>
              </a:lnSpc>
              <a:spcAft>
                <a:spcPts val="1400"/>
              </a:spcAft>
              <a:buSzPct val="100000"/>
              <a:buChar char="–"/>
            </a:pPr>
            <a:r>
              <a:rPr lang="en-US" sz="1600" dirty="0">
                <a:solidFill>
                  <a:srgbClr val="111111"/>
                </a:solidFill>
                <a:latin typeface="Arial" pitchFamily="34" charset="0"/>
                <a:ea typeface="Arial" pitchFamily="34" charset="-122"/>
                <a:cs typeface="Arial" pitchFamily="34" charset="-120"/>
              </a:rPr>
              <a:t>, kể cả cây quyết định có accuracy thấp hơn.</a:t>
            </a:r>
            <a:endParaRPr lang="en-US" sz="160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CÂU 2 · ĐỌC KẾT QUẢ</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Một con số accuracy đẹp có thể che mất lỗi quan trọng</a:t>
            </a:r>
            <a:endParaRPr lang="en-US" sz="2600" dirty="0"/>
          </a:p>
        </p:txBody>
      </p:sp>
      <p:pic>
        <p:nvPicPr>
          <p:cNvPr id="4" name="Image 0" descr="/home/towfienes/TDTU/ML/MidTerm/presentation/figures/fig_q2_test.png">    </p:cNvPr>
          <p:cNvPicPr>
            <a:picLocks noChangeAspect="1"/>
          </p:cNvPicPr>
          <p:nvPr/>
        </p:nvPicPr>
        <p:blipFill>
          <a:blip r:embed="rId1"/>
          <a:stretch>
            <a:fillRect/>
          </a:stretch>
        </p:blipFill>
        <p:spPr>
          <a:xfrm>
            <a:off x="975208" y="1481328"/>
            <a:ext cx="10241280" cy="3063240"/>
          </a:xfrm>
          <a:prstGeom prst="rect">
            <a:avLst/>
          </a:prstGeom>
        </p:spPr>
      </p:pic>
      <p:sp>
        <p:nvSpPr>
          <p:cNvPr id="5" name="Text 2"/>
          <p:cNvSpPr txBox="1"/>
          <p:nvPr/>
        </p:nvSpPr>
        <p:spPr>
          <a:xfrm>
            <a:off x="667512" y="4773168"/>
            <a:ext cx="10853928" cy="420624"/>
          </a:xfrm>
          <a:prstGeom prst="rect">
            <a:avLst/>
          </a:prstGeom>
          <a:noFill/>
          <a:ln/>
        </p:spPr>
        <p:txBody>
          <a:bodyPr wrap="square" lIns="0" tIns="0" rIns="0" bIns="0" rtlCol="0" anchor="t"/>
          <a:lstStyle/>
          <a:p>
            <a:pPr algn="l" indent="0" marL="0">
              <a:buNone/>
            </a:pPr>
            <a:r>
              <a:rPr lang="en-US" sz="1900" dirty="0">
                <a:solidFill>
                  <a:srgbClr val="111111"/>
                </a:solidFill>
                <a:latin typeface="Arial" pitchFamily="34" charset="0"/>
                <a:ea typeface="Arial" pitchFamily="34" charset="-122"/>
                <a:cs typeface="Arial" pitchFamily="34" charset="-120"/>
              </a:rPr>
              <a:t>158/200 dự đoán đúng, nhưng </a:t>
            </a:r>
            <a:pPr algn="l" indent="0" marL="0">
              <a:buNone/>
            </a:pPr>
            <a:r>
              <a:rPr lang="en-US" sz="1900" b="1" dirty="0">
                <a:solidFill>
                  <a:srgbClr val="111111"/>
                </a:solidFill>
                <a:latin typeface="Arial" pitchFamily="34" charset="0"/>
                <a:ea typeface="Arial" pitchFamily="34" charset="-122"/>
                <a:cs typeface="Arial" pitchFamily="34" charset="-120"/>
              </a:rPr>
              <a:t>bỏ sót 28/60 hồ sơ “bad”</a:t>
            </a:r>
            <a:pPr algn="l" indent="0" marL="0">
              <a:buNone/>
            </a:pPr>
            <a:r>
              <a:rPr lang="en-US" sz="1900" dirty="0">
                <a:solidFill>
                  <a:srgbClr val="111111"/>
                </a:solidFill>
                <a:latin typeface="Arial" pitchFamily="34" charset="0"/>
                <a:ea typeface="Arial" pitchFamily="34" charset="-122"/>
                <a:cs typeface="Arial" pitchFamily="34" charset="-120"/>
              </a:rPr>
              <a:t> → recall lớp bad chỉ 0.533.</a:t>
            </a:r>
            <a:endParaRPr lang="en-US" sz="1900" dirty="0"/>
          </a:p>
        </p:txBody>
      </p:sp>
      <p:sp>
        <p:nvSpPr>
          <p:cNvPr id="6" name="Text 3"/>
          <p:cNvSpPr txBox="1"/>
          <p:nvPr/>
        </p:nvSpPr>
        <p:spPr>
          <a:xfrm>
            <a:off x="667512" y="5285232"/>
            <a:ext cx="10853928" cy="859536"/>
          </a:xfrm>
          <a:prstGeom prst="rect">
            <a:avLst/>
          </a:prstGeom>
          <a:noFill/>
          <a:ln/>
        </p:spPr>
        <p:txBody>
          <a:bodyPr wrap="square" lIns="0" tIns="0" rIns="0" bIns="0" rtlCol="0" anchor="t"/>
          <a:lstStyle/>
          <a:p>
            <a:pPr marL="342900" indent="-342900">
              <a:lnSpc>
                <a:spcPct val="106000"/>
              </a:lnSpc>
              <a:spcAft>
                <a:spcPts val="800"/>
              </a:spcAft>
              <a:buSzPct val="100000"/>
              <a:buChar char="–"/>
            </a:pPr>
            <a:r>
              <a:rPr lang="en-US" sz="1550" dirty="0">
                <a:solidFill>
                  <a:srgbClr val="111111"/>
                </a:solidFill>
                <a:latin typeface="Arial" pitchFamily="34" charset="0"/>
                <a:ea typeface="Arial" pitchFamily="34" charset="-122"/>
                <a:cs typeface="Arial" pitchFamily="34" charset="-120"/>
              </a:rPr>
              <a:t>Gaussian NB có recall bad cao nhất </a:t>
            </a:r>
            <a:endParaRPr lang="en-US" sz="1550" dirty="0"/>
          </a:p>
          <a:p>
            <a:pPr marL="342900" indent="-342900">
              <a:lnSpc>
                <a:spcPct val="106000"/>
              </a:lnSpc>
              <a:spcAft>
                <a:spcPts val="800"/>
              </a:spcAft>
              <a:buSzPct val="100000"/>
              <a:buChar char="–"/>
            </a:pPr>
            <a:r>
              <a:rPr lang="en-US" sz="1550" b="1" dirty="0">
                <a:solidFill>
                  <a:srgbClr val="111111"/>
                </a:solidFill>
                <a:latin typeface="Arial" pitchFamily="34" charset="0"/>
                <a:ea typeface="Arial" pitchFamily="34" charset="-122"/>
                <a:cs typeface="Arial" pitchFamily="34" charset="-120"/>
              </a:rPr>
              <a:t>0.650</a:t>
            </a:r>
            <a:endParaRPr lang="en-US" sz="1550" dirty="0"/>
          </a:p>
          <a:p>
            <a:pPr marL="342900" indent="-342900">
              <a:lnSpc>
                <a:spcPct val="106000"/>
              </a:lnSpc>
              <a:spcAft>
                <a:spcPts val="800"/>
              </a:spcAft>
              <a:buSzPct val="100000"/>
              <a:buChar char="–"/>
            </a:pPr>
            <a:r>
              <a:rPr lang="en-US" sz="1550" dirty="0">
                <a:solidFill>
                  <a:srgbClr val="111111"/>
                </a:solidFill>
                <a:latin typeface="Arial" pitchFamily="34" charset="0"/>
                <a:ea typeface="Arial" pitchFamily="34" charset="-122"/>
                <a:cs typeface="Arial" pitchFamily="34" charset="-120"/>
              </a:rPr>
              <a:t>, nhưng precision chỉ 0.513: bắt được nhiều hơn, báo nhầm cũng nhiều hơn.</a:t>
            </a:r>
            <a:endParaRPr lang="en-US" sz="1550" dirty="0"/>
          </a:p>
          <a:p>
            <a:pPr marL="342900" indent="-342900">
              <a:lnSpc>
                <a:spcPct val="106000"/>
              </a:lnSpc>
              <a:spcAft>
                <a:spcPts val="800"/>
              </a:spcAft>
              <a:buSzPct val="100000"/>
              <a:buChar char="–"/>
            </a:pPr>
            <a:r>
              <a:rPr lang="en-US" sz="1550" b="1" dirty="0">
                <a:solidFill>
                  <a:srgbClr val="111111"/>
                </a:solidFill>
                <a:latin typeface="Arial" pitchFamily="34" charset="0"/>
                <a:ea typeface="Arial" pitchFamily="34" charset="-122"/>
                <a:cs typeface="Arial" pitchFamily="34" charset="-120"/>
              </a:rPr>
              <a:t>Đánh đổi này là quyết định nghiệp vụ</a:t>
            </a:r>
            <a:endParaRPr lang="en-US" sz="1550" dirty="0"/>
          </a:p>
          <a:p>
            <a:pPr marL="342900" indent="-342900">
              <a:lnSpc>
                <a:spcPct val="106000"/>
              </a:lnSpc>
              <a:spcAft>
                <a:spcPts val="800"/>
              </a:spcAft>
              <a:buSzPct val="100000"/>
              <a:buChar char="–"/>
            </a:pPr>
            <a:r>
              <a:rPr lang="en-US" sz="1550" dirty="0">
                <a:solidFill>
                  <a:srgbClr val="111111"/>
                </a:solidFill>
                <a:latin typeface="Arial" pitchFamily="34" charset="0"/>
                <a:ea typeface="Arial" pitchFamily="34" charset="-122"/>
                <a:cs typeface="Arial" pitchFamily="34" charset="-120"/>
              </a:rPr>
              <a:t>, không phải lỗi kỹ thuật — và nhóm không hạ ngưỡng sau khi đã xem test.</a:t>
            </a:r>
            <a:endParaRPr lang="en-US" sz="155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OVERFITTING</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Bằng chứng: cây càng sâu, khoảng cách càng lớn</a:t>
            </a:r>
            <a:endParaRPr lang="en-US" sz="2600" dirty="0"/>
          </a:p>
        </p:txBody>
      </p:sp>
      <p:pic>
        <p:nvPicPr>
          <p:cNvPr id="4" name="Image 0" descr="/home/towfienes/TDTU/ML/MidTerm/presentation/figures/fig_overfit.png">    </p:cNvPr>
          <p:cNvPicPr>
            <a:picLocks noChangeAspect="1"/>
          </p:cNvPicPr>
          <p:nvPr/>
        </p:nvPicPr>
        <p:blipFill>
          <a:blip r:embed="rId1"/>
          <a:stretch>
            <a:fillRect/>
          </a:stretch>
        </p:blipFill>
        <p:spPr>
          <a:xfrm>
            <a:off x="1340968" y="1481328"/>
            <a:ext cx="9509760" cy="3200400"/>
          </a:xfrm>
          <a:prstGeom prst="rect">
            <a:avLst/>
          </a:prstGeom>
        </p:spPr>
      </p:pic>
      <p:sp>
        <p:nvSpPr>
          <p:cNvPr id="5" name="Text 2"/>
          <p:cNvSpPr txBox="1"/>
          <p:nvPr/>
        </p:nvSpPr>
        <p:spPr>
          <a:xfrm>
            <a:off x="667512" y="4901184"/>
            <a:ext cx="3252216" cy="36576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0.386  →  0.121</a:t>
            </a:r>
            <a:endParaRPr lang="en-US" sz="2000" dirty="0"/>
          </a:p>
        </p:txBody>
      </p:sp>
      <p:sp>
        <p:nvSpPr>
          <p:cNvPr id="6" name="Text 3"/>
          <p:cNvSpPr txBox="1"/>
          <p:nvPr/>
        </p:nvSpPr>
        <p:spPr>
          <a:xfrm>
            <a:off x="667512" y="5303520"/>
            <a:ext cx="3252216" cy="640080"/>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Arial" pitchFamily="34" charset="0"/>
                <a:ea typeface="Arial" pitchFamily="34" charset="-122"/>
                <a:cs typeface="Arial" pitchFamily="34" charset="-120"/>
              </a:rPr>
              <a:t>Khoảng cách train − CV của cây quyết định sau khi giới hạn độ sâu 6 và tối thiểu 5 mẫu/lá.</a:t>
            </a:r>
            <a:endParaRPr lang="en-US" sz="1200" dirty="0"/>
          </a:p>
        </p:txBody>
      </p:sp>
      <p:sp>
        <p:nvSpPr>
          <p:cNvPr id="7" name="Text 4"/>
          <p:cNvSpPr txBox="1"/>
          <p:nvPr/>
        </p:nvSpPr>
        <p:spPr>
          <a:xfrm>
            <a:off x="4285488" y="4901184"/>
            <a:ext cx="3252216" cy="36576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1.00 / 0.614</a:t>
            </a:r>
            <a:endParaRPr lang="en-US" sz="2000" dirty="0"/>
          </a:p>
        </p:txBody>
      </p:sp>
      <p:sp>
        <p:nvSpPr>
          <p:cNvPr id="8" name="Text 5"/>
          <p:cNvSpPr txBox="1"/>
          <p:nvPr/>
        </p:nvSpPr>
        <p:spPr>
          <a:xfrm>
            <a:off x="4285488" y="5303520"/>
            <a:ext cx="3252216" cy="640080"/>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Arial" pitchFamily="34" charset="0"/>
                <a:ea typeface="Arial" pitchFamily="34" charset="-122"/>
                <a:cs typeface="Arial" pitchFamily="34" charset="-120"/>
              </a:rPr>
              <a:t>Cây không giới hạn: hoàn hảo trên train nhưng validation thấp hơn cây bị giới hạn.</a:t>
            </a:r>
            <a:endParaRPr lang="en-US" sz="1200" dirty="0"/>
          </a:p>
        </p:txBody>
      </p:sp>
      <p:sp>
        <p:nvSpPr>
          <p:cNvPr id="9" name="Text 6"/>
          <p:cNvSpPr txBox="1"/>
          <p:nvPr/>
        </p:nvSpPr>
        <p:spPr>
          <a:xfrm>
            <a:off x="7903464" y="4901184"/>
            <a:ext cx="3252216" cy="36576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0.324</a:t>
            </a:r>
            <a:endParaRPr lang="en-US" sz="2000" dirty="0"/>
          </a:p>
        </p:txBody>
      </p:sp>
      <p:sp>
        <p:nvSpPr>
          <p:cNvPr id="10" name="Text 7"/>
          <p:cNvSpPr txBox="1"/>
          <p:nvPr/>
        </p:nvSpPr>
        <p:spPr>
          <a:xfrm>
            <a:off x="7903464" y="5303520"/>
            <a:ext cx="3252216" cy="640080"/>
          </a:xfrm>
          <a:prstGeom prst="rect">
            <a:avLst/>
          </a:prstGeom>
          <a:noFill/>
          <a:ln/>
        </p:spPr>
        <p:txBody>
          <a:bodyPr wrap="square" lIns="0" tIns="0" rIns="0" bIns="0" rtlCol="0" anchor="t"/>
          <a:lstStyle/>
          <a:p>
            <a:pPr indent="0" marL="0">
              <a:lnSpc>
                <a:spcPct val="118000"/>
              </a:lnSpc>
              <a:buNone/>
            </a:pPr>
            <a:r>
              <a:rPr lang="en-US" sz="1200" dirty="0">
                <a:solidFill>
                  <a:srgbClr val="6B6B6B"/>
                </a:solidFill>
                <a:latin typeface="Arial" pitchFamily="34" charset="0"/>
                <a:ea typeface="Arial" pitchFamily="34" charset="-122"/>
                <a:cs typeface="Arial" pitchFamily="34" charset="-120"/>
              </a:rPr>
              <a:t>Random forest vẫn còn khoảng cách lớn — ensemble không tự chữa được overfitting.</a:t>
            </a:r>
            <a:endParaRPr lang="en-US" sz="1200" dirty="0"/>
          </a:p>
        </p:txBody>
      </p:sp>
      <p:sp>
        <p:nvSpPr>
          <p:cNvPr id="11" name="Text 8"/>
          <p:cNvSpPr txBox="1"/>
          <p:nvPr/>
        </p:nvSpPr>
        <p:spPr>
          <a:xfrm>
            <a:off x="667512" y="5760720"/>
            <a:ext cx="10853928" cy="365760"/>
          </a:xfrm>
          <a:prstGeom prst="rect">
            <a:avLst/>
          </a:prstGeom>
          <a:noFill/>
          <a:ln/>
        </p:spPr>
        <p:txBody>
          <a:bodyPr wrap="square" lIns="0" tIns="0" rIns="0" bIns="0" rtlCol="0" anchor="t"/>
          <a:lstStyle/>
          <a:p>
            <a:pPr algn="l" indent="0" marL="0">
              <a:buNone/>
            </a:pPr>
            <a:r>
              <a:rPr lang="en-US" sz="1400" dirty="0">
                <a:solidFill>
                  <a:srgbClr val="6B6B6B"/>
                </a:solidFill>
                <a:latin typeface="Arial" pitchFamily="34" charset="0"/>
                <a:ea typeface="Arial" pitchFamily="34" charset="-122"/>
                <a:cs typeface="Arial" pitchFamily="34" charset="-120"/>
              </a:rPr>
              <a:t>Biện pháp chung: giới hạn độ phức tạp · chọn tham số bằng validation · giữ tập test riêng · báo cáo cả điểm train và validation.</a:t>
            </a:r>
            <a:endParaRPr lang="en-US" sz="140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2212848" y="219456"/>
            <a:ext cx="9326880" cy="237744"/>
          </a:xfrm>
          <a:prstGeom prst="rect">
            <a:avLst/>
          </a:prstGeom>
          <a:noFill/>
          <a:ln/>
        </p:spPr>
        <p:txBody>
          <a:bodyPr wrap="square" lIns="0" tIns="0" rIns="0" bIns="0" rtlCol="0" anchor="ctr"/>
          <a:lstStyle/>
          <a:p>
            <a:pPr indent="0" marL="0">
              <a:buNone/>
            </a:pPr>
            <a:r>
              <a:rPr lang="en-US" sz="1050" spc="200" kern="0" dirty="0">
                <a:solidFill>
                  <a:srgbClr val="6B6B6B"/>
                </a:solidFill>
                <a:latin typeface="Arial" pitchFamily="34" charset="0"/>
                <a:ea typeface="Arial" pitchFamily="34" charset="-122"/>
                <a:cs typeface="Arial" pitchFamily="34" charset="-120"/>
              </a:rPr>
              <a:t>KẾT LUẬN</a:t>
            </a:r>
            <a:endParaRPr lang="en-US" sz="1050" dirty="0"/>
          </a:p>
        </p:txBody>
      </p:sp>
      <p:sp>
        <p:nvSpPr>
          <p:cNvPr id="3" name="Text 1"/>
          <p:cNvSpPr txBox="1"/>
          <p:nvPr/>
        </p:nvSpPr>
        <p:spPr>
          <a:xfrm>
            <a:off x="2212848" y="457200"/>
            <a:ext cx="941832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Điều nhóm làm được, điều còn hạn chế</a:t>
            </a:r>
            <a:endParaRPr lang="en-US" sz="2600" dirty="0"/>
          </a:p>
        </p:txBody>
      </p:sp>
      <p:sp>
        <p:nvSpPr>
          <p:cNvPr id="4" name="Shape 2"/>
          <p:cNvSpPr/>
          <p:nvPr/>
        </p:nvSpPr>
        <p:spPr>
          <a:xfrm>
            <a:off x="667512" y="1627632"/>
            <a:ext cx="3282696" cy="0"/>
          </a:xfrm>
          <a:prstGeom prst="line">
            <a:avLst/>
          </a:prstGeom>
          <a:noFill/>
          <a:ln w="12700">
            <a:solidFill>
              <a:srgbClr val="2B2B2B"/>
            </a:solidFill>
            <a:prstDash val="solid"/>
          </a:ln>
        </p:spPr>
      </p:sp>
      <p:sp>
        <p:nvSpPr>
          <p:cNvPr id="5" name="Text 3"/>
          <p:cNvSpPr txBox="1"/>
          <p:nvPr/>
        </p:nvSpPr>
        <p:spPr>
          <a:xfrm>
            <a:off x="667512" y="1737360"/>
            <a:ext cx="3282696" cy="329184"/>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Kết quả chính</a:t>
            </a:r>
            <a:endParaRPr lang="en-US" sz="1500" dirty="0"/>
          </a:p>
        </p:txBody>
      </p:sp>
      <p:sp>
        <p:nvSpPr>
          <p:cNvPr id="6" name="Text 4"/>
          <p:cNvSpPr txBox="1"/>
          <p:nvPr/>
        </p:nvSpPr>
        <p:spPr>
          <a:xfrm>
            <a:off x="667512" y="2103120"/>
            <a:ext cx="3282696" cy="4023360"/>
          </a:xfrm>
          <a:prstGeom prst="rect">
            <a:avLst/>
          </a:prstGeom>
          <a:noFill/>
          <a:ln/>
        </p:spPr>
        <p:txBody>
          <a:bodyPr wrap="square" lIns="0" tIns="0" rIns="0" bIns="0" rtlCol="0" anchor="t"/>
          <a:lstStyle/>
          <a:p>
            <a:pPr marL="342900" indent="-342900">
              <a:lnSpc>
                <a:spcPct val="116000"/>
              </a:lnSpc>
              <a:spcAft>
                <a:spcPts val="1800"/>
              </a:spcAft>
              <a:buSzPct val="100000"/>
              <a:buChar char="–"/>
            </a:pPr>
            <a:r>
              <a:rPr lang="en-US" sz="1450" dirty="0">
                <a:solidFill>
                  <a:srgbClr val="222222"/>
                </a:solidFill>
                <a:latin typeface="Arial" pitchFamily="34" charset="0"/>
                <a:ea typeface="Arial" pitchFamily="34" charset="-122"/>
                <a:cs typeface="Arial" pitchFamily="34" charset="-120"/>
              </a:rPr>
              <a:t>Câu 1: hai mô hình tự cài đặt, gradient khớp sai phân trung tâm, RMSE xấp xỉ nhiễu sinh dữ liệu.</a:t>
            </a:r>
            <a:endParaRPr lang="en-US" sz="1450" dirty="0"/>
          </a:p>
          <a:p>
            <a:pPr marL="342900" indent="-342900">
              <a:lnSpc>
                <a:spcPct val="116000"/>
              </a:lnSpc>
              <a:spcAft>
                <a:spcPts val="1800"/>
              </a:spcAft>
              <a:buSzPct val="100000"/>
              <a:buChar char="–"/>
            </a:pPr>
            <a:r>
              <a:rPr lang="en-US" sz="1450" dirty="0">
                <a:solidFill>
                  <a:srgbClr val="222222"/>
                </a:solidFill>
                <a:latin typeface="Arial" pitchFamily="34" charset="0"/>
                <a:ea typeface="Arial" pitchFamily="34" charset="-122"/>
                <a:cs typeface="Arial" pitchFamily="34" charset="-120"/>
              </a:rPr>
              <a:t>Câu 2: 14 mô hình trên cùng bộ fold; MLP được chọn với macro F1 test 0.7305.</a:t>
            </a:r>
            <a:endParaRPr lang="en-US" sz="1450" dirty="0"/>
          </a:p>
          <a:p>
            <a:pPr marL="342900" indent="-342900">
              <a:lnSpc>
                <a:spcPct val="116000"/>
              </a:lnSpc>
              <a:spcAft>
                <a:spcPts val="1800"/>
              </a:spcAft>
              <a:buSzPct val="100000"/>
              <a:buChar char="–"/>
            </a:pPr>
            <a:r>
              <a:rPr lang="en-US" sz="1450" dirty="0">
                <a:solidFill>
                  <a:srgbClr val="222222"/>
                </a:solidFill>
                <a:latin typeface="Arial" pitchFamily="34" charset="0"/>
                <a:ea typeface="Arial" pitchFamily="34" charset="-122"/>
                <a:cs typeface="Arial" pitchFamily="34" charset="-120"/>
              </a:rPr>
              <a:t>Chi phí của accuracy: bỏ sót 28/60 hồ sơ xấu dù accuracy 0.79.</a:t>
            </a:r>
            <a:endParaRPr lang="en-US" sz="1450" dirty="0"/>
          </a:p>
        </p:txBody>
      </p:sp>
      <p:sp>
        <p:nvSpPr>
          <p:cNvPr id="7" name="Shape 5"/>
          <p:cNvSpPr/>
          <p:nvPr/>
        </p:nvSpPr>
        <p:spPr>
          <a:xfrm>
            <a:off x="4453128" y="1627632"/>
            <a:ext cx="3282696" cy="0"/>
          </a:xfrm>
          <a:prstGeom prst="line">
            <a:avLst/>
          </a:prstGeom>
          <a:noFill/>
          <a:ln w="12700">
            <a:solidFill>
              <a:srgbClr val="2B2B2B"/>
            </a:solidFill>
            <a:prstDash val="solid"/>
          </a:ln>
        </p:spPr>
      </p:sp>
      <p:sp>
        <p:nvSpPr>
          <p:cNvPr id="8" name="Text 6"/>
          <p:cNvSpPr txBox="1"/>
          <p:nvPr/>
        </p:nvSpPr>
        <p:spPr>
          <a:xfrm>
            <a:off x="4453128" y="1737360"/>
            <a:ext cx="3282696" cy="329184"/>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Bài học</a:t>
            </a:r>
            <a:endParaRPr lang="en-US" sz="1500" dirty="0"/>
          </a:p>
        </p:txBody>
      </p:sp>
      <p:sp>
        <p:nvSpPr>
          <p:cNvPr id="9" name="Text 7"/>
          <p:cNvSpPr txBox="1"/>
          <p:nvPr/>
        </p:nvSpPr>
        <p:spPr>
          <a:xfrm>
            <a:off x="4453128" y="2103120"/>
            <a:ext cx="3282696" cy="4023360"/>
          </a:xfrm>
          <a:prstGeom prst="rect">
            <a:avLst/>
          </a:prstGeom>
          <a:noFill/>
          <a:ln/>
        </p:spPr>
        <p:txBody>
          <a:bodyPr wrap="square" lIns="0" tIns="0" rIns="0" bIns="0" rtlCol="0" anchor="t"/>
          <a:lstStyle/>
          <a:p>
            <a:pPr marL="342900" indent="-342900">
              <a:lnSpc>
                <a:spcPct val="116000"/>
              </a:lnSpc>
              <a:spcAft>
                <a:spcPts val="1800"/>
              </a:spcAft>
              <a:buSzPct val="100000"/>
              <a:buChar char="–"/>
            </a:pPr>
            <a:r>
              <a:rPr lang="en-US" sz="1450" dirty="0">
                <a:solidFill>
                  <a:srgbClr val="222222"/>
                </a:solidFill>
                <a:latin typeface="Arial" pitchFamily="34" charset="0"/>
                <a:ea typeface="Arial" pitchFamily="34" charset="-122"/>
                <a:cs typeface="Arial" pitchFamily="34" charset="-120"/>
              </a:rPr>
              <a:t>Tách test trước và chuẩn hóa trong fold là điều kiện của một so sánh đáng tin.</a:t>
            </a:r>
            <a:endParaRPr lang="en-US" sz="1450" dirty="0"/>
          </a:p>
          <a:p>
            <a:pPr marL="342900" indent="-342900">
              <a:lnSpc>
                <a:spcPct val="116000"/>
              </a:lnSpc>
              <a:spcAft>
                <a:spcPts val="1800"/>
              </a:spcAft>
              <a:buSzPct val="100000"/>
              <a:buChar char="–"/>
            </a:pPr>
            <a:r>
              <a:rPr lang="en-US" sz="1450" dirty="0">
                <a:solidFill>
                  <a:srgbClr val="222222"/>
                </a:solidFill>
                <a:latin typeface="Arial" pitchFamily="34" charset="0"/>
                <a:ea typeface="Arial" pitchFamily="34" charset="-122"/>
                <a:cs typeface="Arial" pitchFamily="34" charset="-120"/>
              </a:rPr>
              <a:t>Chênh lệch nhỏ hơn dao động giữa các fold thì chưa kết luận được hơn kém.</a:t>
            </a:r>
            <a:endParaRPr lang="en-US" sz="1450" dirty="0"/>
          </a:p>
          <a:p>
            <a:pPr marL="342900" indent="-342900">
              <a:lnSpc>
                <a:spcPct val="116000"/>
              </a:lnSpc>
              <a:spcAft>
                <a:spcPts val="1800"/>
              </a:spcAft>
              <a:buSzPct val="100000"/>
              <a:buChar char="–"/>
            </a:pPr>
            <a:r>
              <a:rPr lang="en-US" sz="1450" dirty="0">
                <a:solidFill>
                  <a:srgbClr val="222222"/>
                </a:solidFill>
                <a:latin typeface="Arial" pitchFamily="34" charset="0"/>
                <a:ea typeface="Arial" pitchFamily="34" charset="-122"/>
                <a:cs typeface="Arial" pitchFamily="34" charset="-120"/>
              </a:rPr>
              <a:t>Overfitting đo được bằng khoảng cách train − validation, và giảm được bằng giới hạn độ phức tạp.</a:t>
            </a:r>
            <a:endParaRPr lang="en-US" sz="1450" dirty="0"/>
          </a:p>
        </p:txBody>
      </p:sp>
      <p:sp>
        <p:nvSpPr>
          <p:cNvPr id="10" name="Shape 8"/>
          <p:cNvSpPr/>
          <p:nvPr/>
        </p:nvSpPr>
        <p:spPr>
          <a:xfrm>
            <a:off x="8238744" y="1627632"/>
            <a:ext cx="3282696" cy="0"/>
          </a:xfrm>
          <a:prstGeom prst="line">
            <a:avLst/>
          </a:prstGeom>
          <a:noFill/>
          <a:ln w="12700">
            <a:solidFill>
              <a:srgbClr val="2B2B2B"/>
            </a:solidFill>
            <a:prstDash val="solid"/>
          </a:ln>
        </p:spPr>
      </p:sp>
      <p:sp>
        <p:nvSpPr>
          <p:cNvPr id="11" name="Text 9"/>
          <p:cNvSpPr txBox="1"/>
          <p:nvPr/>
        </p:nvSpPr>
        <p:spPr>
          <a:xfrm>
            <a:off x="8238744" y="1737360"/>
            <a:ext cx="3282696" cy="329184"/>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Hạn chế</a:t>
            </a:r>
            <a:endParaRPr lang="en-US" sz="1500" dirty="0"/>
          </a:p>
        </p:txBody>
      </p:sp>
      <p:sp>
        <p:nvSpPr>
          <p:cNvPr id="12" name="Text 10"/>
          <p:cNvSpPr txBox="1"/>
          <p:nvPr/>
        </p:nvSpPr>
        <p:spPr>
          <a:xfrm>
            <a:off x="8238744" y="2103120"/>
            <a:ext cx="3282696" cy="4023360"/>
          </a:xfrm>
          <a:prstGeom prst="rect">
            <a:avLst/>
          </a:prstGeom>
          <a:noFill/>
          <a:ln/>
        </p:spPr>
        <p:txBody>
          <a:bodyPr wrap="square" lIns="0" tIns="0" rIns="0" bIns="0" rtlCol="0" anchor="t"/>
          <a:lstStyle/>
          <a:p>
            <a:pPr marL="342900" indent="-342900">
              <a:lnSpc>
                <a:spcPct val="116000"/>
              </a:lnSpc>
              <a:spcAft>
                <a:spcPts val="1800"/>
              </a:spcAft>
              <a:buSzPct val="100000"/>
              <a:buChar char="–"/>
            </a:pPr>
            <a:r>
              <a:rPr lang="en-US" sz="1450" dirty="0">
                <a:solidFill>
                  <a:srgbClr val="222222"/>
                </a:solidFill>
                <a:latin typeface="Arial" pitchFamily="34" charset="0"/>
                <a:ea typeface="Arial" pitchFamily="34" charset="-122"/>
                <a:cs typeface="Arial" pitchFamily="34" charset="-120"/>
              </a:rPr>
              <a:t>Một bộ dữ liệu, một lần chia test, lưới tham số nhỏ.</a:t>
            </a:r>
            <a:endParaRPr lang="en-US" sz="1450" dirty="0"/>
          </a:p>
          <a:p>
            <a:pPr marL="342900" indent="-342900">
              <a:lnSpc>
                <a:spcPct val="116000"/>
              </a:lnSpc>
              <a:spcAft>
                <a:spcPts val="1800"/>
              </a:spcAft>
              <a:buSzPct val="100000"/>
              <a:buChar char="–"/>
            </a:pPr>
            <a:r>
              <a:rPr lang="en-US" sz="1450" dirty="0">
                <a:solidFill>
                  <a:srgbClr val="222222"/>
                </a:solidFill>
                <a:latin typeface="Arial" pitchFamily="34" charset="0"/>
                <a:ea typeface="Arial" pitchFamily="34" charset="-122"/>
                <a:cs typeface="Arial" pitchFamily="34" charset="-120"/>
              </a:rPr>
              <a:t>Hồi quy logistic chạm 5000 vòng, MLP chạm 500 epoch: chưa hội tụ.</a:t>
            </a:r>
            <a:endParaRPr lang="en-US" sz="1450" dirty="0"/>
          </a:p>
          <a:p>
            <a:pPr marL="342900" indent="-342900">
              <a:lnSpc>
                <a:spcPct val="116000"/>
              </a:lnSpc>
              <a:spcAft>
                <a:spcPts val="1800"/>
              </a:spcAft>
              <a:buSzPct val="100000"/>
              <a:buChar char="–"/>
            </a:pPr>
            <a:r>
              <a:rPr lang="en-US" sz="1450" dirty="0">
                <a:solidFill>
                  <a:srgbClr val="222222"/>
                </a:solidFill>
                <a:latin typeface="Arial" pitchFamily="34" charset="0"/>
                <a:ea typeface="Arial" pitchFamily="34" charset="-122"/>
                <a:cs typeface="Arial" pitchFamily="34" charset="-120"/>
              </a:rPr>
              <a:t>Không có kiểm định thống kê hay lặp lại với nhiều seed.</a:t>
            </a:r>
            <a:endParaRPr lang="en-US" sz="1450" dirty="0"/>
          </a:p>
        </p:txBody>
      </p:sp>
      <p:sp>
        <p:nvSpPr>
          <p:cNvPr id="13" name="Shape 11"/>
          <p:cNvSpPr/>
          <p:nvPr/>
        </p:nvSpPr>
        <p:spPr>
          <a:xfrm>
            <a:off x="667512" y="5532120"/>
            <a:ext cx="10853928" cy="0"/>
          </a:xfrm>
          <a:prstGeom prst="line">
            <a:avLst/>
          </a:prstGeom>
          <a:noFill/>
          <a:ln w="15240">
            <a:solidFill>
              <a:srgbClr val="2B2B2B"/>
            </a:solidFill>
            <a:prstDash val="solid"/>
          </a:ln>
        </p:spPr>
      </p:sp>
      <p:sp>
        <p:nvSpPr>
          <p:cNvPr id="14" name="Text 12"/>
          <p:cNvSpPr txBox="1"/>
          <p:nvPr/>
        </p:nvSpPr>
        <p:spPr>
          <a:xfrm>
            <a:off x="667512" y="5669280"/>
            <a:ext cx="10853928" cy="365760"/>
          </a:xfrm>
          <a:prstGeom prst="rect">
            <a:avLst/>
          </a:prstGeom>
          <a:noFill/>
          <a:ln/>
        </p:spPr>
        <p:txBody>
          <a:bodyPr wrap="square" lIns="0" tIns="0" rIns="0" bIns="0" rtlCol="0" anchor="t"/>
          <a:lstStyle/>
          <a:p>
            <a:pPr algn="l" indent="0" marL="0">
              <a:buNone/>
            </a:pPr>
            <a:r>
              <a:rPr lang="en-US" sz="1600" dirty="0">
                <a:solidFill>
                  <a:srgbClr val="6B6B6B"/>
                </a:solidFill>
                <a:latin typeface="Arial" pitchFamily="34" charset="0"/>
                <a:ea typeface="Arial" pitchFamily="34" charset="-122"/>
                <a:cs typeface="Arial" pitchFamily="34" charset="-120"/>
              </a:rPr>
              <a:t>Cảm ơn thầy và các bạn đã lắng nghe — nhóm sẵn sàng nhận câu hỏi.</a:t>
            </a:r>
            <a:endParaRPr lang="en-US" sz="1600" dirty="0"/>
          </a:p>
        </p:txBody>
      </p:sp>
      <p:sp>
        <p:nvSpPr>
          <p:cNvPr id="25" name="Slide Number Placeholder 0"/>
          <p:cNvSpPr>
            <a:spLocks noGrp="1"/>
          </p:cNvSpPr>
          <p:nvPr>
            <p:ph type="sldNum" sz="quarter" idx="4294967295"/>
          </p:nvPr>
        </p:nvSpPr>
        <p:spPr>
          <a:xfrm>
            <a:off x="10607040" y="6400800"/>
            <a:ext cx="1188720" cy="237744"/>
          </a:xfrm>
          <a:prstGeom prst="rect">
            <a:avLst/>
          </a:prstGeom>
          <a:extLst>
            <a:ext uri="{C572A759-6A51-4108-AA02-DFA0A04FC94B}">
              <ma14:wrappingTextBoxFlag xmlns:ma14="http://schemas.microsoft.com/office/mac/drawingml/2011/main" val="0"/>
            </a:ext>
          </a:extLst>
        </p:spPr>
        <p:txBody>
          <a:bodyPr/>
          <a:lstStyle>
            <a:lvl1pPr>
              <a:defRPr sz="900">
                <a:solidFill>
                  <a:srgbClr val="9A9A9A"/>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Ton Duc Thang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Hồi quy &amp; Phân loại — Báo cáo giữa kỳ</dc:title>
  <dc:subject>Introduction to Machine Learning</dc:subject>
  <dc:creator>Ngô Lâm Tiến, Nguyễn Công Thành, Nguyễn Lê Nhật Tâm</dc:creator>
  <cp:lastModifiedBy>Ngô Lâm Tiến, Nguyễn Công Thành, Nguyễn Lê Nhật Tâm</cp:lastModifiedBy>
  <cp:revision>1</cp:revision>
  <dcterms:created xsi:type="dcterms:W3CDTF">2026-10-25T05:06:48Z</dcterms:created>
  <dcterms:modified xsi:type="dcterms:W3CDTF">2026-10-25T05:06:48Z</dcterms:modified>
</cp:coreProperties>
</file>