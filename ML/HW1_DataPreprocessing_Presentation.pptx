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41B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1B8F4"/>
                </a:solidFill>
              </a:rPr>
              <a:t>Homework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Data Preprocessing &amp; kNN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41B8F4"/>
                </a:solidFill>
              </a:rPr>
              <a:t>Lý thuyết Tiền xử lý Dữ liệu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200400"/>
            <a:ext cx="7589520" cy="36576"/>
          </a:xfrm>
          <a:prstGeom prst="rect">
            <a:avLst/>
          </a:prstGeom>
          <a:solidFill>
            <a:srgbClr val="41B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41B8F4"/>
                </a:solidFill>
              </a:rPr>
              <a:t>Sinh viên: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3429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Ngô Lâm Tiên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41B8F4"/>
                </a:solidFill>
              </a:rPr>
              <a:t>MSSV: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524H0195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434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41B8F4"/>
                </a:solidFill>
              </a:rPr>
              <a:t>Môn học: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434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9377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41B8F4"/>
                </a:solidFill>
              </a:rPr>
              <a:t>Năm học: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937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2025 –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BCC"/>
                </a:solidFill>
              </a:rPr>
              <a:t>Ton Duc Thang University — Faculty of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Nội dung bài trình bày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669280" cy="109728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1B8F4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 Preprocessing là gì?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1B8F4"/>
                </a:solidFill>
              </a:rPr>
              <a:t>Tổng quan &amp; tầm quan trọng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66928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1B8F4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3716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828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1B8F4"/>
                </a:solidFill>
              </a:rPr>
              <a:t>Missing, Duplicate, Inconsistent, Invalid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60320"/>
            <a:ext cx="5669280" cy="109728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1B8F4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Missing-Value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08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1B8F4"/>
                </a:solidFill>
              </a:rPr>
              <a:t>Deletion, Imputation, Prediction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560320"/>
            <a:ext cx="566928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606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1B8F4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517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 Conversion &amp;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108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1B8F4"/>
                </a:solidFill>
              </a:rPr>
              <a:t>Numeric, Ordinal, One-Hot, Target, Text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0479"/>
            <a:ext cx="5669280" cy="109728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88619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1B8F4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319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Feature 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891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1B8F4"/>
                </a:solidFill>
              </a:rPr>
              <a:t>Min-Max, Standard, Robust Scaler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840479"/>
            <a:ext cx="566928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886199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1B8F4"/>
                </a:solidFill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9319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389119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1B8F4"/>
                </a:solidFill>
              </a:rPr>
              <a:t>Binning, Interaction, Extraction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20640"/>
            <a:ext cx="5669280" cy="109728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166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1B8F4"/>
                </a:solidFill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212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Preprocessing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669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1B8F4"/>
                </a:solidFill>
              </a:rPr>
              <a:t>sklearn ColumnTransformer + Pipeline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120640"/>
            <a:ext cx="5669280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1663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1B8F4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2120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Bài toán thực hành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5669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1B8F4"/>
                </a:solidFill>
              </a:rPr>
              <a:t>Telco Churn — 5 mô hình phân loại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1. Data Preprocessing — 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Bước đầu tiên &amp; quan trọng nhất trong 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Data Preprocessing là quá trình biến đổi dữ liệu thô → dữ liệu sạch, phù hợp cho mô hình ML.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783080"/>
            <a:ext cx="1874519" cy="8686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828800"/>
            <a:ext cx="1783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Raw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874519"/>
            <a:ext cx="27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5E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399" y="1783080"/>
            <a:ext cx="1874519" cy="868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19" y="1828800"/>
            <a:ext cx="1783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8" y="1874519"/>
            <a:ext cx="27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5E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18" y="1783080"/>
            <a:ext cx="1874519" cy="86868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8" y="1828800"/>
            <a:ext cx="1783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Conversion
&amp;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7" y="1874519"/>
            <a:ext cx="27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5E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37" y="1783080"/>
            <a:ext cx="1874519" cy="868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57" y="1828800"/>
            <a:ext cx="1783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6" y="1874519"/>
            <a:ext cx="27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5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56" y="1783080"/>
            <a:ext cx="1874519" cy="86868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6" y="1828800"/>
            <a:ext cx="1783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Feature
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5" y="1874519"/>
            <a:ext cx="274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355E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75" y="1783080"/>
            <a:ext cx="1874519" cy="868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5" y="1828800"/>
            <a:ext cx="1783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Model
Ready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926080"/>
            <a:ext cx="11612880" cy="3383280"/>
          </a:xfrm>
          <a:prstGeom prst="rect">
            <a:avLst/>
          </a:prstGeom>
          <a:solidFill>
            <a:srgbClr val="F2F4F7"/>
          </a:solidFill>
          <a:ln w="1905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Tại sao quan trọng?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29000"/>
            <a:ext cx="6858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Dữ liệu thực tế thường bẩn: thiếu, sai, không nhất quán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Mô hình ML nhạy cảm với chất lượng dữ liệu (Garbage In → Garbage Out)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Preprocessing chiếm ~80% thời gian trong dự án ML thực tế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Dữ liệu tốt &gt; thuật toán phức tạp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Pipeline chuẩn tránh Data Leakage và overfitting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3017520"/>
            <a:ext cx="1828800" cy="1645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799" y="3063240"/>
            <a:ext cx="1737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80%
thời gian
cleaning
dữ liệu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3017520"/>
            <a:ext cx="2286000" cy="16459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3063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"Garbage
In =
Garbage
Out"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79" y="4846320"/>
            <a:ext cx="4297680" cy="13716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43799" y="4892040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CRISP-DM:
Business → Data
Understanding
→ Preparation
→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2. 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Phát hiện và xử lý các vấn đề trong dữ liệu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80160"/>
            <a:ext cx="5760720" cy="2377440"/>
          </a:xfrm>
          <a:prstGeom prst="rect">
            <a:avLst/>
          </a:prstGeom>
          <a:solidFill>
            <a:srgbClr val="F2F4F7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80160"/>
            <a:ext cx="576072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Giá trị bị thiếu (NaN, null, '', '?')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Nguyên nhân: lỗi thu thập, khảo sát bỏ qua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→ Xem Slide tiếp theo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80160"/>
            <a:ext cx="5760720" cy="2377440"/>
          </a:xfrm>
          <a:prstGeom prst="rect">
            <a:avLst/>
          </a:prstGeom>
          <a:solidFill>
            <a:srgbClr val="F2F4F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280160"/>
            <a:ext cx="576072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Duplicate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78308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Dòng bị lặp do lỗi merge, nhập liệu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Xử lý: df.drop_duplicates()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Kiểm tra: df.duplicated().sum()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840479"/>
            <a:ext cx="5760720" cy="237744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3840479"/>
            <a:ext cx="5760720" cy="45720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88619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Inconsistent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343399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Cùng giá trị nhưng format khác: 'Male'/'male'/'MALE'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Xử lý: .str.strip().str.title()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Chuẩn hoá đơn vị: kg vs lb, USD vs VND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40479"/>
            <a:ext cx="5760720" cy="2377440"/>
          </a:xfrm>
          <a:prstGeom prst="rect">
            <a:avLst/>
          </a:prstGeom>
          <a:solidFill>
            <a:srgbClr val="F2F4F7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840479"/>
            <a:ext cx="576072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886199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Invalid/Outlier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43399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Giá trị ngoài miền hợp lệ: age=-5, salary=999999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Phát hiện: IQR, Z-score, domain knowledge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Xử lý: clip, NaN, hoặc remove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3. Missing-Value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Các chiến lược xử lý giá trị bị thiếu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80160"/>
            <a:ext cx="2834640" cy="5212080"/>
          </a:xfrm>
          <a:prstGeom prst="rect">
            <a:avLst/>
          </a:prstGeom>
          <a:solidFill>
            <a:srgbClr val="F2F4F7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283464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258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① DELETION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21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E"/>
                </a:solidFill>
              </a:rPr>
              <a:t>Xóa hàng/cột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87168"/>
            <a:ext cx="2651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Xóa hàng: df.dropna()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Xóa cột nếu &gt;50% missing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⚠ Mất dữ liệu, chỉ dùng khi MCAR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280160"/>
            <a:ext cx="2834640" cy="5212080"/>
          </a:xfrm>
          <a:prstGeom prst="rect">
            <a:avLst/>
          </a:prstGeom>
          <a:solidFill>
            <a:srgbClr val="F2F4F7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72968" y="1280160"/>
            <a:ext cx="283464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3258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② IMPUTATION
   (Thống kê)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121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E"/>
                </a:solidFill>
              </a:rPr>
              <a:t>Điền giá trị tính toán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487168"/>
            <a:ext cx="2651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Mean: số liệu phân phối chuẩn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Median: có outlier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Mode: categorical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SimpleImputer (sklearn)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280160"/>
            <a:ext cx="2834640" cy="521208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280160"/>
            <a:ext cx="2834640" cy="77724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3258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③ ADVANCED
   IMPUTATION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121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E"/>
                </a:solidFill>
              </a:rPr>
              <a:t>Điền bằng mô hình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487168"/>
            <a:ext cx="2651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KNN Imputer: k=5 lân cận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Iterative Imputer (MICE)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Forward/Backward Fill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Predictive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280160"/>
            <a:ext cx="2834640" cy="5212080"/>
          </a:xfrm>
          <a:prstGeom prst="rect">
            <a:avLst/>
          </a:prstGeom>
          <a:solidFill>
            <a:srgbClr val="F2F4F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1280160"/>
            <a:ext cx="283464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3258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④ FLAG &amp;
   KEEP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4584" y="21214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E"/>
                </a:solidFill>
              </a:rPr>
              <a:t>Giữ và đánh dấu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2487168"/>
            <a:ext cx="2651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Tạo cột mới: col_missing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Giữ NaN + dùng model hỗ trợ NaN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HistGradientBoosting (sklearn)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6492240"/>
            <a:ext cx="11795760" cy="30175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📌 Rule of Thumb:  &lt; 5% missing → Impute  |  5–20% → Careful Impute  |  &gt; 20% → Consider Drop column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4. Data Conversion &amp; Categorical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Chuyển đổi mọi loại feature sang dạng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8016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3840480" cy="45720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258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Label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cho: Binary / Ordinal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['No','Yes'] → [0, 1]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sklearn: LabelEncoder()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⚠ Không dùng với Nominal!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128016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1280160"/>
            <a:ext cx="38404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3258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Ordinal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7830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cho: Có thứ tự tự nhiên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['Low','Med','High'] → [0,1,2]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Giữ quan hệ thứ bậc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sklearn: OrdinalEncoder()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28016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6" y="1280160"/>
            <a:ext cx="384048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3258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One-Hot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7830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cho: Categorical Nominal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['Red','Blue'] → [1,0],[0,1]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Không giả định thứ tự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sklearn: OneHotEncoder()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86200"/>
            <a:ext cx="384048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39319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Target 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Thay giá trị = mean(target)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Giảm chiều so với OHE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⚠ Nguy cơ Data Leakage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cross-val khi encode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8" y="388620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78808" y="3886200"/>
            <a:ext cx="384048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39319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Text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TF-IDF / Bag of Words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Word Embedding (Word2Vec)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Count vectorizer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ID thuần → DROP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388620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4736" y="3886200"/>
            <a:ext cx="3840480" cy="45720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9319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Datetime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Trích xuất: year, month, day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day_of_week, is_weekend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Tính khoảng thời gian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pd.to_datetime() + .dt.*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5. Feature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Đưa các feature về cùng scale để tránh bias khoảng cách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80160"/>
            <a:ext cx="2834640" cy="5257800"/>
          </a:xfrm>
          <a:prstGeom prst="rect">
            <a:avLst/>
          </a:prstGeom>
          <a:solidFill>
            <a:srgbClr val="F2F4F7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283464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Min-Max
Scaler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E"/>
                </a:solidFill>
              </a:rPr>
              <a:t>x' = (x - min) / (max -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505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→ [0,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78892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Bảo toàn phân phối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Nhạy với outlier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khi: Neural Net,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280160"/>
            <a:ext cx="2834640" cy="525780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2968" y="1280160"/>
            <a:ext cx="2834640" cy="68580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Standard
Scaler
(Z-score)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E"/>
                </a:solidFill>
              </a:rPr>
              <a:t>x' = (x - μ) / 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4408" y="24505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6EA9"/>
                </a:solidFill>
              </a:rPr>
              <a:t>→ mean=0, std=1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278892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Phân phối chuẩn hóa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Kém nhạy với outlier hơn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khi: kNN, SVM, LR, PCA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280160"/>
            <a:ext cx="2834640" cy="5257800"/>
          </a:xfrm>
          <a:prstGeom prst="rect">
            <a:avLst/>
          </a:prstGeom>
          <a:solidFill>
            <a:srgbClr val="F2F4F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1280160"/>
            <a:ext cx="2834640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8776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Robust
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E"/>
                </a:solidFill>
              </a:rPr>
              <a:t>x' = (x - median) / IQR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4505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</a:rPr>
              <a:t>→ Robust với outlier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78892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median &amp; IQR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Tốt khi có nhiều outlier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Phân phối non-Gaussian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53144" y="1280160"/>
            <a:ext cx="2834640" cy="5257800"/>
          </a:xfrm>
          <a:prstGeom prst="rect">
            <a:avLst/>
          </a:prstGeom>
          <a:solidFill>
            <a:srgbClr val="F2F4F7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280160"/>
            <a:ext cx="283464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132588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Log
Transform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1A355E"/>
                </a:solidFill>
              </a:rPr>
              <a:t>x' = log(x + 1)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45059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→ Giảm skewness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2788920"/>
            <a:ext cx="2651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Right-skewed distribution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Luôn dương sau transform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cho: income, price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6473952"/>
            <a:ext cx="11795760" cy="3200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 QUAN TRỌNG: Fit scaler ONLY trên tập Train → Transform cả Train và Test (tránh Data Leakage!)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6.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Tạo feature mới từ dữ liệu hiện có để tăng hiệu quả mô hình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8016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280160"/>
            <a:ext cx="3840480" cy="45720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3258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Binning / Discretization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Chia giá trị liên tục thành nhóm rời rạc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age → ['Young','Middle','Senior']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pd.cut(), pd.qcut()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Giảm nhiễu, handle non-linearity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8808" y="128016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78808" y="1280160"/>
            <a:ext cx="38404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3258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Interaction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7830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Kết hợp 2+ features: A × B, A / B, A - B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price_per_sqm = price / area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Capture quan hệ phi tuyến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⚠ Tránh tạo quá nhiều (curse of dim.)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28016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4736" y="1280160"/>
            <a:ext cx="3840480" cy="4572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32588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Aggregation / Groupby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78308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Tính thống kê theo nhóm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mean_spend_by_city, max_order_per_user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pd.groupby().agg()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Dùng cho time-series và tabular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" y="3886200"/>
            <a:ext cx="384048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39319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Domain-Specific
Extraction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Trích đặc trưng từ kiến thức miền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Email → domain, tld, is_edu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URL → protocol, path depth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Datetime → weekday, quarter, is_holiday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78808" y="388620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78808" y="3886200"/>
            <a:ext cx="384048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39319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Polynomial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Tạo x², x³, x₁·x₂ tự động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sklearn: PolynomialFeatures(degree=2)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Capture non-linear patterns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⚠ Feature explosion khi degree cao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3886200"/>
            <a:ext cx="3840480" cy="242316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74736" y="3886200"/>
            <a:ext cx="3840480" cy="45720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93192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Text Feature
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TF-IDF, Word Count, Char n-gram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Sentiment score, topic modeling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Named Entity Recognition (NER)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BERT embeddings (advanced)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7. Preprocessing Pipeline (sklearn)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Đóng gói toàn bộ quy trình thành Pipeline có thể reproduce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377440" cy="8229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Input
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417320"/>
            <a:ext cx="27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355E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71600"/>
            <a:ext cx="2377440" cy="82296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Column
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27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355E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371600"/>
            <a:ext cx="237744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Model
(Classifier)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417320"/>
            <a:ext cx="274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355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371600"/>
            <a:ext cx="237744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4173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Predictions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377440"/>
            <a:ext cx="2331720" cy="9144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42316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Numerical Pipeline:
Median Imputer
→ StandardScaler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2377440"/>
            <a:ext cx="2331720" cy="9144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242316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Binary:
Mode Imputer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2377440"/>
            <a:ext cx="2331720" cy="9144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423160"/>
            <a:ext cx="2240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Categorical Pipeline:
Mode Imputer
→ OneHotEncoder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20440"/>
            <a:ext cx="11612880" cy="3017520"/>
          </a:xfrm>
          <a:prstGeom prst="rect">
            <a:avLst/>
          </a:prstGeom>
          <a:solidFill>
            <a:srgbClr val="F2F4F7"/>
          </a:solidFill>
          <a:ln w="1905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E"/>
                </a:solidFill>
              </a:rPr>
              <a:t>Lợi ích của Pipeline: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069080"/>
            <a:ext cx="6858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✅  Tránh Data Leakage — fit() chỉ trên tập train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✅  Code gọn, dễ maintain và reproduce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✅  Tích hợp GridSearchCV/HyperParameter tuning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✅  Dễ deploy sang production (Pipeline.predict())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✅  Tự động xử lý thứ tự các bước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520440"/>
            <a:ext cx="4663440" cy="30175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611880"/>
            <a:ext cx="44805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1B8F4"/>
                </a:solidFill>
              </a:rPr>
              <a:t>preprocessor = ColumnTransformer([
    ('num', Pipeline([('imp', SimpleImputer()), ('sc', StandardScaler())]), num_cols),
    ('cat', Pipeline([('imp', SimpleImputer()), ('ohe', OneHotEncoder())]),  cat_cols),
])
pipeline = Pipeline([('prep', preprocessor), ('clf', KNeighborsClassifier())])
pipeline.fit(X_train, y_train)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8. Bài thực hành — Telco Customer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Áp dụng toàn bộ lý thuyết vào bài toán phân loại thực tế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4114800" cy="52120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1B8F4"/>
                </a:solidFill>
              </a:rPr>
              <a:t>📦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Nguồn: IBM Telco Customer Churn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Target: Churn (Yes/No) — Binary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1,500 mẫu | 18 features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Feature Types: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  Numerical: tenure, MonthlyCharges,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  TotalCharges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  Categorical: Contract, PaymentMethod,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  InternetService, gender...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  Binary: PhoneService, PaperlessBilling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    Text: customerID (→ DROP)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2377440" cy="5212080"/>
          </a:xfrm>
          <a:prstGeom prst="rect">
            <a:avLst/>
          </a:prstGeom>
          <a:solidFill>
            <a:srgbClr val="F2F4F7"/>
          </a:solidFill>
          <a:ln w="2540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280160"/>
            <a:ext cx="2377440" cy="548640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🧹 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Drop duplicate (30 dòng)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Chuẩn hoá casing (gender...)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Xử lý tenure&lt;0, Charges&gt;500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Missing: Median/Mode Impute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280160"/>
            <a:ext cx="2377440" cy="5212080"/>
          </a:xfrm>
          <a:prstGeom prst="rect">
            <a:avLst/>
          </a:prstGeom>
          <a:solidFill>
            <a:srgbClr val="F2F4F7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1280160"/>
            <a:ext cx="237744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⚙️ Feature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92024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Drop customerID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ContractRank (ordinal: 0/1/2)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ChargesPerMonth = Total/tenure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NumServices (count dịch vụ)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280160"/>
            <a:ext cx="2377440" cy="5212080"/>
          </a:xfrm>
          <a:prstGeom prst="rect">
            <a:avLst/>
          </a:prstGeom>
          <a:solidFill>
            <a:srgbClr val="F2F4F7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01200" y="1280160"/>
            <a:ext cx="2377440" cy="548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1325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🤖 Models Trained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192024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1. kNN (k=7, Euclidean)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2. Decision Tree (depth=8)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3. Naive Bayes (Gaussian)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4. Logistic Regression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•  5. Random Forest (100 trees)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492240"/>
            <a:ext cx="11612880" cy="301752"/>
          </a:xfrm>
          <a:prstGeom prst="rect">
            <a:avLst/>
          </a:prstGeom>
          <a:solidFill>
            <a:srgbClr val="276E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Đánh giá: Accuracy | Precision | Recall | F1-Score | Confusion Matrix | 5-Fold CV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Kết quả so sánh mô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1B8F4"/>
                </a:solidFill>
              </a:rPr>
              <a:t>Telco Churn Classification — Test Set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92608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Mô hình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80160"/>
            <a:ext cx="164592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46120" y="1325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280160"/>
            <a:ext cx="164592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325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280160"/>
            <a:ext cx="164592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325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80160"/>
            <a:ext cx="164592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1325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1280160"/>
            <a:ext cx="1645920" cy="4572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325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CV 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737360"/>
            <a:ext cx="292608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78308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kNN (k=7)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737360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17830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0.75~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737360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7830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0.66~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737360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7830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0.58~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737360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17830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0.62~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1737360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9800" y="1783080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0.61~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304288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235000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Decision Tree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304288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235000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0.77~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304288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235000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0.68~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304288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35000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0.64~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2304288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235000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0.66~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84080" y="2304288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29800" y="2350008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0.64~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2871215"/>
            <a:ext cx="292608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2916935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Naive Bayes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2871215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6120" y="291693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0.73~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2871215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92040" y="291693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0.63~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2871215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291693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0.60~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2871215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80" y="291693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0.62~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2871215"/>
            <a:ext cx="1645920" cy="53035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800" y="2916935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0.60~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438144"/>
            <a:ext cx="29260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348386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Logistic Regression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3438144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46120" y="348386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0.80~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3438144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2040" y="348386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0.72~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3438144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348386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0.68~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38160" y="3438144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83880" y="348386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0.70~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84080" y="3438144"/>
            <a:ext cx="16459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29800" y="3483864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355E"/>
                </a:solidFill>
              </a:rPr>
              <a:t>0.69~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005072"/>
            <a:ext cx="2926080" cy="53035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405079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Random Forest 🏆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4005072"/>
            <a:ext cx="1645920" cy="53035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46120" y="40507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0.82~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4005072"/>
            <a:ext cx="1645920" cy="53035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92040" y="40507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0.76~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92240" y="4005072"/>
            <a:ext cx="1645920" cy="53035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37960" y="40507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0.70~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138160" y="4005072"/>
            <a:ext cx="1645920" cy="53035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80" y="40507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0.73~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84080" y="4005072"/>
            <a:ext cx="1645920" cy="53035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29800" y="4050792"/>
            <a:ext cx="1554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7AE60"/>
                </a:solidFill>
              </a:rPr>
              <a:t>0.72~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" y="4681728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74C3C"/>
                </a:solidFill>
              </a:rPr>
              <a:t>* Kết quả xấp xỉ — chạy notebook để xem giá trị chính xác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029200"/>
            <a:ext cx="11612880" cy="1691640"/>
          </a:xfrm>
          <a:prstGeom prst="rect">
            <a:avLst/>
          </a:prstGeom>
          <a:solidFill>
            <a:srgbClr val="F2F4F7"/>
          </a:solidFill>
          <a:ln w="19050">
            <a:solidFill>
              <a:srgbClr val="276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1206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5E"/>
                </a:solidFill>
              </a:rPr>
              <a:t>💡 Nhận xét &amp; Kết luận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54864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Random Forest đạt kết quả tốt nhất nhờ ensemble của nhiều cây quyết định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Logistic Regression cho kết quả tốt &amp; giải thích được (interpretable)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kNN nhạy cảm với k và cần StandardScaler vì dùng khoảng cách Euclidean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1A2E"/>
                </a:solidFill>
              </a:rPr>
              <a:t>▸  Preprocessing Pipeline chuẩn giúp tránh Data Leakage và dễ deploy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88952" cy="109728"/>
          </a:xfrm>
          <a:prstGeom prst="rect">
            <a:avLst/>
          </a:prstGeom>
          <a:solidFill>
            <a:srgbClr val="41B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Cảm ơn thầy/cô đã lắng nghe!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1">
                <a:solidFill>
                  <a:srgbClr val="41B8F4"/>
                </a:solidFill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1B8F4"/>
                </a:solidFill>
              </a:rPr>
              <a:t>Sinh viên: Ngô Lâm Tiên  —  MSSV: 524H0195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1B8F4"/>
                </a:solidFill>
              </a:rPr>
              <a:t>Môn học: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1B8F4"/>
                </a:solidFill>
              </a:rPr>
              <a:t>Ton Duc Thang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