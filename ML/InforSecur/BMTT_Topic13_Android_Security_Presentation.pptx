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Estimated speaking time: 30 seconds</a:t>
            </a:r>
          </a:p>
          <a:p/>
          <a:p>
            <a:r>
              <a:t>SPEAKING GUIDANCE:</a:t>
            </a:r>
          </a:p>
          <a:p>
            <a:r>
              <a:t>• Welcome the instructor and audience. Introduce your team members and topic.</a:t>
            </a:r>
          </a:p>
          <a:p>
            <a:r>
              <a:t>• State clearly: "Today, group G02 presents Topic 13: Security in Client-Server Android Applications, focusing on permissions, Intent security, and local data protection."</a:t>
            </a:r>
          </a:p>
          <a:p>
            <a:r>
              <a:t>• Team: Ngô Lâm Tiến (Leader), Nguyễn Công Thành, and Võ Huỳnh Duy Tân from class N05.</a:t>
            </a:r>
          </a:p>
          <a:p>
            <a:r>
              <a:t>• Highlight the objective: Analyzing core Android security boundaries, explaining vulnerability mechanics (Intent Redirection and plaintext SQLite), and introducing our final MITM and Certificate Pinning demonstration plan.</a:t>
            </a:r>
          </a:p>
          <a:p>
            <a:r>
              <a:t>• Transition: "Let us begin by examining why Android security matters across the full client-server attack surface."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Estimated speaking time: 1 min 00 sec</a:t>
            </a:r>
          </a:p>
          <a:p/>
          <a:p>
            <a:r>
              <a:t>SPEAKING GUIDANCE:</a:t>
            </a:r>
          </a:p>
          <a:p>
            <a:r>
              <a:t>• Point to the top diagram showing the complete flow: User -&gt; App -&gt; Storage/IPC -&gt; Network -&gt; Backend.</a:t>
            </a:r>
          </a:p>
          <a:p>
            <a:r>
              <a:t>• Explain the core problem: 'Developers often focus exclusively on securing backend servers and databases, treating the client device as a black box. However, Android mobile clients operate in a hostile local environment.'</a:t>
            </a:r>
          </a:p>
          <a:p>
            <a:r>
              <a:t>• Walk through the 4 boundaries: Permissions, IPC, Local Storage, and Network Transit. Emphasize that if an attacker compromises local storage or IPC, they can steal tokens to compromise the backend.</a:t>
            </a:r>
          </a:p>
          <a:p>
            <a:r>
              <a:t>• Transition: 'Now let us examine the foundational security architecture of the Android OS that underlies these boundaries.'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Estimated speaking time: 1 min 30 sec</a:t>
            </a:r>
          </a:p>
          <a:p/>
          <a:p>
            <a:r>
              <a:t>SPEAKING GUIDANCE:</a:t>
            </a:r>
          </a:p>
          <a:p>
            <a:r>
              <a:t>• Present the three pillars from left to right: Sandbox -&gt; Components -&gt; Manifest.</a:t>
            </a:r>
          </a:p>
          <a:p>
            <a:r>
              <a:t>• Explain the Sandbox: 'Unlike traditional desktop OS where all user programs share the logged-in user's UID, Android treats every installed app as a separate Linux user with its own UID. It runs in its own ART virtual machine.'</a:t>
            </a:r>
          </a:p>
          <a:p>
            <a:r>
              <a:t>• Explain the 4 Components: 'Activities, Services, BroadcastReceivers, and ContentProviders. Each component represents a distinct entry point.'</a:t>
            </a:r>
          </a:p>
          <a:p>
            <a:r>
              <a:t>• Highlight the Manifest: 'AndroidManifest.xml is the authoritative contract that ties everything together. It defines permissions and declares which components are public or private.'</a:t>
            </a:r>
          </a:p>
          <a:p>
            <a:r>
              <a:t>• Transition: 'Let's take a closer look at the Android Permission Model and the critical role of android:exported.'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Estimated speaking time: 1 min 30 sec</a:t>
            </a:r>
          </a:p>
          <a:p/>
          <a:p>
            <a:r>
              <a:t>SPEAKING GUIDANCE:</a:t>
            </a:r>
          </a:p>
          <a:p>
            <a:r>
              <a:t>• Left column: Explain the 4 permission levels. Highlight that Runtime Permissions (introduced in Android 6.0) protect user privacy, while Signature Permissions allow secure inter-app communication between apps from the same vendor.</a:t>
            </a:r>
          </a:p>
          <a:p>
            <a:r>
              <a:t>• Right column: Focus on the 'android:exported' attribute. Explain: 'This single XML attribute is one of the most critical access control switches in Android.'</a:t>
            </a:r>
          </a:p>
          <a:p>
            <a:r>
              <a:t>• Highlight the trap: 'If a developer adds an intent filter, older Android SDKs defaulted exported to true, accidentally opening internal screens to attackers.'</a:t>
            </a:r>
          </a:p>
          <a:p>
            <a:r>
              <a:t>• Point to the code snippet: setting exported='false' keeps the component completely isolated.</a:t>
            </a:r>
          </a:p>
          <a:p>
            <a:r>
              <a:t>• Transition: 'Now, how do applications actually communicate across components? Through Intents.'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Estimated speaking time: 1 min 30 sec</a:t>
            </a:r>
          </a:p>
          <a:p/>
          <a:p>
            <a:r>
              <a:t>SPEAKING GUIDANCE:</a:t>
            </a:r>
          </a:p>
          <a:p>
            <a:r>
              <a:t>• Contrast Explicit vs Implicit Intents using the two top cards.</a:t>
            </a:r>
          </a:p>
          <a:p>
            <a:r>
              <a:t>• Explain: 'Explicit Intents know their exact destination class within the app. Implicit Intents ask the OS to find any matching app using action strings and URIs.'</a:t>
            </a:r>
          </a:p>
          <a:p>
            <a:r>
              <a:t>• Direct attention to the bottom card on Intent anatomy: 'Notice the Extras Bundle. Extras can carry any serialized data, including other Intent objects.'</a:t>
            </a:r>
          </a:p>
          <a:p>
            <a:r>
              <a:t>• Emphasize the red warning box: 'An exported component is like an open network port. When an Intent crosses that boundary, it crosses a trust boundary. Blindly trusting incoming Intent extras leads directly to exploitation.'</a:t>
            </a:r>
          </a:p>
          <a:p>
            <a:r>
              <a:t>• Transition: 'Let's examine how this blind trust leads to Attack #1: Intent Injection and Intent Redirection.'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Estimated speaking time: 2 min 00 sec</a:t>
            </a:r>
          </a:p>
          <a:p/>
          <a:p>
            <a:r>
              <a:t>SPEAKING GUIDANCE:</a:t>
            </a:r>
          </a:p>
          <a:p>
            <a:r>
              <a:t>• Walk through the 4-step attack diagram at the top: Attacker -&gt; Boundary -&gt; Proxy -&gt; Private Activity.</a:t>
            </a:r>
          </a:p>
          <a:p>
            <a:r>
              <a:t>• Direct attention to the Kotlin code box on the left: 'Look at line 6. The developer retrieves an Intent object from the extras bundle under the key "next_intent", and calls startActivity(next) on line 10.'</a:t>
            </a:r>
          </a:p>
          <a:p>
            <a:r>
              <a:t>• Explain the root cause: 'Why is this dangerous? Because the attacker can embed an explicit Intent pointing to PrivateAdminActivity (which has exported="false"). The attacker cannot launch it directly, but the victim app CAN because it runs inside the victim's own UID.'</a:t>
            </a:r>
          </a:p>
          <a:p>
            <a:r>
              <a:t>• Conclude: 'This turns the victim app into a Confused Deputy, completely bypassing Android's component access control.'</a:t>
            </a:r>
          </a:p>
          <a:p>
            <a:r>
              <a:t>• Transition: 'Now let's examine client-side storage vulnerabilities: Attack #2, insecure local SQLite data.'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Estimated speaking time: 1 min 30 sec</a:t>
            </a:r>
          </a:p>
          <a:p/>
          <a:p>
            <a:r>
              <a:t>SPEAKING GUIDANCE:</a:t>
            </a:r>
          </a:p>
          <a:p>
            <a:r>
              <a:t>• Clarify the common misconception: 'We must state clearly that an ordinary malicious Android app cannot just read another app's private SQLite file directly. The Linux sandbox isolates file ownership by default.'</a:t>
            </a:r>
          </a:p>
          <a:p>
            <a:r>
              <a:t>• Then explain why plaintext storage is STILL a critical vulnerability: 'However, storing tokens in plaintext is a catastrophic risk because of secondary exposure vectors shown on the right: insecure backups, exported ContentProviders with SQL injection, or rooted devices.'</a:t>
            </a:r>
          </a:p>
          <a:p>
            <a:r>
              <a:t>• Emphasize the bottom comparison: 'Access control is not encryption. Access control only restricts who can open the file handle. Encryption at rest protects the bytes themselves. If access control fails, only encryption prevents a total data breach.'</a:t>
            </a:r>
          </a:p>
          <a:p>
            <a:r>
              <a:t>• Transition: 'Now let us evaluate how both Intent attacks and Storage exposures impact the CIA Triad.'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Estimated speaking time: 1 min 00 sec</a:t>
            </a:r>
          </a:p>
          <a:p/>
          <a:p>
            <a:r>
              <a:t>SPEAKING GUIDANCE:</a:t>
            </a:r>
          </a:p>
          <a:p>
            <a:r>
              <a:t>• Present the CIA Triad systematically, linking each pillar directly to our mobile Android scenario.</a:t>
            </a:r>
          </a:p>
          <a:p>
            <a:r>
              <a:t>• Confidentiality: 'Session hijacking occurs when an attacker obtains the JWT token from SQLite or an insecure Intent result.'</a:t>
            </a:r>
          </a:p>
          <a:p>
            <a:r>
              <a:t>• Integrity: 'This is the most critical impact. With Intent Redirection, an unprivileged app can force the victim app to execute privileged state modifications—such as changing passwords or submitting unauthorized transactions.'</a:t>
            </a:r>
          </a:p>
          <a:p>
            <a:r>
              <a:t>• Availability: 'Malformed Intent payloads can crash components, and database corruption causes permanent app denial of service.'</a:t>
            </a:r>
          </a:p>
          <a:p>
            <a:r>
              <a:t>• Transition: 'Having evaluated the full scope of these threats, what is our multi-layered defense strategy?'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Estimated speaking time: 1 min 45 sec</a:t>
            </a:r>
          </a:p>
          <a:p/>
          <a:p>
            <a:r>
              <a:t>SPEAKING GUIDANCE:</a:t>
            </a:r>
          </a:p>
          <a:p>
            <a:r>
              <a:t>• Emphasize the layered model: 'Defensive engineering requires a multi-tiered approach. Hardening one layer while ignoring the others leaves the application vulnerable.'</a:t>
            </a:r>
          </a:p>
          <a:p>
            <a:r>
              <a:t>• Layer 1: Manifest auditing is the quickest and highest ROI step—set exported="false" and disable backups.</a:t>
            </a:r>
          </a:p>
          <a:p>
            <a:r>
              <a:t>• Layer 2: Intent security requires treating every Intent extra as untrusted input. Validate and allowlist components before launching.</a:t>
            </a:r>
          </a:p>
          <a:p>
            <a:r>
              <a:t>• Layer 3: Storage security eliminates plaintext data at rest using SQLCipher and EncryptedSharedPreferences, protected by hardware keys in Android Keystore.'</a:t>
            </a:r>
          </a:p>
          <a:p>
            <a:r>
              <a:t>• Transition: 'This brings us to the final tier of client-server security: Network Transit, which forms the core of our Final Project Demonstration.'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Estimated speaking time: 2 min 00 sec</a:t>
            </a:r>
          </a:p>
          <a:p/>
          <a:p>
            <a:r>
              <a:t>SPEAKING GUIDANCE:</a:t>
            </a:r>
          </a:p>
          <a:p>
            <a:r>
              <a:t>• Clearly frame this slide: 'This slide bridges our midterm theoretical research with our upcoming final practical demonstration.'</a:t>
            </a:r>
          </a:p>
          <a:p>
            <a:r>
              <a:t>• Left card (Phase 1): Explain the vulnerable setup. When an app trusts user certificates, a proxy like Burp Suite can act as a Man-in-the-Middle, decrypting HTTPS traffic and stealing credentials.</a:t>
            </a:r>
          </a:p>
          <a:p>
            <a:r>
              <a:t>• Right card (Phase 2): Explain the mitigation. 'Certificate Pinning hardcodes the cryptographic SHA-256 hash of the server's public key inside the app. When Burp presents its own certificate, the hashes don't match, and OkHttp drops the TLS connection immediately.'</a:t>
            </a:r>
          </a:p>
          <a:p>
            <a:r>
              <a:t>• Emphasize the bottom methodology: All work is conducted strictly within an authorized university educational lab environment.</a:t>
            </a:r>
          </a:p>
          <a:p>
            <a:r>
              <a:t>• Transition: 'Let us now summarize the key takeaways of our research.'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Estimated speaking time: 1 min 00 sec</a:t>
            </a:r>
          </a:p>
          <a:p/>
          <a:p>
            <a:r>
              <a:t>SPEAKING GUIDANCE:</a:t>
            </a:r>
          </a:p>
          <a:p>
            <a:r>
              <a:t>• Summarize the 5 core takeaways concisely.</a:t>
            </a:r>
          </a:p>
          <a:p>
            <a:r>
              <a:t>• Reiterate the central philosophy: 'Mobile security is not a single feature; it is an interconnected chain spanning sandbox isolation, IPC sanitization, storage encryption, and network pinning.'</a:t>
            </a:r>
          </a:p>
          <a:p>
            <a:r>
              <a:t>• State with confidence: 'Our theoretical research is complete, and we are ready to implement our practical laboratory demonstration.'</a:t>
            </a:r>
          </a:p>
          <a:p>
            <a:r>
              <a:t>• Conclude gracefully: 'Thank you for your attention. We now welcome questions from Dr. Tu and our classmates.'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Estimated speaking time: 15 seconds (Reference overview / transition to Q&amp;A)</a:t>
            </a:r>
          </a:p>
          <a:p/>
          <a:p>
            <a:r>
              <a:t>SPEAKING GUIDANCE:</a:t>
            </a:r>
          </a:p>
          <a:p>
            <a:r>
              <a:t>• Briefly present the slide: 'Our research is grounded in official Android developer documentation, the OWASP MASVS and MASTG frameworks, and NIST guidelines.'</a:t>
            </a:r>
          </a:p>
          <a:p>
            <a:r>
              <a:t>• Leave this slide visible or return to the conclusion during the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63040" y="1188720"/>
            <a:ext cx="1371600" cy="73152"/>
          </a:xfrm>
          <a:prstGeom prst="round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417320"/>
            <a:ext cx="9265615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DDC84"/>
                </a:solidFill>
                <a:latin typeface="Arial"/>
              </a:defRPr>
            </a:pPr>
            <a:r>
              <a:t>INFORMATION SECURITY MIDTERM THEORY PROJECT  •  TOPIC 13</a:t>
            </a:r>
          </a:p>
          <a:p>
            <a:pPr>
              <a:spcAft>
                <a:spcPts val="600"/>
              </a:spcAft>
              <a:defRPr sz="3200" b="1">
                <a:solidFill>
                  <a:srgbClr val="F8FAFC"/>
                </a:solidFill>
                <a:latin typeface="Arial"/>
              </a:defRPr>
            </a:pPr>
            <a:r>
              <a:t>Security in Client-Server Android Applications</a:t>
            </a:r>
          </a:p>
          <a:p>
            <a:pPr>
              <a:defRPr sz="1700">
                <a:solidFill>
                  <a:srgbClr val="38BDF8"/>
                </a:solidFill>
                <a:latin typeface="Arial"/>
              </a:defRPr>
            </a:pPr>
            <a:r>
              <a:t>Android Permissions, Intent Security, and Local Data Protection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3657600"/>
            <a:ext cx="4389120" cy="1920240"/>
          </a:xfrm>
          <a:prstGeom prst="roundRect">
            <a:avLst/>
          </a:prstGeom>
          <a:solidFill>
            <a:srgbClr val="0E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3794760"/>
            <a:ext cx="39319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DDC84"/>
                </a:solidFill>
                <a:latin typeface="Arial"/>
              </a:defRPr>
            </a:pPr>
            <a:r>
              <a:t>ACADEMIC DETAILS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Course: Introduction to Information Security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Instructor: Huynh Ngoc Tu, Ph.D</a:t>
            </a:r>
          </a:p>
          <a:p>
            <a:pPr>
              <a:defRPr sz="1200">
                <a:solidFill>
                  <a:srgbClr val="38BDF8"/>
                </a:solidFill>
                <a:latin typeface="Arial"/>
              </a:defRPr>
            </a:pPr>
            <a:r>
              <a:t>Class ID: N05   |   Group ID: G02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3657600"/>
            <a:ext cx="4663440" cy="1920240"/>
          </a:xfrm>
          <a:prstGeom prst="roundRect">
            <a:avLst/>
          </a:prstGeom>
          <a:solidFill>
            <a:srgbClr val="0E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3794760"/>
            <a:ext cx="42062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DDC84"/>
                </a:solidFill>
                <a:latin typeface="Arial"/>
              </a:defRPr>
            </a:pPr>
            <a:r>
              <a:t>PROJECT TEAM (GROUP G02)</a:t>
            </a:r>
          </a:p>
          <a:p>
            <a:pPr>
              <a:spcAft>
                <a:spcPts val="3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Ngô Lâm Tiến (Leader)   |   ID: 524H0195</a:t>
            </a:r>
          </a:p>
          <a:p>
            <a:pPr>
              <a:spcAft>
                <a:spcPts val="3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Nguyễn Công Thành   |   ID: 524H0191</a:t>
            </a:r>
          </a:p>
          <a:p>
            <a:pPr>
              <a:spcAft>
                <a:spcPts val="3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Võ Huỳnh Duy Tân   |   ID: 524H0187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DDC84"/>
                </a:solidFill>
                <a:latin typeface="Arial"/>
              </a:defRPr>
            </a:pPr>
            <a:r>
              <a:t>THREAT LANDSCAPE &amp; ATTACK SURFACE</a:t>
            </a:r>
          </a:p>
          <a:p>
            <a:pPr>
              <a:spcAft>
                <a:spcPts val="200"/>
              </a:spcAft>
              <a:defRPr sz="2600" b="1">
                <a:solidFill>
                  <a:srgbClr val="F8FAFC"/>
                </a:solidFill>
                <a:latin typeface="Arial"/>
              </a:defRPr>
            </a:pPr>
            <a:r>
              <a:t>Why Android Security Matters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The Multi-Layered Attack Surface of Mobile Client-Server Systems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1874519" cy="1005840"/>
          </a:xfrm>
          <a:prstGeom prst="roundRect">
            <a:avLst/>
          </a:prstGeom>
          <a:solidFill>
            <a:srgbClr val="131C2E"/>
          </a:solidFill>
          <a:ln w="15240">
            <a:solidFill>
              <a:srgbClr val="3DD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6916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3DDC84"/>
                </a:solidFill>
                <a:latin typeface="Arial"/>
              </a:defRPr>
            </a:pPr>
            <a:r>
              <a:t>End User</a:t>
            </a:r>
          </a:p>
          <a:p>
            <a:pPr algn="ctr">
              <a:defRPr sz="1000">
                <a:solidFill>
                  <a:srgbClr val="94A3B8"/>
                </a:solidFill>
                <a:latin typeface="Arial"/>
              </a:defRPr>
            </a:pPr>
            <a:r>
              <a:t>Device Owner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39" y="1920240"/>
            <a:ext cx="347472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>
                <a:solidFill>
                  <a:srgbClr val="38BDF8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53511" y="1691640"/>
            <a:ext cx="1874519" cy="1005840"/>
          </a:xfrm>
          <a:prstGeom prst="roundRect">
            <a:avLst/>
          </a:prstGeom>
          <a:solidFill>
            <a:srgbClr val="131C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1" y="1783080"/>
            <a:ext cx="16916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Android Client</a:t>
            </a:r>
          </a:p>
          <a:p>
            <a:pPr algn="ctr">
              <a:defRPr sz="1000">
                <a:solidFill>
                  <a:srgbClr val="94A3B8"/>
                </a:solidFill>
                <a:latin typeface="Arial"/>
              </a:defRPr>
            </a:pPr>
            <a:r>
              <a:t>Application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8030" y="1920240"/>
            <a:ext cx="347472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>
                <a:solidFill>
                  <a:srgbClr val="38BDF8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75502" y="1691640"/>
            <a:ext cx="1874519" cy="1005840"/>
          </a:xfrm>
          <a:prstGeom prst="roundRect">
            <a:avLst/>
          </a:prstGeom>
          <a:solidFill>
            <a:srgbClr val="131C2E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66942" y="1783080"/>
            <a:ext cx="16916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FBBF24"/>
                </a:solidFill>
                <a:latin typeface="Arial"/>
              </a:defRPr>
            </a:pPr>
            <a:r>
              <a:t>Storage / IPC</a:t>
            </a:r>
          </a:p>
          <a:p>
            <a:pPr algn="ctr">
              <a:defRPr sz="1000">
                <a:solidFill>
                  <a:srgbClr val="94A3B8"/>
                </a:solidFill>
                <a:latin typeface="Arial"/>
              </a:defRPr>
            </a:pPr>
            <a:r>
              <a:t>SQLite &amp; Intents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0021" y="1920240"/>
            <a:ext cx="347472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>
                <a:solidFill>
                  <a:srgbClr val="38BDF8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97493" y="1691640"/>
            <a:ext cx="1874519" cy="1005840"/>
          </a:xfrm>
          <a:prstGeom prst="roundRect">
            <a:avLst/>
          </a:prstGeom>
          <a:solidFill>
            <a:srgbClr val="131C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88933" y="1783080"/>
            <a:ext cx="16916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HTTPS / Transit</a:t>
            </a:r>
          </a:p>
          <a:p>
            <a:pPr algn="ctr">
              <a:defRPr sz="1000">
                <a:solidFill>
                  <a:srgbClr val="94A3B8"/>
                </a:solidFill>
                <a:latin typeface="Arial"/>
              </a:defRPr>
            </a:pPr>
            <a:r>
              <a:t>Network Channel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2012" y="1920240"/>
            <a:ext cx="347472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>
                <a:solidFill>
                  <a:srgbClr val="38BDF8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19484" y="1691640"/>
            <a:ext cx="1874519" cy="1005840"/>
          </a:xfrm>
          <a:prstGeom prst="roundRect">
            <a:avLst/>
          </a:prstGeom>
          <a:solidFill>
            <a:srgbClr val="131C2E"/>
          </a:solidFill>
          <a:ln w="15240">
            <a:solidFill>
              <a:srgbClr val="3DD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10924" y="1783080"/>
            <a:ext cx="16916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3DDC84"/>
                </a:solidFill>
                <a:latin typeface="Arial"/>
              </a:defRPr>
            </a:pPr>
            <a:r>
              <a:t>Backend Server</a:t>
            </a:r>
          </a:p>
          <a:p>
            <a:pPr algn="ctr">
              <a:defRPr sz="1000">
                <a:solidFill>
                  <a:srgbClr val="94A3B8"/>
                </a:solidFill>
                <a:latin typeface="Arial"/>
              </a:defRPr>
            </a:pPr>
            <a:r>
              <a:t>Cloud APIs &amp; 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926080"/>
            <a:ext cx="2542032" cy="2926080"/>
          </a:xfrm>
          <a:prstGeom prst="roundRect">
            <a:avLst/>
          </a:prstGeom>
          <a:solidFill>
            <a:srgbClr val="0E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2926080"/>
            <a:ext cx="2542032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108960"/>
            <a:ext cx="2212848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DDC84"/>
                </a:solidFill>
                <a:latin typeface="Arial"/>
              </a:defRPr>
            </a:pPr>
            <a:r>
              <a:t>1. Permissions Boundary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Gates sensitive hardware &amp; system APIs (Camera, Location, Contacts). Fails if apps request excessive privileges.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56432" y="2926080"/>
            <a:ext cx="2542032" cy="2926080"/>
          </a:xfrm>
          <a:prstGeom prst="roundRect">
            <a:avLst/>
          </a:prstGeom>
          <a:solidFill>
            <a:srgbClr val="0E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56432" y="2926080"/>
            <a:ext cx="254203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21024" y="3108960"/>
            <a:ext cx="2212848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2. IPC &amp; Intent Boundary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Governs message passing between distinct apps and components. Fails if exported components trust unvalidated input.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81344" y="2926080"/>
            <a:ext cx="2542032" cy="2926080"/>
          </a:xfrm>
          <a:prstGeom prst="roundRect">
            <a:avLst/>
          </a:prstGeom>
          <a:solidFill>
            <a:srgbClr val="0E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81344" y="2926080"/>
            <a:ext cx="2542032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45936" y="3108960"/>
            <a:ext cx="2212848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BBF24"/>
                </a:solidFill>
                <a:latin typeface="Arial"/>
              </a:defRPr>
            </a:pPr>
            <a:r>
              <a:t>3. Storage-at-Rest Boundary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Isolates private SQLite files via Linux UIDs. Fails when plaintext tokens leak via backups, root, or providers.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06256" y="2926080"/>
            <a:ext cx="2542032" cy="2926080"/>
          </a:xfrm>
          <a:prstGeom prst="roundRect">
            <a:avLst/>
          </a:prstGeom>
          <a:solidFill>
            <a:srgbClr val="0E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06256" y="2926080"/>
            <a:ext cx="2542032" cy="548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70848" y="3108960"/>
            <a:ext cx="2212848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87171"/>
                </a:solidFill>
                <a:latin typeface="Arial"/>
              </a:defRPr>
            </a:pPr>
            <a:r>
              <a:t>4. Network Transit Boundary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Protects client-server API payloads. Vulnerable to interception (MITM) if certificate trust is misconfigured.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989320"/>
            <a:ext cx="10728655" cy="50292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3DD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6053328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Arial"/>
              </a:defRPr>
            </a:pPr>
            <a:r>
              <a:t>KEY TAKEAWAY: Android security is not a single perimeter — it requires defense-in-depth across all four boundaries.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DDC84"/>
                </a:solidFill>
                <a:latin typeface="Arial"/>
              </a:defRPr>
            </a:pPr>
            <a:r>
              <a:t>SYSTEM ARCHITECTURE</a:t>
            </a:r>
          </a:p>
          <a:p>
            <a:pPr>
              <a:spcAft>
                <a:spcPts val="200"/>
              </a:spcAft>
              <a:defRPr sz="2600" b="1">
                <a:solidFill>
                  <a:srgbClr val="F8FAFC"/>
                </a:solidFill>
                <a:latin typeface="Arial"/>
              </a:defRPr>
            </a:pPr>
            <a:r>
              <a:t>Android Security Foundation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Kernel-Level Sandboxing &amp; Component-Based Isolation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3429000" cy="4663440"/>
          </a:xfrm>
          <a:prstGeom prst="roundRect">
            <a:avLst/>
          </a:prstGeom>
          <a:solidFill>
            <a:srgbClr val="131C2E"/>
          </a:solidFill>
          <a:ln w="15240">
            <a:solidFill>
              <a:srgbClr val="3DD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29718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DDC84"/>
                </a:solidFill>
                <a:latin typeface="Arial"/>
              </a:defRPr>
            </a:pPr>
            <a:r>
              <a:t>Linux Application Sandbox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Per-App Linux UID: Each app receives a unique, immutable Linux UID (e.g. u0_a142) upon installation.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Process Isolation: Apps execute inside distinct processes running independent Android Runtime (ART) instances.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Kernel File Security: Internal data directories (/data/data/&lt;pkg&gt;) are assigned 0700 file permissions, accessible only by owner UID.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Baseline Isolation: Prevents unauthorized apps from reading memory or private disk storage directly.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691640"/>
            <a:ext cx="3429000" cy="4663440"/>
          </a:xfrm>
          <a:prstGeom prst="roundRect">
            <a:avLst/>
          </a:prstGeom>
          <a:solidFill>
            <a:srgbClr val="131C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874519"/>
            <a:ext cx="29718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  <a:latin typeface="Arial"/>
              </a:defRPr>
            </a:pPr>
            <a:r>
              <a:t>The 4 Core Components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Activity: Visual user interface entry point. Handles screen presentation and direct user interactions.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Service: Background worker component without UI. Performs long-running tasks, syncs, or media playback.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BroadcastReceiver: Asynchronous event listener. Catches system broadcasts (e.g. BOOT_COMPLETED) or custom app intents.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ContentProvider: Structured data management interface. Abstracts SQLite or file access for secure data sharing.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691640"/>
            <a:ext cx="3429000" cy="4663440"/>
          </a:xfrm>
          <a:prstGeom prst="roundRect">
            <a:avLst/>
          </a:prstGeom>
          <a:solidFill>
            <a:srgbClr val="131C2E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7032" y="1874519"/>
            <a:ext cx="29718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BBF24"/>
                </a:solidFill>
                <a:latin typeface="Arial"/>
              </a:defRPr>
            </a:pPr>
            <a:r>
              <a:t>AndroidManifest.xml Authority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Authoritative Blueprint: Root XML file declaring all app components, permissions, and security parameters.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Component Exposure: The android:exported attribute strictly governs whether external apps can invoke a component.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Permission Binding: Specifies required permissions (&lt;uses-permission&gt;) and defines custom signature gates.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Security Sensitivity: A single misconfiguration in this file can completely bypass sandbox boundaries!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DDC84"/>
                </a:solidFill>
                <a:latin typeface="Arial"/>
              </a:defRPr>
            </a:pPr>
            <a:r>
              <a:t>ACCESS CONTROL &amp; GOVERNANCE</a:t>
            </a:r>
          </a:p>
          <a:p>
            <a:pPr>
              <a:spcAft>
                <a:spcPts val="200"/>
              </a:spcAft>
              <a:defRPr sz="2600" b="1">
                <a:solidFill>
                  <a:srgbClr val="F8FAFC"/>
                </a:solidFill>
                <a:latin typeface="Arial"/>
              </a:defRPr>
            </a:pPr>
            <a:r>
              <a:t>Permission Model &amp; AndroidManifest.xml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Granular Access Governance &amp; The Principle of Least Privilege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212080" cy="4663440"/>
          </a:xfrm>
          <a:prstGeom prst="roundRect">
            <a:avLst/>
          </a:prstGeom>
          <a:solidFill>
            <a:srgbClr val="131C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47548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  <a:latin typeface="Arial"/>
              </a:defRPr>
            </a:pPr>
            <a:r>
              <a:t>Permission Protection Levels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Normal (Install-Time): Minimal risk capabilities (e.g. INTERNET, ACCESS_NETWORK_STATE). Automatically granted by OS upon installation without user prompting.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Dangerous (Runtime): Accesses sensitive personal data or hardware (e.g. CAMERA, READ_CONTACTS, ACCESS_FINE_LOCATION). Requires explicit runtime dialog approval from the user.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Signature: Highest protection level. Granted automatically ONLY if the requesting app is signed by the exact same developer certificate as the declaring app.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Special / Privileged: System-level permissions (e.g. SYSTEM_ALERT_WINDOW, WRITE_SETTINGS). Requires manual activation in device system settings.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242255" cy="4663440"/>
          </a:xfrm>
          <a:prstGeom prst="roundRect">
            <a:avLst/>
          </a:prstGeom>
          <a:solidFill>
            <a:srgbClr val="131C2E"/>
          </a:solidFill>
          <a:ln w="15240">
            <a:solidFill>
              <a:srgbClr val="3DD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74519"/>
            <a:ext cx="4785055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DDC84"/>
                </a:solidFill>
                <a:latin typeface="Arial"/>
              </a:defRPr>
            </a:pPr>
            <a:r>
              <a:t>The android:exported Gateway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android:exported="false": Component is strictly private. Only reachable by internal app logic or apps sharing the same Linux UID.</a:t>
            </a:r>
          </a:p>
          <a:p>
            <a:pPr>
              <a:spcAft>
                <a:spcPts val="600"/>
              </a:spcAft>
              <a:defRPr sz="1100">
                <a:solidFill>
                  <a:srgbClr val="F87171"/>
                </a:solidFill>
                <a:latin typeface="Arial"/>
              </a:defRPr>
            </a:pPr>
            <a:r>
              <a:t>• android:exported="true": Component is public to the entire operating system. ANY third-party application can send Intents to launch it.</a:t>
            </a:r>
          </a:p>
          <a:p>
            <a:pPr>
              <a:spcAft>
                <a:spcPts val="800"/>
              </a:spcAft>
              <a:defRPr sz="1100">
                <a:solidFill>
                  <a:srgbClr val="FBBF24"/>
                </a:solidFill>
                <a:latin typeface="Arial"/>
              </a:defRPr>
            </a:pPr>
            <a:r>
              <a:t>• The Intent Filter Trap: Declaring an &lt;intent-filter&gt; historically defaulted exported to true! In Android 12+, developers MUST declare exported explicitly.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4297680"/>
            <a:ext cx="4785055" cy="1051560"/>
          </a:xfrm>
          <a:prstGeom prst="roundRect">
            <a:avLst/>
          </a:prstGeom>
          <a:solidFill>
            <a:srgbClr val="080D1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4407408"/>
            <a:ext cx="4510735" cy="832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&lt;!-- Secure Internal Component Declaration --&gt;</a:t>
            </a:r>
            <a:br/>
            <a:r>
              <a:t>&lt;activity</a:t>
            </a:r>
            <a:br/>
            <a:r>
              <a:t>    android:name=".InternalAdminActivity"</a:t>
            </a:r>
            <a:br/>
            <a:r>
              <a:t>    android:exported="false" /&gt;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5532120"/>
            <a:ext cx="47850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Principle of Least Privilege: Request only the minimal permissions strictly required for application functionality, and never export components unnecessarily.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DDC84"/>
                </a:solidFill>
                <a:latin typeface="Arial"/>
              </a:defRPr>
            </a:pPr>
            <a:r>
              <a:t>INTER-PROCESS COMMUNICATION</a:t>
            </a:r>
          </a:p>
          <a:p>
            <a:pPr>
              <a:spcAft>
                <a:spcPts val="200"/>
              </a:spcAft>
              <a:defRPr sz="2600" b="1">
                <a:solidFill>
                  <a:srgbClr val="F8FAFC"/>
                </a:solidFill>
                <a:latin typeface="Arial"/>
              </a:defRPr>
            </a:pPr>
            <a:r>
              <a:t>Android Intents &amp; IPC Mechanics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Message-Passing Channels Crossing Security Trust Boundaries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212080" cy="2468880"/>
          </a:xfrm>
          <a:prstGeom prst="roundRect">
            <a:avLst/>
          </a:prstGeom>
          <a:solidFill>
            <a:srgbClr val="131C2E"/>
          </a:solidFill>
          <a:ln w="15240">
            <a:solidFill>
              <a:srgbClr val="3DD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75488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DDC84"/>
                </a:solidFill>
                <a:latin typeface="Arial"/>
              </a:defRPr>
            </a:pPr>
            <a:r>
              <a:t>Explicit Intent (Internal / Targeted)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Directly designates target class: Intent(context, TargetActivity::class.java)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Delivered exclusively to the specified component within the application.</a:t>
            </a:r>
          </a:p>
          <a:p>
            <a:pPr>
              <a:defRPr sz="1100">
                <a:solidFill>
                  <a:srgbClr val="38BDF8"/>
                </a:solidFill>
                <a:latin typeface="Arial"/>
              </a:defRPr>
            </a:pPr>
            <a:r>
              <a:t>• Highly secure: No external resolution; immune to third-party interception.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212080" cy="2468880"/>
          </a:xfrm>
          <a:prstGeom prst="roundRect">
            <a:avLst/>
          </a:prstGeom>
          <a:solidFill>
            <a:srgbClr val="131C2E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BBF24"/>
                </a:solidFill>
                <a:latin typeface="Arial"/>
              </a:defRPr>
            </a:pPr>
            <a:r>
              <a:t>Implicit Intent (Public / Dynamic)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Specifies desired Action (e.g. ACTION_VIEW) and Data URI, but no target class.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Android Package Manager dynamically matches against registered &lt;intent-filter&gt;s.</a:t>
            </a:r>
          </a:p>
          <a:p>
            <a:pPr>
              <a:defRPr sz="1100">
                <a:solidFill>
                  <a:srgbClr val="F87171"/>
                </a:solidFill>
                <a:latin typeface="Arial"/>
              </a:defRPr>
            </a:pPr>
            <a:r>
              <a:t>• Security risk: Malicious apps can register matching filters to intercept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43400"/>
            <a:ext cx="10728655" cy="2011680"/>
          </a:xfrm>
          <a:prstGeom prst="roundRect">
            <a:avLst/>
          </a:prstGeom>
          <a:solidFill>
            <a:srgbClr val="0E16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480560"/>
            <a:ext cx="10271455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Intent Payload Anatomy &amp; The IPC Trust Boundary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Action &amp; Data: Defines what operation is requested and what resource (URI) is targeted.</a:t>
            </a:r>
          </a:p>
          <a:p>
            <a:pPr>
              <a:spcAft>
                <a:spcPts val="600"/>
              </a:spcAft>
              <a:defRPr sz="1100" b="1">
                <a:solidFill>
                  <a:srgbClr val="FBBF24"/>
                </a:solidFill>
                <a:latin typeface="Arial"/>
              </a:defRPr>
            </a:pPr>
            <a:r>
              <a:t>• Extras Bundle: Key-value data carrier. Critically, extras can contain serialized Parcelable objects — including NESTED INTENTS!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5394960"/>
            <a:ext cx="10241280" cy="777240"/>
          </a:xfrm>
          <a:prstGeom prst="roundRect">
            <a:avLst/>
          </a:prstGeom>
          <a:solidFill>
            <a:srgbClr val="1A1524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468112"/>
            <a:ext cx="9966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87171"/>
                </a:solidFill>
                <a:latin typeface="Arial"/>
              </a:defRPr>
            </a:pPr>
            <a:r>
              <a:t>CRITICAL SECURITY PRINCIPLE: Crossing application boundaries via Intents creates a formal Trust Boundary. Any Intent received from an external application must be treated as hostile, untrusted user input!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DDC84"/>
                </a:solidFill>
                <a:latin typeface="Arial"/>
              </a:defRPr>
            </a:pPr>
            <a:r>
              <a:t>VULNERABILITY MECHANICS</a:t>
            </a:r>
          </a:p>
          <a:p>
            <a:pPr>
              <a:spcAft>
                <a:spcPts val="200"/>
              </a:spcAft>
              <a:defRPr sz="2600" b="1">
                <a:solidFill>
                  <a:srgbClr val="F8FAFC"/>
                </a:solidFill>
                <a:latin typeface="Arial"/>
              </a:defRPr>
            </a:pPr>
            <a:r>
              <a:t>Attack #1: Intent Injection &amp; Redirection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Confused Deputy Exploitation via Unvalidated Intent Forwarding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2423160" cy="1188720"/>
          </a:xfrm>
          <a:prstGeom prst="roundRect">
            <a:avLst/>
          </a:prstGeom>
          <a:solidFill>
            <a:srgbClr val="131C2E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01368"/>
            <a:ext cx="224028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F87171"/>
                </a:solidFill>
                <a:latin typeface="Arial"/>
              </a:defRPr>
            </a:pPr>
            <a:r>
              <a:t>1. Attacker App</a:t>
            </a:r>
          </a:p>
          <a:p>
            <a:pPr algn="ctr">
              <a:defRPr sz="1000">
                <a:solidFill>
                  <a:srgbClr val="94A3B8"/>
                </a:solidFill>
                <a:latin typeface="Arial"/>
              </a:defRPr>
            </a:pPr>
            <a:r>
              <a:t>Crafts malicious Intent</a:t>
            </a:r>
            <a:br/>
            <a:r>
              <a:t>with nested target Intent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2057400"/>
            <a:ext cx="338328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>
                <a:solidFill>
                  <a:srgbClr val="38BDF8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93008" y="1691640"/>
            <a:ext cx="2423160" cy="1188720"/>
          </a:xfrm>
          <a:prstGeom prst="roundRect">
            <a:avLst/>
          </a:prstGeom>
          <a:solidFill>
            <a:srgbClr val="131C2E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84448" y="1801368"/>
            <a:ext cx="224028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FBBF24"/>
                </a:solidFill>
                <a:latin typeface="Arial"/>
              </a:defRPr>
            </a:pPr>
            <a:r>
              <a:t>2. Trust Boundary</a:t>
            </a:r>
          </a:p>
          <a:p>
            <a:pPr algn="ctr">
              <a:defRPr sz="1000">
                <a:solidFill>
                  <a:srgbClr val="94A3B8"/>
                </a:solidFill>
                <a:latin typeface="Arial"/>
              </a:defRPr>
            </a:pPr>
            <a:r>
              <a:t>Sent to exported</a:t>
            </a:r>
            <a:br/>
            <a:r>
              <a:t>Victim Proxy 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6168" y="2057400"/>
            <a:ext cx="338328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>
                <a:solidFill>
                  <a:srgbClr val="38BDF8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1691640"/>
            <a:ext cx="2423160" cy="1188720"/>
          </a:xfrm>
          <a:prstGeom prst="roundRect">
            <a:avLst/>
          </a:prstGeom>
          <a:solidFill>
            <a:srgbClr val="131C2E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1801368"/>
            <a:ext cx="224028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F87171"/>
                </a:solidFill>
                <a:latin typeface="Arial"/>
              </a:defRPr>
            </a:pPr>
            <a:r>
              <a:t>3. Vulnerability Point</a:t>
            </a:r>
          </a:p>
          <a:p>
            <a:pPr algn="ctr">
              <a:defRPr sz="1000">
                <a:solidFill>
                  <a:srgbClr val="94A3B8"/>
                </a:solidFill>
                <a:latin typeface="Arial"/>
              </a:defRPr>
            </a:pPr>
            <a:r>
              <a:t>Proxy extracts nested</a:t>
            </a:r>
            <a:br/>
            <a:r>
              <a:t>extra without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77656" y="2057400"/>
            <a:ext cx="338328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>
                <a:solidFill>
                  <a:srgbClr val="38BDF8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15984" y="1691640"/>
            <a:ext cx="2423160" cy="1188720"/>
          </a:xfrm>
          <a:prstGeom prst="roundRect">
            <a:avLst/>
          </a:prstGeom>
          <a:solidFill>
            <a:srgbClr val="131C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07424" y="1801368"/>
            <a:ext cx="2240280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t>4. Execution</a:t>
            </a:r>
          </a:p>
          <a:p>
            <a:pPr algn="ctr">
              <a:defRPr sz="1000">
                <a:solidFill>
                  <a:srgbClr val="94A3B8"/>
                </a:solidFill>
                <a:latin typeface="Arial"/>
              </a:defRPr>
            </a:pPr>
            <a:r>
              <a:t>startActivity(next) runs</a:t>
            </a:r>
            <a:br/>
            <a:r>
              <a:t>internal private activity!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63240"/>
            <a:ext cx="5212080" cy="3291840"/>
          </a:xfrm>
          <a:prstGeom prst="roundRect">
            <a:avLst/>
          </a:prstGeom>
          <a:solidFill>
            <a:srgbClr val="080D1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172968"/>
            <a:ext cx="4937760" cy="3072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// VULNERABLE PROXY COMPONENT (Exported Activity)</a:t>
            </a:r>
            <a:br/>
            <a:r>
              <a:t>class ProxyActivity : AppCompatActivity() {</a:t>
            </a:r>
            <a:br/>
            <a:r>
              <a:t>    override fun onCreate(savedInstanceState: Bundle?) {</a:t>
            </a:r>
            <a:br/>
            <a:r>
              <a:t>        super.onCreate(savedInstanceState)</a:t>
            </a:r>
            <a:br/>
            <a:r>
              <a:t>        // 1. Attacker controls 'next_intent' in Extras</a:t>
            </a:r>
            <a:br/>
            <a:r>
              <a:t>        val next = intent.getParcelableExtra&lt;Intent&gt;("next_intent")</a:t>
            </a:r>
            <a:br/>
            <a:r>
              <a:t>        </a:t>
            </a:r>
            <a:br/>
            <a:r>
              <a:t>        // 2. VULNERABILITY POINT: Blind forwarding!</a:t>
            </a:r>
            <a:br/>
            <a:r>
              <a:t>        // Launches unexported activity with Victim's UID!</a:t>
            </a:r>
            <a:br/>
            <a:r>
              <a:t>        startActivity(next)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063240"/>
            <a:ext cx="5242255" cy="3291840"/>
          </a:xfrm>
          <a:prstGeom prst="roundRect">
            <a:avLst/>
          </a:prstGeom>
          <a:solidFill>
            <a:srgbClr val="131C2E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200400"/>
            <a:ext cx="4785055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87171"/>
                </a:solidFill>
                <a:latin typeface="Arial"/>
              </a:defRPr>
            </a:pPr>
            <a:r>
              <a:t>Technical Root Causes &amp; Mechanics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The 'Confused Deputy' Flaw: The victim app acts as a proxy, executing privileged actions on behalf of an unprivileged attacker.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Bypassing Access Control: Internal activities set to exported="false" cannot be launched directly by outside apps, but CAN be launched internally by the victim app itself!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Lack of Sanitization: The victim app fails to inspect next.component, fails to verify destination package name, and maintains no component allowlist.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Severe Security Impact: Attacker can force execution of hidden administrative screens, steal sensitive tokens passed in result Intents, or trigger internal background services.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DDC84"/>
                </a:solidFill>
                <a:latin typeface="Arial"/>
              </a:defRPr>
            </a:pPr>
            <a:r>
              <a:t>DATA AT REST VULNERABILITIES</a:t>
            </a:r>
          </a:p>
          <a:p>
            <a:pPr>
              <a:spcAft>
                <a:spcPts val="200"/>
              </a:spcAft>
              <a:defRPr sz="2600" b="1">
                <a:solidFill>
                  <a:srgbClr val="F8FAFC"/>
                </a:solidFill>
                <a:latin typeface="Arial"/>
              </a:defRPr>
            </a:pPr>
            <a:r>
              <a:t>Attack #2: Sensitive Data in Local Storage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Plaintext SQLite Databases &amp; Secondary Exposure Vectors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212080" cy="2194560"/>
          </a:xfrm>
          <a:prstGeom prst="roundRect">
            <a:avLst/>
          </a:prstGeom>
          <a:solidFill>
            <a:srgbClr val="131C2E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7548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BBF24"/>
                </a:solidFill>
                <a:latin typeface="Arial"/>
              </a:defRPr>
            </a:pPr>
            <a:r>
              <a:t>SQLite Database Table: user_session.db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  <a:latin typeface="Consolas"/>
              </a:defRPr>
            </a:pPr>
            <a:r>
              <a:t>• id: 10482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  <a:latin typeface="Consolas"/>
              </a:defRPr>
            </a:pPr>
            <a:r>
              <a:t>• user_email: student@tdtu.edu.vn</a:t>
            </a:r>
          </a:p>
          <a:p>
            <a:pPr>
              <a:spcAft>
                <a:spcPts val="200"/>
              </a:spcAft>
              <a:defRPr sz="1000">
                <a:solidFill>
                  <a:srgbClr val="F87171"/>
                </a:solidFill>
                <a:latin typeface="Consolas"/>
              </a:defRPr>
            </a:pPr>
            <a:r>
              <a:t>• auth_token: eyJhbGciOiJIUzI1NiIsInR5cCI6IkpXVCJ9... (Plaintext JWT)</a:t>
            </a:r>
          </a:p>
          <a:p>
            <a:pPr>
              <a:spcAft>
                <a:spcPts val="200"/>
              </a:spcAft>
              <a:defRPr sz="1000">
                <a:solidFill>
                  <a:srgbClr val="F87171"/>
                </a:solidFill>
                <a:latin typeface="Consolas"/>
              </a:defRPr>
            </a:pPr>
            <a:r>
              <a:t>• api_secret: sec_live_98234ab87cd... (Plaintext Backend Secret)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242255" cy="2194560"/>
          </a:xfrm>
          <a:prstGeom prst="roundRect">
            <a:avLst/>
          </a:prstGeom>
          <a:solidFill>
            <a:srgbClr val="131C2E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85055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87171"/>
                </a:solidFill>
                <a:latin typeface="Arial"/>
              </a:defRPr>
            </a:pPr>
            <a:r>
              <a:t>Real-World Secondary Exposure Vectors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Exported ContentProvider: SQL injection or directory traversal allows other apps to query or exfiltrate private DB files.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Insecure Android Backup: android:allowBackup="true" enables extraction via adb backup without root!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Compromised / Rooted OS: Root UID (UID 0) overrides Linux file sandboxing entirely.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• Debug Builds &amp; Leaks: android:debuggable="true" permits run-as extraction; sensitive tokens logged to Logcat.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10728655" cy="2286000"/>
          </a:xfrm>
          <a:prstGeom prst="roundRect">
            <a:avLst/>
          </a:prstGeom>
          <a:solidFill>
            <a:srgbClr val="0E162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06240"/>
            <a:ext cx="10271455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CRITICAL ACADEMIC DISTINCTION: Access Control vs. Encryption at Rest</a:t>
            </a:r>
          </a:p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  <a:latin typeface="Arial"/>
              </a:defRPr>
            </a:pPr>
            <a:r>
              <a:t>Sandboxing provides Access Control, NOT Cryptographic Secrecy:</a:t>
            </a:r>
          </a:p>
          <a:p>
            <a:pPr>
              <a:spcAft>
                <a:spcPts val="400"/>
              </a:spcAft>
              <a:defRPr sz="1100">
                <a:solidFill>
                  <a:srgbClr val="3DDC84"/>
                </a:solidFill>
                <a:latin typeface="Arial"/>
              </a:defRPr>
            </a:pPr>
            <a:r>
              <a:t>• Fact: An ordinary malicious app CANNOT simply read another app's /data/data/&lt;pkg&gt;/databases/ directory under normal conditions because Linux UIDs isolate them.</a:t>
            </a:r>
          </a:p>
          <a:p>
            <a:pPr>
              <a:spcAft>
                <a:spcPts val="400"/>
              </a:spcAft>
              <a:defRPr sz="1100">
                <a:solidFill>
                  <a:srgbClr val="FBBF24"/>
                </a:solidFill>
                <a:latin typeface="Arial"/>
              </a:defRPr>
            </a:pPr>
            <a:r>
              <a:t>• The Threat: Storing plaintext secrets at rest creates a single point of failure. If secondary access is achieved (via backup, root, or component vulnerability), ALL data is exposed immediately.</a:t>
            </a:r>
          </a:p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• The Solution: Encryption at rest (SQLCipher / Jetpack Security) ensures data remains protected even if physical storage or file permissions are completely breached.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DDC84"/>
                </a:solidFill>
                <a:latin typeface="Arial"/>
              </a:defRPr>
            </a:pPr>
            <a:r>
              <a:t>RISK EVALUATION &amp; IMPACT</a:t>
            </a:r>
          </a:p>
          <a:p>
            <a:pPr>
              <a:spcAft>
                <a:spcPts val="200"/>
              </a:spcAft>
              <a:defRPr sz="2600" b="1">
                <a:solidFill>
                  <a:srgbClr val="F8FAFC"/>
                </a:solidFill>
                <a:latin typeface="Arial"/>
              </a:defRPr>
            </a:pPr>
            <a:r>
              <a:t>Security Impact: The CIA Triad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Evaluating Systemic Harm in Mobile Client-Server Environments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3429000" cy="4663440"/>
          </a:xfrm>
          <a:prstGeom prst="roundRect">
            <a:avLst/>
          </a:prstGeom>
          <a:solidFill>
            <a:srgbClr val="131C2E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29718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87171"/>
                </a:solidFill>
                <a:latin typeface="Arial"/>
              </a:defRPr>
            </a:pPr>
            <a:r>
              <a:t>CONFIDENTIALITY</a:t>
            </a:r>
          </a:p>
          <a:p>
            <a:pPr>
              <a:spcAft>
                <a:spcPts val="1000"/>
              </a:spcAft>
              <a:defRPr sz="1100" b="1">
                <a:solidFill>
                  <a:srgbClr val="FBBF24"/>
                </a:solidFill>
                <a:latin typeface="Arial"/>
              </a:defRPr>
            </a:pPr>
            <a:r>
              <a:t>Severity: HIGH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Bearer Token Theft: Extraction of plaintext JWT session tokens from unencrypted SQLite databases or SharedPreferences.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Private PII Exposure: Leakage of user chat messages, contact lists, financial details, and personal records.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API Secret Leaks: Exfiltration of proprietary cloud backend API keys and cryptographic signing keys stored insecurely in client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691640"/>
            <a:ext cx="3429000" cy="4663440"/>
          </a:xfrm>
          <a:prstGeom prst="roundRect">
            <a:avLst/>
          </a:prstGeom>
          <a:solidFill>
            <a:srgbClr val="131C2E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874519"/>
            <a:ext cx="29718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BBF24"/>
                </a:solidFill>
                <a:latin typeface="Arial"/>
              </a:defRPr>
            </a:pPr>
            <a:r>
              <a:t>INTEGRITY</a:t>
            </a:r>
          </a:p>
          <a:p>
            <a:pPr>
              <a:spcAft>
                <a:spcPts val="1000"/>
              </a:spcAft>
              <a:defRPr sz="1100" b="1">
                <a:solidFill>
                  <a:srgbClr val="F87171"/>
                </a:solidFill>
                <a:latin typeface="Arial"/>
              </a:defRPr>
            </a:pPr>
            <a:r>
              <a:t>Severity: CRITICAL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Confused Deputy Actions: Maliciously invoking internal administrative activities via Intent Redirection to alter settings or transfer funds.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Local Data Tampering: Modifying local SQLite database records via exported ContentProviders or backup injections.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Forged API Requests: Replaying or forging backend transactions using hijacked credentials with full user authorization.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691640"/>
            <a:ext cx="3429000" cy="4663440"/>
          </a:xfrm>
          <a:prstGeom prst="roundRect">
            <a:avLst/>
          </a:prstGeom>
          <a:solidFill>
            <a:srgbClr val="131C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7032" y="1874519"/>
            <a:ext cx="29718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AVAILABILITY</a:t>
            </a:r>
          </a:p>
          <a:p>
            <a:pPr>
              <a:spcAft>
                <a:spcPts val="10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Severity: MODERATE TO HIGH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Intent Fuzzing Crashes: Sending malformed extras or unparseable parcels causing NullPointerException or BadParcelableException.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Background Service DoS: Spamming exported Services to cause resource starvation and system battery drain.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Database Lockout: Corrupting SQLite journal files, rendering the application unusable upon subsequent launches.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DDC84"/>
                </a:solidFill>
                <a:latin typeface="Arial"/>
              </a:defRPr>
            </a:pPr>
            <a:r>
              <a:t>DEFENSIVE ENGINEERING</a:t>
            </a:r>
          </a:p>
          <a:p>
            <a:pPr>
              <a:spcAft>
                <a:spcPts val="200"/>
              </a:spcAft>
              <a:defRPr sz="2600" b="1">
                <a:solidFill>
                  <a:srgbClr val="F8FAFC"/>
                </a:solidFill>
                <a:latin typeface="Arial"/>
              </a:defRPr>
            </a:pPr>
            <a:r>
              <a:t>Defense Strategy: Multi-Layered Hardening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 Comprehensive Architectural Blueprint for Secure Android Apps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3429000" cy="4663440"/>
          </a:xfrm>
          <a:prstGeom prst="roundRect">
            <a:avLst/>
          </a:prstGeom>
          <a:solidFill>
            <a:srgbClr val="131C2E"/>
          </a:solidFill>
          <a:ln w="15240">
            <a:solidFill>
              <a:srgbClr val="3DD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29718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DDC84"/>
                </a:solidFill>
                <a:latin typeface="Arial"/>
              </a:defRPr>
            </a:pPr>
            <a:r>
              <a:t>Layer 1: Manifest &amp; Access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Explicit exported="false": Declare every internal Activity, Service, and Receiver as private by default.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Least Privilege in Permissions: Audit and eliminate unnecessary &lt;uses-permission&gt; tags. Request runtime permissions just-in-time.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Signature Permissions: Gate necessary inter-app endpoints using custom protectionLevel="signature" permissions.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Disable Insecure Backups: Set android:allowBackup="false" to prevent ADB extraction of app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691640"/>
            <a:ext cx="3429000" cy="4663440"/>
          </a:xfrm>
          <a:prstGeom prst="roundRect">
            <a:avLst/>
          </a:prstGeom>
          <a:solidFill>
            <a:srgbClr val="131C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874519"/>
            <a:ext cx="29718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  <a:latin typeface="Arial"/>
              </a:defRPr>
            </a:pPr>
            <a:r>
              <a:t>Layer 2: Intent Security &amp; IPC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Mandate Explicit Intents: Use explicit class bindings for all internal application communication.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Component Whitelisting: Before forwarding any nested Intent, verify intent.component matches an allowed internal class!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IntentSanitizer Adoption: Utilize AndroidX IntentSanitizer to strictly filter allowed actions, categories, and extras.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FLAG_IMMUTABLE on PendingIntents: Always specify PendingIntent.FLAG_IMMUTABLE to prevent malicious intent rewriting.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691640"/>
            <a:ext cx="3429000" cy="4663440"/>
          </a:xfrm>
          <a:prstGeom prst="roundRect">
            <a:avLst/>
          </a:prstGeom>
          <a:solidFill>
            <a:srgbClr val="131C2E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7032" y="1874519"/>
            <a:ext cx="29718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BBF24"/>
                </a:solidFill>
                <a:latin typeface="Arial"/>
              </a:defRPr>
            </a:pPr>
            <a:r>
              <a:t>Layer 3: Storage Cryptography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Zero Plaintext at Rest: Never persist unencrypted auth tokens or credentials in local SQLite or SharedPreferences.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Deploy SQLCipher: Encrypt SQLite database pages with AES-256 transparent encryption.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Jetpack EncryptedSharedPreferences: Encrypt key-value pairs using Google's official security library.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Hardware Android Keystore: Store master encryption keys inside the device's hardware-backed Secure Element / TEE.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DDC84"/>
                </a:solidFill>
                <a:latin typeface="Arial"/>
              </a:defRPr>
            </a:pPr>
            <a:r>
              <a:t>PRACTICAL DEMONSTRATION PLAN</a:t>
            </a:r>
          </a:p>
          <a:p>
            <a:pPr>
              <a:spcAft>
                <a:spcPts val="200"/>
              </a:spcAft>
              <a:defRPr sz="2600" b="1">
                <a:solidFill>
                  <a:srgbClr val="F8FAFC"/>
                </a:solidFill>
                <a:latin typeface="Arial"/>
              </a:defRPr>
            </a:pPr>
            <a:r>
              <a:t>Final Demo: MITM Interception &amp; SSL Pinning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Securing the Client-Server Transit Channel in a Controlled Lab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212080" cy="3291840"/>
          </a:xfrm>
          <a:prstGeom prst="roundRect">
            <a:avLst/>
          </a:prstGeom>
          <a:solidFill>
            <a:srgbClr val="131C2E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75488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87171"/>
                </a:solidFill>
                <a:latin typeface="Arial"/>
              </a:defRPr>
            </a:pPr>
            <a:r>
              <a:t>Phase 1: Baseline MITM Interception (Vulnerable)</a:t>
            </a:r>
          </a:p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Architecture: Android Client  ➔  Burp Suite Proxy (CA installed)  ➔  Backend Server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Vulnerable Setup: Test configuration trusts user-installed Certificate Authority (CA) certificates or default network trust.</a:t>
            </a:r>
          </a:p>
          <a:p>
            <a:pPr>
              <a:defRPr sz="1100">
                <a:solidFill>
                  <a:srgbClr val="FBBF24"/>
                </a:solidFill>
                <a:latin typeface="Arial"/>
              </a:defRPr>
            </a:pPr>
            <a:r>
              <a:t>• Outcome in Lab: Burp Suite successfully decrypts HTTPS traffic in real time. Plaintext login credentials, chat messages, and API tokens are intercepted!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212080" cy="3291840"/>
          </a:xfrm>
          <a:prstGeom prst="roundRect">
            <a:avLst/>
          </a:prstGeom>
          <a:solidFill>
            <a:srgbClr val="131C2E"/>
          </a:solidFill>
          <a:ln w="15240">
            <a:solidFill>
              <a:srgbClr val="3DD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DDC84"/>
                </a:solidFill>
                <a:latin typeface="Arial"/>
              </a:defRPr>
            </a:pPr>
            <a:r>
              <a:t>Phase 2: Certificate Pinning Defense (Hardened)</a:t>
            </a:r>
          </a:p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  <a:latin typeface="Arial"/>
              </a:defRPr>
            </a:pPr>
            <a:r>
              <a:t>• Architecture: Android Client  ➔  [Pin Mismatch!] ✖  Burp Suite Proxy Rejected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Pinning Mechanism: Client validates server's public key SHA-256 hash using OkHttp CertificatePinner or network_security_config.xml.</a:t>
            </a:r>
          </a:p>
          <a:p>
            <a:pPr>
              <a:defRPr sz="1100">
                <a:solidFill>
                  <a:srgbClr val="38BDF8"/>
                </a:solidFill>
                <a:latin typeface="Arial"/>
              </a:defRPr>
            </a:pPr>
            <a:r>
              <a:t>• Outcome in Lab: Even with Burp's custom CA installed on device, the TLS handshake terminates immediately. Zero data transmitted; MITM is completely blocked!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66360"/>
            <a:ext cx="10728655" cy="1188720"/>
          </a:xfrm>
          <a:prstGeom prst="roundRect">
            <a:avLst/>
          </a:prstGeom>
          <a:solidFill>
            <a:srgbClr val="0E16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257800"/>
            <a:ext cx="102714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DDC84"/>
                </a:solidFill>
                <a:latin typeface="Arial"/>
              </a:defRPr>
            </a:pPr>
            <a:r>
              <a:t>AUTHORIZED EDUCATIONAL LAB METHODOLOGY</a:t>
            </a:r>
          </a:p>
          <a:p>
            <a:pPr>
              <a:defRPr sz="1100">
                <a:solidFill>
                  <a:srgbClr val="F8FAFC"/>
                </a:solidFill>
                <a:latin typeface="Arial"/>
              </a:defRPr>
            </a:pPr>
            <a:r>
              <a:t>1. Develop simple Android chat app  ➔  2. Route traffic via Burp Suite proxy  ➔  3. Capture &amp; analyze baseline credentials  ➔  4. Implement OkHttp CertificatePinner  ➔  5. Empirically verify SSL handshake rejection.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DDC84"/>
                </a:solidFill>
                <a:latin typeface="Arial"/>
              </a:defRPr>
            </a:pPr>
            <a:r>
              <a:t>EXECUTIVE SUMMARY</a:t>
            </a:r>
          </a:p>
          <a:p>
            <a:pPr>
              <a:spcAft>
                <a:spcPts val="200"/>
              </a:spcAft>
              <a:defRPr sz="2600" b="1">
                <a:solidFill>
                  <a:srgbClr val="F8FAFC"/>
                </a:solidFill>
                <a:latin typeface="Arial"/>
              </a:defRPr>
            </a:pPr>
            <a:r>
              <a:t>Key Takeaways &amp; Conclusion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Core Architectural Principles for Secure Mobile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10728655" cy="749808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109728" cy="749808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01368"/>
            <a:ext cx="1024128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Arial"/>
              </a:defRPr>
            </a:pPr>
            <a:r>
              <a:t>1. Sandboxing is Necessary, Not Sufficient: Linux UID process isolation protects internal files, but misconfigured component exposure (android:exported="true") completely bypasses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51176"/>
            <a:ext cx="10728655" cy="749808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551176"/>
            <a:ext cx="109728" cy="7498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660904"/>
            <a:ext cx="1024128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Arial"/>
              </a:defRPr>
            </a:pPr>
            <a:r>
              <a:t>2. Intents Form Trust Boundaries: Every Intent crossing an application boundary is untrusted input. Always validate actions, URIs, and allowlist nested Intent destinations.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10712"/>
            <a:ext cx="10728655" cy="749808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410712"/>
            <a:ext cx="109728" cy="7498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520440"/>
            <a:ext cx="1024128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Arial"/>
              </a:defRPr>
            </a:pPr>
            <a:r>
              <a:t>3. Access Control != Cryptographic Security: Sandbox permissions only control file access. Sensitive tokens in SQLite require encryption at rest (SQLCipher / Keystore) to survive device-level leaks.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70248"/>
            <a:ext cx="10728655" cy="749808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270248"/>
            <a:ext cx="109728" cy="7498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79976"/>
            <a:ext cx="1024128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Arial"/>
              </a:defRPr>
            </a:pPr>
            <a:r>
              <a:t>4. Defense-in-Depth Across All Layers: Secure mobile systems require simultaneous hardening across the Manifest, IPC validation, local cryptographic storage, and network transit.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129784"/>
            <a:ext cx="10728655" cy="749808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129784"/>
            <a:ext cx="109728" cy="749808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239512"/>
            <a:ext cx="1024128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F8FAFC"/>
                </a:solidFill>
                <a:latin typeface="Arial"/>
              </a:defRPr>
            </a:pPr>
            <a:r>
              <a:t>5. Theory Drives Practice: Our midterm theoretical findings establish the exact architectural foundation for our upcoming final laboratory demonstration with Burp Suite and SSL Pinning.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989320"/>
            <a:ext cx="10728655" cy="50292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3DD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6053328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3DDC84"/>
                </a:solidFill>
                <a:latin typeface="Arial"/>
              </a:defRPr>
            </a:pPr>
            <a:r>
              <a:t>Thank you for your attention! We welcome any questions from the instructor and class.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DDC84"/>
                </a:solidFill>
                <a:latin typeface="Arial"/>
              </a:defRPr>
            </a:pPr>
            <a:r>
              <a:t>ACADEMIC SOURCES</a:t>
            </a:r>
          </a:p>
          <a:p>
            <a:pPr>
              <a:spcAft>
                <a:spcPts val="200"/>
              </a:spcAft>
              <a:defRPr sz="2600" b="1">
                <a:solidFill>
                  <a:srgbClr val="F8FAFC"/>
                </a:solidFill>
                <a:latin typeface="Arial"/>
              </a:defRPr>
            </a:pPr>
            <a:r>
              <a:t>References &amp; Industry Standards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Authoritative Literature, Frameworks &amp; Specifications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212080" cy="13716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DDC84"/>
                </a:solidFill>
                <a:latin typeface="Arial"/>
              </a:defRPr>
            </a:pPr>
            <a:r>
              <a:t>[1] Google Android Developers (2024)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Permissions on Android &amp; Protection Levels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Official Android Security Guides. https://developer.android.com/guide/topics/permissions/overview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691640"/>
            <a:ext cx="5212080" cy="13716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2" y="182880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DDC84"/>
                </a:solidFill>
                <a:latin typeface="Arial"/>
              </a:defRPr>
            </a:pPr>
            <a:r>
              <a:t>[2] Google Android Developers (2024)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Intents and Intent Filters Documentation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Core Component IPC Architecture. https://developer.android.com/guide/components/intents-filters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5212080" cy="13716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DDC84"/>
                </a:solidFill>
                <a:latin typeface="Arial"/>
              </a:defRPr>
            </a:pPr>
            <a:r>
              <a:t>[3] Google Android Developers (2023)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Remediating Intent Redirection Vulnerability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Android Privacy &amp; Security Risk Advisory. https://developer.android.com/privacy-and-security/risks/intent-redirection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3246120"/>
            <a:ext cx="5212080" cy="13716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338328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DDC84"/>
                </a:solidFill>
                <a:latin typeface="Arial"/>
              </a:defRPr>
            </a:pPr>
            <a:r>
              <a:t>[4] OWASP Foundation (2023)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Mobile Application Security Verification Standard (MASVS v2.0)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Industry Benchmark for Mobile Security Architecture &amp; Storage. https://mas.owasp.org/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00600"/>
            <a:ext cx="5212080" cy="13716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93776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DDC84"/>
                </a:solidFill>
                <a:latin typeface="Arial"/>
              </a:defRPr>
            </a:pPr>
            <a:r>
              <a:t>[5] OWASP Foundation (2024)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Mobile Application Security Testing Guide (MASTG)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Technical Guide for Storage &amp; IPC Security Verification (MASTG-STORAGE-0037). https://mas.owasp.org/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4800600"/>
            <a:ext cx="5212080" cy="13716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493776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DDC84"/>
                </a:solidFill>
                <a:latin typeface="Arial"/>
              </a:defRPr>
            </a:pPr>
            <a:r>
              <a:t>[6] NIST (2019)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Vetting the Security of Mobile Applications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NIST Special Publication 800-163 Rev. 1. https://doi.org/10.6028/NIST.SP.800-163r1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