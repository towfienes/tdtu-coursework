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6185326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857251384"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7837930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03650539"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82250388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84931313"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8983905" name="Slide Image Placeholder 1"/>
          <p:cNvSpPr>
            <a:spLocks noGrp="1"/>
          </p:cNvSpPr>
          <p:nvPr>
            <p:ph type="sldImg" idx="2"/>
          </p:nvPr>
        </p:nvSpPr>
        <p:spPr bwMode="auto"/>
      </p:sp>
      <p:sp>
        <p:nvSpPr>
          <p:cNvPr id="412501148" name="Notes Placeholder 2"/>
          <p:cNvSpPr>
            <a:spLocks noGrp="1"/>
          </p:cNvSpPr>
          <p:nvPr>
            <p:ph type="body" sz="quarter" idx="3"/>
          </p:nvPr>
        </p:nvSpPr>
        <p:spPr bwMode="auto"/>
        <p:txBody>
          <a:bodyPr/>
          <a:lstStyle/>
          <a:p>
            <a:pPr>
              <a:defRPr/>
            </a:pPr>
            <a:r>
              <a:rPr/>
              <a:t>Estimated speaking time: 30 seconds</a:t>
            </a:r>
            <a:endParaRPr/>
          </a:p>
          <a:p>
            <a:pPr>
              <a:defRPr/>
            </a:pPr>
            <a:r>
              <a:rPr/>
              <a:t>PRESENTER 1 (Slides 1–4, Target: ~5 minutes total)</a:t>
            </a:r>
            <a:endParaRPr/>
          </a:p>
          <a:p>
            <a:pPr>
              <a:defRPr/>
            </a:pPr>
            <a:endParaRPr/>
          </a:p>
          <a:p>
            <a:pPr>
              <a:defRPr/>
            </a:pPr>
            <a:r>
              <a:rPr/>
              <a:t>SPEAKING GUIDANCE:</a:t>
            </a:r>
            <a:endParaRPr/>
          </a:p>
          <a:p>
            <a:pPr>
              <a:defRPr/>
            </a:pPr>
            <a:r>
              <a:rPr/>
              <a:t>• Welcome Dr. Huynh Ngoc Tu and classmates. Introduce group G02, class N05, and team members:</a:t>
            </a:r>
            <a:endParaRPr/>
          </a:p>
          <a:p>
            <a:pPr>
              <a:defRPr/>
            </a:pPr>
            <a:r>
              <a:rPr/>
              <a:t>  - Ngô Lâm Tiến (Leader)</a:t>
            </a:r>
            <a:endParaRPr/>
          </a:p>
          <a:p>
            <a:pPr>
              <a:defRPr/>
            </a:pPr>
            <a:r>
              <a:rPr/>
              <a:t>  - Nguyễn Công Thành</a:t>
            </a:r>
            <a:endParaRPr/>
          </a:p>
          <a:p>
            <a:pPr>
              <a:defRPr/>
            </a:pPr>
            <a:r>
              <a:rPr/>
              <a:t>  - Võ Huỳnh Duy Tân</a:t>
            </a:r>
            <a:endParaRPr/>
          </a:p>
          <a:p>
            <a:pPr>
              <a:defRPr/>
            </a:pPr>
            <a:r>
              <a:rPr/>
              <a:t>• State topic clearly: 'Today, our group presents Topic 13: Security in Client-Server Android Applications, focusing on permissions, Intent security, and local data protection.'</a:t>
            </a:r>
            <a:endParaRPr/>
          </a:p>
          <a:p>
            <a:pPr>
              <a:defRPr/>
            </a:pPr>
            <a:r>
              <a:rPr/>
              <a:t>• Key objective: Analyze core Android security boundaries, explain vulnerability mechanics (Intent Redirection and plaintext SQLite), and introduce our final MITM and Certificate Pinning demonstration plan.</a:t>
            </a:r>
            <a:endParaRPr/>
          </a:p>
          <a:p>
            <a:pPr>
              <a:defRPr/>
            </a:pPr>
            <a:r>
              <a:rPr/>
              <a:t>• Transition: 'Let us begin by examining why Android security matters across the full client-server attack surface.'</a:t>
            </a:r>
            <a:endParaRPr/>
          </a:p>
        </p:txBody>
      </p:sp>
      <p:sp>
        <p:nvSpPr>
          <p:cNvPr id="152591024"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6491941" name="Slide Image Placeholder 1"/>
          <p:cNvSpPr>
            <a:spLocks noGrp="1"/>
          </p:cNvSpPr>
          <p:nvPr>
            <p:ph type="sldImg" idx="2"/>
          </p:nvPr>
        </p:nvSpPr>
        <p:spPr bwMode="auto"/>
      </p:sp>
      <p:sp>
        <p:nvSpPr>
          <p:cNvPr id="1881323955" name="Notes Placeholder 2"/>
          <p:cNvSpPr>
            <a:spLocks noGrp="1"/>
          </p:cNvSpPr>
          <p:nvPr>
            <p:ph type="body" sz="quarter" idx="3"/>
          </p:nvPr>
        </p:nvSpPr>
        <p:spPr bwMode="auto"/>
        <p:txBody>
          <a:bodyPr/>
          <a:lstStyle/>
          <a:p>
            <a:pPr>
              <a:defRPr/>
            </a:pPr>
            <a:r>
              <a:rPr/>
              <a:t>Estimated speaking time: 1 min 00 sec</a:t>
            </a:r>
            <a:endParaRPr/>
          </a:p>
          <a:p>
            <a:pPr>
              <a:defRPr/>
            </a:pPr>
            <a:r>
              <a:rPr/>
              <a:t>PRESENTER 1</a:t>
            </a:r>
            <a:endParaRPr/>
          </a:p>
          <a:p>
            <a:pPr>
              <a:defRPr/>
            </a:pPr>
            <a:endParaRPr/>
          </a:p>
          <a:p>
            <a:pPr>
              <a:defRPr/>
            </a:pPr>
            <a:r>
              <a:rPr/>
              <a:t>SPEAKING GUIDANCE:</a:t>
            </a:r>
            <a:endParaRPr/>
          </a:p>
          <a:p>
            <a:pPr>
              <a:defRPr/>
            </a:pPr>
            <a:r>
              <a:rPr/>
              <a:t>• Point to the top attack surface flow: User → App → Storage/IPC → Transit → Server.</a:t>
            </a:r>
            <a:endParaRPr/>
          </a:p>
          <a:p>
            <a:pPr>
              <a:defRPr/>
            </a:pPr>
            <a:r>
              <a:rPr/>
              <a:t>• Emphasize the core message: Android security is NOT a single perimeter; it requires defense-in-depth across multiple distinct boundaries.</a:t>
            </a:r>
            <a:endParaRPr/>
          </a:p>
          <a:p>
            <a:pPr>
              <a:defRPr/>
            </a:pPr>
            <a:r>
              <a:rPr/>
              <a:t>• Highlight the 4 cards briefly: Permissions govern device capabilities; IPC mediates inter-app trust; Storage isolates local data; Transit protects over-the-network communication.</a:t>
            </a:r>
            <a:endParaRPr/>
          </a:p>
          <a:p>
            <a:pPr>
              <a:defRPr/>
            </a:pPr>
            <a:r>
              <a:rPr/>
              <a:t>• What NOT to over-explain: Do not dive into code or specific exploits yet—this slide establishes the architectural big picture.</a:t>
            </a:r>
            <a:endParaRPr/>
          </a:p>
          <a:p>
            <a:pPr>
              <a:defRPr/>
            </a:pPr>
            <a:r>
              <a:rPr/>
              <a:t>• Transition: 'To understand where vulnerabilities arise, let us first examine Android's underlying security foundation.'</a:t>
            </a:r>
            <a:endParaRPr/>
          </a:p>
        </p:txBody>
      </p:sp>
      <p:sp>
        <p:nvSpPr>
          <p:cNvPr id="1871238321"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3905291" name="Slide Image Placeholder 1"/>
          <p:cNvSpPr>
            <a:spLocks noGrp="1"/>
          </p:cNvSpPr>
          <p:nvPr>
            <p:ph type="sldImg" idx="2"/>
          </p:nvPr>
        </p:nvSpPr>
        <p:spPr bwMode="auto"/>
      </p:sp>
      <p:sp>
        <p:nvSpPr>
          <p:cNvPr id="720494905" name="Notes Placeholder 2"/>
          <p:cNvSpPr>
            <a:spLocks noGrp="1"/>
          </p:cNvSpPr>
          <p:nvPr>
            <p:ph type="body" sz="quarter" idx="3"/>
          </p:nvPr>
        </p:nvSpPr>
        <p:spPr bwMode="auto"/>
        <p:txBody>
          <a:bodyPr/>
          <a:lstStyle/>
          <a:p>
            <a:pPr>
              <a:defRPr/>
            </a:pPr>
            <a:r>
              <a:rPr/>
              <a:t>Estimated speaking time: 1 min 15 sec</a:t>
            </a:r>
            <a:endParaRPr/>
          </a:p>
          <a:p>
            <a:pPr>
              <a:defRPr/>
            </a:pPr>
            <a:r>
              <a:rPr/>
              <a:t>PRESENTER 1</a:t>
            </a:r>
            <a:endParaRPr/>
          </a:p>
          <a:p>
            <a:pPr>
              <a:defRPr/>
            </a:pPr>
            <a:endParaRPr/>
          </a:p>
          <a:p>
            <a:pPr>
              <a:defRPr/>
            </a:pPr>
            <a:r>
              <a:rPr/>
              <a:t>SPEAKING GUIDANCE:</a:t>
            </a:r>
            <a:endParaRPr/>
          </a:p>
          <a:p>
            <a:pPr>
              <a:defRPr/>
            </a:pPr>
            <a:r>
              <a:rPr/>
              <a:t>• Point to the three columns: Linux Sandbox (kernel level), 4 Core Components (architecture), and AndroidManifest.xml (security contract).</a:t>
            </a:r>
            <a:endParaRPr/>
          </a:p>
          <a:p>
            <a:pPr>
              <a:defRPr/>
            </a:pPr>
            <a:r>
              <a:rPr/>
              <a:t>• Explain the core concept: Android applies the multi-tenant Linux OS model to mobile apps. Each app is essentially a distinct user with its own UID and 0700 directory.</a:t>
            </a:r>
            <a:endParaRPr/>
          </a:p>
          <a:p>
            <a:pPr>
              <a:defRPr/>
            </a:pPr>
            <a:r>
              <a:rPr/>
              <a:t>• Note: Sandboxing isolates applications at the OS level, but application security depends on how components and the Manifest are configured.</a:t>
            </a:r>
            <a:endParaRPr/>
          </a:p>
          <a:p>
            <a:pPr>
              <a:defRPr/>
            </a:pPr>
            <a:r>
              <a:rPr/>
              <a:t>• Transition: 'Next, we examine how the Permission Model and AndroidManifest.xml govern access to these components.'</a:t>
            </a:r>
            <a:endParaRPr/>
          </a:p>
        </p:txBody>
      </p:sp>
      <p:sp>
        <p:nvSpPr>
          <p:cNvPr id="1641056367"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887709" name="Slide Image Placeholder 1"/>
          <p:cNvSpPr>
            <a:spLocks noGrp="1"/>
          </p:cNvSpPr>
          <p:nvPr>
            <p:ph type="sldImg" idx="2"/>
          </p:nvPr>
        </p:nvSpPr>
        <p:spPr bwMode="auto"/>
      </p:sp>
      <p:sp>
        <p:nvSpPr>
          <p:cNvPr id="1009211528" name="Notes Placeholder 2"/>
          <p:cNvSpPr>
            <a:spLocks noGrp="1"/>
          </p:cNvSpPr>
          <p:nvPr>
            <p:ph type="body" sz="quarter" idx="3"/>
          </p:nvPr>
        </p:nvSpPr>
        <p:spPr bwMode="auto"/>
        <p:txBody>
          <a:bodyPr/>
          <a:lstStyle/>
          <a:p>
            <a:pPr>
              <a:defRPr/>
            </a:pPr>
            <a:r>
              <a:rPr/>
              <a:t>Estimated speaking time: 1 min 30 sec</a:t>
            </a:r>
            <a:endParaRPr/>
          </a:p>
          <a:p>
            <a:pPr>
              <a:defRPr/>
            </a:pPr>
            <a:r>
              <a:rPr/>
              <a:t>PRESENTER 1 (Concluding section)</a:t>
            </a:r>
            <a:endParaRPr/>
          </a:p>
          <a:p>
            <a:pPr>
              <a:defRPr/>
            </a:pPr>
            <a:endParaRPr/>
          </a:p>
          <a:p>
            <a:pPr>
              <a:defRPr/>
            </a:pPr>
            <a:r>
              <a:rPr/>
              <a:t>SPEAKING GUIDANCE:</a:t>
            </a:r>
            <a:endParaRPr/>
          </a:p>
          <a:p>
            <a:pPr>
              <a:defRPr/>
            </a:pPr>
            <a:r>
              <a:rPr/>
              <a:t>• Left side: Contrast the 4 permission levels. Highlight that Normal is install-time, Dangerous requires runtime prompts, Signature requires matching developer certs, and Special requires system settings.</a:t>
            </a:r>
            <a:endParaRPr/>
          </a:p>
          <a:p>
            <a:pPr>
              <a:defRPr/>
            </a:pPr>
            <a:r>
              <a:rPr/>
              <a:t>• Right side: Clarify the exported gateway. Emphasize that exported='false' keeps components internal, while exported='true' allows outside reachability subject to permissions.</a:t>
            </a:r>
            <a:endParaRPr/>
          </a:p>
          <a:p>
            <a:pPr>
              <a:defRPr/>
            </a:pPr>
            <a:r>
              <a:rPr/>
              <a:t>• Note: Highlight the Android 12 requirement where exported must be explicitly declared for components with intent filters.</a:t>
            </a:r>
            <a:endParaRPr/>
          </a:p>
          <a:p>
            <a:pPr>
              <a:defRPr/>
            </a:pPr>
            <a:endParaRPr/>
          </a:p>
          <a:p>
            <a:pPr>
              <a:defRPr/>
            </a:pPr>
            <a:r>
              <a:rPr/>
              <a:t>Q&amp;A PREP CLARIFICATION:</a:t>
            </a:r>
            <a:endParaRPr/>
          </a:p>
          <a:p>
            <a:pPr>
              <a:defRPr/>
            </a:pPr>
            <a:r>
              <a:rPr/>
              <a:t>• 'exported=true does not automatically mean vulnerable.' A component is only vulnerable if it exposes sensitive actions without proper permissions, authorization, or input validation.</a:t>
            </a:r>
            <a:endParaRPr/>
          </a:p>
          <a:p>
            <a:pPr>
              <a:defRPr/>
            </a:pPr>
            <a:endParaRPr/>
          </a:p>
          <a:p>
            <a:pPr>
              <a:defRPr/>
            </a:pPr>
            <a:r>
              <a:rPr/>
              <a:t>TRANSITION (PRESENTER 1 ➔ PRESENTER 2):</a:t>
            </a:r>
            <a:endParaRPr/>
          </a:p>
          <a:p>
            <a:pPr>
              <a:defRPr/>
            </a:pPr>
            <a:r>
              <a:rPr/>
              <a:t>"Now that we understand Android's security boundaries and component access control, the next section explains how communication through Intents can cross these trust boundaries and become vulnerable."</a:t>
            </a:r>
            <a:endParaRPr/>
          </a:p>
        </p:txBody>
      </p:sp>
      <p:sp>
        <p:nvSpPr>
          <p:cNvPr id="155892588"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9768372" name="Slide Image Placeholder 1"/>
          <p:cNvSpPr>
            <a:spLocks noGrp="1"/>
          </p:cNvSpPr>
          <p:nvPr>
            <p:ph type="sldImg" idx="2"/>
          </p:nvPr>
        </p:nvSpPr>
        <p:spPr bwMode="auto"/>
      </p:sp>
      <p:sp>
        <p:nvSpPr>
          <p:cNvPr id="2029639272" name="Notes Placeholder 2"/>
          <p:cNvSpPr>
            <a:spLocks noGrp="1"/>
          </p:cNvSpPr>
          <p:nvPr>
            <p:ph type="body" sz="quarter" idx="3"/>
          </p:nvPr>
        </p:nvSpPr>
        <p:spPr bwMode="auto"/>
        <p:txBody>
          <a:bodyPr/>
          <a:lstStyle/>
          <a:p>
            <a:pPr>
              <a:defRPr/>
            </a:pPr>
            <a:r>
              <a:rPr/>
              <a:t>Estimated speaking time: 1 min 30 sec</a:t>
            </a:r>
            <a:endParaRPr/>
          </a:p>
          <a:p>
            <a:pPr>
              <a:defRPr/>
            </a:pPr>
            <a:r>
              <a:rPr/>
              <a:t>PRESENTER 2 (Slides 5–7, Target: ~5–5.5 minutes total)</a:t>
            </a:r>
            <a:endParaRPr/>
          </a:p>
          <a:p>
            <a:pPr>
              <a:defRPr/>
            </a:pPr>
            <a:endParaRPr/>
          </a:p>
          <a:p>
            <a:pPr>
              <a:defRPr/>
            </a:pPr>
            <a:r>
              <a:rPr/>
              <a:t>SPEAKING GUIDANCE:</a:t>
            </a:r>
            <a:endParaRPr/>
          </a:p>
          <a:p>
            <a:pPr>
              <a:defRPr/>
            </a:pPr>
            <a:r>
              <a:rPr/>
              <a:t>• Introduce yourself and take over from Presenter 1.</a:t>
            </a:r>
            <a:endParaRPr/>
          </a:p>
          <a:p>
            <a:pPr>
              <a:defRPr/>
            </a:pPr>
            <a:r>
              <a:rPr/>
              <a:t>• Point to the comparison: Explicit vs Implicit Intents. Explain that explicit intents designate an exact component—reducing resolution ambiguity—while implicit intents rely on OS resolution across installed filters.</a:t>
            </a:r>
            <a:endParaRPr/>
          </a:p>
          <a:p>
            <a:pPr>
              <a:defRPr/>
            </a:pPr>
            <a:r>
              <a:rPr/>
              <a:t>• Point to the bottom Intent Structure: Action, URI, and Extras. Highlight Extras: extras carry key-value bundles that can serialize nested Intent objects.</a:t>
            </a:r>
            <a:endParaRPr/>
          </a:p>
          <a:p>
            <a:pPr>
              <a:defRPr/>
            </a:pPr>
            <a:endParaRPr/>
          </a:p>
          <a:p>
            <a:pPr>
              <a:defRPr/>
            </a:pPr>
            <a:r>
              <a:rPr/>
              <a:t>Q&amp;A PREP CLARIFICATION:</a:t>
            </a:r>
            <a:endParaRPr/>
          </a:p>
          <a:p>
            <a:pPr>
              <a:defRPr/>
            </a:pPr>
            <a:r>
              <a:rPr/>
              <a:t>• 'Explicit Intent reduces resolution/interception risk but is not described as universally immune.' If an explicit Intent carries sensitive unencrypted data across app boundaries, the receiving component must still be trusted and validated.</a:t>
            </a:r>
            <a:endParaRPr/>
          </a:p>
          <a:p>
            <a:pPr>
              <a:defRPr/>
            </a:pPr>
            <a:endParaRPr/>
          </a:p>
          <a:p>
            <a:pPr>
              <a:defRPr/>
            </a:pPr>
            <a:r>
              <a:rPr/>
              <a:t>• Transition: 'Now let us see what happens when an application blindly forwards an externally supplied Intent.'</a:t>
            </a:r>
            <a:endParaRPr/>
          </a:p>
        </p:txBody>
      </p:sp>
      <p:sp>
        <p:nvSpPr>
          <p:cNvPr id="360349397"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309830" name="Slide Image Placeholder 1"/>
          <p:cNvSpPr>
            <a:spLocks noGrp="1"/>
          </p:cNvSpPr>
          <p:nvPr>
            <p:ph type="sldImg" idx="2"/>
          </p:nvPr>
        </p:nvSpPr>
        <p:spPr bwMode="auto"/>
      </p:sp>
      <p:sp>
        <p:nvSpPr>
          <p:cNvPr id="1813727012" name="Notes Placeholder 2"/>
          <p:cNvSpPr>
            <a:spLocks noGrp="1"/>
          </p:cNvSpPr>
          <p:nvPr>
            <p:ph type="body" sz="quarter" idx="3"/>
          </p:nvPr>
        </p:nvSpPr>
        <p:spPr bwMode="auto"/>
        <p:txBody>
          <a:bodyPr/>
          <a:lstStyle/>
          <a:p>
            <a:pPr>
              <a:defRPr/>
            </a:pPr>
            <a:r>
              <a:rPr/>
              <a:t>Estimated speaking time: 2 min 00 sec</a:t>
            </a:r>
            <a:endParaRPr/>
          </a:p>
          <a:p>
            <a:pPr>
              <a:defRPr/>
            </a:pPr>
            <a:r>
              <a:rPr/>
              <a:t>PRESENTER 2</a:t>
            </a:r>
            <a:endParaRPr/>
          </a:p>
          <a:p>
            <a:pPr>
              <a:defRPr/>
            </a:pPr>
            <a:endParaRPr/>
          </a:p>
          <a:p>
            <a:pPr>
              <a:defRPr/>
            </a:pPr>
            <a:r>
              <a:rPr/>
              <a:t>SPEAKING GUIDANCE:</a:t>
            </a:r>
            <a:endParaRPr/>
          </a:p>
          <a:p>
            <a:pPr>
              <a:defRPr/>
            </a:pPr>
            <a:r>
              <a:rPr/>
              <a:t>• Walk through the 4-step pipeline: Attacker App ➔ Trust Boundary ➔ Vulnerability Point ➔ Execution.</a:t>
            </a:r>
            <a:endParaRPr/>
          </a:p>
          <a:p>
            <a:pPr>
              <a:defRPr/>
            </a:pPr>
            <a:r>
              <a:rPr/>
              <a:t>• Explain the vulnerable code: Point to 'val next = intent.getParcelableExtra&lt;Intent&gt;("next_intent")' and 'startActivity(next)'.</a:t>
            </a:r>
            <a:endParaRPr/>
          </a:p>
          <a:p>
            <a:pPr>
              <a:defRPr/>
            </a:pPr>
            <a:r>
              <a:rPr/>
              <a:t>• Clarify the Confused Deputy concept: The attacker cannot directly access private activities (exported='false'), so they trick the exported proxy activity into launching it internally with the victim app's own UID privileges!</a:t>
            </a:r>
            <a:endParaRPr/>
          </a:p>
          <a:p>
            <a:pPr>
              <a:defRPr/>
            </a:pPr>
            <a:r>
              <a:rPr/>
              <a:t>• Root cause message: The failure is trusting externally controlled IPC without verifying destination components or enforcing allowlists.</a:t>
            </a:r>
            <a:endParaRPr/>
          </a:p>
          <a:p>
            <a:pPr>
              <a:defRPr/>
            </a:pPr>
            <a:r>
              <a:rPr/>
              <a:t>• Transition: 'Next, we examine how client-side data storage is affected when access controls or configurations fail.'</a:t>
            </a:r>
            <a:endParaRPr/>
          </a:p>
        </p:txBody>
      </p:sp>
      <p:sp>
        <p:nvSpPr>
          <p:cNvPr id="75521338"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037277" name="Slide Image Placeholder 1"/>
          <p:cNvSpPr>
            <a:spLocks noGrp="1"/>
          </p:cNvSpPr>
          <p:nvPr>
            <p:ph type="sldImg" idx="2"/>
          </p:nvPr>
        </p:nvSpPr>
        <p:spPr bwMode="auto"/>
      </p:sp>
      <p:sp>
        <p:nvSpPr>
          <p:cNvPr id="679021246" name="Notes Placeholder 2"/>
          <p:cNvSpPr>
            <a:spLocks noGrp="1"/>
          </p:cNvSpPr>
          <p:nvPr>
            <p:ph type="body" sz="quarter" idx="3"/>
          </p:nvPr>
        </p:nvSpPr>
        <p:spPr bwMode="auto"/>
        <p:txBody>
          <a:bodyPr/>
          <a:lstStyle/>
          <a:p>
            <a:pPr>
              <a:defRPr/>
            </a:pPr>
            <a:r>
              <a:rPr/>
              <a:t>Estimated speaking time: 1 min 30 sec</a:t>
            </a:r>
            <a:endParaRPr/>
          </a:p>
          <a:p>
            <a:pPr>
              <a:defRPr/>
            </a:pPr>
            <a:r>
              <a:rPr/>
              <a:t>PRESENTER 2 (Concluding section)</a:t>
            </a:r>
            <a:endParaRPr/>
          </a:p>
          <a:p>
            <a:pPr>
              <a:defRPr/>
            </a:pPr>
            <a:endParaRPr/>
          </a:p>
          <a:p>
            <a:pPr>
              <a:defRPr/>
            </a:pPr>
            <a:r>
              <a:rPr/>
              <a:t>SPEAKING GUIDANCE:</a:t>
            </a:r>
            <a:endParaRPr/>
          </a:p>
          <a:p>
            <a:pPr>
              <a:defRPr/>
            </a:pPr>
            <a:r>
              <a:rPr/>
              <a:t>• Top left: Point to the user_session.db table showing plaintext JWT tokens and API secrets.</a:t>
            </a:r>
            <a:endParaRPr/>
          </a:p>
          <a:p>
            <a:pPr>
              <a:defRPr/>
            </a:pPr>
            <a:r>
              <a:rPr/>
              <a:t>• Top right: Point to secondary exposure vectors (exported ContentProviders, backup misconfigurations, root access, debug flags).</a:t>
            </a:r>
            <a:endParaRPr/>
          </a:p>
          <a:p>
            <a:pPr>
              <a:defRPr/>
            </a:pPr>
            <a:r>
              <a:rPr/>
              <a:t>• Bottom section: Emphasize the core academic distinction: ACCESS CONTROL != ENCRYPTION AT REST.</a:t>
            </a:r>
            <a:endParaRPr/>
          </a:p>
          <a:p>
            <a:pPr>
              <a:defRPr/>
            </a:pPr>
            <a:r>
              <a:rPr/>
              <a:t>• Emphasize clearly: 'An ordinary malicious application cannot simply read another application's private SQLite database.' Sandboxing isolates the file, but if secondary leaks or root access occur, plaintext data is instantly exposed.</a:t>
            </a:r>
            <a:endParaRPr/>
          </a:p>
          <a:p>
            <a:pPr>
              <a:defRPr/>
            </a:pPr>
            <a:endParaRPr/>
          </a:p>
          <a:p>
            <a:pPr>
              <a:defRPr/>
            </a:pPr>
            <a:r>
              <a:rPr/>
              <a:t>Q&amp;A PREP CLARIFICATION:</a:t>
            </a:r>
            <a:endParaRPr/>
          </a:p>
          <a:p>
            <a:pPr>
              <a:defRPr/>
            </a:pPr>
            <a:r>
              <a:rPr/>
              <a:t>• 'Sandboxing controls who can access data; encryption protects what the data reveals if access is obtained.' Note that encryption provides defense-in-depth, but a fully compromised runtime still presents threats.</a:t>
            </a:r>
            <a:endParaRPr/>
          </a:p>
          <a:p>
            <a:pPr>
              <a:defRPr/>
            </a:pPr>
            <a:endParaRPr/>
          </a:p>
          <a:p>
            <a:pPr>
              <a:defRPr/>
            </a:pPr>
            <a:r>
              <a:rPr/>
              <a:t>TRANSITION (PRESENTER 2 ➔ PRESENTER 3):</a:t>
            </a:r>
            <a:endParaRPr/>
          </a:p>
          <a:p>
            <a:pPr>
              <a:defRPr/>
            </a:pPr>
            <a:r>
              <a:rPr/>
              <a:t>"These vulnerabilities affect more than one part of the application. They can directly impact confidentiality, integrity, and availability. The next section evaluates those impacts and explains how the application should be hardened."</a:t>
            </a:r>
            <a:endParaRPr/>
          </a:p>
        </p:txBody>
      </p:sp>
      <p:sp>
        <p:nvSpPr>
          <p:cNvPr id="1284249756"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3686418" name="Slide Image Placeholder 1"/>
          <p:cNvSpPr>
            <a:spLocks noGrp="1"/>
          </p:cNvSpPr>
          <p:nvPr>
            <p:ph type="sldImg" idx="2"/>
          </p:nvPr>
        </p:nvSpPr>
        <p:spPr bwMode="auto"/>
      </p:sp>
      <p:sp>
        <p:nvSpPr>
          <p:cNvPr id="1072314360" name="Notes Placeholder 2"/>
          <p:cNvSpPr>
            <a:spLocks noGrp="1"/>
          </p:cNvSpPr>
          <p:nvPr>
            <p:ph type="body" sz="quarter" idx="3"/>
          </p:nvPr>
        </p:nvSpPr>
        <p:spPr bwMode="auto"/>
        <p:txBody>
          <a:bodyPr/>
          <a:lstStyle/>
          <a:p>
            <a:pPr>
              <a:defRPr/>
            </a:pPr>
            <a:r>
              <a:rPr/>
              <a:t>Estimated speaking time: 1 min 00 sec</a:t>
            </a:r>
            <a:endParaRPr/>
          </a:p>
          <a:p>
            <a:pPr>
              <a:defRPr/>
            </a:pPr>
            <a:r>
              <a:rPr/>
              <a:t>PRESENTER 3 (Slides 8–12, Target: ~5.5–6 minutes total)</a:t>
            </a:r>
            <a:endParaRPr/>
          </a:p>
          <a:p>
            <a:pPr>
              <a:defRPr/>
            </a:pPr>
            <a:endParaRPr/>
          </a:p>
          <a:p>
            <a:pPr>
              <a:defRPr/>
            </a:pPr>
            <a:r>
              <a:rPr/>
              <a:t>SPEAKING GUIDANCE:</a:t>
            </a:r>
            <a:endParaRPr/>
          </a:p>
          <a:p>
            <a:pPr>
              <a:defRPr/>
            </a:pPr>
            <a:r>
              <a:rPr/>
              <a:t>• Introduce yourself and take over from Presenter 2.</a:t>
            </a:r>
            <a:endParaRPr/>
          </a:p>
          <a:p>
            <a:pPr>
              <a:defRPr/>
            </a:pPr>
            <a:r>
              <a:rPr/>
              <a:t>• Map the vulnerabilities directly to the CIA Triad:</a:t>
            </a:r>
            <a:endParaRPr/>
          </a:p>
          <a:p>
            <a:pPr>
              <a:defRPr/>
            </a:pPr>
            <a:r>
              <a:rPr/>
              <a:t>  - Confidentiality: Plaintext SQLite and token leakage leading to account takeover.</a:t>
            </a:r>
            <a:endParaRPr/>
          </a:p>
          <a:p>
            <a:pPr>
              <a:defRPr/>
            </a:pPr>
            <a:r>
              <a:rPr/>
              <a:t>  - Integrity: Confused deputy actions altering app state, modifying databases, or forging API requests.</a:t>
            </a:r>
            <a:endParaRPr/>
          </a:p>
          <a:p>
            <a:pPr>
              <a:defRPr/>
            </a:pPr>
            <a:r>
              <a:rPr/>
              <a:t>  - Availability: Malformed intent parcels causing crash loops (DoS) and battery drain.</a:t>
            </a:r>
            <a:endParaRPr/>
          </a:p>
          <a:p>
            <a:pPr>
              <a:defRPr/>
            </a:pPr>
            <a:r>
              <a:rPr/>
              <a:t>• Note: Impact severity is context-dependent—in a mobile chat app, credential theft severely compromises Confidentiality, while Intent fuzzing threatens Availability.</a:t>
            </a:r>
            <a:endParaRPr/>
          </a:p>
          <a:p>
            <a:pPr>
              <a:defRPr/>
            </a:pPr>
            <a:r>
              <a:rPr/>
              <a:t>• Transition: 'Having evaluated the attack impacts, we now examine practical defensive engineering to mitigate these risks.'</a:t>
            </a:r>
            <a:endParaRPr/>
          </a:p>
        </p:txBody>
      </p:sp>
      <p:sp>
        <p:nvSpPr>
          <p:cNvPr id="78952464"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3823209" name="Slide Image Placeholder 1"/>
          <p:cNvSpPr>
            <a:spLocks noGrp="1"/>
          </p:cNvSpPr>
          <p:nvPr>
            <p:ph type="sldImg" idx="2"/>
          </p:nvPr>
        </p:nvSpPr>
        <p:spPr bwMode="auto"/>
      </p:sp>
      <p:sp>
        <p:nvSpPr>
          <p:cNvPr id="1035543783" name="Notes Placeholder 2"/>
          <p:cNvSpPr>
            <a:spLocks noGrp="1"/>
          </p:cNvSpPr>
          <p:nvPr>
            <p:ph type="body" sz="quarter" idx="3"/>
          </p:nvPr>
        </p:nvSpPr>
        <p:spPr bwMode="auto"/>
        <p:txBody>
          <a:bodyPr/>
          <a:lstStyle/>
          <a:p>
            <a:pPr>
              <a:defRPr/>
            </a:pPr>
            <a:r>
              <a:rPr/>
              <a:t>Estimated speaking time: 1 min 45 sec</a:t>
            </a:r>
            <a:endParaRPr/>
          </a:p>
          <a:p>
            <a:pPr>
              <a:defRPr/>
            </a:pPr>
            <a:r>
              <a:rPr/>
              <a:t>PRESENTER 3</a:t>
            </a:r>
            <a:endParaRPr/>
          </a:p>
          <a:p>
            <a:pPr>
              <a:defRPr/>
            </a:pPr>
            <a:endParaRPr/>
          </a:p>
          <a:p>
            <a:pPr>
              <a:defRPr/>
            </a:pPr>
            <a:r>
              <a:rPr/>
              <a:t>SPEAKING GUIDANCE:</a:t>
            </a:r>
            <a:endParaRPr/>
          </a:p>
          <a:p>
            <a:pPr>
              <a:defRPr/>
            </a:pPr>
            <a:r>
              <a:rPr/>
              <a:t>• Present the three defense layers as a structured hardening blueprint:</a:t>
            </a:r>
            <a:endParaRPr/>
          </a:p>
          <a:p>
            <a:pPr>
              <a:defRPr/>
            </a:pPr>
            <a:r>
              <a:rPr/>
              <a:t>  1. Manifest Layer: Close components by default, audit permissions, and configure modern dataExtractionRules.</a:t>
            </a:r>
            <a:endParaRPr/>
          </a:p>
          <a:p>
            <a:pPr>
              <a:defRPr/>
            </a:pPr>
            <a:r>
              <a:rPr/>
              <a:t>  2. IPC Layer: Use explicit intents, validate all inputs, and enforce destination allowlists before forwarding nested intents.</a:t>
            </a:r>
            <a:endParaRPr/>
          </a:p>
          <a:p>
            <a:pPr>
              <a:defRPr/>
            </a:pPr>
            <a:r>
              <a:rPr/>
              <a:t>  3. Storage Layer: Minimize secrets, use hardware-backed Android Keystore, and deploy SQLCipher where local database encryption is required.</a:t>
            </a:r>
            <a:endParaRPr/>
          </a:p>
          <a:p>
            <a:pPr>
              <a:defRPr/>
            </a:pPr>
            <a:r>
              <a:rPr/>
              <a:t>• Note: Mention that Android 12+ supports android:dataExtractionRules for fine-grained cloud backup and device-transfer control.</a:t>
            </a:r>
            <a:endParaRPr/>
          </a:p>
          <a:p>
            <a:pPr>
              <a:defRPr/>
            </a:pPr>
            <a:endParaRPr/>
          </a:p>
          <a:p>
            <a:pPr>
              <a:defRPr/>
            </a:pPr>
            <a:r>
              <a:rPr/>
              <a:t>TRANSITION BEFORE SLIDE 10:</a:t>
            </a:r>
            <a:endParaRPr/>
          </a:p>
          <a:p>
            <a:pPr>
              <a:defRPr/>
            </a:pPr>
            <a:r>
              <a:rPr/>
              <a:t>"The previous defenses protect application components and local data. Our final project extends this defense-in-depth approach to the network layer."</a:t>
            </a:r>
            <a:endParaRPr/>
          </a:p>
        </p:txBody>
      </p:sp>
      <p:sp>
        <p:nvSpPr>
          <p:cNvPr id="797726678"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2035922" name="Slide Image Placeholder 1"/>
          <p:cNvSpPr>
            <a:spLocks noGrp="1"/>
          </p:cNvSpPr>
          <p:nvPr>
            <p:ph type="sldImg" idx="2"/>
          </p:nvPr>
        </p:nvSpPr>
        <p:spPr bwMode="auto"/>
      </p:sp>
      <p:sp>
        <p:nvSpPr>
          <p:cNvPr id="1904504872" name="Notes Placeholder 2"/>
          <p:cNvSpPr>
            <a:spLocks noGrp="1"/>
          </p:cNvSpPr>
          <p:nvPr>
            <p:ph type="body" sz="quarter" idx="3"/>
          </p:nvPr>
        </p:nvSpPr>
        <p:spPr bwMode="auto"/>
        <p:txBody>
          <a:bodyPr/>
          <a:lstStyle/>
          <a:p>
            <a:pPr>
              <a:defRPr/>
            </a:pPr>
            <a:r>
              <a:rPr/>
              <a:t>Estimated speaking time: 2 min 00 sec</a:t>
            </a:r>
            <a:endParaRPr/>
          </a:p>
          <a:p>
            <a:pPr>
              <a:defRPr/>
            </a:pPr>
            <a:r>
              <a:rPr/>
              <a:t>PRESENTER 3</a:t>
            </a:r>
            <a:endParaRPr/>
          </a:p>
          <a:p>
            <a:pPr>
              <a:defRPr/>
            </a:pPr>
            <a:endParaRPr/>
          </a:p>
          <a:p>
            <a:pPr>
              <a:defRPr/>
            </a:pPr>
            <a:r>
              <a:rPr/>
              <a:t>SPEAKING GUIDANCE:</a:t>
            </a:r>
            <a:endParaRPr/>
          </a:p>
          <a:p>
            <a:pPr>
              <a:defRPr/>
            </a:pPr>
            <a:r>
              <a:rPr/>
              <a:t>• Clearly frame this as an AUTHORIZED EDUCATIONAL LAB for our upcoming final project.</a:t>
            </a:r>
            <a:endParaRPr/>
          </a:p>
          <a:p>
            <a:pPr>
              <a:defRPr/>
            </a:pPr>
            <a:r>
              <a:rPr/>
              <a:t>• Phase 1: Clarify that modern Android does NOT trust user-installed CAs by default; in our test app, we configure a debug Network Security Configuration to trust the Burp CA, demonstrating baseline interception.</a:t>
            </a:r>
            <a:endParaRPr/>
          </a:p>
          <a:p>
            <a:pPr>
              <a:defRPr/>
            </a:pPr>
            <a:r>
              <a:rPr/>
              <a:t>• Phase 2: Explain Certificate Pinning. Point out that pinning validates the server's public key SHA-256 hash. When Burp presents its proxy certificate, the pin mismatch immediately rejects the TLS connection before sensitive chat payloads are transmitted.</a:t>
            </a:r>
            <a:endParaRPr/>
          </a:p>
          <a:p>
            <a:pPr>
              <a:defRPr/>
            </a:pPr>
            <a:r>
              <a:rPr/>
              <a:t>• Production note: In real-world apps, pinning requires rotation planning and backup pins.</a:t>
            </a:r>
            <a:endParaRPr/>
          </a:p>
          <a:p>
            <a:pPr>
              <a:defRPr/>
            </a:pPr>
            <a:endParaRPr/>
          </a:p>
          <a:p>
            <a:pPr>
              <a:defRPr/>
            </a:pPr>
            <a:r>
              <a:rPr/>
              <a:t>Q&amp;A PREP CLARIFICATION:</a:t>
            </a:r>
            <a:endParaRPr/>
          </a:p>
          <a:p>
            <a:pPr>
              <a:defRPr/>
            </a:pPr>
            <a:r>
              <a:rPr/>
              <a:t>• 'HTTPS and Certificate Pinning are different: pinning adds an application-specific trust restriction on top of normal TLS validation.'</a:t>
            </a:r>
            <a:endParaRPr/>
          </a:p>
          <a:p>
            <a:pPr>
              <a:defRPr/>
            </a:pPr>
            <a:endParaRPr/>
          </a:p>
          <a:p>
            <a:pPr>
              <a:defRPr/>
            </a:pPr>
            <a:r>
              <a:rPr/>
              <a:t>• Transition: 'Let us synthesize our findings and core architectural takeaways.'</a:t>
            </a:r>
            <a:endParaRPr/>
          </a:p>
        </p:txBody>
      </p:sp>
      <p:sp>
        <p:nvSpPr>
          <p:cNvPr id="1238620752"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0555188" name="Slide Image Placeholder 1"/>
          <p:cNvSpPr>
            <a:spLocks noGrp="1"/>
          </p:cNvSpPr>
          <p:nvPr>
            <p:ph type="sldImg" idx="2"/>
          </p:nvPr>
        </p:nvSpPr>
        <p:spPr bwMode="auto"/>
      </p:sp>
      <p:sp>
        <p:nvSpPr>
          <p:cNvPr id="1456711213" name="Notes Placeholder 2"/>
          <p:cNvSpPr>
            <a:spLocks noGrp="1"/>
          </p:cNvSpPr>
          <p:nvPr>
            <p:ph type="body" sz="quarter" idx="3"/>
          </p:nvPr>
        </p:nvSpPr>
        <p:spPr bwMode="auto"/>
        <p:txBody>
          <a:bodyPr/>
          <a:lstStyle/>
          <a:p>
            <a:pPr>
              <a:defRPr/>
            </a:pPr>
            <a:r>
              <a:rPr/>
              <a:t>Estimated speaking time: 1 min 00 sec</a:t>
            </a:r>
            <a:endParaRPr/>
          </a:p>
          <a:p>
            <a:pPr>
              <a:defRPr/>
            </a:pPr>
            <a:r>
              <a:rPr/>
              <a:t>PRESENTER 3</a:t>
            </a:r>
            <a:endParaRPr/>
          </a:p>
          <a:p>
            <a:pPr>
              <a:defRPr/>
            </a:pPr>
            <a:endParaRPr/>
          </a:p>
          <a:p>
            <a:pPr>
              <a:defRPr/>
            </a:pPr>
            <a:r>
              <a:rPr/>
              <a:t>SPEAKING GUIDANCE:</a:t>
            </a:r>
            <a:endParaRPr/>
          </a:p>
          <a:p>
            <a:pPr>
              <a:defRPr/>
            </a:pPr>
            <a:r>
              <a:rPr/>
              <a:t>• Deliver these 5 takeaways with confidence:</a:t>
            </a:r>
            <a:endParaRPr/>
          </a:p>
          <a:p>
            <a:pPr>
              <a:defRPr/>
            </a:pPr>
            <a:r>
              <a:rPr/>
              <a:t>  1. Sandboxing provides process and file isolation, but exposed components need application-level protection.</a:t>
            </a:r>
            <a:endParaRPr/>
          </a:p>
          <a:p>
            <a:pPr>
              <a:defRPr/>
            </a:pPr>
            <a:r>
              <a:rPr/>
              <a:t>  2. Untrusted IPC must be validated before reaching privileged code.</a:t>
            </a:r>
            <a:endParaRPr/>
          </a:p>
          <a:p>
            <a:pPr>
              <a:defRPr/>
            </a:pPr>
            <a:r>
              <a:rPr/>
              <a:t>  3. Access control controls who opens files; encryption protects what the data reveals.</a:t>
            </a:r>
            <a:endParaRPr/>
          </a:p>
          <a:p>
            <a:pPr>
              <a:defRPr/>
            </a:pPr>
            <a:r>
              <a:rPr/>
              <a:t>  4. True security requires defense-in-depth across Manifest, IPC, Storage, and Transit.</a:t>
            </a:r>
            <a:endParaRPr/>
          </a:p>
          <a:p>
            <a:pPr>
              <a:defRPr/>
            </a:pPr>
            <a:r>
              <a:rPr/>
              <a:t>  5. Theory directly informs our practical final lab demonstration.</a:t>
            </a:r>
            <a:endParaRPr/>
          </a:p>
          <a:p>
            <a:pPr>
              <a:defRPr/>
            </a:pPr>
            <a:r>
              <a:rPr/>
              <a:t>• Conclude: 'Thank you for your attention. We welcome any questions from Dr. Huynh Ngoc Tu and the class.'</a:t>
            </a:r>
            <a:endParaRPr/>
          </a:p>
        </p:txBody>
      </p:sp>
      <p:sp>
        <p:nvSpPr>
          <p:cNvPr id="1002243998"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5012784" name="Slide Image Placeholder 1"/>
          <p:cNvSpPr>
            <a:spLocks noGrp="1"/>
          </p:cNvSpPr>
          <p:nvPr>
            <p:ph type="sldImg" idx="2"/>
          </p:nvPr>
        </p:nvSpPr>
        <p:spPr bwMode="auto"/>
      </p:sp>
      <p:sp>
        <p:nvSpPr>
          <p:cNvPr id="80042204" name="Notes Placeholder 2"/>
          <p:cNvSpPr>
            <a:spLocks noGrp="1"/>
          </p:cNvSpPr>
          <p:nvPr>
            <p:ph type="body" sz="quarter" idx="3"/>
          </p:nvPr>
        </p:nvSpPr>
        <p:spPr bwMode="auto"/>
        <p:txBody>
          <a:bodyPr/>
          <a:lstStyle/>
          <a:p>
            <a:pPr>
              <a:defRPr/>
            </a:pPr>
            <a:r>
              <a:rPr/>
              <a:t>Estimated speaking time: 15 seconds (Reference overview / transition to Q&amp;A)</a:t>
            </a:r>
            <a:endParaRPr/>
          </a:p>
          <a:p>
            <a:pPr>
              <a:defRPr/>
            </a:pPr>
            <a:r>
              <a:rPr/>
              <a:t>PRESENTER 3</a:t>
            </a:r>
            <a:endParaRPr/>
          </a:p>
          <a:p>
            <a:pPr>
              <a:defRPr/>
            </a:pPr>
            <a:endParaRPr/>
          </a:p>
          <a:p>
            <a:pPr>
              <a:defRPr/>
            </a:pPr>
            <a:r>
              <a:rPr/>
              <a:t>SPEAKING GUIDANCE:</a:t>
            </a:r>
            <a:endParaRPr/>
          </a:p>
          <a:p>
            <a:pPr>
              <a:defRPr/>
            </a:pPr>
            <a:r>
              <a:rPr/>
              <a:t>• Simply mention that our research is grounded in official Android developer specifications, OWASP MASVS v2.0, MASTG, and NIST guidelines.</a:t>
            </a:r>
            <a:endParaRPr/>
          </a:p>
          <a:p>
            <a:pPr>
              <a:defRPr/>
            </a:pPr>
            <a:r>
              <a:rPr/>
              <a:t>• Transition directly to class and instructor Q&amp;A.</a:t>
            </a:r>
            <a:endParaRPr/>
          </a:p>
        </p:txBody>
      </p:sp>
      <p:sp>
        <p:nvSpPr>
          <p:cNvPr id="566075279"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573217721"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806256815"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93257333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10180267" name="Footer Placeholder 4"/>
          <p:cNvSpPr>
            <a:spLocks noGrp="1"/>
          </p:cNvSpPr>
          <p:nvPr>
            <p:ph type="ftr" sz="quarter" idx="11"/>
          </p:nvPr>
        </p:nvSpPr>
        <p:spPr bwMode="auto"/>
        <p:txBody>
          <a:bodyPr/>
          <a:lstStyle/>
          <a:p>
            <a:pPr>
              <a:defRPr/>
            </a:pPr>
            <a:endParaRPr lang="en-US"/>
          </a:p>
        </p:txBody>
      </p:sp>
      <p:sp>
        <p:nvSpPr>
          <p:cNvPr id="91676999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992069131" name="Title 1"/>
          <p:cNvSpPr>
            <a:spLocks noGrp="1"/>
          </p:cNvSpPr>
          <p:nvPr>
            <p:ph type="title"/>
          </p:nvPr>
        </p:nvSpPr>
        <p:spPr bwMode="auto"/>
        <p:txBody>
          <a:bodyPr/>
          <a:lstStyle/>
          <a:p>
            <a:pPr>
              <a:defRPr/>
            </a:pPr>
            <a:r>
              <a:rPr lang="en-US"/>
              <a:t>Click to edit Master title style</a:t>
            </a:r>
            <a:endParaRPr lang="en-US"/>
          </a:p>
        </p:txBody>
      </p:sp>
      <p:sp>
        <p:nvSpPr>
          <p:cNvPr id="1496924099"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2179921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00922763" name="Footer Placeholder 4"/>
          <p:cNvSpPr>
            <a:spLocks noGrp="1"/>
          </p:cNvSpPr>
          <p:nvPr>
            <p:ph type="ftr" sz="quarter" idx="11"/>
          </p:nvPr>
        </p:nvSpPr>
        <p:spPr bwMode="auto"/>
        <p:txBody>
          <a:bodyPr/>
          <a:lstStyle/>
          <a:p>
            <a:pPr>
              <a:defRPr/>
            </a:pPr>
            <a:endParaRPr lang="en-US"/>
          </a:p>
        </p:txBody>
      </p:sp>
      <p:sp>
        <p:nvSpPr>
          <p:cNvPr id="89081256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687592260"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284201731"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8910524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16469786" name="Footer Placeholder 4"/>
          <p:cNvSpPr>
            <a:spLocks noGrp="1"/>
          </p:cNvSpPr>
          <p:nvPr>
            <p:ph type="ftr" sz="quarter" idx="11"/>
          </p:nvPr>
        </p:nvSpPr>
        <p:spPr bwMode="auto"/>
        <p:txBody>
          <a:bodyPr/>
          <a:lstStyle/>
          <a:p>
            <a:pPr>
              <a:defRPr/>
            </a:pPr>
            <a:endParaRPr lang="en-US"/>
          </a:p>
        </p:txBody>
      </p:sp>
      <p:sp>
        <p:nvSpPr>
          <p:cNvPr id="37379867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20204677" name="Title 1"/>
          <p:cNvSpPr>
            <a:spLocks noGrp="1"/>
          </p:cNvSpPr>
          <p:nvPr>
            <p:ph type="title"/>
          </p:nvPr>
        </p:nvSpPr>
        <p:spPr bwMode="auto"/>
        <p:txBody>
          <a:bodyPr/>
          <a:lstStyle/>
          <a:p>
            <a:pPr>
              <a:defRPr/>
            </a:pPr>
            <a:r>
              <a:rPr lang="en-US"/>
              <a:t>Click to edit Master title style</a:t>
            </a:r>
            <a:endParaRPr lang="en-US"/>
          </a:p>
        </p:txBody>
      </p:sp>
      <p:sp>
        <p:nvSpPr>
          <p:cNvPr id="1523475845"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88953567"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20784389"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15545999" name="Footer Placeholder 5"/>
          <p:cNvSpPr>
            <a:spLocks noGrp="1"/>
          </p:cNvSpPr>
          <p:nvPr>
            <p:ph type="ftr" sz="quarter" idx="11"/>
          </p:nvPr>
        </p:nvSpPr>
        <p:spPr bwMode="auto"/>
        <p:txBody>
          <a:bodyPr/>
          <a:lstStyle/>
          <a:p>
            <a:pPr>
              <a:defRPr/>
            </a:pPr>
            <a:endParaRPr lang="en-US"/>
          </a:p>
        </p:txBody>
      </p:sp>
      <p:sp>
        <p:nvSpPr>
          <p:cNvPr id="17291930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00731904"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2540304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17160540"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53645478"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05699225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5947581"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04574422" name="Footer Placeholder 7"/>
          <p:cNvSpPr>
            <a:spLocks noGrp="1"/>
          </p:cNvSpPr>
          <p:nvPr>
            <p:ph type="ftr" sz="quarter" idx="11"/>
          </p:nvPr>
        </p:nvSpPr>
        <p:spPr bwMode="auto"/>
        <p:txBody>
          <a:bodyPr/>
          <a:lstStyle/>
          <a:p>
            <a:pPr>
              <a:defRPr/>
            </a:pPr>
            <a:endParaRPr lang="en-US"/>
          </a:p>
        </p:txBody>
      </p:sp>
      <p:sp>
        <p:nvSpPr>
          <p:cNvPr id="214174120"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64372024" name="Title 1"/>
          <p:cNvSpPr>
            <a:spLocks noGrp="1"/>
          </p:cNvSpPr>
          <p:nvPr>
            <p:ph type="title"/>
          </p:nvPr>
        </p:nvSpPr>
        <p:spPr bwMode="auto"/>
        <p:txBody>
          <a:bodyPr/>
          <a:lstStyle/>
          <a:p>
            <a:pPr>
              <a:defRPr/>
            </a:pPr>
            <a:r>
              <a:rPr lang="en-US"/>
              <a:t>Click to edit Master title style</a:t>
            </a:r>
            <a:endParaRPr lang="en-US"/>
          </a:p>
        </p:txBody>
      </p:sp>
      <p:sp>
        <p:nvSpPr>
          <p:cNvPr id="937166505"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337647717" name="Footer Placeholder 3"/>
          <p:cNvSpPr>
            <a:spLocks noGrp="1"/>
          </p:cNvSpPr>
          <p:nvPr>
            <p:ph type="ftr" sz="quarter" idx="11"/>
          </p:nvPr>
        </p:nvSpPr>
        <p:spPr bwMode="auto"/>
        <p:txBody>
          <a:bodyPr/>
          <a:lstStyle/>
          <a:p>
            <a:pPr>
              <a:defRPr/>
            </a:pPr>
            <a:endParaRPr lang="en-US"/>
          </a:p>
        </p:txBody>
      </p:sp>
      <p:sp>
        <p:nvSpPr>
          <p:cNvPr id="793733814"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472083088"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12868637" name="Footer Placeholder 2"/>
          <p:cNvSpPr>
            <a:spLocks noGrp="1"/>
          </p:cNvSpPr>
          <p:nvPr>
            <p:ph type="ftr" sz="quarter" idx="11"/>
          </p:nvPr>
        </p:nvSpPr>
        <p:spPr bwMode="auto"/>
        <p:txBody>
          <a:bodyPr/>
          <a:lstStyle/>
          <a:p>
            <a:pPr>
              <a:defRPr/>
            </a:pPr>
            <a:endParaRPr lang="en-US"/>
          </a:p>
        </p:txBody>
      </p:sp>
      <p:sp>
        <p:nvSpPr>
          <p:cNvPr id="580588085"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824110975"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08982258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2216453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85550929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45807572" name="Footer Placeholder 5"/>
          <p:cNvSpPr>
            <a:spLocks noGrp="1"/>
          </p:cNvSpPr>
          <p:nvPr>
            <p:ph type="ftr" sz="quarter" idx="11"/>
          </p:nvPr>
        </p:nvSpPr>
        <p:spPr bwMode="auto"/>
        <p:txBody>
          <a:bodyPr/>
          <a:lstStyle/>
          <a:p>
            <a:pPr>
              <a:defRPr/>
            </a:pPr>
            <a:endParaRPr lang="en-US"/>
          </a:p>
        </p:txBody>
      </p:sp>
      <p:sp>
        <p:nvSpPr>
          <p:cNvPr id="28667321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53154870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58165331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50559115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6596203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70205521" name="Footer Placeholder 5"/>
          <p:cNvSpPr>
            <a:spLocks noGrp="1"/>
          </p:cNvSpPr>
          <p:nvPr>
            <p:ph type="ftr" sz="quarter" idx="11"/>
          </p:nvPr>
        </p:nvSpPr>
        <p:spPr bwMode="auto"/>
        <p:txBody>
          <a:bodyPr/>
          <a:lstStyle/>
          <a:p>
            <a:pPr>
              <a:defRPr/>
            </a:pPr>
            <a:endParaRPr lang="en-US"/>
          </a:p>
        </p:txBody>
      </p:sp>
      <p:sp>
        <p:nvSpPr>
          <p:cNvPr id="122338374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121915918" name="Title 1"/>
          <p:cNvSpPr>
            <a:spLocks noGrp="1"/>
          </p:cNvSpPr>
          <p:nvPr>
            <p:ph type="title"/>
          </p:nvPr>
        </p:nvSpPr>
        <p:spPr bwMode="auto"/>
        <p:txBody>
          <a:bodyPr/>
          <a:lstStyle/>
          <a:p>
            <a:pPr>
              <a:defRPr/>
            </a:pPr>
            <a:r>
              <a:rPr lang="en-US"/>
              <a:t>Click to edit Master title style</a:t>
            </a:r>
            <a:endParaRPr lang="en-US"/>
          </a:p>
        </p:txBody>
      </p:sp>
      <p:sp>
        <p:nvSpPr>
          <p:cNvPr id="210738334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7673163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76393642" name="Footer Placeholder 4"/>
          <p:cNvSpPr>
            <a:spLocks noGrp="1"/>
          </p:cNvSpPr>
          <p:nvPr>
            <p:ph type="ftr" sz="quarter" idx="11"/>
          </p:nvPr>
        </p:nvSpPr>
        <p:spPr bwMode="auto"/>
        <p:txBody>
          <a:bodyPr/>
          <a:lstStyle/>
          <a:p>
            <a:pPr>
              <a:defRPr/>
            </a:pPr>
            <a:endParaRPr lang="en-US"/>
          </a:p>
        </p:txBody>
      </p:sp>
      <p:sp>
        <p:nvSpPr>
          <p:cNvPr id="58600167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83074426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954396227"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633186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317219103" name="Footer Placeholder 4"/>
          <p:cNvSpPr>
            <a:spLocks noGrp="1"/>
          </p:cNvSpPr>
          <p:nvPr>
            <p:ph type="ftr" sz="quarter" idx="11"/>
          </p:nvPr>
        </p:nvSpPr>
        <p:spPr bwMode="auto"/>
        <p:txBody>
          <a:bodyPr/>
          <a:lstStyle/>
          <a:p>
            <a:pPr>
              <a:defRPr/>
            </a:pPr>
            <a:endParaRPr lang="en-US"/>
          </a:p>
        </p:txBody>
      </p:sp>
      <p:sp>
        <p:nvSpPr>
          <p:cNvPr id="34951460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84324869"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20017677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42853035"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9923886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35513370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7000344"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86588" name="Rounded Rectangle 2"/>
          <p:cNvSpPr/>
          <p:nvPr/>
        </p:nvSpPr>
        <p:spPr bwMode="auto">
          <a:xfrm>
            <a:off x="914400" y="731520"/>
            <a:ext cx="10362895" cy="5394960"/>
          </a:xfrm>
          <a:prstGeom prst="roundRect">
            <a:avLst>
              <a:gd name="adj" fmla="val 16667"/>
            </a:avLst>
          </a:prstGeom>
          <a:solidFill>
            <a:srgbClr val="131C2E"/>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3013143" name="Rounded Rectangle 3"/>
          <p:cNvSpPr/>
          <p:nvPr/>
        </p:nvSpPr>
        <p:spPr bwMode="auto">
          <a:xfrm>
            <a:off x="1463040" y="1188720"/>
            <a:ext cx="1371600" cy="73152"/>
          </a:xfrm>
          <a:prstGeom prst="roundRect">
            <a:avLst>
              <a:gd name="adj" fmla="val 16667"/>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4688779" name="TextBox 4"/>
          <p:cNvSpPr txBox="1"/>
          <p:nvPr/>
        </p:nvSpPr>
        <p:spPr bwMode="auto">
          <a:xfrm>
            <a:off x="1463040" y="1417320"/>
            <a:ext cx="9265615" cy="2011680"/>
          </a:xfrm>
          <a:prstGeom prst="rect">
            <a:avLst/>
          </a:prstGeom>
          <a:noFill/>
        </p:spPr>
        <p:txBody>
          <a:bodyPr wrap="square" lIns="0" tIns="0" rIns="0" bIns="0">
            <a:spAutoFit/>
          </a:bodyPr>
          <a:lstStyle/>
          <a:p>
            <a:pPr>
              <a:spcAft>
                <a:spcPts val="800"/>
              </a:spcAft>
              <a:defRPr sz="1100" b="1">
                <a:solidFill>
                  <a:srgbClr val="3DDC84"/>
                </a:solidFill>
                <a:latin typeface="Arial"/>
              </a:defRPr>
            </a:pPr>
            <a:r>
              <a:rPr/>
              <a:t>INFORMATION SECURITY MIDTERM THEORY PROJECT  •  TOPIC 13</a:t>
            </a:r>
            <a:endParaRPr/>
          </a:p>
          <a:p>
            <a:pPr>
              <a:spcAft>
                <a:spcPts val="600"/>
              </a:spcAft>
              <a:defRPr sz="3200" b="1">
                <a:solidFill>
                  <a:srgbClr val="F8FAFC"/>
                </a:solidFill>
                <a:latin typeface="Arial"/>
              </a:defRPr>
            </a:pPr>
            <a:r>
              <a:rPr/>
              <a:t>Security in Client-Server Android Applications</a:t>
            </a:r>
            <a:endParaRPr/>
          </a:p>
          <a:p>
            <a:pPr>
              <a:defRPr sz="1700">
                <a:solidFill>
                  <a:srgbClr val="38BDF8"/>
                </a:solidFill>
                <a:latin typeface="Arial"/>
              </a:defRPr>
            </a:pPr>
            <a:r>
              <a:rPr/>
              <a:t>Android Permissions, Intent Security, and Local Data Protection</a:t>
            </a:r>
            <a:endParaRPr/>
          </a:p>
        </p:txBody>
      </p:sp>
      <p:sp>
        <p:nvSpPr>
          <p:cNvPr id="1838249359" name="Rounded Rectangle 5"/>
          <p:cNvSpPr/>
          <p:nvPr/>
        </p:nvSpPr>
        <p:spPr bwMode="auto">
          <a:xfrm>
            <a:off x="1463040" y="3657600"/>
            <a:ext cx="4389120" cy="192024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0469084" name="TextBox 6"/>
          <p:cNvSpPr txBox="1"/>
          <p:nvPr/>
        </p:nvSpPr>
        <p:spPr bwMode="auto">
          <a:xfrm>
            <a:off x="1691640" y="3794760"/>
            <a:ext cx="3931920" cy="1645920"/>
          </a:xfrm>
          <a:prstGeom prst="rect">
            <a:avLst/>
          </a:prstGeom>
          <a:noFill/>
        </p:spPr>
        <p:txBody>
          <a:bodyPr wrap="square" lIns="0" tIns="0" rIns="0" bIns="0">
            <a:spAutoFit/>
          </a:bodyPr>
          <a:lstStyle/>
          <a:p>
            <a:pPr>
              <a:spcAft>
                <a:spcPts val="600"/>
              </a:spcAft>
              <a:defRPr sz="1000" b="1">
                <a:solidFill>
                  <a:srgbClr val="3DDC84"/>
                </a:solidFill>
                <a:latin typeface="Arial"/>
              </a:defRPr>
            </a:pPr>
            <a:r>
              <a:rPr/>
              <a:t>ACADEMIC DETAILS</a:t>
            </a:r>
            <a:endParaRPr/>
          </a:p>
          <a:p>
            <a:pPr>
              <a:spcAft>
                <a:spcPts val="400"/>
              </a:spcAft>
              <a:defRPr sz="1200">
                <a:solidFill>
                  <a:srgbClr val="F8FAFC"/>
                </a:solidFill>
                <a:latin typeface="Arial"/>
              </a:defRPr>
            </a:pPr>
            <a:r>
              <a:rPr/>
              <a:t>Course: Introduction to Information Security</a:t>
            </a:r>
            <a:endParaRPr/>
          </a:p>
          <a:p>
            <a:pPr>
              <a:spcAft>
                <a:spcPts val="400"/>
              </a:spcAft>
              <a:defRPr sz="1200">
                <a:solidFill>
                  <a:srgbClr val="94A3B8"/>
                </a:solidFill>
                <a:latin typeface="Arial"/>
              </a:defRPr>
            </a:pPr>
            <a:r>
              <a:rPr/>
              <a:t>Instructor: Huynh Ngoc Tu, Ph.D</a:t>
            </a:r>
            <a:endParaRPr/>
          </a:p>
          <a:p>
            <a:pPr>
              <a:defRPr sz="1200">
                <a:solidFill>
                  <a:srgbClr val="38BDF8"/>
                </a:solidFill>
                <a:latin typeface="Arial"/>
              </a:defRPr>
            </a:pPr>
            <a:r>
              <a:rPr/>
              <a:t>Class ID: N05   |   Group ID: G02</a:t>
            </a:r>
            <a:endParaRPr/>
          </a:p>
        </p:txBody>
      </p:sp>
      <p:sp>
        <p:nvSpPr>
          <p:cNvPr id="2080723850" name="Rounded Rectangle 7"/>
          <p:cNvSpPr/>
          <p:nvPr/>
        </p:nvSpPr>
        <p:spPr bwMode="auto">
          <a:xfrm>
            <a:off x="6035039" y="3657600"/>
            <a:ext cx="4663440" cy="192024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0733941" name="TextBox 8"/>
          <p:cNvSpPr txBox="1"/>
          <p:nvPr/>
        </p:nvSpPr>
        <p:spPr bwMode="auto">
          <a:xfrm>
            <a:off x="6263640" y="3794760"/>
            <a:ext cx="4206240" cy="1645920"/>
          </a:xfrm>
          <a:prstGeom prst="rect">
            <a:avLst/>
          </a:prstGeom>
          <a:noFill/>
        </p:spPr>
        <p:txBody>
          <a:bodyPr wrap="square" lIns="0" tIns="0" rIns="0" bIns="0">
            <a:spAutoFit/>
          </a:bodyPr>
          <a:lstStyle/>
          <a:p>
            <a:pPr>
              <a:spcAft>
                <a:spcPts val="600"/>
              </a:spcAft>
              <a:defRPr sz="1000" b="1">
                <a:solidFill>
                  <a:srgbClr val="3DDC84"/>
                </a:solidFill>
                <a:latin typeface="Arial"/>
              </a:defRPr>
            </a:pPr>
            <a:r>
              <a:rPr/>
              <a:t>PROJECT TEAM (GROUP G02)</a:t>
            </a:r>
            <a:endParaRPr/>
          </a:p>
          <a:p>
            <a:pPr>
              <a:spcAft>
                <a:spcPts val="300"/>
              </a:spcAft>
              <a:defRPr sz="1200">
                <a:solidFill>
                  <a:srgbClr val="F8FAFC"/>
                </a:solidFill>
                <a:latin typeface="Arial"/>
              </a:defRPr>
            </a:pPr>
            <a:r>
              <a:rPr/>
              <a:t>Ngô Lâm Tiến (Leader)   |   ID: 524H0195</a:t>
            </a:r>
            <a:endParaRPr/>
          </a:p>
          <a:p>
            <a:pPr>
              <a:spcAft>
                <a:spcPts val="300"/>
              </a:spcAft>
              <a:defRPr sz="1200">
                <a:solidFill>
                  <a:srgbClr val="F8FAFC"/>
                </a:solidFill>
                <a:latin typeface="Arial"/>
              </a:defRPr>
            </a:pPr>
            <a:r>
              <a:rPr/>
              <a:t>Nguyễn Công Thành   |   ID: 524H0191</a:t>
            </a:r>
            <a:endParaRPr/>
          </a:p>
          <a:p>
            <a:pPr>
              <a:spcAft>
                <a:spcPts val="300"/>
              </a:spcAft>
              <a:defRPr sz="1200">
                <a:solidFill>
                  <a:srgbClr val="F8FAFC"/>
                </a:solidFill>
                <a:latin typeface="Arial"/>
              </a:defRPr>
            </a:pPr>
            <a:r>
              <a:rPr/>
              <a:t>Võ Huỳnh Duy Tân   |   ID: 524H0187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5550120"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423200"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THREAT LANDSCAPE &amp; ATTACK SURFACE</a:t>
            </a:r>
            <a:endParaRPr/>
          </a:p>
          <a:p>
            <a:pPr>
              <a:spcAft>
                <a:spcPts val="200"/>
              </a:spcAft>
              <a:defRPr sz="2600" b="1">
                <a:solidFill>
                  <a:srgbClr val="F8FAFC"/>
                </a:solidFill>
                <a:latin typeface="Arial"/>
              </a:defRPr>
            </a:pPr>
            <a:r>
              <a:rPr/>
              <a:t>Why Android Security Matters</a:t>
            </a:r>
            <a:endParaRPr/>
          </a:p>
          <a:p>
            <a:pPr>
              <a:defRPr sz="1300">
                <a:solidFill>
                  <a:srgbClr val="94A3B8"/>
                </a:solidFill>
                <a:latin typeface="Arial"/>
              </a:defRPr>
            </a:pPr>
            <a:r>
              <a:rPr/>
              <a:t>The Multi-Layered Attack Surface of Mobile Client-Server Systems</a:t>
            </a:r>
            <a:endParaRPr/>
          </a:p>
        </p:txBody>
      </p:sp>
      <p:sp>
        <p:nvSpPr>
          <p:cNvPr id="1214360305" name="Rounded Rectangle 3"/>
          <p:cNvSpPr/>
          <p:nvPr/>
        </p:nvSpPr>
        <p:spPr bwMode="auto">
          <a:xfrm>
            <a:off x="731520" y="1691640"/>
            <a:ext cx="1874519" cy="10058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4717839" name="TextBox 4"/>
          <p:cNvSpPr txBox="1"/>
          <p:nvPr/>
        </p:nvSpPr>
        <p:spPr bwMode="auto">
          <a:xfrm>
            <a:off x="822960" y="1783080"/>
            <a:ext cx="1691639" cy="822960"/>
          </a:xfrm>
          <a:prstGeom prst="rect">
            <a:avLst/>
          </a:prstGeom>
          <a:noFill/>
        </p:spPr>
        <p:txBody>
          <a:bodyPr wrap="square" lIns="0" tIns="0" rIns="0" bIns="0">
            <a:spAutoFit/>
          </a:bodyPr>
          <a:lstStyle/>
          <a:p>
            <a:pPr algn="ctr">
              <a:spcAft>
                <a:spcPts val="200"/>
              </a:spcAft>
              <a:defRPr sz="1300" b="1">
                <a:solidFill>
                  <a:srgbClr val="3DDC84"/>
                </a:solidFill>
                <a:latin typeface="Arial"/>
              </a:defRPr>
            </a:pPr>
            <a:r>
              <a:rPr/>
              <a:t>End User</a:t>
            </a:r>
            <a:endParaRPr/>
          </a:p>
          <a:p>
            <a:pPr algn="ctr">
              <a:defRPr sz="1000">
                <a:solidFill>
                  <a:srgbClr val="94A3B8"/>
                </a:solidFill>
                <a:latin typeface="Arial"/>
              </a:defRPr>
            </a:pPr>
            <a:r>
              <a:rPr/>
              <a:t>Device Owner</a:t>
            </a:r>
            <a:endParaRPr/>
          </a:p>
        </p:txBody>
      </p:sp>
      <p:sp>
        <p:nvSpPr>
          <p:cNvPr id="1999642969" name="TextBox 5"/>
          <p:cNvSpPr txBox="1"/>
          <p:nvPr/>
        </p:nvSpPr>
        <p:spPr bwMode="auto">
          <a:xfrm>
            <a:off x="2606039"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030958286" name="Rounded Rectangle 6"/>
          <p:cNvSpPr/>
          <p:nvPr/>
        </p:nvSpPr>
        <p:spPr bwMode="auto">
          <a:xfrm>
            <a:off x="2953511" y="1691640"/>
            <a:ext cx="1874519" cy="10058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7264509" name="TextBox 7"/>
          <p:cNvSpPr txBox="1"/>
          <p:nvPr/>
        </p:nvSpPr>
        <p:spPr bwMode="auto">
          <a:xfrm>
            <a:off x="3044951" y="1783080"/>
            <a:ext cx="1691639" cy="822960"/>
          </a:xfrm>
          <a:prstGeom prst="rect">
            <a:avLst/>
          </a:prstGeom>
          <a:noFill/>
        </p:spPr>
        <p:txBody>
          <a:bodyPr wrap="square" lIns="0" tIns="0" rIns="0" bIns="0">
            <a:spAutoFit/>
          </a:bodyPr>
          <a:lstStyle/>
          <a:p>
            <a:pPr algn="ctr">
              <a:spcAft>
                <a:spcPts val="200"/>
              </a:spcAft>
              <a:defRPr sz="1300" b="1">
                <a:solidFill>
                  <a:srgbClr val="38BDF8"/>
                </a:solidFill>
                <a:latin typeface="Arial"/>
              </a:defRPr>
            </a:pPr>
            <a:r>
              <a:rPr/>
              <a:t>Android Client</a:t>
            </a:r>
            <a:endParaRPr/>
          </a:p>
          <a:p>
            <a:pPr algn="ctr">
              <a:defRPr sz="1000">
                <a:solidFill>
                  <a:srgbClr val="94A3B8"/>
                </a:solidFill>
                <a:latin typeface="Arial"/>
              </a:defRPr>
            </a:pPr>
            <a:r>
              <a:rPr/>
              <a:t>Application Logic</a:t>
            </a:r>
            <a:endParaRPr/>
          </a:p>
        </p:txBody>
      </p:sp>
      <p:sp>
        <p:nvSpPr>
          <p:cNvPr id="1207905079" name="TextBox 8"/>
          <p:cNvSpPr txBox="1"/>
          <p:nvPr/>
        </p:nvSpPr>
        <p:spPr bwMode="auto">
          <a:xfrm>
            <a:off x="4828030"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025816535" name="Rounded Rectangle 9"/>
          <p:cNvSpPr/>
          <p:nvPr/>
        </p:nvSpPr>
        <p:spPr bwMode="auto">
          <a:xfrm>
            <a:off x="5175502" y="1691640"/>
            <a:ext cx="1874519" cy="10058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7985770" name="TextBox 10"/>
          <p:cNvSpPr txBox="1"/>
          <p:nvPr/>
        </p:nvSpPr>
        <p:spPr bwMode="auto">
          <a:xfrm>
            <a:off x="5266942" y="1783080"/>
            <a:ext cx="1691639" cy="822960"/>
          </a:xfrm>
          <a:prstGeom prst="rect">
            <a:avLst/>
          </a:prstGeom>
          <a:noFill/>
        </p:spPr>
        <p:txBody>
          <a:bodyPr wrap="square" lIns="0" tIns="0" rIns="0" bIns="0">
            <a:spAutoFit/>
          </a:bodyPr>
          <a:lstStyle/>
          <a:p>
            <a:pPr algn="ctr">
              <a:spcAft>
                <a:spcPts val="200"/>
              </a:spcAft>
              <a:defRPr sz="1300" b="1">
                <a:solidFill>
                  <a:srgbClr val="FBBF24"/>
                </a:solidFill>
                <a:latin typeface="Arial"/>
              </a:defRPr>
            </a:pPr>
            <a:r>
              <a:rPr/>
              <a:t>Storage / IPC</a:t>
            </a:r>
            <a:endParaRPr/>
          </a:p>
          <a:p>
            <a:pPr algn="ctr">
              <a:defRPr sz="1000">
                <a:solidFill>
                  <a:srgbClr val="94A3B8"/>
                </a:solidFill>
                <a:latin typeface="Arial"/>
              </a:defRPr>
            </a:pPr>
            <a:r>
              <a:rPr/>
              <a:t>SQLite &amp; Intents</a:t>
            </a:r>
            <a:endParaRPr/>
          </a:p>
        </p:txBody>
      </p:sp>
      <p:sp>
        <p:nvSpPr>
          <p:cNvPr id="1573733715" name="TextBox 11"/>
          <p:cNvSpPr txBox="1"/>
          <p:nvPr/>
        </p:nvSpPr>
        <p:spPr bwMode="auto">
          <a:xfrm>
            <a:off x="7050020"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877892403" name="Rounded Rectangle 12"/>
          <p:cNvSpPr/>
          <p:nvPr/>
        </p:nvSpPr>
        <p:spPr bwMode="auto">
          <a:xfrm>
            <a:off x="7397493" y="1691640"/>
            <a:ext cx="1874519" cy="10058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0156465" name="TextBox 13"/>
          <p:cNvSpPr txBox="1"/>
          <p:nvPr/>
        </p:nvSpPr>
        <p:spPr bwMode="auto">
          <a:xfrm>
            <a:off x="7488933" y="1783080"/>
            <a:ext cx="1691639" cy="822960"/>
          </a:xfrm>
          <a:prstGeom prst="rect">
            <a:avLst/>
          </a:prstGeom>
          <a:noFill/>
        </p:spPr>
        <p:txBody>
          <a:bodyPr wrap="square" lIns="0" tIns="0" rIns="0" bIns="0">
            <a:spAutoFit/>
          </a:bodyPr>
          <a:lstStyle/>
          <a:p>
            <a:pPr algn="ctr">
              <a:spcAft>
                <a:spcPts val="200"/>
              </a:spcAft>
              <a:defRPr sz="1300" b="1">
                <a:solidFill>
                  <a:srgbClr val="38BDF8"/>
                </a:solidFill>
                <a:latin typeface="Arial"/>
              </a:defRPr>
            </a:pPr>
            <a:r>
              <a:rPr/>
              <a:t>HTTPS / Transit</a:t>
            </a:r>
            <a:endParaRPr/>
          </a:p>
          <a:p>
            <a:pPr algn="ctr">
              <a:defRPr sz="1000">
                <a:solidFill>
                  <a:srgbClr val="94A3B8"/>
                </a:solidFill>
                <a:latin typeface="Arial"/>
              </a:defRPr>
            </a:pPr>
            <a:r>
              <a:rPr/>
              <a:t>Network Channel</a:t>
            </a:r>
            <a:endParaRPr/>
          </a:p>
        </p:txBody>
      </p:sp>
      <p:sp>
        <p:nvSpPr>
          <p:cNvPr id="881623653" name="TextBox 14"/>
          <p:cNvSpPr txBox="1"/>
          <p:nvPr/>
        </p:nvSpPr>
        <p:spPr bwMode="auto">
          <a:xfrm>
            <a:off x="9272012" y="1920240"/>
            <a:ext cx="347472" cy="45720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2027878497" name="Rounded Rectangle 15"/>
          <p:cNvSpPr/>
          <p:nvPr/>
        </p:nvSpPr>
        <p:spPr bwMode="auto">
          <a:xfrm>
            <a:off x="9619484" y="1691640"/>
            <a:ext cx="1874519" cy="10058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82945153" name="TextBox 16"/>
          <p:cNvSpPr txBox="1"/>
          <p:nvPr/>
        </p:nvSpPr>
        <p:spPr bwMode="auto">
          <a:xfrm>
            <a:off x="9710924" y="1783080"/>
            <a:ext cx="1691639" cy="822960"/>
          </a:xfrm>
          <a:prstGeom prst="rect">
            <a:avLst/>
          </a:prstGeom>
          <a:noFill/>
        </p:spPr>
        <p:txBody>
          <a:bodyPr wrap="square" lIns="0" tIns="0" rIns="0" bIns="0">
            <a:spAutoFit/>
          </a:bodyPr>
          <a:lstStyle/>
          <a:p>
            <a:pPr algn="ctr">
              <a:spcAft>
                <a:spcPts val="200"/>
              </a:spcAft>
              <a:defRPr sz="1300" b="1">
                <a:solidFill>
                  <a:srgbClr val="3DDC84"/>
                </a:solidFill>
                <a:latin typeface="Arial"/>
              </a:defRPr>
            </a:pPr>
            <a:r>
              <a:rPr/>
              <a:t>Backend Server</a:t>
            </a:r>
            <a:endParaRPr/>
          </a:p>
          <a:p>
            <a:pPr algn="ctr">
              <a:defRPr sz="1000">
                <a:solidFill>
                  <a:srgbClr val="94A3B8"/>
                </a:solidFill>
                <a:latin typeface="Arial"/>
              </a:defRPr>
            </a:pPr>
            <a:r>
              <a:rPr/>
              <a:t>Cloud APIs &amp; DB</a:t>
            </a:r>
            <a:endParaRPr/>
          </a:p>
        </p:txBody>
      </p:sp>
      <p:sp>
        <p:nvSpPr>
          <p:cNvPr id="284874190" name="Rounded Rectangle 17"/>
          <p:cNvSpPr/>
          <p:nvPr/>
        </p:nvSpPr>
        <p:spPr bwMode="auto">
          <a:xfrm>
            <a:off x="731520"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6446942" name="Rectangle 18"/>
          <p:cNvSpPr/>
          <p:nvPr/>
        </p:nvSpPr>
        <p:spPr bwMode="auto">
          <a:xfrm>
            <a:off x="731520" y="2926080"/>
            <a:ext cx="2542032" cy="54864"/>
          </a:xfrm>
          <a:prstGeom prst="rect">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17260652" name="TextBox 19"/>
          <p:cNvSpPr txBox="1"/>
          <p:nvPr/>
        </p:nvSpPr>
        <p:spPr bwMode="auto">
          <a:xfrm>
            <a:off x="896112" y="3108960"/>
            <a:ext cx="2212848" cy="2560320"/>
          </a:xfrm>
          <a:prstGeom prst="rect">
            <a:avLst/>
          </a:prstGeom>
          <a:noFill/>
        </p:spPr>
        <p:txBody>
          <a:bodyPr wrap="square" lIns="0" tIns="0" rIns="0" bIns="0">
            <a:spAutoFit/>
          </a:bodyPr>
          <a:lstStyle/>
          <a:p>
            <a:pPr>
              <a:spcAft>
                <a:spcPts val="800"/>
              </a:spcAft>
              <a:defRPr sz="1300" b="1">
                <a:solidFill>
                  <a:srgbClr val="3DDC84"/>
                </a:solidFill>
                <a:latin typeface="Arial"/>
              </a:defRPr>
            </a:pPr>
            <a:r>
              <a:rPr/>
              <a:t>1. Permissions Boundary</a:t>
            </a:r>
            <a:endParaRPr/>
          </a:p>
          <a:p>
            <a:pPr>
              <a:spcAft>
                <a:spcPts val="600"/>
              </a:spcAft>
              <a:defRPr sz="1100">
                <a:solidFill>
                  <a:srgbClr val="94A3B8"/>
                </a:solidFill>
                <a:latin typeface="Arial"/>
              </a:defRPr>
            </a:pPr>
            <a:r>
              <a:rPr/>
              <a:t>Gates sensitive hardware &amp; system APIs (Camera, Location, Contacts). Fails if apps request excessive privileges.</a:t>
            </a:r>
            <a:endParaRPr/>
          </a:p>
        </p:txBody>
      </p:sp>
      <p:sp>
        <p:nvSpPr>
          <p:cNvPr id="1156456742" name="Rounded Rectangle 20"/>
          <p:cNvSpPr/>
          <p:nvPr/>
        </p:nvSpPr>
        <p:spPr bwMode="auto">
          <a:xfrm>
            <a:off x="3456432"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38679734" name="Rectangle 21"/>
          <p:cNvSpPr/>
          <p:nvPr/>
        </p:nvSpPr>
        <p:spPr bwMode="auto">
          <a:xfrm>
            <a:off x="3456432" y="2926080"/>
            <a:ext cx="254203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54186120" name="TextBox 22"/>
          <p:cNvSpPr txBox="1"/>
          <p:nvPr/>
        </p:nvSpPr>
        <p:spPr bwMode="auto">
          <a:xfrm>
            <a:off x="3621024" y="3108960"/>
            <a:ext cx="2212848" cy="2560320"/>
          </a:xfrm>
          <a:prstGeom prst="rect">
            <a:avLst/>
          </a:prstGeom>
          <a:noFill/>
        </p:spPr>
        <p:txBody>
          <a:bodyPr wrap="square" lIns="0" tIns="0" rIns="0" bIns="0">
            <a:spAutoFit/>
          </a:bodyPr>
          <a:lstStyle/>
          <a:p>
            <a:pPr>
              <a:spcAft>
                <a:spcPts val="800"/>
              </a:spcAft>
              <a:defRPr sz="1300" b="1">
                <a:solidFill>
                  <a:srgbClr val="38BDF8"/>
                </a:solidFill>
                <a:latin typeface="Arial"/>
              </a:defRPr>
            </a:pPr>
            <a:r>
              <a:rPr/>
              <a:t>2. IPC &amp; Intent Boundary</a:t>
            </a:r>
            <a:endParaRPr/>
          </a:p>
          <a:p>
            <a:pPr>
              <a:spcAft>
                <a:spcPts val="600"/>
              </a:spcAft>
              <a:defRPr sz="1100">
                <a:solidFill>
                  <a:srgbClr val="94A3B8"/>
                </a:solidFill>
                <a:latin typeface="Arial"/>
              </a:defRPr>
            </a:pPr>
            <a:r>
              <a:rPr/>
              <a:t>Governs message passing between distinct apps and components. Fails if exported components trust unvalidated input.</a:t>
            </a:r>
            <a:endParaRPr/>
          </a:p>
        </p:txBody>
      </p:sp>
      <p:sp>
        <p:nvSpPr>
          <p:cNvPr id="1270033723" name="Rounded Rectangle 23"/>
          <p:cNvSpPr/>
          <p:nvPr/>
        </p:nvSpPr>
        <p:spPr bwMode="auto">
          <a:xfrm>
            <a:off x="6181344"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3980629" name="Rectangle 24"/>
          <p:cNvSpPr/>
          <p:nvPr/>
        </p:nvSpPr>
        <p:spPr bwMode="auto">
          <a:xfrm>
            <a:off x="6181344" y="2926080"/>
            <a:ext cx="2542032"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3483658" name="TextBox 25"/>
          <p:cNvSpPr txBox="1"/>
          <p:nvPr/>
        </p:nvSpPr>
        <p:spPr bwMode="auto">
          <a:xfrm>
            <a:off x="6345936" y="3108960"/>
            <a:ext cx="2212848" cy="2560320"/>
          </a:xfrm>
          <a:prstGeom prst="rect">
            <a:avLst/>
          </a:prstGeom>
          <a:noFill/>
        </p:spPr>
        <p:txBody>
          <a:bodyPr wrap="square" lIns="0" tIns="0" rIns="0" bIns="0">
            <a:spAutoFit/>
          </a:bodyPr>
          <a:lstStyle/>
          <a:p>
            <a:pPr>
              <a:spcAft>
                <a:spcPts val="800"/>
              </a:spcAft>
              <a:defRPr sz="1300" b="1">
                <a:solidFill>
                  <a:srgbClr val="FBBF24"/>
                </a:solidFill>
                <a:latin typeface="Arial"/>
              </a:defRPr>
            </a:pPr>
            <a:r>
              <a:rPr/>
              <a:t>3. Storage-at-Rest Boundary</a:t>
            </a:r>
            <a:endParaRPr/>
          </a:p>
          <a:p>
            <a:pPr>
              <a:spcAft>
                <a:spcPts val="600"/>
              </a:spcAft>
              <a:defRPr sz="1100">
                <a:solidFill>
                  <a:srgbClr val="94A3B8"/>
                </a:solidFill>
                <a:latin typeface="Arial"/>
              </a:defRPr>
            </a:pPr>
            <a:r>
              <a:rPr/>
              <a:t>Isolates private SQLite files via Linux UIDs. Fails when plaintext tokens leak via backups, root, or providers.</a:t>
            </a:r>
            <a:endParaRPr/>
          </a:p>
        </p:txBody>
      </p:sp>
      <p:sp>
        <p:nvSpPr>
          <p:cNvPr id="1364568613" name="Rounded Rectangle 26"/>
          <p:cNvSpPr/>
          <p:nvPr/>
        </p:nvSpPr>
        <p:spPr bwMode="auto">
          <a:xfrm>
            <a:off x="8906256" y="2926080"/>
            <a:ext cx="2542032" cy="29260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7996821" name="Rectangle 27"/>
          <p:cNvSpPr/>
          <p:nvPr/>
        </p:nvSpPr>
        <p:spPr bwMode="auto">
          <a:xfrm>
            <a:off x="8906256" y="2926080"/>
            <a:ext cx="2542032"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6752463" name="TextBox 28"/>
          <p:cNvSpPr txBox="1"/>
          <p:nvPr/>
        </p:nvSpPr>
        <p:spPr bwMode="auto">
          <a:xfrm>
            <a:off x="9070848" y="3108960"/>
            <a:ext cx="2212848" cy="2560320"/>
          </a:xfrm>
          <a:prstGeom prst="rect">
            <a:avLst/>
          </a:prstGeom>
          <a:noFill/>
        </p:spPr>
        <p:txBody>
          <a:bodyPr wrap="square" lIns="0" tIns="0" rIns="0" bIns="0">
            <a:spAutoFit/>
          </a:bodyPr>
          <a:lstStyle/>
          <a:p>
            <a:pPr>
              <a:spcAft>
                <a:spcPts val="800"/>
              </a:spcAft>
              <a:defRPr sz="1300" b="1">
                <a:solidFill>
                  <a:srgbClr val="F87171"/>
                </a:solidFill>
                <a:latin typeface="Arial"/>
              </a:defRPr>
            </a:pPr>
            <a:r>
              <a:rPr/>
              <a:t>4. Network Transit Boundary</a:t>
            </a:r>
            <a:endParaRPr/>
          </a:p>
          <a:p>
            <a:pPr>
              <a:spcAft>
                <a:spcPts val="600"/>
              </a:spcAft>
              <a:defRPr sz="1100">
                <a:solidFill>
                  <a:srgbClr val="94A3B8"/>
                </a:solidFill>
                <a:latin typeface="Arial"/>
              </a:defRPr>
            </a:pPr>
            <a:r>
              <a:rPr/>
              <a:t>Protects client-server API payloads. Vulnerable to interception (MITM) if certificate trust is misconfigured.</a:t>
            </a:r>
            <a:endParaRPr/>
          </a:p>
        </p:txBody>
      </p:sp>
      <p:sp>
        <p:nvSpPr>
          <p:cNvPr id="1207222619" name="Rounded Rectangle 29"/>
          <p:cNvSpPr/>
          <p:nvPr/>
        </p:nvSpPr>
        <p:spPr bwMode="auto">
          <a:xfrm>
            <a:off x="731520" y="5989320"/>
            <a:ext cx="10728654" cy="502920"/>
          </a:xfrm>
          <a:prstGeom prst="roundRect">
            <a:avLst>
              <a:gd name="adj" fmla="val 16667"/>
            </a:avLst>
          </a:prstGeom>
          <a:solidFill>
            <a:srgbClr val="131C2E"/>
          </a:solidFill>
          <a:ln w="1270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9527206" name="TextBox 30"/>
          <p:cNvSpPr txBox="1"/>
          <p:nvPr/>
        </p:nvSpPr>
        <p:spPr bwMode="auto">
          <a:xfrm>
            <a:off x="914400" y="6053328"/>
            <a:ext cx="10362895" cy="365760"/>
          </a:xfrm>
          <a:prstGeom prst="rect">
            <a:avLst/>
          </a:prstGeom>
          <a:noFill/>
        </p:spPr>
        <p:txBody>
          <a:bodyPr wrap="square" lIns="0" tIns="0" rIns="0" bIns="0">
            <a:spAutoFit/>
          </a:bodyPr>
          <a:lstStyle/>
          <a:p>
            <a:pPr algn="ctr">
              <a:defRPr sz="1100" b="1">
                <a:solidFill>
                  <a:srgbClr val="F8FAFC"/>
                </a:solidFill>
                <a:latin typeface="Arial"/>
              </a:defRPr>
            </a:pPr>
            <a:r>
              <a:rPr/>
              <a:t>KEY TAKEAWAY: Android security is not a single perimeter — it requires defense-in-depth across all four boundaries.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6403000"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5617312"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SYSTEM ARCHITECTURE</a:t>
            </a:r>
            <a:endParaRPr/>
          </a:p>
          <a:p>
            <a:pPr>
              <a:spcAft>
                <a:spcPts val="200"/>
              </a:spcAft>
              <a:defRPr sz="2600" b="1">
                <a:solidFill>
                  <a:srgbClr val="F8FAFC"/>
                </a:solidFill>
                <a:latin typeface="Arial"/>
              </a:defRPr>
            </a:pPr>
            <a:r>
              <a:rPr/>
              <a:t>Android Security Foundation</a:t>
            </a:r>
            <a:endParaRPr/>
          </a:p>
          <a:p>
            <a:pPr>
              <a:defRPr sz="1300">
                <a:solidFill>
                  <a:srgbClr val="94A3B8"/>
                </a:solidFill>
                <a:latin typeface="Arial"/>
              </a:defRPr>
            </a:pPr>
            <a:r>
              <a:rPr/>
              <a:t>Kernel-Level Sandboxing &amp; Component-Based Isolation</a:t>
            </a:r>
            <a:endParaRPr/>
          </a:p>
        </p:txBody>
      </p:sp>
      <p:sp>
        <p:nvSpPr>
          <p:cNvPr id="378054694" name="Rounded Rectangle 3"/>
          <p:cNvSpPr/>
          <p:nvPr/>
        </p:nvSpPr>
        <p:spPr bwMode="auto">
          <a:xfrm>
            <a:off x="731520" y="1691640"/>
            <a:ext cx="3429000" cy="46634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41312214" name="TextBox 4"/>
          <p:cNvSpPr txBox="1"/>
          <p:nvPr/>
        </p:nvSpPr>
        <p:spPr bwMode="auto">
          <a:xfrm>
            <a:off x="960120" y="1874519"/>
            <a:ext cx="2971800" cy="4297680"/>
          </a:xfrm>
          <a:prstGeom prst="rect">
            <a:avLst/>
          </a:prstGeom>
          <a:noFill/>
        </p:spPr>
        <p:txBody>
          <a:bodyPr wrap="square" lIns="0" tIns="0" rIns="0" bIns="0">
            <a:spAutoFit/>
          </a:bodyPr>
          <a:lstStyle/>
          <a:p>
            <a:pPr>
              <a:spcAft>
                <a:spcPts val="1000"/>
              </a:spcAft>
              <a:defRPr sz="1500" b="1">
                <a:solidFill>
                  <a:srgbClr val="3DDC84"/>
                </a:solidFill>
                <a:latin typeface="Arial"/>
              </a:defRPr>
            </a:pPr>
            <a:r>
              <a:rPr/>
              <a:t>Linux Application Sandbox</a:t>
            </a:r>
            <a:endParaRPr/>
          </a:p>
          <a:p>
            <a:pPr>
              <a:spcAft>
                <a:spcPts val="600"/>
              </a:spcAft>
              <a:defRPr sz="1200">
                <a:solidFill>
                  <a:srgbClr val="F8FAFC"/>
                </a:solidFill>
                <a:latin typeface="Arial"/>
              </a:defRPr>
            </a:pPr>
            <a:r>
              <a:rPr/>
              <a:t>• Per-App Linux UID: Unique immutable UID (e.g. u0_a142) assigned at install time.</a:t>
            </a:r>
            <a:endParaRPr/>
          </a:p>
          <a:p>
            <a:pPr>
              <a:spcAft>
                <a:spcPts val="600"/>
              </a:spcAft>
              <a:defRPr sz="1200">
                <a:solidFill>
                  <a:srgbClr val="F8FAFC"/>
                </a:solidFill>
                <a:latin typeface="Arial"/>
              </a:defRPr>
            </a:pPr>
            <a:r>
              <a:rPr/>
              <a:t>• Process Isolation: Dedicated process per app running an independent ART virtual machine.</a:t>
            </a:r>
            <a:endParaRPr/>
          </a:p>
          <a:p>
            <a:pPr>
              <a:spcAft>
                <a:spcPts val="600"/>
              </a:spcAft>
              <a:defRPr sz="1200">
                <a:solidFill>
                  <a:srgbClr val="F8FAFC"/>
                </a:solidFill>
                <a:latin typeface="Arial"/>
              </a:defRPr>
            </a:pPr>
            <a:r>
              <a:rPr/>
              <a:t>• Kernel File Permissions: App data directories (/data/data/&lt;pkg&gt;) protected by strict 0700 DAC access.</a:t>
            </a:r>
            <a:endParaRPr/>
          </a:p>
          <a:p>
            <a:pPr>
              <a:spcAft>
                <a:spcPts val="600"/>
              </a:spcAft>
              <a:defRPr sz="1200">
                <a:solidFill>
                  <a:srgbClr val="F8FAFC"/>
                </a:solidFill>
                <a:latin typeface="Arial"/>
              </a:defRPr>
            </a:pPr>
            <a:r>
              <a:rPr/>
              <a:t>• Primary OS Boundary: Prevents ordinary third-party apps from reading another app's memory or files.</a:t>
            </a:r>
            <a:endParaRPr/>
          </a:p>
        </p:txBody>
      </p:sp>
      <p:sp>
        <p:nvSpPr>
          <p:cNvPr id="799930105" name="Rounded Rectangle 5"/>
          <p:cNvSpPr/>
          <p:nvPr/>
        </p:nvSpPr>
        <p:spPr bwMode="auto">
          <a:xfrm>
            <a:off x="4379976" y="1691640"/>
            <a:ext cx="342900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2485625" name="TextBox 6"/>
          <p:cNvSpPr txBox="1"/>
          <p:nvPr/>
        </p:nvSpPr>
        <p:spPr bwMode="auto">
          <a:xfrm>
            <a:off x="4608576" y="1874519"/>
            <a:ext cx="2971800" cy="4297680"/>
          </a:xfrm>
          <a:prstGeom prst="rect">
            <a:avLst/>
          </a:prstGeom>
          <a:noFill/>
        </p:spPr>
        <p:txBody>
          <a:bodyPr wrap="square" lIns="0" tIns="0" rIns="0" bIns="0">
            <a:spAutoFit/>
          </a:bodyPr>
          <a:lstStyle/>
          <a:p>
            <a:pPr>
              <a:spcAft>
                <a:spcPts val="1000"/>
              </a:spcAft>
              <a:defRPr sz="1500" b="1">
                <a:solidFill>
                  <a:srgbClr val="38BDF8"/>
                </a:solidFill>
                <a:latin typeface="Arial"/>
              </a:defRPr>
            </a:pPr>
            <a:r>
              <a:rPr/>
              <a:t>The 4 Core Components</a:t>
            </a:r>
            <a:endParaRPr/>
          </a:p>
          <a:p>
            <a:pPr>
              <a:spcAft>
                <a:spcPts val="600"/>
              </a:spcAft>
              <a:defRPr sz="1200">
                <a:solidFill>
                  <a:srgbClr val="F8FAFC"/>
                </a:solidFill>
                <a:latin typeface="Arial"/>
              </a:defRPr>
            </a:pPr>
            <a:r>
              <a:rPr/>
              <a:t>• Activity: Interactive visual screens and UI workflows.</a:t>
            </a:r>
            <a:endParaRPr/>
          </a:p>
          <a:p>
            <a:pPr>
              <a:spcAft>
                <a:spcPts val="600"/>
              </a:spcAft>
              <a:defRPr sz="1200">
                <a:solidFill>
                  <a:srgbClr val="F8FAFC"/>
                </a:solidFill>
                <a:latin typeface="Arial"/>
              </a:defRPr>
            </a:pPr>
            <a:r>
              <a:rPr/>
              <a:t>• Service: Background operations without direct UI (sync, audio).</a:t>
            </a:r>
            <a:endParaRPr/>
          </a:p>
          <a:p>
            <a:pPr>
              <a:spcAft>
                <a:spcPts val="600"/>
              </a:spcAft>
              <a:defRPr sz="1200">
                <a:solidFill>
                  <a:srgbClr val="F8FAFC"/>
                </a:solidFill>
                <a:latin typeface="Arial"/>
              </a:defRPr>
            </a:pPr>
            <a:r>
              <a:rPr/>
              <a:t>• BroadcastReceiver: Asynchronous listeners for system-wide or app broadcasts.</a:t>
            </a:r>
            <a:endParaRPr/>
          </a:p>
          <a:p>
            <a:pPr>
              <a:spcAft>
                <a:spcPts val="600"/>
              </a:spcAft>
              <a:defRPr sz="1200">
                <a:solidFill>
                  <a:srgbClr val="F8FAFC"/>
                </a:solidFill>
                <a:latin typeface="Arial"/>
              </a:defRPr>
            </a:pPr>
            <a:r>
              <a:rPr/>
              <a:t>• ContentProvider: Structured data interface abstracting SQLite access for IPC.</a:t>
            </a:r>
            <a:endParaRPr/>
          </a:p>
        </p:txBody>
      </p:sp>
      <p:sp>
        <p:nvSpPr>
          <p:cNvPr id="419599758" name="Rounded Rectangle 7"/>
          <p:cNvSpPr/>
          <p:nvPr/>
        </p:nvSpPr>
        <p:spPr bwMode="auto">
          <a:xfrm>
            <a:off x="8028432" y="1691640"/>
            <a:ext cx="3429000" cy="46634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8544892" name="TextBox 8"/>
          <p:cNvSpPr txBox="1"/>
          <p:nvPr/>
        </p:nvSpPr>
        <p:spPr bwMode="auto">
          <a:xfrm>
            <a:off x="8257032" y="1874519"/>
            <a:ext cx="2971800" cy="4297680"/>
          </a:xfrm>
          <a:prstGeom prst="rect">
            <a:avLst/>
          </a:prstGeom>
          <a:noFill/>
        </p:spPr>
        <p:txBody>
          <a:bodyPr wrap="square" lIns="0" tIns="0" rIns="0" bIns="0">
            <a:spAutoFit/>
          </a:bodyPr>
          <a:lstStyle/>
          <a:p>
            <a:pPr>
              <a:spcAft>
                <a:spcPts val="1000"/>
              </a:spcAft>
              <a:defRPr sz="1500" b="1">
                <a:solidFill>
                  <a:srgbClr val="FBBF24"/>
                </a:solidFill>
                <a:latin typeface="Arial"/>
              </a:defRPr>
            </a:pPr>
            <a:r>
              <a:rPr/>
              <a:t>AndroidManifest.xml Authority</a:t>
            </a:r>
            <a:endParaRPr/>
          </a:p>
          <a:p>
            <a:pPr>
              <a:spcAft>
                <a:spcPts val="600"/>
              </a:spcAft>
              <a:defRPr sz="1200">
                <a:solidFill>
                  <a:srgbClr val="F8FAFC"/>
                </a:solidFill>
                <a:latin typeface="Arial"/>
              </a:defRPr>
            </a:pPr>
            <a:r>
              <a:rPr/>
              <a:t>• Authoritative Contract: Root declaration of components, permissions, and security policies.</a:t>
            </a:r>
            <a:endParaRPr/>
          </a:p>
          <a:p>
            <a:pPr>
              <a:spcAft>
                <a:spcPts val="600"/>
              </a:spcAft>
              <a:defRPr sz="1200">
                <a:solidFill>
                  <a:srgbClr val="F8FAFC"/>
                </a:solidFill>
                <a:latin typeface="Arial"/>
              </a:defRPr>
            </a:pPr>
            <a:r>
              <a:rPr/>
              <a:t>• Component Exposure: The android:exported attribute dictates accessibility to external apps.</a:t>
            </a:r>
            <a:endParaRPr/>
          </a:p>
          <a:p>
            <a:pPr>
              <a:spcAft>
                <a:spcPts val="600"/>
              </a:spcAft>
              <a:defRPr sz="1200">
                <a:solidFill>
                  <a:srgbClr val="F8FAFC"/>
                </a:solidFill>
                <a:latin typeface="Arial"/>
              </a:defRPr>
            </a:pPr>
            <a:r>
              <a:rPr/>
              <a:t>• Permission Enforcement: Gates access via &lt;uses-permission&gt; and signature security checks.</a:t>
            </a:r>
            <a:endParaRPr/>
          </a:p>
          <a:p>
            <a:pPr>
              <a:spcAft>
                <a:spcPts val="600"/>
              </a:spcAft>
              <a:defRPr sz="1200">
                <a:solidFill>
                  <a:srgbClr val="F8FAFC"/>
                </a:solidFill>
                <a:latin typeface="Arial"/>
              </a:defRPr>
            </a:pPr>
            <a:r>
              <a:rPr/>
              <a:t>• Central Attack Surface: A single misconfiguration here can compromise the entire sandbox boundary.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3320376"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544529"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ACCESS CONTROL &amp; GOVERNANCE</a:t>
            </a:r>
            <a:endParaRPr/>
          </a:p>
          <a:p>
            <a:pPr>
              <a:spcAft>
                <a:spcPts val="200"/>
              </a:spcAft>
              <a:defRPr sz="2600" b="1">
                <a:solidFill>
                  <a:srgbClr val="F8FAFC"/>
                </a:solidFill>
                <a:latin typeface="Arial"/>
              </a:defRPr>
            </a:pPr>
            <a:r>
              <a:rPr/>
              <a:t>Permission Model &amp; AndroidManifest.xml</a:t>
            </a:r>
            <a:endParaRPr/>
          </a:p>
          <a:p>
            <a:pPr>
              <a:defRPr sz="1300">
                <a:solidFill>
                  <a:srgbClr val="94A3B8"/>
                </a:solidFill>
                <a:latin typeface="Arial"/>
              </a:defRPr>
            </a:pPr>
            <a:r>
              <a:rPr/>
              <a:t>Granular Access Governance &amp; The Principle of Least Privilege</a:t>
            </a:r>
            <a:endParaRPr/>
          </a:p>
        </p:txBody>
      </p:sp>
      <p:sp>
        <p:nvSpPr>
          <p:cNvPr id="737541121" name="Rounded Rectangle 3"/>
          <p:cNvSpPr/>
          <p:nvPr/>
        </p:nvSpPr>
        <p:spPr bwMode="auto">
          <a:xfrm>
            <a:off x="731520" y="1691640"/>
            <a:ext cx="521208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17929552" name="TextBox 4"/>
          <p:cNvSpPr txBox="1"/>
          <p:nvPr/>
        </p:nvSpPr>
        <p:spPr bwMode="auto">
          <a:xfrm>
            <a:off x="1093804" y="1874518"/>
            <a:ext cx="4754880" cy="4297680"/>
          </a:xfrm>
          <a:prstGeom prst="rect">
            <a:avLst/>
          </a:prstGeom>
          <a:noFill/>
        </p:spPr>
        <p:txBody>
          <a:bodyPr wrap="square" lIns="0" tIns="0" rIns="0" bIns="0">
            <a:spAutoFit/>
          </a:bodyPr>
          <a:lstStyle/>
          <a:p>
            <a:pPr>
              <a:spcAft>
                <a:spcPts val="800"/>
              </a:spcAft>
              <a:defRPr sz="1500" b="1">
                <a:solidFill>
                  <a:srgbClr val="38BDF8"/>
                </a:solidFill>
                <a:latin typeface="Arial"/>
              </a:defRPr>
            </a:pPr>
            <a:r>
              <a:rPr/>
              <a:t>Permission Protection Levels</a:t>
            </a:r>
            <a:endParaRPr/>
          </a:p>
          <a:p>
            <a:pPr>
              <a:spcAft>
                <a:spcPts val="600"/>
              </a:spcAft>
              <a:defRPr sz="1100">
                <a:solidFill>
                  <a:srgbClr val="94A3B8"/>
                </a:solidFill>
                <a:latin typeface="Arial"/>
              </a:defRPr>
            </a:pPr>
            <a:r>
              <a:rPr/>
              <a:t>• Normal (Install-Time): Minimal risk capabilities (e.g. INTERNET, ACCESS_NETWORK_STATE). Automatically granted by OS upon installation without user prompting.</a:t>
            </a:r>
            <a:endParaRPr/>
          </a:p>
          <a:p>
            <a:pPr>
              <a:spcAft>
                <a:spcPts val="600"/>
              </a:spcAft>
              <a:defRPr sz="1100">
                <a:solidFill>
                  <a:srgbClr val="94A3B8"/>
                </a:solidFill>
                <a:latin typeface="Arial"/>
              </a:defRPr>
            </a:pPr>
            <a:r>
              <a:rPr/>
              <a:t>• Dangerous (Runtime): Accesses sensitive personal data or hardware (e.g. CAMERA, READ_CONTACTS, ACCESS_FINE_LOCATION). Requires explicit runtime dialog approval from the user.</a:t>
            </a:r>
            <a:endParaRPr/>
          </a:p>
          <a:p>
            <a:pPr>
              <a:spcAft>
                <a:spcPts val="600"/>
              </a:spcAft>
              <a:defRPr sz="1100">
                <a:solidFill>
                  <a:srgbClr val="94A3B8"/>
                </a:solidFill>
                <a:latin typeface="Arial"/>
              </a:defRPr>
            </a:pPr>
            <a:r>
              <a:rPr/>
              <a:t>• Signature: Highest protection level. Granted automatically ONLY if the requesting app is signed by the exact same developer certificate as the declaring app.</a:t>
            </a:r>
            <a:endParaRPr/>
          </a:p>
          <a:p>
            <a:pPr>
              <a:spcAft>
                <a:spcPts val="600"/>
              </a:spcAft>
              <a:defRPr sz="1100">
                <a:solidFill>
                  <a:srgbClr val="94A3B8"/>
                </a:solidFill>
                <a:latin typeface="Arial"/>
              </a:defRPr>
            </a:pPr>
            <a:r>
              <a:rPr/>
              <a:t>• Special / Privileged: System-level permissions (e.g. SYSTEM_ALERT_WINDOW, WRITE_SETTINGS). Requires manual activation in device system settings.</a:t>
            </a:r>
            <a:endParaRPr/>
          </a:p>
        </p:txBody>
      </p:sp>
      <p:sp>
        <p:nvSpPr>
          <p:cNvPr id="683410451" name="Rounded Rectangle 5"/>
          <p:cNvSpPr/>
          <p:nvPr/>
        </p:nvSpPr>
        <p:spPr bwMode="auto">
          <a:xfrm>
            <a:off x="6217920" y="1691640"/>
            <a:ext cx="5242255" cy="46634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497280" name="TextBox 6"/>
          <p:cNvSpPr txBox="1"/>
          <p:nvPr/>
        </p:nvSpPr>
        <p:spPr bwMode="auto">
          <a:xfrm>
            <a:off x="6583680" y="1874518"/>
            <a:ext cx="4785055" cy="4297680"/>
          </a:xfrm>
          <a:prstGeom prst="rect">
            <a:avLst/>
          </a:prstGeom>
          <a:noFill/>
        </p:spPr>
        <p:txBody>
          <a:bodyPr wrap="square" lIns="0" tIns="0" rIns="0" bIns="0">
            <a:spAutoFit/>
          </a:bodyPr>
          <a:lstStyle/>
          <a:p>
            <a:pPr>
              <a:spcAft>
                <a:spcPts val="800"/>
              </a:spcAft>
              <a:defRPr sz="1500" b="1">
                <a:solidFill>
                  <a:srgbClr val="3DDC84"/>
                </a:solidFill>
                <a:latin typeface="Arial"/>
              </a:defRPr>
            </a:pPr>
            <a:r>
              <a:rPr/>
              <a:t>The android:exported Gateway</a:t>
            </a:r>
            <a:endParaRPr/>
          </a:p>
          <a:p>
            <a:pPr>
              <a:spcAft>
                <a:spcPts val="500"/>
              </a:spcAft>
              <a:defRPr sz="1150">
                <a:solidFill>
                  <a:srgbClr val="F8FAFC"/>
                </a:solidFill>
                <a:latin typeface="Arial"/>
              </a:defRPr>
            </a:pPr>
            <a:r>
              <a:rPr/>
              <a:t>• exported="false": Component is not available to other applications through normal external component launching.</a:t>
            </a:r>
            <a:endParaRPr/>
          </a:p>
          <a:p>
            <a:pPr>
              <a:spcAft>
                <a:spcPts val="600"/>
              </a:spcAft>
              <a:defRPr sz="1150">
                <a:solidFill>
                  <a:srgbClr val="F8FAFC"/>
                </a:solidFill>
                <a:latin typeface="Arial"/>
              </a:defRPr>
            </a:pPr>
            <a:r>
              <a:rPr/>
              <a:t>• exported="true": Allows the component to be reached by other applications, subject to any additional permission or access-control requirements.</a:t>
            </a:r>
            <a:endParaRPr/>
          </a:p>
          <a:p>
            <a:pPr>
              <a:spcAft>
                <a:spcPts val="800"/>
              </a:spcAft>
              <a:defRPr sz="1150">
                <a:solidFill>
                  <a:srgbClr val="F8FAFC"/>
                </a:solidFill>
                <a:latin typeface="Arial"/>
              </a:defRPr>
            </a:pPr>
            <a:r>
              <a:rPr/>
              <a:t>• Android 12+ Explicit Mandate: Any Activity, Service, or Receiver with intent filters MUST declare android:exported explicitly.</a:t>
            </a:r>
            <a:endParaRPr/>
          </a:p>
          <a:p>
            <a:pPr>
              <a:defRPr sz="1150">
                <a:solidFill>
                  <a:srgbClr val="F8FAFC"/>
                </a:solidFill>
                <a:latin typeface="Arial"/>
              </a:defRPr>
            </a:pPr>
            <a:r>
              <a:rPr/>
              <a:t>• Key Rule: Exported does not automatically mean vulnerable. Vulnerability occurs when externally reachable endpoints lack caller authorization or input validation.</a:t>
            </a:r>
            <a:endParaRPr/>
          </a:p>
        </p:txBody>
      </p:sp>
      <p:sp>
        <p:nvSpPr>
          <p:cNvPr id="1025023443" name="Rounded Rectangle 7"/>
          <p:cNvSpPr/>
          <p:nvPr/>
        </p:nvSpPr>
        <p:spPr bwMode="auto">
          <a:xfrm>
            <a:off x="6446520" y="4297680"/>
            <a:ext cx="4785055" cy="1051560"/>
          </a:xfrm>
          <a:prstGeom prst="roundRect">
            <a:avLst>
              <a:gd name="adj" fmla="val 16667"/>
            </a:avLst>
          </a:prstGeom>
          <a:solidFill>
            <a:srgbClr val="080D1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0056927" name="TextBox 8"/>
          <p:cNvSpPr txBox="1"/>
          <p:nvPr/>
        </p:nvSpPr>
        <p:spPr bwMode="auto">
          <a:xfrm>
            <a:off x="6583680" y="4407408"/>
            <a:ext cx="4510735" cy="832104"/>
          </a:xfrm>
          <a:prstGeom prst="rect">
            <a:avLst/>
          </a:prstGeom>
          <a:noFill/>
        </p:spPr>
        <p:txBody>
          <a:bodyPr wrap="square" lIns="0" tIns="0" rIns="0" bIns="0">
            <a:spAutoFit/>
          </a:bodyPr>
          <a:lstStyle/>
          <a:p>
            <a:pPr>
              <a:defRPr sz="1100">
                <a:solidFill>
                  <a:srgbClr val="38BDF8"/>
                </a:solidFill>
                <a:latin typeface="Consolas"/>
              </a:defRPr>
            </a:pPr>
            <a:r>
              <a:rPr/>
              <a:t>&lt;!-- Secure Internal Component Declaration --&gt;</a:t>
            </a:r>
            <a:br>
              <a:rPr/>
            </a:br>
            <a:r>
              <a:rPr/>
              <a:t>&lt;activity</a:t>
            </a:r>
            <a:br>
              <a:rPr/>
            </a:br>
            <a:r>
              <a:rPr/>
              <a:t>    android:name=".InternalAdminActivity"</a:t>
            </a:r>
            <a:br>
              <a:rPr/>
            </a:br>
            <a:r>
              <a:rPr/>
              <a:t>    android:exported="false" /&gt;</a:t>
            </a:r>
            <a:endParaRPr/>
          </a:p>
        </p:txBody>
      </p:sp>
      <p:sp>
        <p:nvSpPr>
          <p:cNvPr id="1917805334" name="TextBox 9"/>
          <p:cNvSpPr txBox="1"/>
          <p:nvPr/>
        </p:nvSpPr>
        <p:spPr bwMode="auto">
          <a:xfrm>
            <a:off x="6583680" y="5532119"/>
            <a:ext cx="4785055" cy="640080"/>
          </a:xfrm>
          <a:prstGeom prst="rect">
            <a:avLst/>
          </a:prstGeom>
          <a:noFill/>
        </p:spPr>
        <p:txBody>
          <a:bodyPr wrap="square" lIns="0" tIns="0" rIns="0" bIns="0">
            <a:spAutoFit/>
          </a:bodyPr>
          <a:lstStyle/>
          <a:p>
            <a:pPr>
              <a:defRPr sz="1100" b="1">
                <a:solidFill>
                  <a:srgbClr val="F8FAFC"/>
                </a:solidFill>
                <a:latin typeface="Arial"/>
              </a:defRPr>
            </a:pPr>
            <a:r>
              <a:rPr/>
              <a:t>Principle of Least Privilege: Keep components non-exported unless public access is strictly required, and protect exported components with appropriate permissions.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4848639"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5218406"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INTER-PROCESS COMMUNICATION</a:t>
            </a:r>
            <a:endParaRPr/>
          </a:p>
          <a:p>
            <a:pPr>
              <a:spcAft>
                <a:spcPts val="200"/>
              </a:spcAft>
              <a:defRPr sz="2600" b="1">
                <a:solidFill>
                  <a:srgbClr val="F8FAFC"/>
                </a:solidFill>
                <a:latin typeface="Arial"/>
              </a:defRPr>
            </a:pPr>
            <a:r>
              <a:rPr/>
              <a:t>Android Intents &amp; IPC Mechanics</a:t>
            </a:r>
            <a:endParaRPr/>
          </a:p>
          <a:p>
            <a:pPr>
              <a:defRPr sz="1300">
                <a:solidFill>
                  <a:srgbClr val="94A3B8"/>
                </a:solidFill>
                <a:latin typeface="Arial"/>
              </a:defRPr>
            </a:pPr>
            <a:r>
              <a:rPr/>
              <a:t>Message-Passing Channels Crossing Security Trust Boundaries</a:t>
            </a:r>
            <a:endParaRPr/>
          </a:p>
        </p:txBody>
      </p:sp>
      <p:sp>
        <p:nvSpPr>
          <p:cNvPr id="63140432" name="Rounded Rectangle 3"/>
          <p:cNvSpPr/>
          <p:nvPr/>
        </p:nvSpPr>
        <p:spPr bwMode="auto">
          <a:xfrm>
            <a:off x="731520" y="1691640"/>
            <a:ext cx="5212080" cy="246888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4503471" name="TextBox 4"/>
          <p:cNvSpPr txBox="1"/>
          <p:nvPr/>
        </p:nvSpPr>
        <p:spPr bwMode="auto">
          <a:xfrm>
            <a:off x="960120" y="1828800"/>
            <a:ext cx="4754880" cy="2194560"/>
          </a:xfrm>
          <a:prstGeom prst="rect">
            <a:avLst/>
          </a:prstGeom>
          <a:noFill/>
        </p:spPr>
        <p:txBody>
          <a:bodyPr wrap="square" lIns="0" tIns="0" rIns="0" bIns="0">
            <a:spAutoFit/>
          </a:bodyPr>
          <a:lstStyle/>
          <a:p>
            <a:pPr>
              <a:spcAft>
                <a:spcPts val="600"/>
              </a:spcAft>
              <a:defRPr sz="1400" b="1">
                <a:solidFill>
                  <a:srgbClr val="3DDC84"/>
                </a:solidFill>
                <a:latin typeface="Arial"/>
              </a:defRPr>
            </a:pPr>
            <a:r>
              <a:rPr/>
              <a:t>Explicit Intent (Targeted Component)</a:t>
            </a:r>
            <a:endParaRPr/>
          </a:p>
          <a:p>
            <a:pPr>
              <a:spcAft>
                <a:spcPts val="400"/>
              </a:spcAft>
              <a:defRPr sz="1200">
                <a:solidFill>
                  <a:srgbClr val="F8FAFC"/>
                </a:solidFill>
                <a:latin typeface="Arial"/>
              </a:defRPr>
            </a:pPr>
            <a:r>
              <a:rPr/>
              <a:t>• Direct Binding: Specifies the exact target class (e.g. Intent(context, TargetActivity::class.java)).</a:t>
            </a:r>
            <a:endParaRPr/>
          </a:p>
          <a:p>
            <a:pPr>
              <a:spcAft>
                <a:spcPts val="400"/>
              </a:spcAft>
              <a:defRPr sz="1200">
                <a:solidFill>
                  <a:srgbClr val="F8FAFC"/>
                </a:solidFill>
                <a:latin typeface="Arial"/>
              </a:defRPr>
            </a:pPr>
            <a:r>
              <a:rPr/>
              <a:t>• Target Scope: Commonly used for internal navigation; can also target known components in another application.</a:t>
            </a:r>
            <a:endParaRPr/>
          </a:p>
          <a:p>
            <a:pPr>
              <a:defRPr sz="1200">
                <a:solidFill>
                  <a:srgbClr val="F8FAFC"/>
                </a:solidFill>
                <a:latin typeface="Arial"/>
              </a:defRPr>
            </a:pPr>
            <a:r>
              <a:rPr/>
              <a:t>• Interception Reduction: Avoids implicit component resolution, significantly reducing intent-interception risk.</a:t>
            </a:r>
            <a:endParaRPr/>
          </a:p>
        </p:txBody>
      </p:sp>
      <p:sp>
        <p:nvSpPr>
          <p:cNvPr id="1247876479" name="Rounded Rectangle 5"/>
          <p:cNvSpPr/>
          <p:nvPr/>
        </p:nvSpPr>
        <p:spPr bwMode="auto">
          <a:xfrm>
            <a:off x="6217920" y="1691640"/>
            <a:ext cx="5212080" cy="246888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4839679" name="TextBox 6"/>
          <p:cNvSpPr txBox="1"/>
          <p:nvPr/>
        </p:nvSpPr>
        <p:spPr bwMode="auto">
          <a:xfrm>
            <a:off x="6446520" y="1828800"/>
            <a:ext cx="4754880" cy="2194560"/>
          </a:xfrm>
          <a:prstGeom prst="rect">
            <a:avLst/>
          </a:prstGeom>
          <a:noFill/>
        </p:spPr>
        <p:txBody>
          <a:bodyPr wrap="square" lIns="0" tIns="0" rIns="0" bIns="0">
            <a:spAutoFit/>
          </a:bodyPr>
          <a:lstStyle/>
          <a:p>
            <a:pPr>
              <a:spcAft>
                <a:spcPts val="600"/>
              </a:spcAft>
              <a:defRPr sz="1400" b="1">
                <a:solidFill>
                  <a:srgbClr val="FBBF24"/>
                </a:solidFill>
                <a:latin typeface="Arial"/>
              </a:defRPr>
            </a:pPr>
            <a:r>
              <a:rPr/>
              <a:t>Implicit Intent (Dynamic Resolution)</a:t>
            </a:r>
            <a:endParaRPr/>
          </a:p>
          <a:p>
            <a:pPr>
              <a:spcAft>
                <a:spcPts val="400"/>
              </a:spcAft>
              <a:defRPr sz="1200">
                <a:solidFill>
                  <a:srgbClr val="F8FAFC"/>
                </a:solidFill>
                <a:latin typeface="Arial"/>
              </a:defRPr>
            </a:pPr>
            <a:r>
              <a:rPr/>
              <a:t>• Dynamic Resolution: Specifies Action (e.g. ACTION_VIEW) and Data URI without naming a target class.</a:t>
            </a:r>
            <a:endParaRPr/>
          </a:p>
          <a:p>
            <a:pPr>
              <a:spcAft>
                <a:spcPts val="400"/>
              </a:spcAft>
              <a:defRPr sz="1200">
                <a:solidFill>
                  <a:srgbClr val="F8FAFC"/>
                </a:solidFill>
                <a:latin typeface="Arial"/>
              </a:defRPr>
            </a:pPr>
            <a:r>
              <a:rPr/>
              <a:t>• Intent Filters: Android Package Manager dynamically matches intent against declared &lt;intent-filter&gt; tags across installed apps.</a:t>
            </a:r>
            <a:endParaRPr/>
          </a:p>
          <a:p>
            <a:pPr>
              <a:defRPr sz="1200">
                <a:solidFill>
                  <a:srgbClr val="F8FAFC"/>
                </a:solidFill>
                <a:latin typeface="Arial"/>
              </a:defRPr>
            </a:pPr>
            <a:r>
              <a:rPr/>
              <a:t>• Security Risk: Unintended third-party applications can register matching filters to intercept or spoof data.</a:t>
            </a:r>
            <a:endParaRPr/>
          </a:p>
        </p:txBody>
      </p:sp>
      <p:sp>
        <p:nvSpPr>
          <p:cNvPr id="2043011415" name="Rounded Rectangle 7"/>
          <p:cNvSpPr/>
          <p:nvPr/>
        </p:nvSpPr>
        <p:spPr bwMode="auto">
          <a:xfrm>
            <a:off x="731520" y="4343400"/>
            <a:ext cx="10728654" cy="2011680"/>
          </a:xfrm>
          <a:prstGeom prst="roundRect">
            <a:avLst>
              <a:gd name="adj" fmla="val 16667"/>
            </a:avLst>
          </a:prstGeom>
          <a:solidFill>
            <a:srgbClr val="0E1626"/>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4645819" name="TextBox 8"/>
          <p:cNvSpPr txBox="1"/>
          <p:nvPr/>
        </p:nvSpPr>
        <p:spPr bwMode="auto">
          <a:xfrm>
            <a:off x="960120" y="4480560"/>
            <a:ext cx="10271455" cy="1737360"/>
          </a:xfrm>
          <a:prstGeom prst="rect">
            <a:avLst/>
          </a:prstGeom>
          <a:noFill/>
        </p:spPr>
        <p:txBody>
          <a:bodyPr wrap="square" lIns="0" tIns="0" rIns="0" bIns="0">
            <a:spAutoFit/>
          </a:bodyPr>
          <a:lstStyle/>
          <a:p>
            <a:pPr>
              <a:spcAft>
                <a:spcPts val="600"/>
              </a:spcAft>
              <a:defRPr sz="1400" b="1">
                <a:solidFill>
                  <a:srgbClr val="38BDF8"/>
                </a:solidFill>
                <a:latin typeface="Arial"/>
              </a:defRPr>
            </a:pPr>
            <a:r>
              <a:rPr/>
              <a:t>Intent Payload Anatomy &amp; The IPC Trust Boundary</a:t>
            </a:r>
            <a:endParaRPr/>
          </a:p>
          <a:p>
            <a:pPr>
              <a:spcAft>
                <a:spcPts val="300"/>
              </a:spcAft>
              <a:defRPr sz="1100">
                <a:solidFill>
                  <a:srgbClr val="94A3B8"/>
                </a:solidFill>
                <a:latin typeface="Arial"/>
              </a:defRPr>
            </a:pPr>
            <a:r>
              <a:rPr/>
              <a:t>• Action &amp; Data: Defines what operation is requested and what resource (URI) is targeted.</a:t>
            </a:r>
            <a:endParaRPr/>
          </a:p>
          <a:p>
            <a:pPr>
              <a:spcAft>
                <a:spcPts val="600"/>
              </a:spcAft>
              <a:defRPr sz="1100" b="1">
                <a:solidFill>
                  <a:srgbClr val="FBBF24"/>
                </a:solidFill>
                <a:latin typeface="Arial"/>
              </a:defRPr>
            </a:pPr>
            <a:r>
              <a:rPr/>
              <a:t>• Extras Bundle: Key-value data carrier. Critically, extras can contain serialized Parcelable objects — including NESTED INTENTS!</a:t>
            </a:r>
            <a:endParaRPr/>
          </a:p>
        </p:txBody>
      </p:sp>
      <p:sp>
        <p:nvSpPr>
          <p:cNvPr id="316623431" name="Rounded Rectangle 9"/>
          <p:cNvSpPr/>
          <p:nvPr/>
        </p:nvSpPr>
        <p:spPr bwMode="auto">
          <a:xfrm>
            <a:off x="960120" y="5394960"/>
            <a:ext cx="10241280" cy="777240"/>
          </a:xfrm>
          <a:prstGeom prst="roundRect">
            <a:avLst>
              <a:gd name="adj" fmla="val 16667"/>
            </a:avLst>
          </a:prstGeom>
          <a:solidFill>
            <a:srgbClr val="1A1524"/>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6647058" name="TextBox 10"/>
          <p:cNvSpPr txBox="1"/>
          <p:nvPr/>
        </p:nvSpPr>
        <p:spPr bwMode="auto">
          <a:xfrm>
            <a:off x="1097280" y="5468112"/>
            <a:ext cx="9966960" cy="640080"/>
          </a:xfrm>
          <a:prstGeom prst="rect">
            <a:avLst/>
          </a:prstGeom>
          <a:noFill/>
        </p:spPr>
        <p:txBody>
          <a:bodyPr wrap="square" lIns="0" tIns="0" rIns="0" bIns="0">
            <a:spAutoFit/>
          </a:bodyPr>
          <a:lstStyle/>
          <a:p>
            <a:pPr>
              <a:defRPr sz="1200" b="1">
                <a:solidFill>
                  <a:srgbClr val="F87171"/>
                </a:solidFill>
                <a:latin typeface="Arial"/>
              </a:defRPr>
            </a:pPr>
            <a:r>
              <a:rPr/>
              <a:t>CRITICAL SECURITY PRINCIPLE: When Intent data crosses an application boundary, treat externally controlled fields as untrusted input requiring strict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5082589"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73489720"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VULNERABILITY MECHANICS</a:t>
            </a:r>
            <a:endParaRPr/>
          </a:p>
          <a:p>
            <a:pPr>
              <a:spcAft>
                <a:spcPts val="200"/>
              </a:spcAft>
              <a:defRPr sz="2600" b="1">
                <a:solidFill>
                  <a:srgbClr val="F8FAFC"/>
                </a:solidFill>
                <a:latin typeface="Arial"/>
              </a:defRPr>
            </a:pPr>
            <a:r>
              <a:rPr/>
              <a:t>Attack #1: Intent Injection &amp; Redirection</a:t>
            </a:r>
            <a:endParaRPr/>
          </a:p>
          <a:p>
            <a:pPr>
              <a:defRPr sz="1300">
                <a:solidFill>
                  <a:srgbClr val="94A3B8"/>
                </a:solidFill>
                <a:latin typeface="Arial"/>
              </a:defRPr>
            </a:pPr>
            <a:r>
              <a:rPr/>
              <a:t>Confused Deputy Exploitation via Unvalidated Intent Forwarding</a:t>
            </a:r>
            <a:endParaRPr/>
          </a:p>
        </p:txBody>
      </p:sp>
      <p:sp>
        <p:nvSpPr>
          <p:cNvPr id="1054624345" name="Rounded Rectangle 3"/>
          <p:cNvSpPr/>
          <p:nvPr/>
        </p:nvSpPr>
        <p:spPr bwMode="auto">
          <a:xfrm>
            <a:off x="731520" y="1691640"/>
            <a:ext cx="2423160" cy="118872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5765792" name="TextBox 4"/>
          <p:cNvSpPr txBox="1"/>
          <p:nvPr/>
        </p:nvSpPr>
        <p:spPr bwMode="auto">
          <a:xfrm>
            <a:off x="822960" y="1801367"/>
            <a:ext cx="2240280" cy="969264"/>
          </a:xfrm>
          <a:prstGeom prst="rect">
            <a:avLst/>
          </a:prstGeom>
          <a:noFill/>
        </p:spPr>
        <p:txBody>
          <a:bodyPr wrap="square" lIns="0" tIns="0" rIns="0" bIns="0">
            <a:spAutoFit/>
          </a:bodyPr>
          <a:lstStyle/>
          <a:p>
            <a:pPr algn="ctr">
              <a:spcAft>
                <a:spcPts val="200"/>
              </a:spcAft>
              <a:defRPr sz="1200" b="1">
                <a:solidFill>
                  <a:srgbClr val="F87171"/>
                </a:solidFill>
                <a:latin typeface="Arial"/>
              </a:defRPr>
            </a:pPr>
            <a:r>
              <a:rPr/>
              <a:t>1. Attacker App</a:t>
            </a:r>
            <a:endParaRPr/>
          </a:p>
          <a:p>
            <a:pPr algn="ctr">
              <a:defRPr sz="1000">
                <a:solidFill>
                  <a:srgbClr val="94A3B8"/>
                </a:solidFill>
                <a:latin typeface="Arial"/>
              </a:defRPr>
            </a:pPr>
            <a:r>
              <a:rPr/>
              <a:t>Crafts malicious Intent</a:t>
            </a:r>
            <a:br>
              <a:rPr/>
            </a:br>
            <a:r>
              <a:rPr/>
              <a:t>with nested target Intent</a:t>
            </a:r>
            <a:endParaRPr/>
          </a:p>
        </p:txBody>
      </p:sp>
      <p:sp>
        <p:nvSpPr>
          <p:cNvPr id="837719176" name="TextBox 5"/>
          <p:cNvSpPr txBox="1"/>
          <p:nvPr/>
        </p:nvSpPr>
        <p:spPr bwMode="auto">
          <a:xfrm>
            <a:off x="3154680" y="2057400"/>
            <a:ext cx="338328" cy="36576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123912857" name="Rounded Rectangle 6"/>
          <p:cNvSpPr/>
          <p:nvPr/>
        </p:nvSpPr>
        <p:spPr bwMode="auto">
          <a:xfrm>
            <a:off x="3493008" y="1691640"/>
            <a:ext cx="2423160" cy="118872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9190213" name="TextBox 7"/>
          <p:cNvSpPr txBox="1"/>
          <p:nvPr/>
        </p:nvSpPr>
        <p:spPr bwMode="auto">
          <a:xfrm>
            <a:off x="3584448" y="1801367"/>
            <a:ext cx="2240280" cy="969264"/>
          </a:xfrm>
          <a:prstGeom prst="rect">
            <a:avLst/>
          </a:prstGeom>
          <a:noFill/>
        </p:spPr>
        <p:txBody>
          <a:bodyPr wrap="square" lIns="0" tIns="0" rIns="0" bIns="0">
            <a:spAutoFit/>
          </a:bodyPr>
          <a:lstStyle/>
          <a:p>
            <a:pPr algn="ctr">
              <a:spcAft>
                <a:spcPts val="200"/>
              </a:spcAft>
              <a:defRPr sz="1200" b="1">
                <a:solidFill>
                  <a:srgbClr val="FBBF24"/>
                </a:solidFill>
                <a:latin typeface="Arial"/>
              </a:defRPr>
            </a:pPr>
            <a:r>
              <a:rPr/>
              <a:t>2. Trust Boundary</a:t>
            </a:r>
            <a:endParaRPr/>
          </a:p>
          <a:p>
            <a:pPr algn="ctr">
              <a:defRPr sz="1000">
                <a:solidFill>
                  <a:srgbClr val="94A3B8"/>
                </a:solidFill>
                <a:latin typeface="Arial"/>
              </a:defRPr>
            </a:pPr>
            <a:r>
              <a:rPr/>
              <a:t>Sent to exported</a:t>
            </a:r>
            <a:br>
              <a:rPr/>
            </a:br>
            <a:r>
              <a:rPr/>
              <a:t>Victim Proxy Activity</a:t>
            </a:r>
            <a:endParaRPr/>
          </a:p>
        </p:txBody>
      </p:sp>
      <p:sp>
        <p:nvSpPr>
          <p:cNvPr id="1627919884" name="TextBox 8"/>
          <p:cNvSpPr txBox="1"/>
          <p:nvPr/>
        </p:nvSpPr>
        <p:spPr bwMode="auto">
          <a:xfrm>
            <a:off x="5916168" y="2057400"/>
            <a:ext cx="338328" cy="36576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898221988" name="Rounded Rectangle 9"/>
          <p:cNvSpPr/>
          <p:nvPr/>
        </p:nvSpPr>
        <p:spPr bwMode="auto">
          <a:xfrm>
            <a:off x="6254496" y="1691640"/>
            <a:ext cx="2423160" cy="118872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5501360" name="TextBox 10"/>
          <p:cNvSpPr txBox="1"/>
          <p:nvPr/>
        </p:nvSpPr>
        <p:spPr bwMode="auto">
          <a:xfrm>
            <a:off x="6345936" y="1801367"/>
            <a:ext cx="2240280" cy="969264"/>
          </a:xfrm>
          <a:prstGeom prst="rect">
            <a:avLst/>
          </a:prstGeom>
          <a:noFill/>
        </p:spPr>
        <p:txBody>
          <a:bodyPr wrap="square" lIns="0" tIns="0" rIns="0" bIns="0">
            <a:spAutoFit/>
          </a:bodyPr>
          <a:lstStyle/>
          <a:p>
            <a:pPr algn="ctr">
              <a:spcAft>
                <a:spcPts val="200"/>
              </a:spcAft>
              <a:defRPr sz="1200" b="1">
                <a:solidFill>
                  <a:srgbClr val="F87171"/>
                </a:solidFill>
                <a:latin typeface="Arial"/>
              </a:defRPr>
            </a:pPr>
            <a:r>
              <a:rPr/>
              <a:t>3. Vulnerability Point</a:t>
            </a:r>
            <a:endParaRPr/>
          </a:p>
          <a:p>
            <a:pPr algn="ctr">
              <a:defRPr sz="1000">
                <a:solidFill>
                  <a:srgbClr val="94A3B8"/>
                </a:solidFill>
                <a:latin typeface="Arial"/>
              </a:defRPr>
            </a:pPr>
            <a:r>
              <a:rPr/>
              <a:t>Proxy extracts nested</a:t>
            </a:r>
            <a:br>
              <a:rPr/>
            </a:br>
            <a:r>
              <a:rPr/>
              <a:t>extra without validation</a:t>
            </a:r>
            <a:endParaRPr/>
          </a:p>
        </p:txBody>
      </p:sp>
      <p:sp>
        <p:nvSpPr>
          <p:cNvPr id="2019693200" name="TextBox 11"/>
          <p:cNvSpPr txBox="1"/>
          <p:nvPr/>
        </p:nvSpPr>
        <p:spPr bwMode="auto">
          <a:xfrm>
            <a:off x="8677656" y="2057400"/>
            <a:ext cx="338328" cy="365760"/>
          </a:xfrm>
          <a:prstGeom prst="rect">
            <a:avLst/>
          </a:prstGeom>
          <a:noFill/>
        </p:spPr>
        <p:txBody>
          <a:bodyPr wrap="none" lIns="0" tIns="0" rIns="0" bIns="0">
            <a:spAutoFit/>
          </a:bodyPr>
          <a:lstStyle/>
          <a:p>
            <a:pPr algn="ctr">
              <a:defRPr sz="1600">
                <a:solidFill>
                  <a:srgbClr val="38BDF8"/>
                </a:solidFill>
                <a:latin typeface="Arial"/>
              </a:defRPr>
            </a:pPr>
            <a:r>
              <a:rPr/>
              <a:t>➔</a:t>
            </a:r>
            <a:endParaRPr/>
          </a:p>
        </p:txBody>
      </p:sp>
      <p:sp>
        <p:nvSpPr>
          <p:cNvPr id="1730199015" name="Rounded Rectangle 12"/>
          <p:cNvSpPr/>
          <p:nvPr/>
        </p:nvSpPr>
        <p:spPr bwMode="auto">
          <a:xfrm>
            <a:off x="9015984" y="1691640"/>
            <a:ext cx="2423160" cy="118872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441291" name="TextBox 13"/>
          <p:cNvSpPr txBox="1"/>
          <p:nvPr/>
        </p:nvSpPr>
        <p:spPr bwMode="auto">
          <a:xfrm>
            <a:off x="9107424" y="1801367"/>
            <a:ext cx="2240280" cy="969264"/>
          </a:xfrm>
          <a:prstGeom prst="rect">
            <a:avLst/>
          </a:prstGeom>
          <a:noFill/>
        </p:spPr>
        <p:txBody>
          <a:bodyPr wrap="square" lIns="0" tIns="0" rIns="0" bIns="0">
            <a:spAutoFit/>
          </a:bodyPr>
          <a:lstStyle/>
          <a:p>
            <a:pPr algn="ctr">
              <a:spcAft>
                <a:spcPts val="200"/>
              </a:spcAft>
              <a:defRPr sz="1200" b="1">
                <a:solidFill>
                  <a:srgbClr val="38BDF8"/>
                </a:solidFill>
                <a:latin typeface="Arial"/>
              </a:defRPr>
            </a:pPr>
            <a:r>
              <a:rPr/>
              <a:t>4. Execution</a:t>
            </a:r>
            <a:endParaRPr/>
          </a:p>
          <a:p>
            <a:pPr algn="ctr">
              <a:defRPr sz="1000">
                <a:solidFill>
                  <a:srgbClr val="94A3B8"/>
                </a:solidFill>
                <a:latin typeface="Arial"/>
              </a:defRPr>
            </a:pPr>
            <a:r>
              <a:rPr/>
              <a:t>startActivity(next) runs</a:t>
            </a:r>
            <a:br>
              <a:rPr/>
            </a:br>
            <a:r>
              <a:rPr/>
              <a:t>internal private activity!</a:t>
            </a:r>
            <a:endParaRPr/>
          </a:p>
        </p:txBody>
      </p:sp>
      <p:sp>
        <p:nvSpPr>
          <p:cNvPr id="1088230836" name="Rounded Rectangle 14"/>
          <p:cNvSpPr/>
          <p:nvPr/>
        </p:nvSpPr>
        <p:spPr bwMode="auto">
          <a:xfrm>
            <a:off x="731520" y="3063240"/>
            <a:ext cx="5212080" cy="3291840"/>
          </a:xfrm>
          <a:prstGeom prst="roundRect">
            <a:avLst>
              <a:gd name="adj" fmla="val 16667"/>
            </a:avLst>
          </a:prstGeom>
          <a:solidFill>
            <a:srgbClr val="080D1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2440297" name="TextBox 15"/>
          <p:cNvSpPr txBox="1"/>
          <p:nvPr/>
        </p:nvSpPr>
        <p:spPr bwMode="auto">
          <a:xfrm>
            <a:off x="1024127" y="3200400"/>
            <a:ext cx="4937760" cy="3072384"/>
          </a:xfrm>
          <a:prstGeom prst="rect">
            <a:avLst/>
          </a:prstGeom>
          <a:noFill/>
        </p:spPr>
        <p:txBody>
          <a:bodyPr wrap="square" lIns="0" tIns="0" rIns="0" bIns="0">
            <a:spAutoFit/>
          </a:bodyPr>
          <a:lstStyle/>
          <a:p>
            <a:pPr>
              <a:defRPr sz="1100">
                <a:solidFill>
                  <a:srgbClr val="38BDF8"/>
                </a:solidFill>
                <a:latin typeface="Consolas"/>
              </a:defRPr>
            </a:pPr>
            <a:r>
              <a:rPr/>
              <a:t>// VULNERABLE PROXY COMPONENT (Exported Activity)</a:t>
            </a:r>
            <a:br>
              <a:rPr/>
            </a:br>
            <a:r>
              <a:rPr/>
              <a:t>class ProxyActivity : AppCompatActivity() {</a:t>
            </a:r>
            <a:br>
              <a:rPr/>
            </a:br>
            <a:r>
              <a:rPr/>
              <a:t>    override fun onCreate(savedInstanceState: Bundle?) {</a:t>
            </a:r>
            <a:br>
              <a:rPr/>
            </a:br>
            <a:r>
              <a:rPr/>
              <a:t>        super.onCreate(savedInstanceState)</a:t>
            </a:r>
            <a:br>
              <a:rPr/>
            </a:br>
            <a:r>
              <a:rPr/>
              <a:t>        // 1. Attacker controls 'next_intent' in Extras</a:t>
            </a:r>
            <a:br>
              <a:rPr/>
            </a:br>
            <a:r>
              <a:rPr/>
              <a:t>        val next = intent.getParcelableExtra&lt;Intent&gt;("next_intent")</a:t>
            </a:r>
            <a:br>
              <a:rPr/>
            </a:br>
            <a:r>
              <a:rPr/>
              <a:t>        </a:t>
            </a:r>
            <a:br>
              <a:rPr/>
            </a:br>
            <a:r>
              <a:rPr/>
              <a:t>        // 2. VULNERABILITY POINT: Blind forwarding!</a:t>
            </a:r>
            <a:br>
              <a:rPr/>
            </a:br>
            <a:r>
              <a:rPr/>
              <a:t>        // Launches unexported activity with Victim's UID!</a:t>
            </a:r>
            <a:br>
              <a:rPr/>
            </a:br>
            <a:r>
              <a:rPr/>
              <a:t>        startActivity(next)</a:t>
            </a:r>
            <a:br>
              <a:rPr/>
            </a:br>
            <a:r>
              <a:rPr/>
              <a:t>    }</a:t>
            </a:r>
            <a:br>
              <a:rPr/>
            </a:br>
            <a:r>
              <a:rPr/>
              <a:t>}</a:t>
            </a:r>
            <a:endParaRPr/>
          </a:p>
        </p:txBody>
      </p:sp>
      <p:sp>
        <p:nvSpPr>
          <p:cNvPr id="998977310" name="Rounded Rectangle 16"/>
          <p:cNvSpPr/>
          <p:nvPr/>
        </p:nvSpPr>
        <p:spPr bwMode="auto">
          <a:xfrm>
            <a:off x="6217920" y="3063240"/>
            <a:ext cx="5242255" cy="329184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3635717" name="TextBox 17"/>
          <p:cNvSpPr txBox="1"/>
          <p:nvPr/>
        </p:nvSpPr>
        <p:spPr bwMode="auto">
          <a:xfrm>
            <a:off x="6562648" y="3227832"/>
            <a:ext cx="4785055" cy="3017519"/>
          </a:xfrm>
          <a:prstGeom prst="rect">
            <a:avLst/>
          </a:prstGeom>
          <a:noFill/>
        </p:spPr>
        <p:txBody>
          <a:bodyPr wrap="square" lIns="0" tIns="0" rIns="0" bIns="0">
            <a:spAutoFit/>
          </a:bodyPr>
          <a:lstStyle/>
          <a:p>
            <a:pPr>
              <a:spcAft>
                <a:spcPts val="800"/>
              </a:spcAft>
              <a:defRPr sz="1500" b="1">
                <a:solidFill>
                  <a:srgbClr val="F87171"/>
                </a:solidFill>
                <a:latin typeface="Arial"/>
              </a:defRPr>
            </a:pPr>
            <a:r>
              <a:rPr/>
              <a:t>Technical Root Causes &amp; Mechanics</a:t>
            </a:r>
            <a:endParaRPr/>
          </a:p>
          <a:p>
            <a:pPr>
              <a:spcAft>
                <a:spcPts val="500"/>
              </a:spcAft>
              <a:defRPr sz="1150">
                <a:solidFill>
                  <a:srgbClr val="F8FAFC"/>
                </a:solidFill>
                <a:latin typeface="Arial"/>
              </a:defRPr>
            </a:pPr>
            <a:r>
              <a:rPr/>
              <a:t>• Confused Deputy Flaw: The victim app acts as a privileged proxy, executing internal actions on behalf of an unprivileged attacker.</a:t>
            </a:r>
            <a:endParaRPr/>
          </a:p>
          <a:p>
            <a:pPr>
              <a:spcAft>
                <a:spcPts val="500"/>
              </a:spcAft>
              <a:defRPr sz="1150">
                <a:solidFill>
                  <a:srgbClr val="F8FAFC"/>
                </a:solidFill>
                <a:latin typeface="Arial"/>
              </a:defRPr>
            </a:pPr>
            <a:r>
              <a:rPr/>
              <a:t>• Access Control Bypass: Private internal activities (exported="false") cannot be reached directly, but CAN be invoked internally by the victim app itself.</a:t>
            </a:r>
            <a:endParaRPr/>
          </a:p>
          <a:p>
            <a:pPr>
              <a:spcAft>
                <a:spcPts val="500"/>
              </a:spcAft>
              <a:defRPr sz="1150">
                <a:solidFill>
                  <a:srgbClr val="F8FAFC"/>
                </a:solidFill>
                <a:latin typeface="Arial"/>
              </a:defRPr>
            </a:pPr>
            <a:r>
              <a:rPr/>
              <a:t>• Missing Destination Validation: The proxy fails to inspect next.component, verify destination package, or enforce an allowlist.</a:t>
            </a:r>
            <a:endParaRPr/>
          </a:p>
          <a:p>
            <a:pPr>
              <a:spcAft>
                <a:spcPts val="500"/>
              </a:spcAft>
              <a:defRPr sz="1150">
                <a:solidFill>
                  <a:srgbClr val="F8FAFC"/>
                </a:solidFill>
                <a:latin typeface="Arial"/>
              </a:defRPr>
            </a:pPr>
            <a:r>
              <a:rPr/>
              <a:t>• Root Cause: The security failure occurs when externally controlled IPC is trusted without sufficient authorization, destination validation, or input sanitization.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4599614"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8602237"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DATA AT REST VULNERABILITIES</a:t>
            </a:r>
            <a:endParaRPr/>
          </a:p>
          <a:p>
            <a:pPr>
              <a:spcAft>
                <a:spcPts val="200"/>
              </a:spcAft>
              <a:defRPr sz="2600" b="1">
                <a:solidFill>
                  <a:srgbClr val="F8FAFC"/>
                </a:solidFill>
                <a:latin typeface="Arial"/>
              </a:defRPr>
            </a:pPr>
            <a:r>
              <a:rPr/>
              <a:t>Attack #2: Sensitive Data in Local Storage</a:t>
            </a:r>
            <a:endParaRPr/>
          </a:p>
          <a:p>
            <a:pPr>
              <a:defRPr sz="1300">
                <a:solidFill>
                  <a:srgbClr val="94A3B8"/>
                </a:solidFill>
                <a:latin typeface="Arial"/>
              </a:defRPr>
            </a:pPr>
            <a:r>
              <a:rPr/>
              <a:t>Plaintext SQLite Databases &amp; Secondary Exposure Vectors</a:t>
            </a:r>
            <a:endParaRPr/>
          </a:p>
        </p:txBody>
      </p:sp>
      <p:sp>
        <p:nvSpPr>
          <p:cNvPr id="903907912" name="Rounded Rectangle 3"/>
          <p:cNvSpPr/>
          <p:nvPr/>
        </p:nvSpPr>
        <p:spPr bwMode="auto">
          <a:xfrm>
            <a:off x="731520" y="1691640"/>
            <a:ext cx="5212080" cy="219456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6239577" name="TextBox 4"/>
          <p:cNvSpPr txBox="1"/>
          <p:nvPr/>
        </p:nvSpPr>
        <p:spPr bwMode="auto">
          <a:xfrm flipH="0" flipV="0">
            <a:off x="960120" y="1828800"/>
            <a:ext cx="4984199" cy="975719"/>
          </a:xfrm>
          <a:prstGeom prst="rect">
            <a:avLst/>
          </a:prstGeom>
          <a:noFill/>
        </p:spPr>
        <p:txBody>
          <a:bodyPr wrap="square" lIns="0" tIns="0" rIns="0" bIns="0">
            <a:spAutoFit/>
          </a:bodyPr>
          <a:lstStyle/>
          <a:p>
            <a:pPr>
              <a:spcAft>
                <a:spcPts val="600"/>
              </a:spcAft>
              <a:defRPr sz="1400" b="1">
                <a:solidFill>
                  <a:srgbClr val="FBBF24"/>
                </a:solidFill>
                <a:latin typeface="Arial"/>
              </a:defRPr>
            </a:pPr>
            <a:r>
              <a:rPr/>
              <a:t>SQLite Database Table: user_session.db</a:t>
            </a:r>
            <a:endParaRPr/>
          </a:p>
          <a:p>
            <a:pPr>
              <a:spcAft>
                <a:spcPts val="200"/>
              </a:spcAft>
              <a:defRPr sz="1000">
                <a:solidFill>
                  <a:srgbClr val="F8FAFC"/>
                </a:solidFill>
                <a:latin typeface="Consolas"/>
              </a:defRPr>
            </a:pPr>
            <a:r>
              <a:rPr/>
              <a:t>• id: 10482</a:t>
            </a:r>
            <a:endParaRPr/>
          </a:p>
          <a:p>
            <a:pPr>
              <a:spcAft>
                <a:spcPts val="200"/>
              </a:spcAft>
              <a:defRPr sz="1000">
                <a:solidFill>
                  <a:srgbClr val="F8FAFC"/>
                </a:solidFill>
                <a:latin typeface="Consolas"/>
              </a:defRPr>
            </a:pPr>
            <a:r>
              <a:rPr/>
              <a:t>• user_email: student@tdtu.edu.vn</a:t>
            </a:r>
            <a:endParaRPr/>
          </a:p>
          <a:p>
            <a:pPr>
              <a:spcAft>
                <a:spcPts val="200"/>
              </a:spcAft>
              <a:defRPr sz="1000">
                <a:solidFill>
                  <a:srgbClr val="F87171"/>
                </a:solidFill>
                <a:latin typeface="Consolas"/>
              </a:defRPr>
            </a:pPr>
            <a:r>
              <a:rPr/>
              <a:t>• auth_token: eyJhbGciOiJIUzI1NiIsInR5cCI6IkpXVCJ9... (Plaintext JWT)</a:t>
            </a:r>
            <a:endParaRPr/>
          </a:p>
          <a:p>
            <a:pPr>
              <a:spcAft>
                <a:spcPts val="200"/>
              </a:spcAft>
              <a:defRPr sz="1000">
                <a:solidFill>
                  <a:srgbClr val="F87171"/>
                </a:solidFill>
                <a:latin typeface="Consolas"/>
              </a:defRPr>
            </a:pPr>
            <a:r>
              <a:rPr/>
              <a:t>• api_secret: sec_live_98234ab87cd... (Plaintext Backend Secret)</a:t>
            </a:r>
            <a:endParaRPr/>
          </a:p>
        </p:txBody>
      </p:sp>
      <p:sp>
        <p:nvSpPr>
          <p:cNvPr id="1973234691" name="Rounded Rectangle 5"/>
          <p:cNvSpPr/>
          <p:nvPr/>
        </p:nvSpPr>
        <p:spPr bwMode="auto">
          <a:xfrm>
            <a:off x="6217920" y="1691640"/>
            <a:ext cx="5242255" cy="219456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442610" name="TextBox 6"/>
          <p:cNvSpPr txBox="1"/>
          <p:nvPr/>
        </p:nvSpPr>
        <p:spPr bwMode="auto">
          <a:xfrm>
            <a:off x="6446520" y="1828800"/>
            <a:ext cx="4785055" cy="1920240"/>
          </a:xfrm>
          <a:prstGeom prst="rect">
            <a:avLst/>
          </a:prstGeom>
          <a:noFill/>
        </p:spPr>
        <p:txBody>
          <a:bodyPr wrap="square" lIns="0" tIns="0" rIns="0" bIns="0">
            <a:spAutoFit/>
          </a:bodyPr>
          <a:lstStyle/>
          <a:p>
            <a:pPr>
              <a:spcAft>
                <a:spcPts val="600"/>
              </a:spcAft>
              <a:defRPr sz="1400" b="1">
                <a:solidFill>
                  <a:srgbClr val="F87171"/>
                </a:solidFill>
                <a:latin typeface="Arial"/>
              </a:defRPr>
            </a:pPr>
            <a:r>
              <a:rPr/>
              <a:t>Real-World Secondary Exposure Vectors</a:t>
            </a:r>
            <a:endParaRPr/>
          </a:p>
          <a:p>
            <a:pPr>
              <a:spcAft>
                <a:spcPts val="300"/>
              </a:spcAft>
              <a:defRPr sz="1200">
                <a:solidFill>
                  <a:srgbClr val="F8FAFC"/>
                </a:solidFill>
                <a:latin typeface="Arial"/>
              </a:defRPr>
            </a:pPr>
            <a:r>
              <a:rPr/>
              <a:t>• Exported ContentProvider: SQL injection or traversal leaks raw DB files.</a:t>
            </a:r>
            <a:endParaRPr/>
          </a:p>
          <a:p>
            <a:pPr>
              <a:spcAft>
                <a:spcPts val="300"/>
              </a:spcAft>
              <a:defRPr sz="1200">
                <a:solidFill>
                  <a:srgbClr val="F8FAFC"/>
                </a:solidFill>
                <a:latin typeface="Arial"/>
              </a:defRPr>
            </a:pPr>
            <a:r>
              <a:rPr/>
              <a:t>• Backup Exposure: Misconfigured backup/data-transfer rules may expose app data.</a:t>
            </a:r>
            <a:endParaRPr/>
          </a:p>
          <a:p>
            <a:pPr>
              <a:spcAft>
                <a:spcPts val="300"/>
              </a:spcAft>
              <a:defRPr sz="1200">
                <a:solidFill>
                  <a:srgbClr val="F8FAFC"/>
                </a:solidFill>
                <a:latin typeface="Arial"/>
              </a:defRPr>
            </a:pPr>
            <a:r>
              <a:rPr/>
              <a:t>• Compromised / Rooted OS: Root privileges (UID 0) override sandbox isolation.</a:t>
            </a:r>
            <a:endParaRPr/>
          </a:p>
          <a:p>
            <a:pPr>
              <a:spcAft>
                <a:spcPts val="300"/>
              </a:spcAft>
              <a:defRPr sz="1200">
                <a:solidFill>
                  <a:srgbClr val="F8FAFC"/>
                </a:solidFill>
                <a:latin typeface="Arial"/>
              </a:defRPr>
            </a:pPr>
            <a:r>
              <a:rPr/>
              <a:t>• Debug Builds &amp; Logs: debuggable="true" permits run-as extraction.</a:t>
            </a:r>
            <a:endParaRPr/>
          </a:p>
        </p:txBody>
      </p:sp>
      <p:sp>
        <p:nvSpPr>
          <p:cNvPr id="1971295879" name="Rounded Rectangle 7"/>
          <p:cNvSpPr/>
          <p:nvPr/>
        </p:nvSpPr>
        <p:spPr bwMode="auto">
          <a:xfrm>
            <a:off x="731520" y="4069080"/>
            <a:ext cx="10728654" cy="2286000"/>
          </a:xfrm>
          <a:prstGeom prst="roundRect">
            <a:avLst>
              <a:gd name="adj" fmla="val 16667"/>
            </a:avLst>
          </a:prstGeom>
          <a:solidFill>
            <a:srgbClr val="0E162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2723478" name="TextBox 8"/>
          <p:cNvSpPr txBox="1"/>
          <p:nvPr/>
        </p:nvSpPr>
        <p:spPr bwMode="auto">
          <a:xfrm>
            <a:off x="960120" y="4206240"/>
            <a:ext cx="10271455" cy="2011680"/>
          </a:xfrm>
          <a:prstGeom prst="rect">
            <a:avLst/>
          </a:prstGeom>
          <a:noFill/>
        </p:spPr>
        <p:txBody>
          <a:bodyPr wrap="square" lIns="0" tIns="0" rIns="0" bIns="0">
            <a:spAutoFit/>
          </a:bodyPr>
          <a:lstStyle/>
          <a:p>
            <a:pPr>
              <a:spcAft>
                <a:spcPts val="600"/>
              </a:spcAft>
              <a:defRPr sz="1300" b="1">
                <a:solidFill>
                  <a:srgbClr val="38BDF8"/>
                </a:solidFill>
                <a:latin typeface="Arial"/>
              </a:defRPr>
            </a:pPr>
            <a:r>
              <a:rPr/>
              <a:t>CRITICAL ACADEMIC DISTINCTION: Access Control vs. Encryption at Rest</a:t>
            </a:r>
            <a:endParaRPr/>
          </a:p>
          <a:p>
            <a:pPr>
              <a:spcAft>
                <a:spcPts val="400"/>
              </a:spcAft>
              <a:defRPr sz="1100" b="1">
                <a:solidFill>
                  <a:srgbClr val="F8FAFC"/>
                </a:solidFill>
                <a:latin typeface="Arial"/>
              </a:defRPr>
            </a:pPr>
            <a:r>
              <a:rPr/>
              <a:t>Sandboxing provides Access Control, NOT Cryptographic Secrecy:</a:t>
            </a:r>
            <a:endParaRPr/>
          </a:p>
          <a:p>
            <a:pPr>
              <a:spcAft>
                <a:spcPts val="400"/>
              </a:spcAft>
              <a:defRPr sz="1150">
                <a:solidFill>
                  <a:srgbClr val="F8FAFC"/>
                </a:solidFill>
                <a:latin typeface="Arial"/>
              </a:defRPr>
            </a:pPr>
            <a:r>
              <a:rPr/>
              <a:t>• Core Protection: An ordinary malicious application cannot simply read another application's private SQLite database.</a:t>
            </a:r>
            <a:endParaRPr/>
          </a:p>
          <a:p>
            <a:pPr>
              <a:spcAft>
                <a:spcPts val="400"/>
              </a:spcAft>
              <a:defRPr sz="1150">
                <a:solidFill>
                  <a:srgbClr val="F8FAFC"/>
                </a:solidFill>
                <a:latin typeface="Arial"/>
              </a:defRPr>
            </a:pPr>
            <a:r>
              <a:rPr/>
              <a:t>• Access Control (Linux Sandbox): Controls who can open the file handle via UIDs (0700 mode), but fails if secondary exposure vectors or root access exist.</a:t>
            </a:r>
            <a:endParaRPr/>
          </a:p>
          <a:p>
            <a:pPr>
              <a:defRPr sz="1150" b="1">
                <a:solidFill>
                  <a:srgbClr val="F8FAFC"/>
                </a:solidFill>
                <a:latin typeface="Arial"/>
              </a:defRPr>
            </a:pPr>
            <a:r>
              <a:rPr/>
              <a:t>• Encryption at Rest (SQLCipher / Keystore): Cryptographically encrypts SQLite pages (AES-256) using hardware Keystore master keys. Provides an additional confidentiality layer if raw storage files become accessible, but a fully compromised runtime can still threaten protected data.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406905"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40164806"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RISK EVALUATION &amp; IMPACT</a:t>
            </a:r>
            <a:endParaRPr/>
          </a:p>
          <a:p>
            <a:pPr>
              <a:spcAft>
                <a:spcPts val="200"/>
              </a:spcAft>
              <a:defRPr sz="2600" b="1">
                <a:solidFill>
                  <a:srgbClr val="F8FAFC"/>
                </a:solidFill>
                <a:latin typeface="Arial"/>
              </a:defRPr>
            </a:pPr>
            <a:r>
              <a:rPr/>
              <a:t>Security Impact: The CIA Triad</a:t>
            </a:r>
            <a:endParaRPr/>
          </a:p>
          <a:p>
            <a:pPr>
              <a:defRPr sz="1300">
                <a:solidFill>
                  <a:srgbClr val="94A3B8"/>
                </a:solidFill>
                <a:latin typeface="Arial"/>
              </a:defRPr>
            </a:pPr>
            <a:r>
              <a:rPr/>
              <a:t>Evaluating Systemic Harm in Mobile Client-Server Environments</a:t>
            </a:r>
            <a:endParaRPr/>
          </a:p>
        </p:txBody>
      </p:sp>
      <p:sp>
        <p:nvSpPr>
          <p:cNvPr id="1070461468" name="Rounded Rectangle 3"/>
          <p:cNvSpPr/>
          <p:nvPr/>
        </p:nvSpPr>
        <p:spPr bwMode="auto">
          <a:xfrm>
            <a:off x="731520" y="1691640"/>
            <a:ext cx="3429000" cy="466344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2119259" name="TextBox 4"/>
          <p:cNvSpPr txBox="1"/>
          <p:nvPr/>
        </p:nvSpPr>
        <p:spPr bwMode="auto">
          <a:xfrm>
            <a:off x="960120" y="1874519"/>
            <a:ext cx="2971800" cy="4297680"/>
          </a:xfrm>
          <a:prstGeom prst="rect">
            <a:avLst/>
          </a:prstGeom>
          <a:noFill/>
        </p:spPr>
        <p:txBody>
          <a:bodyPr wrap="square" lIns="0" tIns="0" rIns="0" bIns="0">
            <a:spAutoFit/>
          </a:bodyPr>
          <a:lstStyle/>
          <a:p>
            <a:pPr>
              <a:spcAft>
                <a:spcPts val="400"/>
              </a:spcAft>
              <a:defRPr sz="1600" b="1">
                <a:solidFill>
                  <a:srgbClr val="F87171"/>
                </a:solidFill>
                <a:latin typeface="Arial"/>
              </a:defRPr>
            </a:pPr>
            <a:r>
              <a:rPr/>
              <a:t>CONFIDENTIALITY</a:t>
            </a:r>
            <a:endParaRPr/>
          </a:p>
          <a:p>
            <a:pPr>
              <a:spcAft>
                <a:spcPts val="1000"/>
              </a:spcAft>
              <a:defRPr sz="1100" b="1">
                <a:solidFill>
                  <a:srgbClr val="FBBF24"/>
                </a:solidFill>
                <a:latin typeface="Arial"/>
              </a:defRPr>
            </a:pPr>
            <a:r>
              <a:rPr/>
              <a:t>Potential Impact: HIGH</a:t>
            </a:r>
            <a:endParaRPr/>
          </a:p>
          <a:p>
            <a:pPr>
              <a:spcAft>
                <a:spcPts val="800"/>
              </a:spcAft>
              <a:defRPr sz="1150">
                <a:solidFill>
                  <a:srgbClr val="F8FAFC"/>
                </a:solidFill>
                <a:latin typeface="Arial"/>
              </a:defRPr>
            </a:pPr>
            <a:r>
              <a:rPr/>
              <a:t>• Auth Token Theft: Extraction of plaintext JWT session tokens from unencrypted SQLite databases or SharedPreferences.</a:t>
            </a:r>
            <a:endParaRPr/>
          </a:p>
          <a:p>
            <a:pPr>
              <a:spcAft>
                <a:spcPts val="800"/>
              </a:spcAft>
              <a:defRPr sz="1150">
                <a:solidFill>
                  <a:srgbClr val="F8FAFC"/>
                </a:solidFill>
                <a:latin typeface="Arial"/>
              </a:defRPr>
            </a:pPr>
            <a:r>
              <a:rPr/>
              <a:t>• Private PII Exposure: Leakage of user chat messages, contacts, and personal records.</a:t>
            </a:r>
            <a:endParaRPr/>
          </a:p>
          <a:p>
            <a:pPr>
              <a:spcAft>
                <a:spcPts val="800"/>
              </a:spcAft>
              <a:defRPr sz="1150">
                <a:solidFill>
                  <a:srgbClr val="F8FAFC"/>
                </a:solidFill>
                <a:latin typeface="Arial"/>
              </a:defRPr>
            </a:pPr>
            <a:r>
              <a:rPr/>
              <a:t>• API Secret Leaks: Exfiltration of proprietary cloud backend API keys and sensitive parameters.</a:t>
            </a:r>
            <a:endParaRPr/>
          </a:p>
        </p:txBody>
      </p:sp>
      <p:sp>
        <p:nvSpPr>
          <p:cNvPr id="998939639" name="Rounded Rectangle 5"/>
          <p:cNvSpPr/>
          <p:nvPr/>
        </p:nvSpPr>
        <p:spPr bwMode="auto">
          <a:xfrm>
            <a:off x="4379976" y="1691640"/>
            <a:ext cx="3429000" cy="46634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48654475" name="TextBox 6"/>
          <p:cNvSpPr txBox="1"/>
          <p:nvPr/>
        </p:nvSpPr>
        <p:spPr bwMode="auto">
          <a:xfrm>
            <a:off x="4608576" y="1874519"/>
            <a:ext cx="2971800" cy="4297680"/>
          </a:xfrm>
          <a:prstGeom prst="rect">
            <a:avLst/>
          </a:prstGeom>
          <a:noFill/>
        </p:spPr>
        <p:txBody>
          <a:bodyPr wrap="square" lIns="0" tIns="0" rIns="0" bIns="0">
            <a:spAutoFit/>
          </a:bodyPr>
          <a:lstStyle/>
          <a:p>
            <a:pPr>
              <a:spcAft>
                <a:spcPts val="400"/>
              </a:spcAft>
              <a:defRPr sz="1600" b="1">
                <a:solidFill>
                  <a:srgbClr val="FBBF24"/>
                </a:solidFill>
                <a:latin typeface="Arial"/>
              </a:defRPr>
            </a:pPr>
            <a:r>
              <a:rPr/>
              <a:t>INTEGRITY</a:t>
            </a:r>
            <a:endParaRPr/>
          </a:p>
          <a:p>
            <a:pPr>
              <a:spcAft>
                <a:spcPts val="1000"/>
              </a:spcAft>
              <a:defRPr sz="1100" b="1">
                <a:solidFill>
                  <a:srgbClr val="F87171"/>
                </a:solidFill>
                <a:latin typeface="Arial"/>
              </a:defRPr>
            </a:pPr>
            <a:r>
              <a:rPr/>
              <a:t>Potential Impact: CRITICAL</a:t>
            </a:r>
            <a:endParaRPr/>
          </a:p>
          <a:p>
            <a:pPr>
              <a:spcAft>
                <a:spcPts val="800"/>
              </a:spcAft>
              <a:defRPr sz="1150">
                <a:solidFill>
                  <a:srgbClr val="F8FAFC"/>
                </a:solidFill>
                <a:latin typeface="Arial"/>
              </a:defRPr>
            </a:pPr>
            <a:r>
              <a:rPr/>
              <a:t>• Confused Deputy Execution: Maliciously invoking internal administrative activities via Intent Redirection to alter settings.</a:t>
            </a:r>
            <a:endParaRPr/>
          </a:p>
          <a:p>
            <a:pPr>
              <a:spcAft>
                <a:spcPts val="800"/>
              </a:spcAft>
              <a:defRPr sz="1150">
                <a:solidFill>
                  <a:srgbClr val="F8FAFC"/>
                </a:solidFill>
                <a:latin typeface="Arial"/>
              </a:defRPr>
            </a:pPr>
            <a:r>
              <a:rPr/>
              <a:t>• Local Data Tampering: Modifying local SQLite database records via exported ContentProviders or backup injections.</a:t>
            </a:r>
            <a:endParaRPr/>
          </a:p>
          <a:p>
            <a:pPr>
              <a:spcAft>
                <a:spcPts val="800"/>
              </a:spcAft>
              <a:defRPr sz="1150">
                <a:solidFill>
                  <a:srgbClr val="F8FAFC"/>
                </a:solidFill>
                <a:latin typeface="Arial"/>
              </a:defRPr>
            </a:pPr>
            <a:r>
              <a:rPr/>
              <a:t>• Forged API Requests: Replaying or forging backend transactions using hijacked user credentials.</a:t>
            </a:r>
            <a:endParaRPr/>
          </a:p>
        </p:txBody>
      </p:sp>
      <p:sp>
        <p:nvSpPr>
          <p:cNvPr id="1713129553" name="Rounded Rectangle 7"/>
          <p:cNvSpPr/>
          <p:nvPr/>
        </p:nvSpPr>
        <p:spPr bwMode="auto">
          <a:xfrm>
            <a:off x="8028432" y="1691640"/>
            <a:ext cx="342900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8488548" name="TextBox 8"/>
          <p:cNvSpPr txBox="1"/>
          <p:nvPr/>
        </p:nvSpPr>
        <p:spPr bwMode="auto">
          <a:xfrm>
            <a:off x="8257032" y="1874519"/>
            <a:ext cx="2971800" cy="4297680"/>
          </a:xfrm>
          <a:prstGeom prst="rect">
            <a:avLst/>
          </a:prstGeom>
          <a:noFill/>
        </p:spPr>
        <p:txBody>
          <a:bodyPr wrap="square" lIns="0" tIns="0" rIns="0" bIns="0">
            <a:spAutoFit/>
          </a:bodyPr>
          <a:lstStyle/>
          <a:p>
            <a:pPr>
              <a:spcAft>
                <a:spcPts val="400"/>
              </a:spcAft>
              <a:defRPr sz="1600" b="1">
                <a:solidFill>
                  <a:srgbClr val="38BDF8"/>
                </a:solidFill>
                <a:latin typeface="Arial"/>
              </a:defRPr>
            </a:pPr>
            <a:r>
              <a:rPr/>
              <a:t>AVAILABILITY</a:t>
            </a:r>
            <a:endParaRPr/>
          </a:p>
          <a:p>
            <a:pPr>
              <a:spcAft>
                <a:spcPts val="1000"/>
              </a:spcAft>
              <a:defRPr sz="1100" b="1">
                <a:solidFill>
                  <a:srgbClr val="38BDF8"/>
                </a:solidFill>
                <a:latin typeface="Arial"/>
              </a:defRPr>
            </a:pPr>
            <a:r>
              <a:rPr/>
              <a:t>Potential Impact: MODERATE</a:t>
            </a:r>
            <a:endParaRPr/>
          </a:p>
          <a:p>
            <a:pPr>
              <a:spcAft>
                <a:spcPts val="800"/>
              </a:spcAft>
              <a:defRPr sz="1150">
                <a:solidFill>
                  <a:srgbClr val="F8FAFC"/>
                </a:solidFill>
                <a:latin typeface="Arial"/>
              </a:defRPr>
            </a:pPr>
            <a:r>
              <a:rPr/>
              <a:t>• Intent Fuzzing Crashes: Sending malformed extras or unparseable parcels causing NullPointerException or BadParcelableException.</a:t>
            </a:r>
            <a:endParaRPr/>
          </a:p>
          <a:p>
            <a:pPr>
              <a:spcAft>
                <a:spcPts val="800"/>
              </a:spcAft>
              <a:defRPr sz="1150">
                <a:solidFill>
                  <a:srgbClr val="F8FAFC"/>
                </a:solidFill>
                <a:latin typeface="Arial"/>
              </a:defRPr>
            </a:pPr>
            <a:r>
              <a:rPr/>
              <a:t>• Background Service DoS: Flooding exported Services to trigger resource exhaustion and battery drain.</a:t>
            </a:r>
            <a:endParaRPr/>
          </a:p>
          <a:p>
            <a:pPr>
              <a:spcAft>
                <a:spcPts val="800"/>
              </a:spcAft>
              <a:defRPr sz="1150">
                <a:solidFill>
                  <a:srgbClr val="F8FAFC"/>
                </a:solidFill>
                <a:latin typeface="Arial"/>
              </a:defRPr>
            </a:pPr>
            <a:r>
              <a:rPr/>
              <a:t>• Database Lockout: Corrupting SQLite journal files, rendering the app unusable upon launch.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7056679"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4448065"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DEFENSIVE ENGINEERING</a:t>
            </a:r>
            <a:endParaRPr/>
          </a:p>
          <a:p>
            <a:pPr>
              <a:spcAft>
                <a:spcPts val="200"/>
              </a:spcAft>
              <a:defRPr sz="2600" b="1">
                <a:solidFill>
                  <a:srgbClr val="F8FAFC"/>
                </a:solidFill>
                <a:latin typeface="Arial"/>
              </a:defRPr>
            </a:pPr>
            <a:r>
              <a:rPr/>
              <a:t>Defense Strategy: Multi-Layered Hardening</a:t>
            </a:r>
            <a:endParaRPr/>
          </a:p>
          <a:p>
            <a:pPr>
              <a:defRPr sz="1300">
                <a:solidFill>
                  <a:srgbClr val="94A3B8"/>
                </a:solidFill>
                <a:latin typeface="Arial"/>
              </a:defRPr>
            </a:pPr>
            <a:r>
              <a:rPr/>
              <a:t>A Comprehensive Architectural Blueprint for Secure Android Apps</a:t>
            </a:r>
            <a:endParaRPr/>
          </a:p>
        </p:txBody>
      </p:sp>
      <p:sp>
        <p:nvSpPr>
          <p:cNvPr id="755082674" name="Rounded Rectangle 3"/>
          <p:cNvSpPr/>
          <p:nvPr/>
        </p:nvSpPr>
        <p:spPr bwMode="auto">
          <a:xfrm>
            <a:off x="731520" y="1691640"/>
            <a:ext cx="3429000" cy="46634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1964106" name="TextBox 4"/>
          <p:cNvSpPr txBox="1"/>
          <p:nvPr/>
        </p:nvSpPr>
        <p:spPr bwMode="auto">
          <a:xfrm>
            <a:off x="960120" y="1874519"/>
            <a:ext cx="2971800" cy="4297680"/>
          </a:xfrm>
          <a:prstGeom prst="rect">
            <a:avLst/>
          </a:prstGeom>
          <a:noFill/>
        </p:spPr>
        <p:txBody>
          <a:bodyPr wrap="square" lIns="0" tIns="0" rIns="0" bIns="0">
            <a:spAutoFit/>
          </a:bodyPr>
          <a:lstStyle/>
          <a:p>
            <a:pPr>
              <a:spcAft>
                <a:spcPts val="1000"/>
              </a:spcAft>
              <a:defRPr sz="1500" b="1">
                <a:solidFill>
                  <a:srgbClr val="3DDC84"/>
                </a:solidFill>
                <a:latin typeface="Arial"/>
              </a:defRPr>
            </a:pPr>
            <a:r>
              <a:rPr/>
              <a:t>1. Manifest &amp; Permissions</a:t>
            </a:r>
            <a:endParaRPr/>
          </a:p>
          <a:p>
            <a:pPr>
              <a:spcAft>
                <a:spcPts val="600"/>
              </a:spcAft>
              <a:defRPr sz="1150">
                <a:solidFill>
                  <a:srgbClr val="F8FAFC"/>
                </a:solidFill>
                <a:latin typeface="Arial"/>
              </a:defRPr>
            </a:pPr>
            <a:r>
              <a:rPr/>
              <a:t>• Explicit exported="false": Keep internal components non-exported by default.</a:t>
            </a:r>
            <a:endParaRPr/>
          </a:p>
          <a:p>
            <a:pPr>
              <a:spcAft>
                <a:spcPts val="600"/>
              </a:spcAft>
              <a:defRPr sz="1150">
                <a:solidFill>
                  <a:srgbClr val="F8FAFC"/>
                </a:solidFill>
                <a:latin typeface="Arial"/>
              </a:defRPr>
            </a:pPr>
            <a:r>
              <a:rPr/>
              <a:t>• Least Privilege: Request only strictly required permissions; audit &lt;uses-permission&gt; tags.</a:t>
            </a:r>
            <a:endParaRPr/>
          </a:p>
          <a:p>
            <a:pPr>
              <a:spcAft>
                <a:spcPts val="600"/>
              </a:spcAft>
              <a:defRPr sz="1150">
                <a:solidFill>
                  <a:srgbClr val="F8FAFC"/>
                </a:solidFill>
                <a:latin typeface="Arial"/>
              </a:defRPr>
            </a:pPr>
            <a:r>
              <a:rPr/>
              <a:t>• Permission Protection: Protect necessary exported endpoints with signature or custom permissions.</a:t>
            </a:r>
            <a:endParaRPr/>
          </a:p>
          <a:p>
            <a:pPr>
              <a:spcAft>
                <a:spcPts val="600"/>
              </a:spcAft>
              <a:defRPr sz="1150">
                <a:solidFill>
                  <a:srgbClr val="F8FAFC"/>
                </a:solidFill>
                <a:latin typeface="Arial"/>
              </a:defRPr>
            </a:pPr>
            <a:r>
              <a:rPr/>
              <a:t>• Backup Rules: Configure backup / data-extraction rules to exclude sensitive application data.</a:t>
            </a:r>
            <a:endParaRPr/>
          </a:p>
        </p:txBody>
      </p:sp>
      <p:sp>
        <p:nvSpPr>
          <p:cNvPr id="394910119" name="Rounded Rectangle 5"/>
          <p:cNvSpPr/>
          <p:nvPr/>
        </p:nvSpPr>
        <p:spPr bwMode="auto">
          <a:xfrm>
            <a:off x="4379976" y="1691640"/>
            <a:ext cx="3429000" cy="4663440"/>
          </a:xfrm>
          <a:prstGeom prst="roundRect">
            <a:avLst>
              <a:gd name="adj" fmla="val 16667"/>
            </a:avLst>
          </a:prstGeom>
          <a:solidFill>
            <a:srgbClr val="131C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123634" name="TextBox 6"/>
          <p:cNvSpPr txBox="1"/>
          <p:nvPr/>
        </p:nvSpPr>
        <p:spPr bwMode="auto">
          <a:xfrm>
            <a:off x="4608576" y="1874519"/>
            <a:ext cx="2971800" cy="4297680"/>
          </a:xfrm>
          <a:prstGeom prst="rect">
            <a:avLst/>
          </a:prstGeom>
          <a:noFill/>
        </p:spPr>
        <p:txBody>
          <a:bodyPr wrap="square" lIns="0" tIns="0" rIns="0" bIns="0">
            <a:spAutoFit/>
          </a:bodyPr>
          <a:lstStyle/>
          <a:p>
            <a:pPr>
              <a:spcAft>
                <a:spcPts val="1000"/>
              </a:spcAft>
              <a:defRPr sz="1500" b="1">
                <a:solidFill>
                  <a:srgbClr val="38BDF8"/>
                </a:solidFill>
                <a:latin typeface="Arial"/>
              </a:defRPr>
            </a:pPr>
            <a:r>
              <a:rPr/>
              <a:t>2. Intent Security &amp; IPC</a:t>
            </a:r>
            <a:endParaRPr/>
          </a:p>
          <a:p>
            <a:pPr>
              <a:spcAft>
                <a:spcPts val="600"/>
              </a:spcAft>
              <a:defRPr sz="1150">
                <a:solidFill>
                  <a:srgbClr val="F8FAFC"/>
                </a:solidFill>
                <a:latin typeface="Arial"/>
              </a:defRPr>
            </a:pPr>
            <a:r>
              <a:rPr/>
              <a:t>• Prefer Explicit Intents: Use explicit class bindings for all known internal targets.</a:t>
            </a:r>
            <a:endParaRPr/>
          </a:p>
          <a:p>
            <a:pPr>
              <a:spcAft>
                <a:spcPts val="600"/>
              </a:spcAft>
              <a:defRPr sz="1150">
                <a:solidFill>
                  <a:srgbClr val="F8FAFC"/>
                </a:solidFill>
                <a:latin typeface="Arial"/>
              </a:defRPr>
            </a:pPr>
            <a:r>
              <a:rPr/>
              <a:t>• Input Validation: Validate incoming actions, URIs, extras, and destination components.</a:t>
            </a:r>
            <a:endParaRPr/>
          </a:p>
          <a:p>
            <a:pPr>
              <a:spcAft>
                <a:spcPts val="600"/>
              </a:spcAft>
              <a:defRPr sz="1150">
                <a:solidFill>
                  <a:srgbClr val="F8FAFC"/>
                </a:solidFill>
                <a:latin typeface="Arial"/>
              </a:defRPr>
            </a:pPr>
            <a:r>
              <a:rPr/>
              <a:t>• Allowlist Destinations: Strictly check target class before forwarding nested Intents.</a:t>
            </a:r>
            <a:endParaRPr/>
          </a:p>
          <a:p>
            <a:pPr>
              <a:spcAft>
                <a:spcPts val="600"/>
              </a:spcAft>
              <a:defRPr sz="1150">
                <a:solidFill>
                  <a:srgbClr val="F8FAFC"/>
                </a:solidFill>
                <a:latin typeface="Arial"/>
              </a:defRPr>
            </a:pPr>
            <a:r>
              <a:rPr/>
              <a:t>• FLAG_IMMUTABLE: Enforce on PendingIntents by default to prevent hijacking.</a:t>
            </a:r>
            <a:endParaRPr/>
          </a:p>
        </p:txBody>
      </p:sp>
      <p:sp>
        <p:nvSpPr>
          <p:cNvPr id="1304570272" name="Rounded Rectangle 7"/>
          <p:cNvSpPr/>
          <p:nvPr/>
        </p:nvSpPr>
        <p:spPr bwMode="auto">
          <a:xfrm>
            <a:off x="8028432" y="1691640"/>
            <a:ext cx="3429000" cy="4663440"/>
          </a:xfrm>
          <a:prstGeom prst="roundRect">
            <a:avLst>
              <a:gd name="adj" fmla="val 16667"/>
            </a:avLst>
          </a:prstGeom>
          <a:solidFill>
            <a:srgbClr val="131C2E"/>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7699917" name="TextBox 8"/>
          <p:cNvSpPr txBox="1"/>
          <p:nvPr/>
        </p:nvSpPr>
        <p:spPr bwMode="auto">
          <a:xfrm>
            <a:off x="8257032" y="1874519"/>
            <a:ext cx="2971800" cy="4297680"/>
          </a:xfrm>
          <a:prstGeom prst="rect">
            <a:avLst/>
          </a:prstGeom>
          <a:noFill/>
        </p:spPr>
        <p:txBody>
          <a:bodyPr wrap="square" lIns="0" tIns="0" rIns="0" bIns="0">
            <a:spAutoFit/>
          </a:bodyPr>
          <a:lstStyle/>
          <a:p>
            <a:pPr>
              <a:spcAft>
                <a:spcPts val="1000"/>
              </a:spcAft>
              <a:defRPr sz="1500" b="1">
                <a:solidFill>
                  <a:srgbClr val="FBBF24"/>
                </a:solidFill>
                <a:latin typeface="Arial"/>
              </a:defRPr>
            </a:pPr>
            <a:r>
              <a:rPr/>
              <a:t>3. Storage Security</a:t>
            </a:r>
            <a:endParaRPr/>
          </a:p>
          <a:p>
            <a:pPr>
              <a:spcAft>
                <a:spcPts val="600"/>
              </a:spcAft>
              <a:defRPr sz="1150">
                <a:solidFill>
                  <a:srgbClr val="F8FAFC"/>
                </a:solidFill>
                <a:latin typeface="Arial"/>
              </a:defRPr>
            </a:pPr>
            <a:r>
              <a:rPr/>
              <a:t>• Minimize Stored Secrets: Avoid persisting high-value credentials locally when possible.</a:t>
            </a:r>
            <a:endParaRPr/>
          </a:p>
          <a:p>
            <a:pPr>
              <a:spcAft>
                <a:spcPts val="600"/>
              </a:spcAft>
              <a:defRPr sz="1150">
                <a:solidFill>
                  <a:srgbClr val="F8FAFC"/>
                </a:solidFill>
                <a:latin typeface="Arial"/>
              </a:defRPr>
            </a:pPr>
            <a:r>
              <a:rPr/>
              <a:t>• App-Private Storage: Persist files exclusively in internal directories.</a:t>
            </a:r>
            <a:endParaRPr/>
          </a:p>
          <a:p>
            <a:pPr>
              <a:spcAft>
                <a:spcPts val="600"/>
              </a:spcAft>
              <a:defRPr sz="1150">
                <a:solidFill>
                  <a:srgbClr val="F8FAFC"/>
                </a:solidFill>
                <a:latin typeface="Arial"/>
              </a:defRPr>
            </a:pPr>
            <a:r>
              <a:rPr/>
              <a:t>• Android Keystore: Generate and protect cryptographic master keys in hardware TEE/SE.</a:t>
            </a:r>
            <a:endParaRPr/>
          </a:p>
          <a:p>
            <a:pPr>
              <a:spcAft>
                <a:spcPts val="600"/>
              </a:spcAft>
              <a:defRPr sz="1150">
                <a:solidFill>
                  <a:srgbClr val="F8FAFC"/>
                </a:solidFill>
                <a:latin typeface="Arial"/>
              </a:defRPr>
            </a:pPr>
            <a:r>
              <a:rPr/>
              <a:t>• Encrypt at Rest: Deploy SQLCipher page-level encryption where threat model requires 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3876296"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25010091"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PRACTICAL DEMONSTRATION PLAN</a:t>
            </a:r>
            <a:endParaRPr/>
          </a:p>
          <a:p>
            <a:pPr>
              <a:spcAft>
                <a:spcPts val="200"/>
              </a:spcAft>
              <a:defRPr sz="2600" b="1">
                <a:solidFill>
                  <a:srgbClr val="F8FAFC"/>
                </a:solidFill>
                <a:latin typeface="Arial"/>
              </a:defRPr>
            </a:pPr>
            <a:r>
              <a:rPr/>
              <a:t>Final Demo: MITM Interception &amp; SSL Pinning</a:t>
            </a:r>
            <a:endParaRPr/>
          </a:p>
          <a:p>
            <a:pPr>
              <a:defRPr sz="1300">
                <a:solidFill>
                  <a:srgbClr val="94A3B8"/>
                </a:solidFill>
                <a:latin typeface="Arial"/>
              </a:defRPr>
            </a:pPr>
            <a:r>
              <a:rPr/>
              <a:t>Securing the Client-Server Transit Channel in a Controlled Lab</a:t>
            </a:r>
            <a:endParaRPr/>
          </a:p>
        </p:txBody>
      </p:sp>
      <p:sp>
        <p:nvSpPr>
          <p:cNvPr id="818318929" name="Rounded Rectangle 3"/>
          <p:cNvSpPr/>
          <p:nvPr/>
        </p:nvSpPr>
        <p:spPr bwMode="auto">
          <a:xfrm>
            <a:off x="731520" y="1691640"/>
            <a:ext cx="5212080" cy="3291840"/>
          </a:xfrm>
          <a:prstGeom prst="roundRect">
            <a:avLst>
              <a:gd name="adj" fmla="val 16667"/>
            </a:avLst>
          </a:prstGeom>
          <a:solidFill>
            <a:srgbClr val="131C2E"/>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4679567" name="TextBox 4"/>
          <p:cNvSpPr txBox="1"/>
          <p:nvPr/>
        </p:nvSpPr>
        <p:spPr bwMode="auto">
          <a:xfrm>
            <a:off x="960120" y="1828800"/>
            <a:ext cx="4754880" cy="3017519"/>
          </a:xfrm>
          <a:prstGeom prst="rect">
            <a:avLst/>
          </a:prstGeom>
          <a:noFill/>
        </p:spPr>
        <p:txBody>
          <a:bodyPr wrap="square" lIns="0" tIns="0" rIns="0" bIns="0">
            <a:spAutoFit/>
          </a:bodyPr>
          <a:lstStyle/>
          <a:p>
            <a:pPr>
              <a:spcAft>
                <a:spcPts val="600"/>
              </a:spcAft>
              <a:defRPr sz="1400" b="1">
                <a:solidFill>
                  <a:srgbClr val="F87171"/>
                </a:solidFill>
                <a:latin typeface="Arial"/>
              </a:defRPr>
            </a:pPr>
            <a:r>
              <a:rPr/>
              <a:t>Phase 1: Baseline Interception (Vulnerable)</a:t>
            </a:r>
            <a:endParaRPr/>
          </a:p>
          <a:p>
            <a:pPr>
              <a:spcAft>
                <a:spcPts val="400"/>
              </a:spcAft>
              <a:defRPr sz="1150" b="1">
                <a:solidFill>
                  <a:srgbClr val="F8FAFC"/>
                </a:solidFill>
                <a:latin typeface="Arial"/>
              </a:defRPr>
            </a:pPr>
            <a:r>
              <a:rPr/>
              <a:t>• Architecture: Android Client  ➔  Debug Config (User CA Trusted)  ➔  Backend</a:t>
            </a:r>
            <a:endParaRPr/>
          </a:p>
          <a:p>
            <a:pPr>
              <a:spcAft>
                <a:spcPts val="400"/>
              </a:spcAft>
              <a:defRPr sz="1150">
                <a:solidFill>
                  <a:srgbClr val="F8FAFC"/>
                </a:solidFill>
                <a:latin typeface="Arial"/>
              </a:defRPr>
            </a:pPr>
            <a:r>
              <a:rPr/>
              <a:t>• Vulnerable / Test Configuration: Controlled debug Network Security Configuration explicitly trusts user-installed CAs (modern Android does not trust them by default).</a:t>
            </a:r>
            <a:endParaRPr/>
          </a:p>
          <a:p>
            <a:pPr>
              <a:defRPr sz="1150">
                <a:solidFill>
                  <a:srgbClr val="F8FAFC"/>
                </a:solidFill>
                <a:latin typeface="Arial"/>
              </a:defRPr>
            </a:pPr>
            <a:r>
              <a:rPr/>
              <a:t>• Proxy Interception: Client traffic is routed through Burp Suite on port 8080; Burp issues dynamic TLS certificates.</a:t>
            </a:r>
            <a:endParaRPr/>
          </a:p>
          <a:p>
            <a:pPr>
              <a:defRPr sz="1150">
                <a:solidFill>
                  <a:srgbClr val="F8FAFC"/>
                </a:solidFill>
                <a:latin typeface="Arial"/>
              </a:defRPr>
            </a:pPr>
            <a:r>
              <a:rPr/>
              <a:t>• Educational Lab Outcome: HTTPS traffic is decrypted in Burp proxy; plaintext credentials and chat tokens are inspected in transit.</a:t>
            </a:r>
            <a:endParaRPr/>
          </a:p>
        </p:txBody>
      </p:sp>
      <p:sp>
        <p:nvSpPr>
          <p:cNvPr id="1358151440" name="Rounded Rectangle 5"/>
          <p:cNvSpPr/>
          <p:nvPr/>
        </p:nvSpPr>
        <p:spPr bwMode="auto">
          <a:xfrm>
            <a:off x="6217920" y="1691640"/>
            <a:ext cx="5212080" cy="3291840"/>
          </a:xfrm>
          <a:prstGeom prst="roundRect">
            <a:avLst>
              <a:gd name="adj" fmla="val 16667"/>
            </a:avLst>
          </a:prstGeom>
          <a:solidFill>
            <a:srgbClr val="131C2E"/>
          </a:solidFill>
          <a:ln w="1524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3808263" name="TextBox 6"/>
          <p:cNvSpPr txBox="1"/>
          <p:nvPr/>
        </p:nvSpPr>
        <p:spPr bwMode="auto">
          <a:xfrm>
            <a:off x="6446520" y="1828800"/>
            <a:ext cx="4754880" cy="3017519"/>
          </a:xfrm>
          <a:prstGeom prst="rect">
            <a:avLst/>
          </a:prstGeom>
          <a:noFill/>
        </p:spPr>
        <p:txBody>
          <a:bodyPr wrap="square" lIns="0" tIns="0" rIns="0" bIns="0">
            <a:spAutoFit/>
          </a:bodyPr>
          <a:lstStyle/>
          <a:p>
            <a:pPr>
              <a:spcAft>
                <a:spcPts val="600"/>
              </a:spcAft>
              <a:defRPr sz="1400" b="1">
                <a:solidFill>
                  <a:srgbClr val="3DDC84"/>
                </a:solidFill>
                <a:latin typeface="Arial"/>
              </a:defRPr>
            </a:pPr>
            <a:r>
              <a:rPr/>
              <a:t>Phase 2: Certificate Pinning Defense (Hardened)</a:t>
            </a:r>
            <a:endParaRPr/>
          </a:p>
          <a:p>
            <a:pPr>
              <a:spcAft>
                <a:spcPts val="400"/>
              </a:spcAft>
              <a:defRPr sz="1150" b="1">
                <a:solidFill>
                  <a:srgbClr val="F8FAFC"/>
                </a:solidFill>
                <a:latin typeface="Arial"/>
              </a:defRPr>
            </a:pPr>
            <a:r>
              <a:rPr/>
              <a:t>• Architecture: Android Client  ➔  [SHA-256 Pin Check] ✖ Proxy Rejected</a:t>
            </a:r>
            <a:endParaRPr/>
          </a:p>
          <a:p>
            <a:pPr>
              <a:spcAft>
                <a:spcPts val="400"/>
              </a:spcAft>
              <a:defRPr sz="1150">
                <a:solidFill>
                  <a:srgbClr val="F8FAFC"/>
                </a:solidFill>
                <a:latin typeface="Arial"/>
              </a:defRPr>
            </a:pPr>
            <a:r>
              <a:rPr/>
              <a:t>• Application-Specific Trust Restriction: Client validates server's expected public-key SHA-256 hash using OkHttp CertificatePinner on top of normal TLS.</a:t>
            </a:r>
            <a:endParaRPr/>
          </a:p>
          <a:p>
            <a:pPr>
              <a:defRPr sz="1150">
                <a:solidFill>
                  <a:srgbClr val="F8FAFC"/>
                </a:solidFill>
                <a:latin typeface="Arial"/>
              </a:defRPr>
            </a:pPr>
            <a:r>
              <a:rPr/>
              <a:t>• Pin Mismatch Detection: When Burp presents its interception certificate, the public key hash does not match the pinned value.</a:t>
            </a:r>
            <a:endParaRPr/>
          </a:p>
          <a:p>
            <a:pPr>
              <a:defRPr sz="1150">
                <a:solidFill>
                  <a:srgbClr val="F8FAFC"/>
                </a:solidFill>
                <a:latin typeface="Arial"/>
              </a:defRPr>
            </a:pPr>
            <a:r>
              <a:rPr/>
              <a:t>• Connection Rejection: TLS connection is rejected immediately (SSLPeerUnverifiedException) before sensitive application payloads are exchanged.</a:t>
            </a:r>
            <a:endParaRPr/>
          </a:p>
        </p:txBody>
      </p:sp>
      <p:sp>
        <p:nvSpPr>
          <p:cNvPr id="1503630727" name="Rounded Rectangle 7"/>
          <p:cNvSpPr/>
          <p:nvPr/>
        </p:nvSpPr>
        <p:spPr bwMode="auto">
          <a:xfrm>
            <a:off x="731520" y="5166360"/>
            <a:ext cx="10728654" cy="1188720"/>
          </a:xfrm>
          <a:prstGeom prst="roundRect">
            <a:avLst>
              <a:gd name="adj" fmla="val 16667"/>
            </a:avLst>
          </a:prstGeom>
          <a:solidFill>
            <a:srgbClr val="0E16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0633655" name="TextBox 8"/>
          <p:cNvSpPr txBox="1"/>
          <p:nvPr/>
        </p:nvSpPr>
        <p:spPr bwMode="auto">
          <a:xfrm>
            <a:off x="960120" y="5257800"/>
            <a:ext cx="10271455" cy="1005840"/>
          </a:xfrm>
          <a:prstGeom prst="rect">
            <a:avLst/>
          </a:prstGeom>
          <a:noFill/>
        </p:spPr>
        <p:txBody>
          <a:bodyPr wrap="square" lIns="0" tIns="0" rIns="0" bIns="0">
            <a:spAutoFit/>
          </a:bodyPr>
          <a:lstStyle/>
          <a:p>
            <a:pPr>
              <a:spcAft>
                <a:spcPts val="300"/>
              </a:spcAft>
              <a:defRPr sz="1100" b="1">
                <a:solidFill>
                  <a:srgbClr val="3DDC84"/>
                </a:solidFill>
                <a:latin typeface="Arial"/>
              </a:defRPr>
            </a:pPr>
            <a:r>
              <a:rPr/>
              <a:t>AUTHORIZED EDUCATIONAL LAB METHODOLOGY</a:t>
            </a:r>
            <a:endParaRPr/>
          </a:p>
          <a:p>
            <a:pPr>
              <a:defRPr sz="1150">
                <a:solidFill>
                  <a:srgbClr val="F8FAFC"/>
                </a:solidFill>
                <a:latin typeface="Arial"/>
              </a:defRPr>
            </a:pPr>
            <a:r>
              <a:rPr/>
              <a:t>1. Develop simple chat app  ➔  2. Configure debug user-CA trust  ➔  3. Intercept baseline credentials in Burp Suite  ➔  4. Implement OkHttp CertificatePinner  ➔  5. Verify TLS handshake rejection upon pin mismatch.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6627352"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0768944"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EXECUTIVE SUMMARY</a:t>
            </a:r>
            <a:endParaRPr/>
          </a:p>
          <a:p>
            <a:pPr>
              <a:spcAft>
                <a:spcPts val="200"/>
              </a:spcAft>
              <a:defRPr sz="2600" b="1">
                <a:solidFill>
                  <a:srgbClr val="F8FAFC"/>
                </a:solidFill>
                <a:latin typeface="Arial"/>
              </a:defRPr>
            </a:pPr>
            <a:r>
              <a:rPr/>
              <a:t>Key Takeaways &amp; Conclusion</a:t>
            </a:r>
            <a:endParaRPr/>
          </a:p>
          <a:p>
            <a:pPr>
              <a:defRPr sz="1300">
                <a:solidFill>
                  <a:srgbClr val="94A3B8"/>
                </a:solidFill>
                <a:latin typeface="Arial"/>
              </a:defRPr>
            </a:pPr>
            <a:r>
              <a:rPr/>
              <a:t>Core Architectural Principles for Secure Mobile Engineering</a:t>
            </a:r>
            <a:endParaRPr/>
          </a:p>
        </p:txBody>
      </p:sp>
      <p:sp>
        <p:nvSpPr>
          <p:cNvPr id="1756260600" name="Rounded Rectangle 3"/>
          <p:cNvSpPr/>
          <p:nvPr/>
        </p:nvSpPr>
        <p:spPr bwMode="auto">
          <a:xfrm>
            <a:off x="731520" y="1691640"/>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1223981" name="Rectangle 4"/>
          <p:cNvSpPr/>
          <p:nvPr/>
        </p:nvSpPr>
        <p:spPr bwMode="auto">
          <a:xfrm>
            <a:off x="731520" y="1691640"/>
            <a:ext cx="109728" cy="749808"/>
          </a:xfrm>
          <a:prstGeom prst="rect">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2535759" name="TextBox 5"/>
          <p:cNvSpPr txBox="1"/>
          <p:nvPr/>
        </p:nvSpPr>
        <p:spPr bwMode="auto">
          <a:xfrm>
            <a:off x="1051560" y="1801367"/>
            <a:ext cx="10241280" cy="530352"/>
          </a:xfrm>
          <a:prstGeom prst="rect">
            <a:avLst/>
          </a:prstGeom>
          <a:noFill/>
        </p:spPr>
        <p:txBody>
          <a:bodyPr wrap="square" lIns="0" tIns="0" rIns="0" bIns="0">
            <a:spAutoFit/>
          </a:bodyPr>
          <a:lstStyle/>
          <a:p>
            <a:pPr>
              <a:defRPr sz="1100">
                <a:solidFill>
                  <a:srgbClr val="F8FAFC"/>
                </a:solidFill>
                <a:latin typeface="Arial"/>
              </a:defRPr>
            </a:pPr>
            <a:r>
              <a:rPr/>
              <a:t>1. Sandboxing Provides Application Isolation: Linux UID sandboxing isolates private files, but misconfigured component access (android:exported="true") can expose internal interfaces if unprotected.</a:t>
            </a:r>
            <a:endParaRPr/>
          </a:p>
        </p:txBody>
      </p:sp>
      <p:sp>
        <p:nvSpPr>
          <p:cNvPr id="1673645561" name="Rounded Rectangle 6"/>
          <p:cNvSpPr/>
          <p:nvPr/>
        </p:nvSpPr>
        <p:spPr bwMode="auto">
          <a:xfrm>
            <a:off x="731520" y="2551176"/>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2301269" name="Rectangle 7"/>
          <p:cNvSpPr/>
          <p:nvPr/>
        </p:nvSpPr>
        <p:spPr bwMode="auto">
          <a:xfrm>
            <a:off x="731520" y="2551176"/>
            <a:ext cx="109728" cy="74980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06218910" name="TextBox 8"/>
          <p:cNvSpPr txBox="1"/>
          <p:nvPr/>
        </p:nvSpPr>
        <p:spPr bwMode="auto">
          <a:xfrm>
            <a:off x="1051560" y="2660904"/>
            <a:ext cx="10241280" cy="530352"/>
          </a:xfrm>
          <a:prstGeom prst="rect">
            <a:avLst/>
          </a:prstGeom>
          <a:noFill/>
        </p:spPr>
        <p:txBody>
          <a:bodyPr wrap="square" lIns="0" tIns="0" rIns="0" bIns="0">
            <a:spAutoFit/>
          </a:bodyPr>
          <a:lstStyle/>
          <a:p>
            <a:pPr>
              <a:defRPr sz="1100">
                <a:solidFill>
                  <a:srgbClr val="F8FAFC"/>
                </a:solidFill>
                <a:latin typeface="Arial"/>
              </a:defRPr>
            </a:pPr>
            <a:r>
              <a:rPr/>
              <a:t>2. Untrusted IPC Requires Destination Validation: Crossing application boundaries via Intents creates a trust boundary. Untrusted IPC must be strictly validated before it reaches privileged functionality.</a:t>
            </a:r>
            <a:endParaRPr/>
          </a:p>
        </p:txBody>
      </p:sp>
      <p:sp>
        <p:nvSpPr>
          <p:cNvPr id="655522255" name="Rounded Rectangle 9"/>
          <p:cNvSpPr/>
          <p:nvPr/>
        </p:nvSpPr>
        <p:spPr bwMode="auto">
          <a:xfrm>
            <a:off x="731520" y="3410712"/>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1869086" name="Rectangle 10"/>
          <p:cNvSpPr/>
          <p:nvPr/>
        </p:nvSpPr>
        <p:spPr bwMode="auto">
          <a:xfrm>
            <a:off x="731520" y="3410712"/>
            <a:ext cx="109728" cy="7498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6670349" name="TextBox 11"/>
          <p:cNvSpPr txBox="1"/>
          <p:nvPr/>
        </p:nvSpPr>
        <p:spPr bwMode="auto">
          <a:xfrm>
            <a:off x="1051560" y="3520440"/>
            <a:ext cx="10241280" cy="530352"/>
          </a:xfrm>
          <a:prstGeom prst="rect">
            <a:avLst/>
          </a:prstGeom>
          <a:noFill/>
        </p:spPr>
        <p:txBody>
          <a:bodyPr wrap="square" lIns="0" tIns="0" rIns="0" bIns="0">
            <a:spAutoFit/>
          </a:bodyPr>
          <a:lstStyle/>
          <a:p>
            <a:pPr>
              <a:defRPr sz="1100">
                <a:solidFill>
                  <a:srgbClr val="F8FAFC"/>
                </a:solidFill>
                <a:latin typeface="Arial"/>
              </a:defRPr>
            </a:pPr>
            <a:r>
              <a:rPr/>
              <a:t>3. Access Control != Encryption at Rest: Sandboxing controls who can access files; encryption protects what data reveals if files are extracted. Sensitive data requires appropriate access control and data protection.</a:t>
            </a:r>
            <a:endParaRPr/>
          </a:p>
        </p:txBody>
      </p:sp>
      <p:sp>
        <p:nvSpPr>
          <p:cNvPr id="880703896" name="Rounded Rectangle 12"/>
          <p:cNvSpPr/>
          <p:nvPr/>
        </p:nvSpPr>
        <p:spPr bwMode="auto">
          <a:xfrm>
            <a:off x="731520" y="4270248"/>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3689749" name="Rectangle 13"/>
          <p:cNvSpPr/>
          <p:nvPr/>
        </p:nvSpPr>
        <p:spPr bwMode="auto">
          <a:xfrm>
            <a:off x="731520" y="4270248"/>
            <a:ext cx="109728" cy="74980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5245905" name="TextBox 14"/>
          <p:cNvSpPr txBox="1"/>
          <p:nvPr/>
        </p:nvSpPr>
        <p:spPr bwMode="auto">
          <a:xfrm>
            <a:off x="1051560" y="4379976"/>
            <a:ext cx="10241280" cy="530352"/>
          </a:xfrm>
          <a:prstGeom prst="rect">
            <a:avLst/>
          </a:prstGeom>
          <a:noFill/>
        </p:spPr>
        <p:txBody>
          <a:bodyPr wrap="square" lIns="0" tIns="0" rIns="0" bIns="0">
            <a:spAutoFit/>
          </a:bodyPr>
          <a:lstStyle/>
          <a:p>
            <a:pPr>
              <a:defRPr sz="1100">
                <a:solidFill>
                  <a:srgbClr val="F8FAFC"/>
                </a:solidFill>
                <a:latin typeface="Arial"/>
              </a:defRPr>
            </a:pPr>
            <a:r>
              <a:rPr/>
              <a:t>4. Defense-in-Depth Across All Layers: Mobile security requires coordinated defenses across the Manifest, IPC message validation, local cryptographic storage, and network transit.</a:t>
            </a:r>
            <a:endParaRPr/>
          </a:p>
        </p:txBody>
      </p:sp>
      <p:sp>
        <p:nvSpPr>
          <p:cNvPr id="1803819919" name="Rounded Rectangle 15"/>
          <p:cNvSpPr/>
          <p:nvPr/>
        </p:nvSpPr>
        <p:spPr bwMode="auto">
          <a:xfrm>
            <a:off x="731520" y="5129784"/>
            <a:ext cx="10728654" cy="749808"/>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92190706" name="Rectangle 16"/>
          <p:cNvSpPr/>
          <p:nvPr/>
        </p:nvSpPr>
        <p:spPr bwMode="auto">
          <a:xfrm>
            <a:off x="731520" y="5129784"/>
            <a:ext cx="109728" cy="749808"/>
          </a:xfrm>
          <a:prstGeom prst="rect">
            <a:avLst/>
          </a:prstGeom>
          <a:solidFill>
            <a:srgbClr val="3DD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1837605" name="TextBox 17"/>
          <p:cNvSpPr txBox="1"/>
          <p:nvPr/>
        </p:nvSpPr>
        <p:spPr bwMode="auto">
          <a:xfrm>
            <a:off x="1051560" y="5239512"/>
            <a:ext cx="10241280" cy="530352"/>
          </a:xfrm>
          <a:prstGeom prst="rect">
            <a:avLst/>
          </a:prstGeom>
          <a:noFill/>
        </p:spPr>
        <p:txBody>
          <a:bodyPr wrap="square" lIns="0" tIns="0" rIns="0" bIns="0">
            <a:spAutoFit/>
          </a:bodyPr>
          <a:lstStyle/>
          <a:p>
            <a:pPr>
              <a:defRPr sz="1100">
                <a:solidFill>
                  <a:srgbClr val="F8FAFC"/>
                </a:solidFill>
                <a:latin typeface="Arial"/>
              </a:defRPr>
            </a:pPr>
            <a:r>
              <a:rPr/>
              <a:t>5. Theory Drives Practice: Controlled MITM interception and Certificate Pinning demonstrate how application-specific trust restrictions reject unauthorized interception before sensitive data is exchanged.</a:t>
            </a:r>
            <a:endParaRPr/>
          </a:p>
        </p:txBody>
      </p:sp>
      <p:sp>
        <p:nvSpPr>
          <p:cNvPr id="1965826347" name="Rounded Rectangle 18"/>
          <p:cNvSpPr/>
          <p:nvPr/>
        </p:nvSpPr>
        <p:spPr bwMode="auto">
          <a:xfrm>
            <a:off x="731520" y="5989320"/>
            <a:ext cx="10728654" cy="502920"/>
          </a:xfrm>
          <a:prstGeom prst="roundRect">
            <a:avLst>
              <a:gd name="adj" fmla="val 16667"/>
            </a:avLst>
          </a:prstGeom>
          <a:solidFill>
            <a:srgbClr val="131C2E"/>
          </a:solidFill>
          <a:ln w="1270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0741639" name="TextBox 19"/>
          <p:cNvSpPr txBox="1"/>
          <p:nvPr/>
        </p:nvSpPr>
        <p:spPr bwMode="auto">
          <a:xfrm>
            <a:off x="914400" y="6053328"/>
            <a:ext cx="10362895" cy="365760"/>
          </a:xfrm>
          <a:prstGeom prst="rect">
            <a:avLst/>
          </a:prstGeom>
          <a:noFill/>
        </p:spPr>
        <p:txBody>
          <a:bodyPr wrap="square" lIns="0" tIns="0" rIns="0" bIns="0">
            <a:spAutoFit/>
          </a:bodyPr>
          <a:lstStyle/>
          <a:p>
            <a:pPr algn="ctr">
              <a:defRPr sz="1200" b="1">
                <a:solidFill>
                  <a:srgbClr val="3DDC84"/>
                </a:solidFill>
                <a:latin typeface="Arial"/>
              </a:defRPr>
            </a:pPr>
            <a:r>
              <a:rPr/>
              <a:t>Thank you for your attention! We welcome any questions from the instructor and class.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4207864" name="Rectangle 1"/>
          <p:cNvSpPr/>
          <p:nvPr/>
        </p:nvSpPr>
        <p:spPr bwMode="auto">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3529794" name="TextBox 2"/>
          <p:cNvSpPr txBox="1"/>
          <p:nvPr/>
        </p:nvSpPr>
        <p:spPr bwMode="auto">
          <a:xfrm>
            <a:off x="731520" y="365760"/>
            <a:ext cx="10728654" cy="1188720"/>
          </a:xfrm>
          <a:prstGeom prst="rect">
            <a:avLst/>
          </a:prstGeom>
          <a:noFill/>
        </p:spPr>
        <p:txBody>
          <a:bodyPr wrap="square" lIns="0" tIns="0" rIns="0" bIns="0">
            <a:spAutoFit/>
          </a:bodyPr>
          <a:lstStyle/>
          <a:p>
            <a:pPr>
              <a:spcAft>
                <a:spcPts val="200"/>
              </a:spcAft>
              <a:defRPr sz="1000" b="1">
                <a:solidFill>
                  <a:srgbClr val="3DDC84"/>
                </a:solidFill>
                <a:latin typeface="Arial"/>
              </a:defRPr>
            </a:pPr>
            <a:r>
              <a:rPr/>
              <a:t>ACADEMIC SOURCES</a:t>
            </a:r>
            <a:endParaRPr/>
          </a:p>
          <a:p>
            <a:pPr>
              <a:spcAft>
                <a:spcPts val="200"/>
              </a:spcAft>
              <a:defRPr sz="2600" b="1">
                <a:solidFill>
                  <a:srgbClr val="F8FAFC"/>
                </a:solidFill>
                <a:latin typeface="Arial"/>
              </a:defRPr>
            </a:pPr>
            <a:r>
              <a:rPr/>
              <a:t>References &amp; Industry Standards</a:t>
            </a:r>
            <a:endParaRPr/>
          </a:p>
          <a:p>
            <a:pPr>
              <a:defRPr sz="1300">
                <a:solidFill>
                  <a:srgbClr val="94A3B8"/>
                </a:solidFill>
                <a:latin typeface="Arial"/>
              </a:defRPr>
            </a:pPr>
            <a:r>
              <a:rPr/>
              <a:t>Authoritative Literature, Frameworks &amp; Specifications</a:t>
            </a:r>
            <a:endParaRPr/>
          </a:p>
        </p:txBody>
      </p:sp>
      <p:sp>
        <p:nvSpPr>
          <p:cNvPr id="1084919204" name="Rounded Rectangle 3"/>
          <p:cNvSpPr/>
          <p:nvPr/>
        </p:nvSpPr>
        <p:spPr bwMode="auto">
          <a:xfrm>
            <a:off x="731520" y="169164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631131" name="TextBox 4"/>
          <p:cNvSpPr txBox="1"/>
          <p:nvPr/>
        </p:nvSpPr>
        <p:spPr bwMode="auto">
          <a:xfrm>
            <a:off x="914400" y="182880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[1] Android Developers</a:t>
            </a:r>
            <a:endParaRPr/>
          </a:p>
          <a:p>
            <a:pPr>
              <a:spcAft>
                <a:spcPts val="200"/>
              </a:spcAft>
              <a:defRPr sz="1100">
                <a:solidFill>
                  <a:srgbClr val="F8FAFC"/>
                </a:solidFill>
                <a:latin typeface="Arial"/>
              </a:defRPr>
            </a:pPr>
            <a:r>
              <a:rPr/>
              <a:t>"Permissions on Android"</a:t>
            </a:r>
            <a:endParaRPr/>
          </a:p>
          <a:p>
            <a:pPr>
              <a:defRPr sz="950">
                <a:solidFill>
                  <a:srgbClr val="94A3B8"/>
                </a:solidFill>
                <a:latin typeface="Arial"/>
              </a:defRPr>
            </a:pPr>
            <a:r>
              <a:rPr/>
              <a:t>Android Developers. [Online]. Available: https://developer.android.com/guide/topics/permissions/overview. [Accessed: Oct. 1, 2026].</a:t>
            </a:r>
            <a:endParaRPr/>
          </a:p>
        </p:txBody>
      </p:sp>
      <p:sp>
        <p:nvSpPr>
          <p:cNvPr id="1733811988" name="Rounded Rectangle 5"/>
          <p:cNvSpPr/>
          <p:nvPr/>
        </p:nvSpPr>
        <p:spPr bwMode="auto">
          <a:xfrm>
            <a:off x="6245352" y="169164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3115836" name="TextBox 6"/>
          <p:cNvSpPr txBox="1"/>
          <p:nvPr/>
        </p:nvSpPr>
        <p:spPr bwMode="auto">
          <a:xfrm>
            <a:off x="6428232" y="182880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[2] Android Developers</a:t>
            </a:r>
            <a:endParaRPr/>
          </a:p>
          <a:p>
            <a:pPr>
              <a:spcAft>
                <a:spcPts val="200"/>
              </a:spcAft>
              <a:defRPr sz="1100">
                <a:solidFill>
                  <a:srgbClr val="F8FAFC"/>
                </a:solidFill>
                <a:latin typeface="Arial"/>
              </a:defRPr>
            </a:pPr>
            <a:r>
              <a:rPr/>
              <a:t>"Intents and Intent Filters"</a:t>
            </a:r>
            <a:endParaRPr/>
          </a:p>
          <a:p>
            <a:pPr>
              <a:defRPr sz="950">
                <a:solidFill>
                  <a:srgbClr val="94A3B8"/>
                </a:solidFill>
                <a:latin typeface="Arial"/>
              </a:defRPr>
            </a:pPr>
            <a:r>
              <a:rPr/>
              <a:t>Android Developers. [Online]. Available: https://developer.android.com/guide/components/intents-filters. [Accessed: Oct. 1, 2026].</a:t>
            </a:r>
            <a:endParaRPr/>
          </a:p>
        </p:txBody>
      </p:sp>
      <p:sp>
        <p:nvSpPr>
          <p:cNvPr id="1992882046" name="Rounded Rectangle 7"/>
          <p:cNvSpPr/>
          <p:nvPr/>
        </p:nvSpPr>
        <p:spPr bwMode="auto">
          <a:xfrm>
            <a:off x="731520" y="324612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3881799" name="TextBox 8"/>
          <p:cNvSpPr txBox="1"/>
          <p:nvPr/>
        </p:nvSpPr>
        <p:spPr bwMode="auto">
          <a:xfrm>
            <a:off x="914400" y="338328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[3] Android Developers</a:t>
            </a:r>
            <a:endParaRPr/>
          </a:p>
          <a:p>
            <a:pPr>
              <a:spcAft>
                <a:spcPts val="200"/>
              </a:spcAft>
              <a:defRPr sz="1100">
                <a:solidFill>
                  <a:srgbClr val="F8FAFC"/>
                </a:solidFill>
                <a:latin typeface="Arial"/>
              </a:defRPr>
            </a:pPr>
            <a:r>
              <a:rPr/>
              <a:t>"Remediating Intent Redirection Vulnerability"</a:t>
            </a:r>
            <a:endParaRPr/>
          </a:p>
          <a:p>
            <a:pPr>
              <a:defRPr sz="950">
                <a:solidFill>
                  <a:srgbClr val="94A3B8"/>
                </a:solidFill>
                <a:latin typeface="Arial"/>
              </a:defRPr>
            </a:pPr>
            <a:r>
              <a:rPr/>
              <a:t>Android Developers. [Online]. Available: https://developer.android.com/privacy-and-security/risks/intent-redirection. [Accessed: Oct. 1, 2026].</a:t>
            </a:r>
            <a:endParaRPr/>
          </a:p>
        </p:txBody>
      </p:sp>
      <p:sp>
        <p:nvSpPr>
          <p:cNvPr id="173386997" name="Rounded Rectangle 9"/>
          <p:cNvSpPr/>
          <p:nvPr/>
        </p:nvSpPr>
        <p:spPr bwMode="auto">
          <a:xfrm>
            <a:off x="6245352" y="324612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7472590" name="TextBox 10"/>
          <p:cNvSpPr txBox="1"/>
          <p:nvPr/>
        </p:nvSpPr>
        <p:spPr bwMode="auto">
          <a:xfrm>
            <a:off x="6428232" y="338328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[4] OWASP Foundation</a:t>
            </a:r>
            <a:endParaRPr/>
          </a:p>
          <a:p>
            <a:pPr>
              <a:spcAft>
                <a:spcPts val="200"/>
              </a:spcAft>
              <a:defRPr sz="1100">
                <a:solidFill>
                  <a:srgbClr val="F8FAFC"/>
                </a:solidFill>
                <a:latin typeface="Arial"/>
              </a:defRPr>
            </a:pPr>
            <a:r>
              <a:rPr/>
              <a:t>"Mobile Application Security Verification Standard (MASVS v2.0)"</a:t>
            </a:r>
            <a:endParaRPr/>
          </a:p>
          <a:p>
            <a:pPr>
              <a:defRPr sz="950">
                <a:solidFill>
                  <a:srgbClr val="94A3B8"/>
                </a:solidFill>
                <a:latin typeface="Arial"/>
              </a:defRPr>
            </a:pPr>
            <a:r>
              <a:rPr/>
              <a:t>OWASP Foundation. [Online]. Available: https://mas.owasp.org/. [Accessed: Oct. 1, 2026].</a:t>
            </a:r>
            <a:endParaRPr/>
          </a:p>
        </p:txBody>
      </p:sp>
      <p:sp>
        <p:nvSpPr>
          <p:cNvPr id="10902258" name="Rounded Rectangle 11"/>
          <p:cNvSpPr/>
          <p:nvPr/>
        </p:nvSpPr>
        <p:spPr bwMode="auto">
          <a:xfrm>
            <a:off x="731520" y="480060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8841194" name="TextBox 12"/>
          <p:cNvSpPr txBox="1"/>
          <p:nvPr/>
        </p:nvSpPr>
        <p:spPr bwMode="auto">
          <a:xfrm>
            <a:off x="914400" y="493776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[5] OWASP Foundation</a:t>
            </a:r>
            <a:endParaRPr/>
          </a:p>
          <a:p>
            <a:pPr>
              <a:spcAft>
                <a:spcPts val="200"/>
              </a:spcAft>
              <a:defRPr sz="1100">
                <a:solidFill>
                  <a:srgbClr val="F8FAFC"/>
                </a:solidFill>
                <a:latin typeface="Arial"/>
              </a:defRPr>
            </a:pPr>
            <a:r>
              <a:rPr/>
              <a:t>"Mobile Application Security Testing Guide (MASTG)"</a:t>
            </a:r>
            <a:endParaRPr/>
          </a:p>
          <a:p>
            <a:pPr>
              <a:defRPr sz="950">
                <a:solidFill>
                  <a:srgbClr val="94A3B8"/>
                </a:solidFill>
                <a:latin typeface="Arial"/>
              </a:defRPr>
            </a:pPr>
            <a:r>
              <a:rPr/>
              <a:t>OWASP Foundation. [Online]. Available: https://mas.owasp.org/. [Accessed: Oct. 1, 2026].</a:t>
            </a:r>
            <a:endParaRPr/>
          </a:p>
        </p:txBody>
      </p:sp>
      <p:sp>
        <p:nvSpPr>
          <p:cNvPr id="1719965440" name="Rounded Rectangle 13"/>
          <p:cNvSpPr/>
          <p:nvPr/>
        </p:nvSpPr>
        <p:spPr bwMode="auto">
          <a:xfrm>
            <a:off x="6245352" y="4800600"/>
            <a:ext cx="5212080" cy="1371600"/>
          </a:xfrm>
          <a:prstGeom prst="roundRect">
            <a:avLst>
              <a:gd name="adj" fmla="val 16667"/>
            </a:avLst>
          </a:prstGeom>
          <a:solidFill>
            <a:srgbClr val="131C2E"/>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7338637" name="TextBox 14"/>
          <p:cNvSpPr txBox="1"/>
          <p:nvPr/>
        </p:nvSpPr>
        <p:spPr bwMode="auto">
          <a:xfrm>
            <a:off x="6428232" y="4937760"/>
            <a:ext cx="4846320" cy="1097280"/>
          </a:xfrm>
          <a:prstGeom prst="rect">
            <a:avLst/>
          </a:prstGeom>
          <a:noFill/>
        </p:spPr>
        <p:txBody>
          <a:bodyPr wrap="square" lIns="0" tIns="0" rIns="0" bIns="0">
            <a:spAutoFit/>
          </a:bodyPr>
          <a:lstStyle/>
          <a:p>
            <a:pPr>
              <a:spcAft>
                <a:spcPts val="200"/>
              </a:spcAft>
              <a:defRPr sz="1100" b="1">
                <a:solidFill>
                  <a:srgbClr val="3DDC84"/>
                </a:solidFill>
                <a:latin typeface="Arial"/>
              </a:defRPr>
            </a:pPr>
            <a:r>
              <a:rPr/>
              <a:t>[6] NIST</a:t>
            </a:r>
            <a:endParaRPr/>
          </a:p>
          <a:p>
            <a:pPr>
              <a:spcAft>
                <a:spcPts val="200"/>
              </a:spcAft>
              <a:defRPr sz="1100">
                <a:solidFill>
                  <a:srgbClr val="F8FAFC"/>
                </a:solidFill>
                <a:latin typeface="Arial"/>
              </a:defRPr>
            </a:pPr>
            <a:r>
              <a:rPr/>
              <a:t>"Vetting the Security of Mobile Applications"</a:t>
            </a:r>
            <a:endParaRPr/>
          </a:p>
          <a:p>
            <a:pPr>
              <a:defRPr sz="950">
                <a:solidFill>
                  <a:srgbClr val="94A3B8"/>
                </a:solidFill>
                <a:latin typeface="Arial"/>
              </a:defRPr>
            </a:pPr>
            <a:r>
              <a:rPr/>
              <a:t>NIST Special Publication 800-163 Rev. 1, Jul. 2019. [Online]. Available: https://doi.org/10.6028/NIST.SP.800-163r1.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3</cp:revision>
  <dcterms:created xsi:type="dcterms:W3CDTF">2013-01-27T09:14:16Z</dcterms:created>
  <dcterms:modified xsi:type="dcterms:W3CDTF">2026-10-02T17:44:29Z</dcterms:modified>
  <cp:category/>
</cp:coreProperties>
</file>